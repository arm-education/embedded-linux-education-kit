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37"/>
  </p:notesMasterIdLst>
  <p:handoutMasterIdLst>
    <p:handoutMasterId r:id="rId38"/>
  </p:handoutMasterIdLst>
  <p:sldIdLst>
    <p:sldId id="329" r:id="rId5"/>
    <p:sldId id="302"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03" r:id="rId19"/>
    <p:sldId id="367" r:id="rId20"/>
    <p:sldId id="368" r:id="rId21"/>
    <p:sldId id="350" r:id="rId22"/>
    <p:sldId id="351" r:id="rId23"/>
    <p:sldId id="352" r:id="rId24"/>
    <p:sldId id="353" r:id="rId25"/>
    <p:sldId id="354" r:id="rId26"/>
    <p:sldId id="369" r:id="rId27"/>
    <p:sldId id="370" r:id="rId28"/>
    <p:sldId id="371" r:id="rId29"/>
    <p:sldId id="356" r:id="rId30"/>
    <p:sldId id="357" r:id="rId31"/>
    <p:sldId id="358" r:id="rId32"/>
    <p:sldId id="359" r:id="rId33"/>
    <p:sldId id="360" r:id="rId34"/>
    <p:sldId id="361" r:id="rId35"/>
    <p:sldId id="362"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2" clrIdx="0">
    <p:extLst>
      <p:ext uri="{19B8F6BF-5375-455C-9EA6-DF929625EA0E}">
        <p15:presenceInfo xmlns:p15="http://schemas.microsoft.com/office/powerpoint/2012/main" userId="Auth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CEB"/>
    <a:srgbClr val="95D600"/>
    <a:srgbClr val="FF6B00"/>
    <a:srgbClr val="00C1DE"/>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14" autoAdjust="0"/>
    <p:restoredTop sz="84082" autoAdjust="0"/>
  </p:normalViewPr>
  <p:slideViewPr>
    <p:cSldViewPr snapToGrid="0">
      <p:cViewPr varScale="1">
        <p:scale>
          <a:sx n="107" d="100"/>
          <a:sy n="107" d="100"/>
        </p:scale>
        <p:origin x="1328" y="16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73" d="100"/>
          <a:sy n="73" d="100"/>
        </p:scale>
        <p:origin x="3560"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0836F7-A38A-461C-9E01-FBB0AD11CEEA}"/>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6EFF89DB-0163-4563-9377-E6085C326570}"/>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408166A3-E862-4E45-91F7-3D96E6F6C54F}" type="datetimeFigureOut">
              <a:rPr lang="en-US" altLang="en-US"/>
              <a:pPr>
                <a:defRPr/>
              </a:pPr>
              <a:t>2/10/2026</a:t>
            </a:fld>
            <a:endParaRPr lang="en-US" altLang="en-US"/>
          </a:p>
        </p:txBody>
      </p:sp>
      <p:sp>
        <p:nvSpPr>
          <p:cNvPr id="4" name="Footer Placeholder 3">
            <a:extLst>
              <a:ext uri="{FF2B5EF4-FFF2-40B4-BE49-F238E27FC236}">
                <a16:creationId xmlns:a16="http://schemas.microsoft.com/office/drawing/2014/main" id="{B1576F87-20DA-468D-B340-09EA2263E84B}"/>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9C925CE1-DD78-4BE9-8679-5EA4FF45E7DC}"/>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AE52C29F-6E8B-4FCF-B05C-39095F06748E}"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80DD0D-9D32-4C0D-AA04-3265FC750FA6}"/>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0FDB6EE8-DCB8-41BD-A3C8-E3A12231608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7BB49F74-3831-4782-9926-36A1F1DC6259}" type="datetimeFigureOut">
              <a:rPr lang="en-US" altLang="en-US"/>
              <a:pPr>
                <a:defRPr/>
              </a:pPr>
              <a:t>2/10/2026</a:t>
            </a:fld>
            <a:endParaRPr lang="en-US" altLang="en-US"/>
          </a:p>
        </p:txBody>
      </p:sp>
      <p:sp>
        <p:nvSpPr>
          <p:cNvPr id="4" name="Slide Image Placeholder 3">
            <a:extLst>
              <a:ext uri="{FF2B5EF4-FFF2-40B4-BE49-F238E27FC236}">
                <a16:creationId xmlns:a16="http://schemas.microsoft.com/office/drawing/2014/main" id="{25744739-3539-48B5-A096-4DFD5EA77A9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58A2211-D7FD-4E67-A6D9-583B439384C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292F51B-BF74-49BC-83A1-C16F26379DFC}"/>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37DEDC91-3AC4-4F8D-BED3-4ED56913FA6D}"/>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4ED05C12-C9C4-4501-9C72-D2E25191FC3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Hello and welcome to the Linux for Embedded Systems lecture. This is the fourth lecture of the course.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a:t>
            </a:fld>
            <a:endParaRPr lang="en-US" altLang="en-US"/>
          </a:p>
        </p:txBody>
      </p:sp>
    </p:spTree>
    <p:extLst>
      <p:ext uri="{BB962C8B-B14F-4D97-AF65-F5344CB8AC3E}">
        <p14:creationId xmlns:p14="http://schemas.microsoft.com/office/powerpoint/2010/main" val="3507081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aim of this lecture is to</a:t>
            </a:r>
          </a:p>
          <a:p>
            <a:pPr lvl="1"/>
            <a:r>
              <a:rPr lang="en-US" sz="1200" kern="1200" dirty="0">
                <a:solidFill>
                  <a:schemeClr val="tx1"/>
                </a:solidFill>
                <a:effectLst/>
                <a:latin typeface="+mn-lt"/>
                <a:ea typeface="ＭＳ Ｐゴシック" charset="0"/>
                <a:cs typeface="ＭＳ Ｐゴシック" charset="0"/>
              </a:rPr>
              <a:t>- Illustrate the configuration and build process of an embedded Linux system.</a:t>
            </a:r>
          </a:p>
          <a:p>
            <a:pPr lvl="1"/>
            <a:r>
              <a:rPr lang="en-US" sz="1200" kern="1200" dirty="0">
                <a:solidFill>
                  <a:schemeClr val="tx1"/>
                </a:solidFill>
                <a:effectLst/>
                <a:latin typeface="+mn-lt"/>
                <a:ea typeface="ＭＳ Ｐゴシック" charset="0"/>
                <a:cs typeface="ＭＳ Ｐゴシック" charset="0"/>
              </a:rPr>
              <a:t>- Illustrate the concept of build systems.</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a:p>
        </p:txBody>
      </p:sp>
    </p:spTree>
    <p:extLst>
      <p:ext uri="{BB962C8B-B14F-4D97-AF65-F5344CB8AC3E}">
        <p14:creationId xmlns:p14="http://schemas.microsoft.com/office/powerpoint/2010/main" val="4143068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We </a:t>
            </a:r>
            <a:r>
              <a:rPr lang="en-US" dirty="0">
                <a:ea typeface="ＭＳ Ｐゴシック"/>
                <a:cs typeface="Calibri"/>
              </a:rPr>
              <a:t>will begin with</a:t>
            </a:r>
            <a:r>
              <a:rPr lang="en-US" sz="1200" kern="1200" dirty="0">
                <a:solidFill>
                  <a:schemeClr val="tx1"/>
                </a:solidFill>
                <a:effectLst/>
                <a:latin typeface="+mn-lt"/>
                <a:ea typeface="ＭＳ Ｐゴシック"/>
                <a:cs typeface="Calibri"/>
              </a:rPr>
              <a:t> a quick </a:t>
            </a:r>
            <a:r>
              <a:rPr lang="en-US" dirty="0">
                <a:ea typeface="ＭＳ Ｐゴシック"/>
                <a:cs typeface="Calibri"/>
              </a:rPr>
              <a:t>overview of </a:t>
            </a:r>
            <a:r>
              <a:rPr lang="en-US" sz="1200" kern="1200" dirty="0">
                <a:solidFill>
                  <a:schemeClr val="tx1"/>
                </a:solidFill>
                <a:effectLst/>
                <a:latin typeface="+mn-lt"/>
                <a:ea typeface="ＭＳ Ｐゴシック"/>
                <a:cs typeface="Calibri"/>
              </a:rPr>
              <a:t>what an embedded Linux system requires to operate.</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a:t>
            </a:fld>
            <a:endParaRPr lang="en-US" altLang="en-US"/>
          </a:p>
        </p:txBody>
      </p:sp>
    </p:spTree>
    <p:extLst>
      <p:ext uri="{BB962C8B-B14F-4D97-AF65-F5344CB8AC3E}">
        <p14:creationId xmlns:p14="http://schemas.microsoft.com/office/powerpoint/2010/main" val="1541421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ea typeface="ＭＳ Ｐゴシック"/>
                <a:cs typeface="Calibri"/>
              </a:rPr>
              <a:t>We </a:t>
            </a:r>
            <a:r>
              <a:rPr lang="en-US" dirty="0">
                <a:ea typeface="ＭＳ Ｐゴシック"/>
                <a:cs typeface="Calibri"/>
              </a:rPr>
              <a:t>will begin </a:t>
            </a:r>
            <a:r>
              <a:rPr lang="en-US" kern="1200" dirty="0">
                <a:solidFill>
                  <a:schemeClr val="tx1"/>
                </a:solidFill>
                <a:effectLst/>
                <a:ea typeface="ＭＳ Ｐゴシック"/>
                <a:cs typeface="Calibri"/>
              </a:rPr>
              <a:t>with a quick </a:t>
            </a:r>
            <a:r>
              <a:rPr lang="en-US" dirty="0">
                <a:ea typeface="ＭＳ Ｐゴシック"/>
                <a:cs typeface="Calibri"/>
              </a:rPr>
              <a:t>overview of </a:t>
            </a:r>
            <a:r>
              <a:rPr lang="en-US" kern="1200" dirty="0">
                <a:solidFill>
                  <a:schemeClr val="tx1"/>
                </a:solidFill>
                <a:effectLst/>
                <a:ea typeface="ＭＳ Ｐゴシック"/>
                <a:cs typeface="Calibri"/>
              </a:rPr>
              <a:t>what an embedded Linux system requires to operate.</a:t>
            </a:r>
            <a:endParaRPr lang="en-US" dirty="0">
              <a:solidFill>
                <a:srgbClr val="444444"/>
              </a:solidFill>
              <a:ea typeface="ＭＳ Ｐゴシック"/>
              <a:cs typeface="Calibri"/>
            </a:endParaRPr>
          </a:p>
          <a:p>
            <a:endParaRPr lang="en-IN" dirty="0">
              <a:solidFill>
                <a:srgbClr val="444444"/>
              </a:solidFill>
            </a:endParaRPr>
          </a:p>
          <a:p>
            <a:endParaRPr lang="en-US" sz="1200" kern="1200" dirty="0">
              <a:solidFill>
                <a:schemeClr val="tx1"/>
              </a:solidFill>
              <a:effectLst/>
              <a:latin typeface="+mn-lt"/>
              <a:ea typeface="ＭＳ Ｐゴシック" charset="0"/>
              <a:cs typeface="Calibri"/>
            </a:endParaRP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a:t>
            </a:fld>
            <a:endParaRPr lang="en-US" altLang="en-US"/>
          </a:p>
        </p:txBody>
      </p:sp>
    </p:spTree>
    <p:extLst>
      <p:ext uri="{BB962C8B-B14F-4D97-AF65-F5344CB8AC3E}">
        <p14:creationId xmlns:p14="http://schemas.microsoft.com/office/powerpoint/2010/main" val="1528729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An embedded Linux system requires the following components in order to operate properly:</a:t>
            </a:r>
          </a:p>
          <a:p>
            <a:pPr marL="742950" lvl="1" indent="-285750">
              <a:buFont typeface="Calibri"/>
              <a:buChar char="-"/>
            </a:pPr>
            <a:r>
              <a:rPr lang="en-US" sz="1200" kern="1200" dirty="0">
                <a:solidFill>
                  <a:schemeClr val="tx1"/>
                </a:solidFill>
                <a:effectLst/>
                <a:latin typeface="+mn-lt"/>
                <a:ea typeface="ＭＳ Ｐゴシック"/>
                <a:cs typeface="Calibri"/>
              </a:rPr>
              <a:t>A bootloader</a:t>
            </a:r>
          </a:p>
          <a:p>
            <a:pPr marL="742950" lvl="1" indent="-285750">
              <a:buFont typeface="Calibri"/>
              <a:buChar char="-"/>
            </a:pPr>
            <a:r>
              <a:rPr lang="en-US" sz="1200" kern="1200" dirty="0">
                <a:solidFill>
                  <a:schemeClr val="tx1"/>
                </a:solidFill>
                <a:effectLst/>
                <a:latin typeface="+mn-lt"/>
                <a:ea typeface="ＭＳ Ｐゴシック"/>
                <a:cs typeface="Calibri"/>
              </a:rPr>
              <a:t>A Linux kernel</a:t>
            </a:r>
          </a:p>
          <a:p>
            <a:pPr marL="742950" lvl="1" indent="-285750">
              <a:buFont typeface="Calibri"/>
              <a:buChar char="-"/>
            </a:pPr>
            <a:r>
              <a:rPr lang="en-US" sz="1200" kern="1200">
                <a:solidFill>
                  <a:schemeClr val="tx1"/>
                </a:solidFill>
                <a:effectLst/>
                <a:latin typeface="+mn-lt"/>
                <a:ea typeface="ＭＳ Ｐゴシック"/>
                <a:cs typeface="Calibri"/>
              </a:rPr>
              <a:t>A device tree blob</a:t>
            </a:r>
          </a:p>
          <a:p>
            <a:pPr marL="742950" lvl="1" indent="-285750">
              <a:buFont typeface="Calibri"/>
              <a:buChar char="-"/>
            </a:pPr>
            <a:r>
              <a:rPr lang="en-US" sz="1200" kern="1200" dirty="0">
                <a:solidFill>
                  <a:schemeClr val="tx1"/>
                </a:solidFill>
                <a:effectLst/>
                <a:latin typeface="+mn-lt"/>
                <a:ea typeface="ＭＳ Ｐゴシック"/>
                <a:cs typeface="Calibri"/>
              </a:rPr>
              <a:t>A root file system</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These components </a:t>
            </a:r>
            <a:r>
              <a:rPr lang="en-US" dirty="0">
                <a:ea typeface="ＭＳ Ｐゴシック"/>
                <a:cs typeface="Calibri"/>
              </a:rPr>
              <a:t>must </a:t>
            </a:r>
            <a:r>
              <a:rPr lang="en-US" sz="1200" kern="1200" dirty="0">
                <a:solidFill>
                  <a:schemeClr val="tx1"/>
                </a:solidFill>
                <a:effectLst/>
                <a:latin typeface="+mn-lt"/>
                <a:ea typeface="ＭＳ Ｐゴシック"/>
                <a:cs typeface="Calibri"/>
              </a:rPr>
              <a:t>be</a:t>
            </a:r>
            <a:r>
              <a:rPr lang="en-US" dirty="0">
                <a:ea typeface="ＭＳ Ｐゴシック"/>
                <a:cs typeface="Calibri"/>
              </a:rPr>
              <a:t>:</a:t>
            </a:r>
            <a:endParaRPr lang="en-US" sz="1200" kern="1200" dirty="0">
              <a:solidFill>
                <a:schemeClr val="tx1"/>
              </a:solidFill>
              <a:effectLst/>
              <a:latin typeface="+mn-lt"/>
              <a:ea typeface="ＭＳ Ｐゴシック" charset="0"/>
              <a:cs typeface="Calibri"/>
            </a:endParaRPr>
          </a:p>
          <a:p>
            <a:pPr marL="742950" lvl="1" indent="-285750">
              <a:buFont typeface="Calibri"/>
              <a:buChar char="-"/>
            </a:pPr>
            <a:r>
              <a:rPr lang="en-US" sz="1200" kern="1200" dirty="0">
                <a:solidFill>
                  <a:schemeClr val="tx1"/>
                </a:solidFill>
                <a:effectLst/>
                <a:latin typeface="+mn-lt"/>
                <a:ea typeface="ＭＳ Ｐゴシック"/>
                <a:cs typeface="Calibri"/>
              </a:rPr>
              <a:t>Configured for the embedded system hardware platform</a:t>
            </a:r>
            <a:r>
              <a:rPr lang="en-US" dirty="0">
                <a:ea typeface="ＭＳ Ｐゴシック"/>
                <a:cs typeface="Calibri"/>
              </a:rPr>
              <a:t>.</a:t>
            </a:r>
            <a:endParaRPr lang="en-US" sz="1200" kern="1200" dirty="0">
              <a:solidFill>
                <a:schemeClr val="tx1"/>
              </a:solidFill>
              <a:effectLst/>
              <a:latin typeface="+mn-lt"/>
              <a:ea typeface="ＭＳ Ｐゴシック"/>
              <a:cs typeface="Calibri"/>
            </a:endParaRPr>
          </a:p>
          <a:p>
            <a:pPr marL="742950" lvl="1" indent="-285750">
              <a:buFont typeface="Calibri"/>
              <a:buChar char="-"/>
            </a:pPr>
            <a:r>
              <a:rPr lang="en-US" sz="1200" kern="1200" dirty="0">
                <a:solidFill>
                  <a:schemeClr val="tx1"/>
                </a:solidFill>
                <a:effectLst/>
                <a:latin typeface="+mn-lt"/>
                <a:ea typeface="ＭＳ Ｐゴシック"/>
                <a:cs typeface="Calibri"/>
              </a:rPr>
              <a:t>Compiled and linked into an executable format</a:t>
            </a:r>
            <a:r>
              <a:rPr lang="en-US" dirty="0">
                <a:ea typeface="ＭＳ Ｐゴシック"/>
                <a:cs typeface="Calibri"/>
              </a:rPr>
              <a:t>.</a:t>
            </a:r>
            <a:endParaRPr lang="en-US" sz="1200" kern="1200" dirty="0">
              <a:solidFill>
                <a:schemeClr val="tx1"/>
              </a:solidFill>
              <a:effectLst/>
              <a:latin typeface="+mn-lt"/>
              <a:ea typeface="ＭＳ Ｐゴシック"/>
              <a:cs typeface="Calibri"/>
            </a:endParaRPr>
          </a:p>
          <a:p>
            <a:pPr marL="742950" lvl="1" indent="-285750">
              <a:buFont typeface="Calibri"/>
              <a:buChar char="-"/>
            </a:pPr>
            <a:r>
              <a:rPr lang="en-US" sz="1200" kern="1200" dirty="0">
                <a:solidFill>
                  <a:schemeClr val="tx1"/>
                </a:solidFill>
                <a:effectLst/>
                <a:latin typeface="+mn-lt"/>
                <a:ea typeface="ＭＳ Ｐゴシック"/>
                <a:cs typeface="Calibri"/>
              </a:rPr>
              <a:t>Deployed into the embedded system persistent storage for booting and operations</a:t>
            </a:r>
            <a:r>
              <a:rPr lang="en-US" dirty="0">
                <a:ea typeface="ＭＳ Ｐゴシック"/>
                <a:cs typeface="Calibri"/>
              </a:rPr>
              <a:t>.</a:t>
            </a:r>
            <a:endParaRPr lang="en-US" sz="1200" kern="1200" dirty="0">
              <a:solidFill>
                <a:schemeClr val="tx1"/>
              </a:solidFill>
              <a:effectLst/>
              <a:latin typeface="+mn-lt"/>
              <a:ea typeface="ＭＳ Ｐゴシック"/>
              <a:cs typeface="Calibri"/>
            </a:endParaRP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board’s U-Boot partition is RAW unformatted space.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 kernel and </a:t>
            </a:r>
            <a:r>
              <a:rPr lang="en-US" dirty="0">
                <a:ea typeface="ＭＳ Ｐゴシック"/>
                <a:cs typeface="Calibri"/>
              </a:rPr>
              <a:t>Device</a:t>
            </a:r>
            <a:r>
              <a:rPr lang="en-US" sz="1200" kern="1200" dirty="0">
                <a:solidFill>
                  <a:schemeClr val="tx1"/>
                </a:solidFill>
                <a:effectLst/>
                <a:latin typeface="+mn-lt"/>
                <a:ea typeface="ＭＳ Ｐゴシック"/>
                <a:cs typeface="Calibri"/>
              </a:rPr>
              <a:t> </a:t>
            </a:r>
            <a:r>
              <a:rPr lang="en-US" dirty="0">
                <a:ea typeface="ＭＳ Ｐゴシック"/>
                <a:cs typeface="Calibri"/>
              </a:rPr>
              <a:t>Tree</a:t>
            </a:r>
            <a:r>
              <a:rPr lang="en-US" sz="1200" kern="1200" dirty="0">
                <a:solidFill>
                  <a:schemeClr val="tx1"/>
                </a:solidFill>
                <a:effectLst/>
                <a:latin typeface="+mn-lt"/>
                <a:ea typeface="ＭＳ Ｐゴシック"/>
                <a:cs typeface="Calibri"/>
              </a:rPr>
              <a:t> </a:t>
            </a:r>
            <a:r>
              <a:rPr lang="en-US" dirty="0">
                <a:ea typeface="ＭＳ Ｐゴシック"/>
                <a:cs typeface="Calibri"/>
              </a:rPr>
              <a:t>Blob</a:t>
            </a:r>
            <a:r>
              <a:rPr lang="en-US" sz="1200" kern="1200" dirty="0">
                <a:solidFill>
                  <a:schemeClr val="tx1"/>
                </a:solidFill>
                <a:effectLst/>
                <a:latin typeface="+mn-lt"/>
                <a:ea typeface="ＭＳ Ｐゴシック"/>
                <a:cs typeface="Calibri"/>
              </a:rPr>
              <a:t> are part of a FAT file system.</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a:cs typeface="Calibri"/>
              </a:rPr>
              <a:t>The </a:t>
            </a:r>
            <a:r>
              <a:rPr lang="en-US" dirty="0">
                <a:ea typeface="ＭＳ Ｐゴシック"/>
                <a:cs typeface="Calibri"/>
              </a:rPr>
              <a:t>root</a:t>
            </a:r>
            <a:r>
              <a:rPr lang="en-US" sz="1200" kern="1200" dirty="0">
                <a:solidFill>
                  <a:schemeClr val="tx1"/>
                </a:solidFill>
                <a:effectLst/>
                <a:latin typeface="+mn-lt"/>
                <a:ea typeface="ＭＳ Ｐゴシック"/>
                <a:cs typeface="Calibri"/>
              </a:rPr>
              <a:t> </a:t>
            </a:r>
            <a:r>
              <a:rPr lang="en-US" dirty="0">
                <a:ea typeface="ＭＳ Ｐゴシック"/>
                <a:cs typeface="Calibri"/>
              </a:rPr>
              <a:t>file</a:t>
            </a:r>
            <a:r>
              <a:rPr lang="en-US" sz="1200" kern="1200" dirty="0">
                <a:solidFill>
                  <a:schemeClr val="tx1"/>
                </a:solidFill>
                <a:effectLst/>
                <a:latin typeface="+mn-lt"/>
                <a:ea typeface="ＭＳ Ｐゴシック"/>
                <a:cs typeface="Calibri"/>
              </a:rPr>
              <a:t> </a:t>
            </a:r>
            <a:r>
              <a:rPr lang="en-US" dirty="0">
                <a:ea typeface="ＭＳ Ｐゴシック"/>
                <a:cs typeface="Calibri"/>
              </a:rPr>
              <a:t>system</a:t>
            </a:r>
            <a:r>
              <a:rPr lang="en-US" sz="1200" kern="1200" dirty="0">
                <a:solidFill>
                  <a:schemeClr val="tx1"/>
                </a:solidFill>
                <a:effectLst/>
                <a:latin typeface="+mn-lt"/>
                <a:ea typeface="ＭＳ Ｐゴシック"/>
                <a:cs typeface="Calibri"/>
              </a:rPr>
              <a:t> is part of a Linux-native file system, </a:t>
            </a:r>
            <a:r>
              <a:rPr lang="en-US" dirty="0">
                <a:ea typeface="ＭＳ Ｐゴシック"/>
                <a:cs typeface="Calibri"/>
              </a:rPr>
              <a:t>typically</a:t>
            </a:r>
            <a:r>
              <a:rPr lang="en-US" sz="1200" kern="1200" dirty="0">
                <a:solidFill>
                  <a:schemeClr val="tx1"/>
                </a:solidFill>
                <a:effectLst/>
                <a:latin typeface="+mn-lt"/>
                <a:ea typeface="ＭＳ Ｐゴシック"/>
                <a:cs typeface="Calibri"/>
              </a:rPr>
              <a:t> ext4.</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a:t>
            </a:fld>
            <a:endParaRPr lang="en-US" altLang="en-US"/>
          </a:p>
        </p:txBody>
      </p:sp>
    </p:spTree>
    <p:extLst>
      <p:ext uri="{BB962C8B-B14F-4D97-AF65-F5344CB8AC3E}">
        <p14:creationId xmlns:p14="http://schemas.microsoft.com/office/powerpoint/2010/main" val="1923463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We will now look at the workflow of an embedded system.</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6</a:t>
            </a:fld>
            <a:endParaRPr lang="en-US" altLang="en-US"/>
          </a:p>
        </p:txBody>
      </p:sp>
    </p:spTree>
    <p:extLst>
      <p:ext uri="{BB962C8B-B14F-4D97-AF65-F5344CB8AC3E}">
        <p14:creationId xmlns:p14="http://schemas.microsoft.com/office/powerpoint/2010/main" val="20479659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kern="1200" dirty="0">
                <a:solidFill>
                  <a:schemeClr val="tx1"/>
                </a:solidFill>
                <a:effectLst/>
                <a:latin typeface="+mn-lt"/>
                <a:ea typeface="ＭＳ Ｐゴシック"/>
                <a:cs typeface="Calibri"/>
              </a:rPr>
              <a:t>This diagram illustrates the process </a:t>
            </a:r>
            <a:r>
              <a:rPr lang="en-US" dirty="0">
                <a:ea typeface="ＭＳ Ｐゴシック"/>
                <a:cs typeface="Calibri"/>
              </a:rPr>
              <a:t>to configure the</a:t>
            </a:r>
            <a:r>
              <a:rPr lang="en-US" sz="1200" kern="1200" dirty="0">
                <a:solidFill>
                  <a:schemeClr val="tx1"/>
                </a:solidFill>
                <a:effectLst/>
                <a:latin typeface="+mn-lt"/>
                <a:ea typeface="ＭＳ Ｐゴシック"/>
                <a:cs typeface="Calibri"/>
              </a:rPr>
              <a:t> specific components. We will take a more in-depth look into each of these.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7</a:t>
            </a:fld>
            <a:endParaRPr lang="en-US" altLang="en-US"/>
          </a:p>
        </p:txBody>
      </p:sp>
    </p:spTree>
    <p:extLst>
      <p:ext uri="{BB962C8B-B14F-4D97-AF65-F5344CB8AC3E}">
        <p14:creationId xmlns:p14="http://schemas.microsoft.com/office/powerpoint/2010/main" val="2719600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To </a:t>
            </a:r>
            <a:r>
              <a:rPr lang="en-US" dirty="0">
                <a:ea typeface="ＭＳ Ｐゴシック"/>
                <a:cs typeface="Calibri"/>
              </a:rPr>
              <a:t>begin</a:t>
            </a:r>
            <a:r>
              <a:rPr lang="en-US" sz="1200" kern="1200" dirty="0">
                <a:solidFill>
                  <a:schemeClr val="tx1"/>
                </a:solidFill>
                <a:effectLst/>
                <a:latin typeface="+mn-lt"/>
                <a:ea typeface="ＭＳ Ｐゴシック"/>
                <a:cs typeface="Calibri"/>
              </a:rPr>
              <a:t>, the bootloader source code is obtained</a:t>
            </a:r>
            <a:r>
              <a:rPr lang="en-US" dirty="0">
                <a:ea typeface="ＭＳ Ｐゴシック"/>
                <a:cs typeface="Calibri"/>
              </a:rPr>
              <a:t> and</a:t>
            </a:r>
            <a:r>
              <a:rPr lang="en-US" sz="1200" kern="1200" dirty="0">
                <a:solidFill>
                  <a:schemeClr val="tx1"/>
                </a:solidFill>
                <a:effectLst/>
                <a:latin typeface="+mn-lt"/>
                <a:ea typeface="ＭＳ Ｐゴシック"/>
                <a:cs typeface="Calibri"/>
              </a:rPr>
              <a:t> configured for the specific hardware of the embedded system. For example, the correct CPU </a:t>
            </a:r>
            <a:r>
              <a:rPr lang="en-US" dirty="0">
                <a:ea typeface="ＭＳ Ｐゴシック"/>
                <a:cs typeface="Calibri"/>
              </a:rPr>
              <a:t>and board</a:t>
            </a:r>
            <a:r>
              <a:rPr lang="en-US" sz="1200" kern="1200" dirty="0">
                <a:solidFill>
                  <a:schemeClr val="tx1"/>
                </a:solidFill>
                <a:effectLst/>
                <a:latin typeface="+mn-lt"/>
                <a:ea typeface="ＭＳ Ｐゴシック"/>
                <a:cs typeface="Calibri"/>
              </a:rPr>
              <a:t> </a:t>
            </a:r>
            <a:r>
              <a:rPr lang="en-US" dirty="0">
                <a:ea typeface="ＭＳ Ｐゴシック"/>
                <a:cs typeface="Calibri"/>
              </a:rPr>
              <a:t>are </a:t>
            </a:r>
            <a:r>
              <a:rPr lang="en-US" sz="1200" kern="1200" dirty="0">
                <a:solidFill>
                  <a:schemeClr val="tx1"/>
                </a:solidFill>
                <a:effectLst/>
                <a:latin typeface="+mn-lt"/>
                <a:ea typeface="ＭＳ Ｐゴシック"/>
                <a:cs typeface="Calibri"/>
              </a:rPr>
              <a:t>selected, and </a:t>
            </a:r>
            <a:r>
              <a:rPr lang="en-US" dirty="0">
                <a:ea typeface="ＭＳ Ｐゴシック"/>
                <a:cs typeface="Calibri"/>
              </a:rPr>
              <a:t>some </a:t>
            </a:r>
            <a:r>
              <a:rPr lang="en-US" sz="1200" kern="1200" dirty="0">
                <a:solidFill>
                  <a:schemeClr val="tx1"/>
                </a:solidFill>
                <a:effectLst/>
                <a:latin typeface="+mn-lt"/>
                <a:ea typeface="ＭＳ Ｐゴシック"/>
                <a:cs typeface="Calibri"/>
              </a:rPr>
              <a:t>custom configuration </a:t>
            </a:r>
            <a:r>
              <a:rPr lang="en-US" dirty="0">
                <a:ea typeface="ＭＳ Ｐゴシック"/>
                <a:cs typeface="Calibri"/>
              </a:rPr>
              <a:t>may be required if</a:t>
            </a:r>
            <a:r>
              <a:rPr lang="en-US" sz="1200" kern="1200" dirty="0">
                <a:solidFill>
                  <a:schemeClr val="tx1"/>
                </a:solidFill>
                <a:effectLst/>
                <a:latin typeface="+mn-lt"/>
                <a:ea typeface="ＭＳ Ｐゴシック"/>
                <a:cs typeface="Calibri"/>
              </a:rPr>
              <a:t> the hardware is non-standard.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It is then cross-compiled for the CPU of choice, providing the executable code.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Then, it is copied onto the boot device, such as a sector of a microSD card or a boot flash device on the embedded system board.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8</a:t>
            </a:fld>
            <a:endParaRPr lang="en-US" altLang="en-US"/>
          </a:p>
        </p:txBody>
      </p:sp>
    </p:spTree>
    <p:extLst>
      <p:ext uri="{BB962C8B-B14F-4D97-AF65-F5344CB8AC3E}">
        <p14:creationId xmlns:p14="http://schemas.microsoft.com/office/powerpoint/2010/main" val="3600496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Linux kernel binary and </a:t>
            </a:r>
            <a:r>
              <a:rPr lang="en-US" dirty="0">
                <a:ea typeface="ＭＳ Ｐゴシック"/>
                <a:cs typeface="Calibri"/>
              </a:rPr>
              <a:t>Device</a:t>
            </a:r>
            <a:r>
              <a:rPr lang="en-US" sz="1200" kern="1200" dirty="0">
                <a:solidFill>
                  <a:schemeClr val="tx1"/>
                </a:solidFill>
                <a:effectLst/>
                <a:latin typeface="+mn-lt"/>
                <a:ea typeface="ＭＳ Ｐゴシック"/>
                <a:cs typeface="Calibri"/>
              </a:rPr>
              <a:t> </a:t>
            </a:r>
            <a:r>
              <a:rPr lang="en-US" dirty="0">
                <a:ea typeface="ＭＳ Ｐゴシック"/>
                <a:cs typeface="Calibri"/>
              </a:rPr>
              <a:t>Tree Blob </a:t>
            </a:r>
            <a:r>
              <a:rPr lang="en-US" sz="1200" kern="1200" dirty="0">
                <a:solidFill>
                  <a:schemeClr val="tx1"/>
                </a:solidFill>
                <a:effectLst/>
                <a:latin typeface="+mn-lt"/>
                <a:ea typeface="ＭＳ Ｐゴシック"/>
                <a:cs typeface="Calibri"/>
              </a:rPr>
              <a:t>are prepared in a </a:t>
            </a:r>
            <a:r>
              <a:rPr lang="en-US" dirty="0">
                <a:ea typeface="ＭＳ Ｐゴシック"/>
                <a:cs typeface="Calibri"/>
              </a:rPr>
              <a:t>manner very </a:t>
            </a:r>
            <a:r>
              <a:rPr lang="en-US" sz="1200" kern="1200" dirty="0">
                <a:solidFill>
                  <a:schemeClr val="tx1"/>
                </a:solidFill>
                <a:effectLst/>
                <a:latin typeface="+mn-lt"/>
                <a:ea typeface="ＭＳ Ｐゴシック"/>
                <a:cs typeface="Calibri"/>
              </a:rPr>
              <a:t>similar to the bootloader binary. </a:t>
            </a:r>
            <a:r>
              <a:rPr lang="en-US" dirty="0">
                <a:ea typeface="ＭＳ Ｐゴシック"/>
                <a:cs typeface="Calibri"/>
              </a:rPr>
              <a:t>The process</a:t>
            </a:r>
            <a:r>
              <a:rPr lang="en-US" sz="1200" kern="1200" dirty="0">
                <a:solidFill>
                  <a:schemeClr val="tx1"/>
                </a:solidFill>
                <a:effectLst/>
                <a:latin typeface="+mn-lt"/>
                <a:ea typeface="ＭＳ Ｐゴシック"/>
                <a:cs typeface="Calibri"/>
              </a:rPr>
              <a:t> begins with obtaining the kernel source code</a:t>
            </a:r>
            <a:r>
              <a:rPr lang="en-US" dirty="0">
                <a:ea typeface="ＭＳ Ｐゴシック"/>
                <a:cs typeface="Calibri"/>
              </a:rPr>
              <a:t>, which is</a:t>
            </a:r>
            <a:r>
              <a:rPr lang="en-US" sz="1200" kern="1200" dirty="0">
                <a:solidFill>
                  <a:schemeClr val="tx1"/>
                </a:solidFill>
                <a:effectLst/>
                <a:latin typeface="+mn-lt"/>
                <a:ea typeface="ＭＳ Ｐゴシック"/>
                <a:cs typeface="Calibri"/>
              </a:rPr>
              <a:t> then configured for the specific hardware of the embedded system. </a:t>
            </a:r>
            <a:r>
              <a:rPr lang="en-US" dirty="0">
                <a:ea typeface="ＭＳ Ｐゴシック"/>
                <a:cs typeface="Calibri"/>
              </a:rPr>
              <a:t>The</a:t>
            </a:r>
            <a:r>
              <a:rPr lang="en-US" sz="1200" kern="1200" dirty="0">
                <a:solidFill>
                  <a:schemeClr val="tx1"/>
                </a:solidFill>
                <a:effectLst/>
                <a:latin typeface="+mn-lt"/>
                <a:ea typeface="ＭＳ Ｐゴシック"/>
                <a:cs typeface="Calibri"/>
              </a:rPr>
              <a:t> correct CPU </a:t>
            </a:r>
            <a:r>
              <a:rPr lang="en-US" dirty="0">
                <a:ea typeface="ＭＳ Ｐゴシック"/>
                <a:cs typeface="Calibri"/>
              </a:rPr>
              <a:t>and board will</a:t>
            </a:r>
            <a:r>
              <a:rPr lang="en-US" sz="1200" kern="1200" dirty="0">
                <a:solidFill>
                  <a:schemeClr val="tx1"/>
                </a:solidFill>
                <a:effectLst/>
                <a:latin typeface="+mn-lt"/>
                <a:ea typeface="ＭＳ Ｐゴシック"/>
                <a:cs typeface="Calibri"/>
              </a:rPr>
              <a:t> be selected, and custom configurations may be made if the hardware is non-standard.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It is then cross-compiled and will produce an executable Linux kernel, executable Linux kernel modules, as well as a </a:t>
            </a:r>
            <a:r>
              <a:rPr lang="en-US" dirty="0">
                <a:ea typeface="ＭＳ Ｐゴシック"/>
                <a:cs typeface="Calibri"/>
              </a:rPr>
              <a:t>Device</a:t>
            </a:r>
            <a:r>
              <a:rPr lang="en-US" sz="1200" kern="1200" dirty="0">
                <a:solidFill>
                  <a:schemeClr val="tx1"/>
                </a:solidFill>
                <a:effectLst/>
                <a:latin typeface="+mn-lt"/>
                <a:ea typeface="ＭＳ Ｐゴシック"/>
                <a:cs typeface="Calibri"/>
              </a:rPr>
              <a:t> </a:t>
            </a:r>
            <a:r>
              <a:rPr lang="en-US" dirty="0">
                <a:ea typeface="ＭＳ Ｐゴシック"/>
                <a:cs typeface="Calibri"/>
              </a:rPr>
              <a:t>Tree</a:t>
            </a:r>
            <a:r>
              <a:rPr lang="en-US" sz="1200" kern="1200" dirty="0">
                <a:solidFill>
                  <a:schemeClr val="tx1"/>
                </a:solidFill>
                <a:effectLst/>
                <a:latin typeface="+mn-lt"/>
                <a:ea typeface="ＭＳ Ｐゴシック"/>
                <a:cs typeface="Calibri"/>
              </a:rPr>
              <a:t> </a:t>
            </a:r>
            <a:r>
              <a:rPr lang="en-US" dirty="0">
                <a:ea typeface="ＭＳ Ｐゴシック"/>
                <a:cs typeface="Calibri"/>
              </a:rPr>
              <a:t>Blob</a:t>
            </a:r>
            <a:r>
              <a:rPr lang="en-US" sz="1200" kern="1200" dirty="0">
                <a:solidFill>
                  <a:schemeClr val="tx1"/>
                </a:solidFill>
                <a:effectLst/>
                <a:latin typeface="+mn-lt"/>
                <a:ea typeface="ＭＳ Ｐゴシック"/>
                <a:cs typeface="Calibri"/>
              </a:rPr>
              <a:t>.</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Once these are obtained, they can be put in a partition on a microSD card or onto a boot flash device on the embedded system board.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9</a:t>
            </a:fld>
            <a:endParaRPr lang="en-US" altLang="en-US"/>
          </a:p>
        </p:txBody>
      </p:sp>
    </p:spTree>
    <p:extLst>
      <p:ext uri="{BB962C8B-B14F-4D97-AF65-F5344CB8AC3E}">
        <p14:creationId xmlns:p14="http://schemas.microsoft.com/office/powerpoint/2010/main" val="1155804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system programs source code can be obtained in a few different ways, </a:t>
            </a:r>
            <a:r>
              <a:rPr lang="en-US" dirty="0">
                <a:ea typeface="ＭＳ Ｐゴシック"/>
                <a:cs typeface="Calibri"/>
              </a:rPr>
              <a:t>either</a:t>
            </a:r>
            <a:r>
              <a:rPr lang="en-US" sz="1200" kern="1200" dirty="0">
                <a:solidFill>
                  <a:schemeClr val="tx1"/>
                </a:solidFill>
                <a:effectLst/>
                <a:latin typeface="+mn-lt"/>
                <a:ea typeface="ＭＳ Ｐゴシック"/>
                <a:cs typeface="Calibri"/>
              </a:rPr>
              <a:t> </a:t>
            </a:r>
            <a:r>
              <a:rPr lang="en-US" dirty="0">
                <a:ea typeface="ＭＳ Ｐゴシック"/>
                <a:cs typeface="Calibri"/>
              </a:rPr>
              <a:t>by downloading</a:t>
            </a:r>
            <a:r>
              <a:rPr lang="en-US" sz="1200" kern="1200" dirty="0">
                <a:solidFill>
                  <a:schemeClr val="tx1"/>
                </a:solidFill>
                <a:effectLst/>
                <a:latin typeface="+mn-lt"/>
                <a:ea typeface="ＭＳ Ｐゴシック"/>
                <a:cs typeface="Calibri"/>
              </a:rPr>
              <a:t> </a:t>
            </a:r>
            <a:r>
              <a:rPr lang="en-US" dirty="0">
                <a:ea typeface="ＭＳ Ｐゴシック"/>
                <a:cs typeface="Calibri"/>
              </a:rPr>
              <a:t>it </a:t>
            </a:r>
            <a:r>
              <a:rPr lang="en-US" sz="1200" kern="1200" dirty="0">
                <a:solidFill>
                  <a:schemeClr val="tx1"/>
                </a:solidFill>
                <a:effectLst/>
                <a:latin typeface="+mn-lt"/>
                <a:ea typeface="ＭＳ Ｐゴシック"/>
                <a:cs typeface="Calibri"/>
              </a:rPr>
              <a:t>from a source on the Internet or </a:t>
            </a:r>
            <a:r>
              <a:rPr lang="en-US" dirty="0">
                <a:ea typeface="ＭＳ Ｐゴシック"/>
                <a:cs typeface="Calibri"/>
              </a:rPr>
              <a:t>by receiving</a:t>
            </a:r>
            <a:r>
              <a:rPr lang="en-US" sz="1200" kern="1200" dirty="0">
                <a:solidFill>
                  <a:schemeClr val="tx1"/>
                </a:solidFill>
                <a:effectLst/>
                <a:latin typeface="+mn-lt"/>
                <a:ea typeface="ＭＳ Ｐゴシック"/>
                <a:cs typeface="Calibri"/>
              </a:rPr>
              <a:t> </a:t>
            </a:r>
            <a:r>
              <a:rPr lang="en-US" dirty="0">
                <a:ea typeface="ＭＳ Ｐゴシック"/>
                <a:cs typeface="Calibri"/>
              </a:rPr>
              <a:t>it </a:t>
            </a:r>
            <a:r>
              <a:rPr lang="en-US" sz="1200" kern="1200" dirty="0">
                <a:solidFill>
                  <a:schemeClr val="tx1"/>
                </a:solidFill>
                <a:effectLst/>
                <a:latin typeface="+mn-lt"/>
                <a:ea typeface="ＭＳ Ｐゴシック"/>
                <a:cs typeface="Calibri"/>
              </a:rPr>
              <a:t>from an operating system vendor.</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They are then configured for a specific application. Only the system programs that are required for the application that the embedded system is intended for will be considered.</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Next, they</a:t>
            </a:r>
            <a:r>
              <a:rPr lang="en-US" sz="1200" kern="1200" dirty="0">
                <a:solidFill>
                  <a:schemeClr val="tx1"/>
                </a:solidFill>
                <a:effectLst/>
                <a:latin typeface="+mn-lt"/>
                <a:ea typeface="ＭＳ Ｐゴシック"/>
                <a:cs typeface="Calibri"/>
              </a:rPr>
              <a:t> are cross-compiled, which provides the executable system program binaries. </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10</a:t>
            </a:fld>
            <a:endParaRPr lang="en-US" altLang="en-US"/>
          </a:p>
        </p:txBody>
      </p:sp>
    </p:spTree>
    <p:extLst>
      <p:ext uri="{BB962C8B-B14F-4D97-AF65-F5344CB8AC3E}">
        <p14:creationId xmlns:p14="http://schemas.microsoft.com/office/powerpoint/2010/main" val="126486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root file system is also prepared in the workflow. This </a:t>
            </a:r>
            <a:r>
              <a:rPr lang="en-US" dirty="0">
                <a:ea typeface="ＭＳ Ｐゴシック"/>
                <a:cs typeface="Calibri"/>
              </a:rPr>
              <a:t>process involves a</a:t>
            </a:r>
            <a:r>
              <a:rPr lang="en-US" sz="1200" kern="1200" dirty="0">
                <a:solidFill>
                  <a:schemeClr val="tx1"/>
                </a:solidFill>
                <a:effectLst/>
                <a:latin typeface="+mn-lt"/>
                <a:ea typeface="ＭＳ Ｐゴシック"/>
                <a:cs typeface="Calibri"/>
              </a:rPr>
              <a:t> number of things: </a:t>
            </a:r>
          </a:p>
          <a:p>
            <a:pPr lvl="1"/>
            <a:r>
              <a:rPr lang="en-US" sz="1200" kern="1200" dirty="0">
                <a:solidFill>
                  <a:schemeClr val="tx1"/>
                </a:solidFill>
                <a:effectLst/>
                <a:latin typeface="+mn-lt"/>
                <a:ea typeface="ＭＳ Ｐゴシック"/>
                <a:cs typeface="Calibri"/>
              </a:rPr>
              <a:t>- Creating a file and mounting it as a volume on the development host</a:t>
            </a:r>
            <a:r>
              <a:rPr lang="en-US" dirty="0">
                <a:ea typeface="ＭＳ Ｐゴシック"/>
                <a:cs typeface="Calibri"/>
              </a:rPr>
              <a:t>.</a:t>
            </a:r>
            <a:r>
              <a:rPr lang="en-US" sz="1200" kern="1200" dirty="0">
                <a:solidFill>
                  <a:schemeClr val="tx1"/>
                </a:solidFill>
                <a:effectLst/>
                <a:latin typeface="+mn-lt"/>
                <a:ea typeface="ＭＳ Ｐゴシック"/>
                <a:cs typeface="Calibri"/>
              </a:rPr>
              <a:t> </a:t>
            </a:r>
          </a:p>
          <a:p>
            <a:pPr lvl="1"/>
            <a:r>
              <a:rPr lang="en-US" sz="1200" kern="1200" dirty="0">
                <a:solidFill>
                  <a:schemeClr val="tx1"/>
                </a:solidFill>
                <a:effectLst/>
                <a:latin typeface="+mn-lt"/>
                <a:ea typeface="ＭＳ Ｐゴシック"/>
                <a:cs typeface="Calibri"/>
              </a:rPr>
              <a:t>- Formatting it using one of the file systems </a:t>
            </a:r>
            <a:r>
              <a:rPr lang="en-US" dirty="0">
                <a:ea typeface="ＭＳ Ｐゴシック"/>
                <a:cs typeface="Calibri"/>
              </a:rPr>
              <a:t>supported by Linux</a:t>
            </a:r>
            <a:r>
              <a:rPr lang="en-US" sz="1200" kern="1200" dirty="0">
                <a:solidFill>
                  <a:schemeClr val="tx1"/>
                </a:solidFill>
                <a:effectLst/>
                <a:latin typeface="+mn-lt"/>
                <a:ea typeface="ＭＳ Ｐゴシック"/>
                <a:cs typeface="Calibri"/>
              </a:rPr>
              <a:t>, for example ext3</a:t>
            </a:r>
            <a:r>
              <a:rPr lang="en-US" dirty="0">
                <a:ea typeface="ＭＳ Ｐゴシック"/>
                <a:cs typeface="Calibri"/>
              </a:rPr>
              <a:t>.</a:t>
            </a:r>
            <a:endParaRPr lang="en-US" sz="1200" kern="1200" dirty="0">
              <a:solidFill>
                <a:schemeClr val="tx1"/>
              </a:solidFill>
              <a:effectLst/>
              <a:latin typeface="+mn-lt"/>
              <a:ea typeface="ＭＳ Ｐゴシック" charset="0"/>
              <a:cs typeface="Calibri"/>
            </a:endParaRPr>
          </a:p>
          <a:p>
            <a:pPr lvl="1"/>
            <a:r>
              <a:rPr lang="en-US" sz="1200" kern="1200" dirty="0">
                <a:solidFill>
                  <a:schemeClr val="tx1"/>
                </a:solidFill>
                <a:effectLst/>
                <a:latin typeface="+mn-lt"/>
                <a:ea typeface="ＭＳ Ｐゴシック"/>
                <a:cs typeface="Calibri"/>
              </a:rPr>
              <a:t>- Creating the required directory tree</a:t>
            </a:r>
            <a:r>
              <a:rPr lang="en-US" dirty="0">
                <a:ea typeface="ＭＳ Ｐゴシック"/>
                <a:cs typeface="Calibri"/>
              </a:rPr>
              <a:t>.</a:t>
            </a:r>
            <a:endParaRPr lang="en-US" sz="1200" kern="1200" dirty="0">
              <a:solidFill>
                <a:schemeClr val="tx1"/>
              </a:solidFill>
              <a:effectLst/>
              <a:latin typeface="+mn-lt"/>
              <a:ea typeface="ＭＳ Ｐゴシック" charset="0"/>
              <a:cs typeface="Calibri"/>
            </a:endParaRPr>
          </a:p>
          <a:p>
            <a:pPr lvl="1"/>
            <a:r>
              <a:rPr lang="en-US" sz="1200" kern="1200" dirty="0">
                <a:solidFill>
                  <a:schemeClr val="tx1"/>
                </a:solidFill>
                <a:effectLst/>
                <a:latin typeface="+mn-lt"/>
                <a:ea typeface="ＭＳ Ｐゴシック"/>
                <a:cs typeface="Calibri"/>
              </a:rPr>
              <a:t>- Populating it with the needed configuration files</a:t>
            </a:r>
            <a:r>
              <a:rPr lang="en-US" dirty="0">
                <a:ea typeface="ＭＳ Ｐゴシック"/>
                <a:cs typeface="Calibri"/>
              </a:rPr>
              <a:t>.</a:t>
            </a:r>
            <a:endParaRPr lang="en-US" sz="1200" kern="1200" dirty="0">
              <a:solidFill>
                <a:schemeClr val="tx1"/>
              </a:solidFill>
              <a:effectLst/>
              <a:latin typeface="+mn-lt"/>
              <a:ea typeface="ＭＳ Ｐゴシック" charset="0"/>
              <a:cs typeface="Calibri"/>
            </a:endParaRPr>
          </a:p>
          <a:p>
            <a:pPr lvl="1"/>
            <a:r>
              <a:rPr lang="en-US" sz="1200" kern="1200">
                <a:solidFill>
                  <a:schemeClr val="tx1"/>
                </a:solidFill>
                <a:effectLst/>
                <a:latin typeface="+mn-lt"/>
                <a:ea typeface="ＭＳ Ｐゴシック"/>
                <a:cs typeface="Calibri"/>
              </a:rPr>
              <a:t>- Populating it with the system program binary</a:t>
            </a:r>
            <a:r>
              <a:rPr lang="en-US">
                <a:ea typeface="ＭＳ Ｐゴシック"/>
                <a:cs typeface="Calibri"/>
              </a:rPr>
              <a:t>.</a:t>
            </a:r>
            <a:endParaRPr lang="en-US" sz="1200" kern="1200">
              <a:solidFill>
                <a:schemeClr val="tx1"/>
              </a:solidFill>
              <a:effectLst/>
              <a:latin typeface="+mn-lt"/>
              <a:ea typeface="ＭＳ Ｐゴシック" charset="0"/>
              <a:cs typeface="Calibri"/>
            </a:endParaRP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 root file system is copied onto the embedded system’s persistent storage. </a:t>
            </a:r>
            <a:r>
              <a:rPr lang="en-US" dirty="0">
                <a:ea typeface="ＭＳ Ｐゴシック"/>
                <a:cs typeface="Calibri"/>
              </a:rPr>
              <a:t>This</a:t>
            </a:r>
            <a:r>
              <a:rPr lang="en-US" sz="1200" kern="1200" dirty="0">
                <a:solidFill>
                  <a:schemeClr val="tx1"/>
                </a:solidFill>
                <a:effectLst/>
                <a:latin typeface="+mn-lt"/>
                <a:ea typeface="ＭＳ Ｐゴシック"/>
                <a:cs typeface="Calibri"/>
              </a:rPr>
              <a:t> </a:t>
            </a:r>
            <a:r>
              <a:rPr lang="en-US" dirty="0">
                <a:ea typeface="ＭＳ Ｐゴシック"/>
                <a:cs typeface="Calibri"/>
              </a:rPr>
              <a:t>may</a:t>
            </a:r>
            <a:r>
              <a:rPr lang="en-US" sz="1200" kern="1200" dirty="0">
                <a:solidFill>
                  <a:schemeClr val="tx1"/>
                </a:solidFill>
                <a:effectLst/>
                <a:latin typeface="+mn-lt"/>
                <a:ea typeface="ＭＳ Ｐゴシック"/>
                <a:cs typeface="Calibri"/>
              </a:rPr>
              <a:t> be a microSD card or a boot flash device on the board itself.</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11</a:t>
            </a:fld>
            <a:endParaRPr lang="en-US" altLang="en-US"/>
          </a:p>
        </p:txBody>
      </p:sp>
    </p:spTree>
    <p:extLst>
      <p:ext uri="{BB962C8B-B14F-4D97-AF65-F5344CB8AC3E}">
        <p14:creationId xmlns:p14="http://schemas.microsoft.com/office/powerpoint/2010/main" val="34149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We will now look at build systems.</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12</a:t>
            </a:fld>
            <a:endParaRPr lang="en-US" altLang="en-US"/>
          </a:p>
        </p:txBody>
      </p:sp>
    </p:spTree>
    <p:extLst>
      <p:ext uri="{BB962C8B-B14F-4D97-AF65-F5344CB8AC3E}">
        <p14:creationId xmlns:p14="http://schemas.microsoft.com/office/powerpoint/2010/main" val="350057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ＭＳ Ｐゴシック"/>
                <a:cs typeface="Calibri"/>
              </a:rPr>
              <a:t>Building</a:t>
            </a:r>
            <a:r>
              <a:rPr lang="en-US" sz="1200" kern="1200" dirty="0">
                <a:solidFill>
                  <a:schemeClr val="tx1"/>
                </a:solidFill>
                <a:effectLst/>
                <a:latin typeface="+mn-lt"/>
                <a:ea typeface="ＭＳ Ｐゴシック"/>
                <a:cs typeface="Calibri"/>
              </a:rPr>
              <a:t> an embedded Linux system is a complex process for a few reasons. First, it requires the configuration and compilation of multiple sources with different dependencies. This can easily cause issues if the requirements are not fulfilled or if there is conflict between sources. The root file system is updated at each build, which is a non-trivial task. When it comes to the case of multiple hardware, as well as multiple hardware configurations, manual iteration is </a:t>
            </a:r>
            <a:r>
              <a:rPr lang="en-US" dirty="0">
                <a:ea typeface="ＭＳ Ｐゴシック"/>
                <a:cs typeface="Calibri"/>
              </a:rPr>
              <a:t>often</a:t>
            </a:r>
            <a:r>
              <a:rPr lang="en-US" sz="1200" kern="1200" dirty="0">
                <a:solidFill>
                  <a:schemeClr val="tx1"/>
                </a:solidFill>
                <a:effectLst/>
                <a:latin typeface="+mn-lt"/>
                <a:ea typeface="ＭＳ Ｐゴシック"/>
                <a:cs typeface="Calibri"/>
              </a:rPr>
              <a:t> required.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There are tools, known as build </a:t>
            </a:r>
            <a:r>
              <a:rPr lang="en-US" dirty="0">
                <a:ea typeface="ＭＳ Ｐゴシック"/>
                <a:cs typeface="Calibri"/>
              </a:rPr>
              <a:t>systems</a:t>
            </a:r>
            <a:r>
              <a:rPr lang="en-US" sz="1200" kern="1200" dirty="0">
                <a:solidFill>
                  <a:schemeClr val="tx1"/>
                </a:solidFill>
                <a:effectLst/>
                <a:latin typeface="+mn-lt"/>
                <a:ea typeface="ＭＳ Ｐゴシック"/>
                <a:cs typeface="Calibri"/>
              </a:rPr>
              <a:t>, which are readily available, that automate this process.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The build system </a:t>
            </a:r>
            <a:r>
              <a:rPr lang="en-US" dirty="0">
                <a:ea typeface="ＭＳ Ｐゴシック"/>
                <a:cs typeface="Calibri"/>
              </a:rPr>
              <a:t>manages</a:t>
            </a:r>
            <a:r>
              <a:rPr lang="en-US" sz="1200" kern="1200" dirty="0">
                <a:solidFill>
                  <a:schemeClr val="tx1"/>
                </a:solidFill>
                <a:effectLst/>
                <a:latin typeface="+mn-lt"/>
                <a:ea typeface="ＭＳ Ｐゴシック"/>
                <a:cs typeface="Calibri"/>
              </a:rPr>
              <a:t> building the cross compiler for the selected embedded system CPU and manages the bootloader, kernel and system program configuration, and build process. Finally, it also prepares the root file system and boot device image.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13</a:t>
            </a:fld>
            <a:endParaRPr lang="en-US" altLang="en-US"/>
          </a:p>
        </p:txBody>
      </p:sp>
    </p:spTree>
    <p:extLst>
      <p:ext uri="{BB962C8B-B14F-4D97-AF65-F5344CB8AC3E}">
        <p14:creationId xmlns:p14="http://schemas.microsoft.com/office/powerpoint/2010/main" val="3740914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When it comes to build systems, there are </a:t>
            </a:r>
            <a:r>
              <a:rPr lang="en-US" dirty="0">
                <a:ea typeface="ＭＳ Ｐゴシック"/>
                <a:cs typeface="Calibri"/>
              </a:rPr>
              <a:t>several</a:t>
            </a:r>
            <a:r>
              <a:rPr lang="en-US" sz="1200" kern="1200" dirty="0">
                <a:solidFill>
                  <a:schemeClr val="tx1"/>
                </a:solidFill>
                <a:effectLst/>
                <a:latin typeface="+mn-lt"/>
                <a:ea typeface="ＭＳ Ｐゴシック"/>
                <a:cs typeface="Calibri"/>
              </a:rPr>
              <a:t> solutions available.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One option is for hardware vendors to custom build systems. These are designed for particular hardware</a:t>
            </a:r>
            <a:r>
              <a:rPr lang="en-US" dirty="0">
                <a:ea typeface="ＭＳ Ｐゴシック"/>
                <a:cs typeface="Calibri"/>
              </a:rPr>
              <a:t>.</a:t>
            </a:r>
            <a:r>
              <a:rPr lang="en-US" sz="1200" kern="1200" dirty="0">
                <a:solidFill>
                  <a:schemeClr val="tx1"/>
                </a:solidFill>
                <a:effectLst/>
                <a:latin typeface="+mn-lt"/>
                <a:ea typeface="ＭＳ Ｐゴシック"/>
                <a:cs typeface="Calibri"/>
              </a:rPr>
              <a:t> </a:t>
            </a:r>
            <a:r>
              <a:rPr lang="en-US" dirty="0">
                <a:ea typeface="ＭＳ Ｐゴシック"/>
                <a:cs typeface="Calibri"/>
              </a:rPr>
              <a:t>An</a:t>
            </a:r>
            <a:r>
              <a:rPr lang="en-US" sz="1200" kern="1200" dirty="0">
                <a:solidFill>
                  <a:schemeClr val="tx1"/>
                </a:solidFill>
                <a:effectLst/>
                <a:latin typeface="+mn-lt"/>
                <a:ea typeface="ＭＳ Ｐゴシック"/>
                <a:cs typeface="Calibri"/>
              </a:rPr>
              <a:t> example </a:t>
            </a:r>
            <a:r>
              <a:rPr lang="en-US" dirty="0">
                <a:ea typeface="ＭＳ Ｐゴシック"/>
                <a:cs typeface="Calibri"/>
              </a:rPr>
              <a:t>of this</a:t>
            </a:r>
            <a:r>
              <a:rPr lang="en-US" sz="1200" kern="1200" dirty="0">
                <a:solidFill>
                  <a:schemeClr val="tx1"/>
                </a:solidFill>
                <a:effectLst/>
                <a:latin typeface="+mn-lt"/>
                <a:ea typeface="ＭＳ Ｐゴシック"/>
                <a:cs typeface="Calibri"/>
              </a:rPr>
              <a:t> </a:t>
            </a:r>
            <a:r>
              <a:rPr lang="en-US" dirty="0">
                <a:ea typeface="ＭＳ Ｐゴシック"/>
                <a:cs typeface="Calibri"/>
              </a:rPr>
              <a:t>is </a:t>
            </a:r>
            <a:r>
              <a:rPr lang="en-US" sz="1200" kern="1200" dirty="0">
                <a:solidFill>
                  <a:schemeClr val="tx1"/>
                </a:solidFill>
                <a:effectLst/>
                <a:latin typeface="+mn-lt"/>
                <a:ea typeface="ＭＳ Ｐゴシック"/>
                <a:cs typeface="Calibri"/>
              </a:rPr>
              <a:t>the NXP Linux Target Image Builder.</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Another option is </a:t>
            </a:r>
            <a:r>
              <a:rPr lang="en-US" dirty="0">
                <a:ea typeface="ＭＳ Ｐゴシック"/>
                <a:cs typeface="Calibri"/>
              </a:rPr>
              <a:t>to use </a:t>
            </a:r>
            <a:r>
              <a:rPr lang="en-US" sz="1200" kern="1200" dirty="0">
                <a:solidFill>
                  <a:schemeClr val="tx1"/>
                </a:solidFill>
                <a:effectLst/>
                <a:latin typeface="+mn-lt"/>
                <a:ea typeface="ＭＳ Ｐゴシック"/>
                <a:cs typeface="Calibri"/>
              </a:rPr>
              <a:t>one of the many open-source build systems, such as </a:t>
            </a:r>
            <a:r>
              <a:rPr lang="en-US" sz="1200" kern="1200" dirty="0" err="1">
                <a:solidFill>
                  <a:schemeClr val="tx1"/>
                </a:solidFill>
                <a:effectLst/>
                <a:latin typeface="+mn-lt"/>
                <a:ea typeface="ＭＳ Ｐゴシック"/>
                <a:cs typeface="Calibri"/>
              </a:rPr>
              <a:t>Yocto</a:t>
            </a:r>
            <a:r>
              <a:rPr lang="en-US" sz="1200" kern="1200" dirty="0">
                <a:solidFill>
                  <a:schemeClr val="tx1"/>
                </a:solidFill>
                <a:effectLst/>
                <a:latin typeface="+mn-lt"/>
                <a:ea typeface="ＭＳ Ｐゴシック"/>
                <a:cs typeface="Calibri"/>
              </a:rPr>
              <a:t> or </a:t>
            </a:r>
            <a:r>
              <a:rPr lang="en-US" sz="1200" kern="1200" dirty="0" err="1">
                <a:solidFill>
                  <a:schemeClr val="tx1"/>
                </a:solidFill>
                <a:effectLst/>
                <a:latin typeface="+mn-lt"/>
                <a:ea typeface="ＭＳ Ｐゴシック"/>
                <a:cs typeface="Calibri"/>
              </a:rPr>
              <a:t>Buildroot</a:t>
            </a:r>
            <a:r>
              <a:rPr lang="en-US" sz="1200" kern="1200" dirty="0">
                <a:solidFill>
                  <a:schemeClr val="tx1"/>
                </a:solidFill>
                <a:effectLst/>
                <a:latin typeface="+mn-lt"/>
                <a:ea typeface="ＭＳ Ｐゴシック"/>
                <a:cs typeface="Calibri"/>
              </a:rPr>
              <a:t>, which are </a:t>
            </a:r>
            <a:r>
              <a:rPr lang="en-US" dirty="0">
                <a:ea typeface="ＭＳ Ｐゴシック"/>
                <a:cs typeface="Calibri"/>
              </a:rPr>
              <a:t>among the</a:t>
            </a:r>
            <a:r>
              <a:rPr lang="en-US" sz="1200" kern="1200" dirty="0">
                <a:solidFill>
                  <a:schemeClr val="tx1"/>
                </a:solidFill>
                <a:effectLst/>
                <a:latin typeface="+mn-lt"/>
                <a:ea typeface="ＭＳ Ｐゴシック"/>
                <a:cs typeface="Calibri"/>
              </a:rPr>
              <a:t> most popular. These projects are typically actively developed and maintained, ensuring that they </a:t>
            </a:r>
            <a:r>
              <a:rPr lang="en-US" dirty="0">
                <a:ea typeface="ＭＳ Ｐゴシック"/>
                <a:cs typeface="Calibri"/>
              </a:rPr>
              <a:t>remain </a:t>
            </a:r>
            <a:r>
              <a:rPr lang="en-US" sz="1200" kern="1200" dirty="0">
                <a:solidFill>
                  <a:schemeClr val="tx1"/>
                </a:solidFill>
                <a:effectLst/>
                <a:latin typeface="+mn-lt"/>
                <a:ea typeface="ＭＳ Ｐゴシック"/>
                <a:cs typeface="Calibri"/>
              </a:rPr>
              <a:t>up-to-date. They are widely used </a:t>
            </a:r>
            <a:r>
              <a:rPr lang="en-US" dirty="0">
                <a:ea typeface="ＭＳ Ｐゴシック"/>
                <a:cs typeface="Calibri"/>
              </a:rPr>
              <a:t>across </a:t>
            </a:r>
            <a:r>
              <a:rPr lang="en-US" sz="1200" kern="1200" dirty="0">
                <a:solidFill>
                  <a:schemeClr val="tx1"/>
                </a:solidFill>
                <a:effectLst/>
                <a:latin typeface="+mn-lt"/>
                <a:ea typeface="ＭＳ Ｐゴシック"/>
                <a:cs typeface="Calibri"/>
              </a:rPr>
              <a:t>the industry. </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14</a:t>
            </a:fld>
            <a:endParaRPr lang="en-US" altLang="en-US"/>
          </a:p>
        </p:txBody>
      </p:sp>
    </p:spTree>
    <p:extLst>
      <p:ext uri="{BB962C8B-B14F-4D97-AF65-F5344CB8AC3E}">
        <p14:creationId xmlns:p14="http://schemas.microsoft.com/office/powerpoint/2010/main" val="2297691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Here is a </a:t>
            </a:r>
            <a:r>
              <a:rPr lang="en-US" dirty="0">
                <a:ea typeface="ＭＳ Ｐゴシック"/>
                <a:cs typeface="Calibri"/>
              </a:rPr>
              <a:t>brief</a:t>
            </a:r>
            <a:r>
              <a:rPr lang="en-US" sz="1200" kern="1200" dirty="0">
                <a:solidFill>
                  <a:schemeClr val="tx1"/>
                </a:solidFill>
                <a:effectLst/>
                <a:latin typeface="+mn-lt"/>
                <a:ea typeface="ＭＳ Ｐゴシック"/>
                <a:cs typeface="Calibri"/>
              </a:rPr>
              <a:t> comparison between </a:t>
            </a:r>
            <a:r>
              <a:rPr lang="en-US" sz="1200" kern="1200" dirty="0" err="1">
                <a:solidFill>
                  <a:schemeClr val="tx1"/>
                </a:solidFill>
                <a:effectLst/>
                <a:latin typeface="+mn-lt"/>
                <a:ea typeface="ＭＳ Ｐゴシック"/>
                <a:cs typeface="Calibri"/>
              </a:rPr>
              <a:t>Yocto</a:t>
            </a:r>
            <a:r>
              <a:rPr lang="en-US" sz="1200" kern="1200" dirty="0">
                <a:solidFill>
                  <a:schemeClr val="tx1"/>
                </a:solidFill>
                <a:effectLst/>
                <a:latin typeface="+mn-lt"/>
                <a:ea typeface="ＭＳ Ｐゴシック"/>
                <a:cs typeface="Calibri"/>
              </a:rPr>
              <a:t> and </a:t>
            </a:r>
            <a:r>
              <a:rPr lang="en-US" sz="1200" kern="1200" dirty="0" err="1">
                <a:solidFill>
                  <a:schemeClr val="tx1"/>
                </a:solidFill>
                <a:effectLst/>
                <a:latin typeface="+mn-lt"/>
                <a:ea typeface="ＭＳ Ｐゴシック"/>
                <a:cs typeface="Calibri"/>
              </a:rPr>
              <a:t>Buildroot</a:t>
            </a:r>
            <a:r>
              <a:rPr lang="en-US" sz="1200" kern="1200" dirty="0">
                <a:solidFill>
                  <a:schemeClr val="tx1"/>
                </a:solidFill>
                <a:effectLst/>
                <a:latin typeface="+mn-lt"/>
                <a:ea typeface="ＭＳ Ｐゴシック"/>
                <a:cs typeface="Calibri"/>
              </a:rPr>
              <a:t> in </a:t>
            </a:r>
            <a:r>
              <a:rPr lang="en-US" dirty="0">
                <a:ea typeface="ＭＳ Ｐゴシック"/>
                <a:cs typeface="Calibri"/>
              </a:rPr>
              <a:t>terms of</a:t>
            </a:r>
            <a:r>
              <a:rPr lang="en-US" sz="1200" kern="1200" dirty="0">
                <a:solidFill>
                  <a:schemeClr val="tx1"/>
                </a:solidFill>
                <a:effectLst/>
                <a:latin typeface="+mn-lt"/>
                <a:ea typeface="ＭＳ Ｐゴシック"/>
                <a:cs typeface="Calibri"/>
              </a:rPr>
              <a:t> their general workings. </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a:cs typeface="Calibri"/>
              </a:rPr>
              <a:t>Buildroot</a:t>
            </a:r>
            <a:r>
              <a:rPr lang="en-US" sz="1200" kern="1200" dirty="0">
                <a:solidFill>
                  <a:schemeClr val="tx1"/>
                </a:solidFill>
                <a:effectLst/>
                <a:latin typeface="+mn-lt"/>
                <a:ea typeface="ＭＳ Ｐゴシック"/>
                <a:cs typeface="Calibri"/>
              </a:rPr>
              <a:t> is </a:t>
            </a:r>
            <a:r>
              <a:rPr lang="en-US" dirty="0">
                <a:ea typeface="ＭＳ Ｐゴシック"/>
                <a:cs typeface="Calibri"/>
              </a:rPr>
              <a:t>focused on</a:t>
            </a:r>
            <a:r>
              <a:rPr lang="en-US" sz="1200" kern="1200" dirty="0">
                <a:solidFill>
                  <a:schemeClr val="tx1"/>
                </a:solidFill>
                <a:effectLst/>
                <a:latin typeface="+mn-lt"/>
                <a:ea typeface="ＭＳ Ｐゴシック"/>
                <a:cs typeface="Calibri"/>
              </a:rPr>
              <a:t> simplicity and uses existing technologies such as “</a:t>
            </a:r>
            <a:r>
              <a:rPr lang="en-US" sz="1200" kern="1200" dirty="0" err="1">
                <a:solidFill>
                  <a:schemeClr val="tx1"/>
                </a:solidFill>
                <a:effectLst/>
                <a:latin typeface="+mn-lt"/>
                <a:ea typeface="ＭＳ Ｐゴシック"/>
                <a:cs typeface="Calibri"/>
              </a:rPr>
              <a:t>kconfig</a:t>
            </a:r>
            <a:r>
              <a:rPr lang="en-US" sz="1200" kern="1200" dirty="0">
                <a:solidFill>
                  <a:schemeClr val="tx1"/>
                </a:solidFill>
                <a:effectLst/>
                <a:latin typeface="+mn-lt"/>
                <a:ea typeface="ＭＳ Ｐゴシック"/>
                <a:cs typeface="Calibri"/>
              </a:rPr>
              <a:t>” and “make”. It also </a:t>
            </a:r>
            <a:r>
              <a:rPr lang="en-US" dirty="0">
                <a:ea typeface="ＭＳ Ｐゴシック"/>
                <a:cs typeface="Calibri"/>
              </a:rPr>
              <a:t>benefits from </a:t>
            </a:r>
            <a:r>
              <a:rPr lang="en-US" sz="1200" kern="1200" dirty="0">
                <a:solidFill>
                  <a:schemeClr val="tx1"/>
                </a:solidFill>
                <a:effectLst/>
                <a:latin typeface="+mn-lt"/>
                <a:ea typeface="ＭＳ Ｐゴシック"/>
                <a:cs typeface="Calibri"/>
              </a:rPr>
              <a:t>an open community.</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a:cs typeface="Calibri"/>
              </a:rPr>
              <a:t>Yocto</a:t>
            </a:r>
            <a:r>
              <a:rPr lang="en-US" dirty="0">
                <a:ea typeface="ＭＳ Ｐゴシック"/>
                <a:cs typeface="Calibri"/>
              </a:rPr>
              <a:t> </a:t>
            </a:r>
            <a:r>
              <a:rPr lang="en-US" sz="1200" kern="1200" dirty="0">
                <a:solidFill>
                  <a:schemeClr val="tx1"/>
                </a:solidFill>
                <a:effectLst/>
                <a:latin typeface="+mn-lt"/>
                <a:ea typeface="ＭＳ Ｐゴシック"/>
                <a:cs typeface="Calibri"/>
              </a:rPr>
              <a:t>is slightly more complex</a:t>
            </a:r>
            <a:r>
              <a:rPr lang="en-US" dirty="0">
                <a:ea typeface="ＭＳ Ｐゴシック"/>
                <a:cs typeface="Calibri"/>
              </a:rPr>
              <a:t>.</a:t>
            </a:r>
            <a:r>
              <a:rPr lang="en-US" sz="1200" kern="1200" dirty="0">
                <a:solidFill>
                  <a:schemeClr val="tx1"/>
                </a:solidFill>
                <a:effectLst/>
                <a:latin typeface="+mn-lt"/>
                <a:ea typeface="ＭＳ Ｐゴシック"/>
                <a:cs typeface="Calibri"/>
              </a:rPr>
              <a:t> </a:t>
            </a:r>
            <a:r>
              <a:rPr lang="en-US" dirty="0">
                <a:ea typeface="ＭＳ Ｐゴシック"/>
                <a:cs typeface="Calibri"/>
              </a:rPr>
              <a:t>It</a:t>
            </a:r>
            <a:r>
              <a:rPr lang="en-US" sz="1200" kern="1200" dirty="0">
                <a:solidFill>
                  <a:schemeClr val="tx1"/>
                </a:solidFill>
                <a:effectLst/>
                <a:latin typeface="+mn-lt"/>
                <a:ea typeface="ＭＳ Ｐゴシック"/>
                <a:cs typeface="Calibri"/>
              </a:rPr>
              <a:t> provides the core recipes, but layers need to be included in order to get support for more packages or machines. Any custom modifications made should stay in a separate layer. Given this use of layers and recipes, </a:t>
            </a:r>
            <a:r>
              <a:rPr lang="en-US" dirty="0" err="1">
                <a:ea typeface="ＭＳ Ｐゴシック"/>
                <a:cs typeface="Calibri"/>
              </a:rPr>
              <a:t>Yocto</a:t>
            </a:r>
            <a:r>
              <a:rPr lang="en-US" sz="1200" kern="1200">
                <a:solidFill>
                  <a:schemeClr val="tx1"/>
                </a:solidFill>
                <a:effectLst/>
                <a:latin typeface="+mn-lt"/>
                <a:ea typeface="ＭＳ Ｐゴシック"/>
                <a:cs typeface="Calibri"/>
              </a:rPr>
              <a:t> is a </a:t>
            </a:r>
            <a:r>
              <a:rPr lang="en-US">
                <a:ea typeface="ＭＳ Ｐゴシック"/>
                <a:cs typeface="Calibri"/>
              </a:rPr>
              <a:t>highly </a:t>
            </a:r>
            <a:r>
              <a:rPr lang="en-US" sz="1200" kern="1200">
                <a:solidFill>
                  <a:schemeClr val="tx1"/>
                </a:solidFill>
                <a:effectLst/>
                <a:latin typeface="+mn-lt"/>
                <a:ea typeface="ＭＳ Ｐゴシック"/>
                <a:cs typeface="Calibri"/>
              </a:rPr>
              <a:t>versatile </a:t>
            </a:r>
            <a:r>
              <a:rPr lang="en-US">
                <a:ea typeface="ＭＳ Ｐゴシック"/>
                <a:cs typeface="Calibri"/>
              </a:rPr>
              <a:t>and flexible </a:t>
            </a:r>
            <a:r>
              <a:rPr lang="en-US" sz="1200" kern="1200">
                <a:solidFill>
                  <a:schemeClr val="tx1"/>
                </a:solidFill>
                <a:effectLst/>
                <a:latin typeface="+mn-lt"/>
                <a:ea typeface="ＭＳ Ｐゴシック"/>
                <a:cs typeface="Calibri"/>
              </a:rPr>
              <a:t>build system, </a:t>
            </a:r>
            <a:r>
              <a:rPr lang="en-US">
                <a:ea typeface="ＭＳ Ｐゴシック"/>
                <a:cs typeface="Calibri"/>
              </a:rPr>
              <a:t>capable of</a:t>
            </a:r>
            <a:r>
              <a:rPr lang="en-US" sz="1200" kern="1200">
                <a:solidFill>
                  <a:schemeClr val="tx1"/>
                </a:solidFill>
                <a:effectLst/>
                <a:latin typeface="+mn-lt"/>
                <a:ea typeface="ＭＳ Ｐゴシック"/>
                <a:cs typeface="Calibri"/>
              </a:rPr>
              <a:t> </a:t>
            </a:r>
            <a:r>
              <a:rPr lang="en-US">
                <a:ea typeface="ＭＳ Ｐゴシック"/>
                <a:cs typeface="Calibri"/>
              </a:rPr>
              <a:t>handling</a:t>
            </a:r>
            <a:r>
              <a:rPr lang="en-US" sz="1200" kern="1200">
                <a:solidFill>
                  <a:schemeClr val="tx1"/>
                </a:solidFill>
                <a:effectLst/>
                <a:latin typeface="+mn-lt"/>
                <a:ea typeface="ＭＳ Ｐゴシック"/>
                <a:cs typeface="Calibri"/>
              </a:rPr>
              <a:t> most use cases. The community is open, but </a:t>
            </a:r>
            <a:r>
              <a:rPr lang="en-US">
                <a:ea typeface="ＭＳ Ｐゴシック"/>
                <a:cs typeface="Calibri"/>
              </a:rPr>
              <a:t>it is also </a:t>
            </a:r>
            <a:r>
              <a:rPr lang="en-US" sz="1200" kern="1200">
                <a:solidFill>
                  <a:schemeClr val="tx1"/>
                </a:solidFill>
                <a:effectLst/>
                <a:latin typeface="+mn-lt"/>
                <a:ea typeface="ＭＳ Ｐゴシック"/>
                <a:cs typeface="Calibri"/>
              </a:rPr>
              <a:t>governed by the </a:t>
            </a:r>
            <a:r>
              <a:rPr lang="en-US" sz="1200" kern="1200" dirty="0" err="1">
                <a:solidFill>
                  <a:schemeClr val="tx1"/>
                </a:solidFill>
                <a:effectLst/>
                <a:latin typeface="+mn-lt"/>
                <a:ea typeface="ＭＳ Ｐゴシック"/>
                <a:cs typeface="Calibri"/>
              </a:rPr>
              <a:t>Yocto</a:t>
            </a:r>
            <a:r>
              <a:rPr lang="en-US" sz="1200" kern="1200" dirty="0">
                <a:solidFill>
                  <a:schemeClr val="tx1"/>
                </a:solidFill>
                <a:effectLst/>
                <a:latin typeface="+mn-lt"/>
                <a:ea typeface="ＭＳ Ｐゴシック"/>
                <a:cs typeface="Calibri"/>
              </a:rPr>
              <a:t> Project Advisory Board.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15</a:t>
            </a:fld>
            <a:endParaRPr lang="en-US" altLang="en-US"/>
          </a:p>
        </p:txBody>
      </p:sp>
    </p:spTree>
    <p:extLst>
      <p:ext uri="{BB962C8B-B14F-4D97-AF65-F5344CB8AC3E}">
        <p14:creationId xmlns:p14="http://schemas.microsoft.com/office/powerpoint/2010/main" val="40276300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ＭＳ Ｐゴシック"/>
                <a:cs typeface="Calibri"/>
              </a:rPr>
              <a:t>Next, is a comparison of </a:t>
            </a:r>
            <a:r>
              <a:rPr lang="en-US" dirty="0" err="1">
                <a:ea typeface="ＭＳ Ｐゴシック"/>
                <a:cs typeface="Calibri"/>
              </a:rPr>
              <a:t>Buildroot</a:t>
            </a:r>
            <a:r>
              <a:rPr lang="en-US" dirty="0">
                <a:ea typeface="ＭＳ Ｐゴシック"/>
                <a:cs typeface="Calibri"/>
              </a:rPr>
              <a:t> and </a:t>
            </a:r>
            <a:r>
              <a:rPr lang="en-US" dirty="0" err="1">
                <a:ea typeface="ＭＳ Ｐゴシック"/>
                <a:cs typeface="Calibri"/>
              </a:rPr>
              <a:t>Yocto</a:t>
            </a:r>
            <a:r>
              <a:rPr lang="en-US" dirty="0">
                <a:ea typeface="ＭＳ Ｐゴシック"/>
                <a:cs typeface="Calibri"/>
              </a:rPr>
              <a:t> in </a:t>
            </a:r>
            <a:r>
              <a:rPr lang="en-US" sz="1200" kern="1200" dirty="0">
                <a:solidFill>
                  <a:schemeClr val="tx1"/>
                </a:solidFill>
                <a:effectLst/>
                <a:latin typeface="+mn-lt"/>
                <a:ea typeface="ＭＳ Ｐゴシック"/>
                <a:cs typeface="Calibri"/>
              </a:rPr>
              <a:t>terms of configuration. </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a:cs typeface="Calibri"/>
              </a:rPr>
              <a:t>Buildroot</a:t>
            </a:r>
            <a:r>
              <a:rPr lang="en-US" sz="1200" kern="1200" dirty="0">
                <a:solidFill>
                  <a:schemeClr val="tx1"/>
                </a:solidFill>
                <a:effectLst/>
                <a:latin typeface="+mn-lt"/>
                <a:ea typeface="ＭＳ Ｐゴシック"/>
                <a:cs typeface="Calibri"/>
              </a:rPr>
              <a:t> reuses the “</a:t>
            </a:r>
            <a:r>
              <a:rPr lang="en-US" sz="1200" kern="1200" dirty="0" err="1">
                <a:solidFill>
                  <a:schemeClr val="tx1"/>
                </a:solidFill>
                <a:effectLst/>
                <a:latin typeface="+mn-lt"/>
                <a:ea typeface="ＭＳ Ｐゴシック"/>
                <a:cs typeface="Calibri"/>
              </a:rPr>
              <a:t>kconfig</a:t>
            </a:r>
            <a:r>
              <a:rPr lang="en-US" sz="1200" kern="1200" dirty="0">
                <a:solidFill>
                  <a:schemeClr val="tx1"/>
                </a:solidFill>
                <a:effectLst/>
                <a:latin typeface="+mn-lt"/>
                <a:ea typeface="ＭＳ Ｐゴシック"/>
                <a:cs typeface="Calibri"/>
              </a:rPr>
              <a:t>” functionality already provided by the Linux kernel. The entire configuration is stored in a single file called “.config/</a:t>
            </a:r>
            <a:r>
              <a:rPr lang="en-US" sz="1200" kern="1200" dirty="0" err="1">
                <a:solidFill>
                  <a:schemeClr val="tx1"/>
                </a:solidFill>
                <a:effectLst/>
                <a:latin typeface="+mn-lt"/>
                <a:ea typeface="ＭＳ Ｐゴシック"/>
                <a:cs typeface="Calibri"/>
              </a:rPr>
              <a:t>defconfig</a:t>
            </a:r>
            <a:r>
              <a:rPr lang="en-US" sz="1200" kern="1200" dirty="0">
                <a:solidFill>
                  <a:schemeClr val="tx1"/>
                </a:solidFill>
                <a:effectLst/>
                <a:latin typeface="+mn-lt"/>
                <a:ea typeface="ＭＳ Ｐゴシック"/>
                <a:cs typeface="Calibri"/>
              </a:rPr>
              <a:t>”. This file defines all aspects of the system, such as architecture, kernel version, bootloaders, user-space packages,</a:t>
            </a:r>
            <a:r>
              <a:rPr lang="en-US" dirty="0">
                <a:ea typeface="ＭＳ Ｐゴシック"/>
                <a:cs typeface="Calibri"/>
              </a:rPr>
              <a:t> </a:t>
            </a:r>
            <a:r>
              <a:rPr lang="en-US" sz="1200" kern="1200" dirty="0">
                <a:solidFill>
                  <a:schemeClr val="tx1"/>
                </a:solidFill>
                <a:effectLst/>
                <a:latin typeface="+mn-lt"/>
                <a:ea typeface="ＭＳ Ｐゴシック"/>
                <a:cs typeface="Calibri"/>
              </a:rPr>
              <a:t>etc. Building the same system for different machines is to be handled separately. </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In</a:t>
            </a:r>
            <a:r>
              <a:rPr lang="en-US" sz="1200" kern="1200" dirty="0">
                <a:solidFill>
                  <a:schemeClr val="tx1"/>
                </a:solidFill>
                <a:effectLst/>
                <a:latin typeface="+mn-lt"/>
                <a:ea typeface="ＭＳ Ｐゴシック"/>
                <a:cs typeface="Calibri"/>
              </a:rPr>
              <a:t> </a:t>
            </a:r>
            <a:r>
              <a:rPr lang="en-US" sz="1200" kern="1200" dirty="0" err="1">
                <a:solidFill>
                  <a:schemeClr val="tx1"/>
                </a:solidFill>
                <a:effectLst/>
                <a:latin typeface="+mn-lt"/>
                <a:ea typeface="ＭＳ Ｐゴシック"/>
                <a:cs typeface="Calibri"/>
              </a:rPr>
              <a:t>Yocto</a:t>
            </a:r>
            <a:r>
              <a:rPr lang="en-US" sz="1200" kern="1200" dirty="0">
                <a:solidFill>
                  <a:schemeClr val="tx1"/>
                </a:solidFill>
                <a:effectLst/>
                <a:latin typeface="+mn-lt"/>
                <a:ea typeface="ＭＳ Ｐゴシック"/>
                <a:cs typeface="Calibri"/>
              </a:rPr>
              <a:t>, the configuration is split into multiple parts. There is distribution configuration, which handles the general configuration and toolchain selection. There is also machine configuration, which defines the hardware architecture, features, and the board support package (BSP). It also configures an image recipe, which will include details of which system programs should be installed on the target. Finally, there is the local configuration, which details how many threads to use when compiling, whether to remove build artifacts, and other information.</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a:cs typeface="Calibri"/>
              </a:rPr>
              <a:t>Yocto</a:t>
            </a:r>
            <a:r>
              <a:rPr lang="en-US" sz="1200" kern="1200" dirty="0">
                <a:solidFill>
                  <a:schemeClr val="tx1"/>
                </a:solidFill>
                <a:effectLst/>
                <a:latin typeface="+mn-lt"/>
                <a:ea typeface="ＭＳ Ｐゴシック"/>
                <a:cs typeface="Calibri"/>
              </a:rPr>
              <a:t> provides the ability to build the same image for different machines or distributions, or even a variety of images for one machine. This makes it a </a:t>
            </a:r>
            <a:r>
              <a:rPr lang="en-US" dirty="0">
                <a:ea typeface="ＭＳ Ｐゴシック"/>
                <a:cs typeface="Calibri"/>
              </a:rPr>
              <a:t>highly versatile</a:t>
            </a:r>
            <a:r>
              <a:rPr lang="en-US" sz="1200" kern="1200" dirty="0">
                <a:solidFill>
                  <a:schemeClr val="tx1"/>
                </a:solidFill>
                <a:effectLst/>
                <a:latin typeface="+mn-lt"/>
                <a:ea typeface="ＭＳ Ｐゴシック"/>
                <a:cs typeface="Calibri"/>
              </a:rPr>
              <a:t> and powerful tool.</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16</a:t>
            </a:fld>
            <a:endParaRPr lang="en-US" altLang="en-US"/>
          </a:p>
        </p:txBody>
      </p:sp>
    </p:spTree>
    <p:extLst>
      <p:ext uri="{BB962C8B-B14F-4D97-AF65-F5344CB8AC3E}">
        <p14:creationId xmlns:p14="http://schemas.microsoft.com/office/powerpoint/2010/main" val="86920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Finally, we </a:t>
            </a:r>
            <a:r>
              <a:rPr lang="en-US" dirty="0">
                <a:ea typeface="ＭＳ Ｐゴシック"/>
                <a:cs typeface="Calibri"/>
              </a:rPr>
              <a:t>will compare</a:t>
            </a:r>
            <a:r>
              <a:rPr lang="en-US" sz="1200" kern="1200" dirty="0">
                <a:solidFill>
                  <a:schemeClr val="tx1"/>
                </a:solidFill>
                <a:effectLst/>
                <a:latin typeface="+mn-lt"/>
                <a:ea typeface="ＭＳ Ｐゴシック"/>
                <a:cs typeface="Calibri"/>
              </a:rPr>
              <a:t> the purpose of the two </a:t>
            </a:r>
            <a:r>
              <a:rPr lang="en-US" dirty="0">
                <a:ea typeface="ＭＳ Ｐゴシック"/>
                <a:cs typeface="Calibri"/>
              </a:rPr>
              <a:t>build </a:t>
            </a:r>
            <a:r>
              <a:rPr lang="en-US" sz="1200" kern="1200" dirty="0">
                <a:solidFill>
                  <a:schemeClr val="tx1"/>
                </a:solidFill>
                <a:effectLst/>
                <a:latin typeface="+mn-lt"/>
                <a:ea typeface="ＭＳ Ｐゴシック"/>
                <a:cs typeface="Calibri"/>
              </a:rPr>
              <a:t>systems.</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a:cs typeface="Calibri"/>
              </a:rPr>
              <a:t>Buildroot</a:t>
            </a:r>
            <a:r>
              <a:rPr lang="en-US" sz="1200" kern="1200" dirty="0">
                <a:solidFill>
                  <a:schemeClr val="tx1"/>
                </a:solidFill>
                <a:effectLst/>
                <a:latin typeface="+mn-lt"/>
                <a:ea typeface="ＭＳ Ｐゴシック"/>
                <a:cs typeface="Calibri"/>
              </a:rPr>
              <a:t> is typically intended for small root file systems, </a:t>
            </a:r>
            <a:r>
              <a:rPr lang="en-US" dirty="0">
                <a:ea typeface="ＭＳ Ｐゴシック"/>
                <a:cs typeface="Calibri"/>
              </a:rPr>
              <a:t>usually under</a:t>
            </a:r>
            <a:r>
              <a:rPr lang="en-US" sz="1200" kern="1200" dirty="0">
                <a:solidFill>
                  <a:schemeClr val="tx1"/>
                </a:solidFill>
                <a:effectLst/>
                <a:latin typeface="+mn-lt"/>
                <a:ea typeface="ＭＳ Ｐゴシック"/>
                <a:cs typeface="Calibri"/>
              </a:rPr>
              <a:t> 8 MB. </a:t>
            </a:r>
            <a:r>
              <a:rPr lang="en-US" dirty="0">
                <a:ea typeface="ＭＳ Ｐゴシック"/>
                <a:cs typeface="Calibri"/>
              </a:rPr>
              <a:t>It is</a:t>
            </a:r>
            <a:r>
              <a:rPr lang="en-US" sz="1200" kern="1200" dirty="0">
                <a:solidFill>
                  <a:schemeClr val="tx1"/>
                </a:solidFill>
                <a:effectLst/>
                <a:latin typeface="+mn-lt"/>
                <a:ea typeface="ＭＳ Ｐゴシック"/>
                <a:cs typeface="Calibri"/>
              </a:rPr>
              <a:t> generally used for simple embedded systems that only require a limited amount of system programs. It can be considered to be more geared towards use from non-dedicated build engineers. This means engineers that are not focused only on building embedded Linux systems.</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is intended for larger root file systems and, in general, larger embedded systems. It provides support for multiple hardware configurations. It could be considered that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is more geared towards dedicated build engineers that are primarily focused on working with embedded Linux systems.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17</a:t>
            </a:fld>
            <a:endParaRPr lang="en-US" altLang="en-US"/>
          </a:p>
        </p:txBody>
      </p:sp>
    </p:spTree>
    <p:extLst>
      <p:ext uri="{BB962C8B-B14F-4D97-AF65-F5344CB8AC3E}">
        <p14:creationId xmlns:p14="http://schemas.microsoft.com/office/powerpoint/2010/main" val="14533344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We will now take a more in-depth look at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and its workflow.</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18</a:t>
            </a:fld>
            <a:endParaRPr lang="en-US" altLang="en-US"/>
          </a:p>
        </p:txBody>
      </p:sp>
    </p:spTree>
    <p:extLst>
      <p:ext uri="{BB962C8B-B14F-4D97-AF65-F5344CB8AC3E}">
        <p14:creationId xmlns:p14="http://schemas.microsoft.com/office/powerpoint/2010/main" val="3830054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The </a:t>
            </a:r>
            <a:r>
              <a:rPr lang="en-US" sz="1200" kern="1200" dirty="0" err="1">
                <a:solidFill>
                  <a:schemeClr val="tx1"/>
                </a:solidFill>
                <a:effectLst/>
                <a:latin typeface="+mn-lt"/>
                <a:ea typeface="ＭＳ Ｐゴシック"/>
                <a:cs typeface="Calibri"/>
              </a:rPr>
              <a:t>Yocto</a:t>
            </a:r>
            <a:r>
              <a:rPr lang="en-US" sz="1200" kern="1200" dirty="0">
                <a:solidFill>
                  <a:schemeClr val="tx1"/>
                </a:solidFill>
                <a:effectLst/>
                <a:latin typeface="+mn-lt"/>
                <a:ea typeface="ＭＳ Ｐゴシック"/>
                <a:cs typeface="Calibri"/>
              </a:rPr>
              <a:t> Project is an open source project that is hosted by the Linux Foundation. It brings together </a:t>
            </a:r>
            <a:r>
              <a:rPr lang="en-US" dirty="0">
                <a:ea typeface="ＭＳ Ｐゴシック"/>
                <a:cs typeface="Calibri"/>
              </a:rPr>
              <a:t>several related</a:t>
            </a:r>
            <a:r>
              <a:rPr lang="en-US" sz="1200" kern="1200" dirty="0">
                <a:solidFill>
                  <a:schemeClr val="tx1"/>
                </a:solidFill>
                <a:effectLst/>
                <a:latin typeface="+mn-lt"/>
                <a:ea typeface="ＭＳ Ｐゴシック"/>
                <a:cs typeface="Calibri"/>
              </a:rPr>
              <a:t> projects to offer an overall package called the “</a:t>
            </a:r>
            <a:r>
              <a:rPr lang="en-US" sz="1200" kern="1200" dirty="0" err="1">
                <a:solidFill>
                  <a:schemeClr val="tx1"/>
                </a:solidFill>
                <a:effectLst/>
                <a:latin typeface="+mn-lt"/>
                <a:ea typeface="ＭＳ Ｐゴシック"/>
                <a:cs typeface="Calibri"/>
              </a:rPr>
              <a:t>Yocto</a:t>
            </a:r>
            <a:r>
              <a:rPr lang="en-US" sz="1200" kern="1200" dirty="0">
                <a:solidFill>
                  <a:schemeClr val="tx1"/>
                </a:solidFill>
                <a:effectLst/>
                <a:latin typeface="+mn-lt"/>
                <a:ea typeface="ＭＳ Ｐゴシック"/>
                <a:cs typeface="Calibri"/>
              </a:rPr>
              <a:t> Project”.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a:cs typeface="Calibri"/>
              </a:rPr>
              <a:t>Some of the individual projects are “</a:t>
            </a:r>
            <a:r>
              <a:rPr lang="en-US" sz="1200" kern="1200" err="1">
                <a:solidFill>
                  <a:schemeClr val="tx1"/>
                </a:solidFill>
                <a:effectLst/>
                <a:latin typeface="+mn-lt"/>
                <a:ea typeface="ＭＳ Ｐゴシック"/>
                <a:cs typeface="Calibri"/>
              </a:rPr>
              <a:t>Bitbake</a:t>
            </a:r>
            <a:r>
              <a:rPr lang="en-US" sz="1200" kern="1200" dirty="0">
                <a:solidFill>
                  <a:schemeClr val="tx1"/>
                </a:solidFill>
                <a:effectLst/>
                <a:latin typeface="+mn-lt"/>
                <a:ea typeface="ＭＳ Ｐゴシック"/>
                <a:cs typeface="Calibri"/>
              </a:rPr>
              <a:t>”, a build tool, and “</a:t>
            </a:r>
            <a:r>
              <a:rPr lang="en-US" sz="1200" kern="1200" err="1">
                <a:solidFill>
                  <a:schemeClr val="tx1"/>
                </a:solidFill>
                <a:effectLst/>
                <a:latin typeface="+mn-lt"/>
                <a:ea typeface="ＭＳ Ｐゴシック"/>
                <a:cs typeface="Calibri"/>
              </a:rPr>
              <a:t>OpenEmbedded</a:t>
            </a:r>
            <a:r>
              <a:rPr lang="en-US" sz="1200" kern="1200" dirty="0">
                <a:solidFill>
                  <a:schemeClr val="tx1"/>
                </a:solidFill>
                <a:effectLst/>
                <a:latin typeface="+mn-lt"/>
                <a:ea typeface="ＭＳ Ｐゴシック"/>
                <a:cs typeface="Calibri"/>
              </a:rPr>
              <a:t> Core”, a framework used for the creation of Linux distributions. Poky is also included in the project. Poky is a reference distribution of the </a:t>
            </a:r>
            <a:r>
              <a:rPr lang="en-US" sz="1200" kern="1200" err="1">
                <a:solidFill>
                  <a:schemeClr val="tx1"/>
                </a:solidFill>
                <a:effectLst/>
                <a:latin typeface="+mn-lt"/>
                <a:ea typeface="ＭＳ Ｐゴシック"/>
                <a:cs typeface="Calibri"/>
              </a:rPr>
              <a:t>Yocto</a:t>
            </a:r>
            <a:r>
              <a:rPr lang="en-US" sz="1200" kern="1200" dirty="0">
                <a:solidFill>
                  <a:schemeClr val="tx1"/>
                </a:solidFill>
                <a:effectLst/>
                <a:latin typeface="+mn-lt"/>
                <a:ea typeface="ＭＳ Ｐゴシック"/>
                <a:cs typeface="Calibri"/>
              </a:rPr>
              <a:t> Project, which contains the </a:t>
            </a:r>
            <a:r>
              <a:rPr lang="en-US" sz="1200" kern="1200" err="1">
                <a:solidFill>
                  <a:schemeClr val="tx1"/>
                </a:solidFill>
                <a:effectLst/>
                <a:latin typeface="+mn-lt"/>
                <a:ea typeface="ＭＳ Ｐゴシック"/>
                <a:cs typeface="Calibri"/>
              </a:rPr>
              <a:t>OpenEmbedded</a:t>
            </a:r>
            <a:r>
              <a:rPr lang="en-US" sz="1200" kern="1200" dirty="0">
                <a:solidFill>
                  <a:schemeClr val="tx1"/>
                </a:solidFill>
                <a:effectLst/>
                <a:latin typeface="+mn-lt"/>
                <a:ea typeface="ＭＳ Ｐゴシック"/>
                <a:cs typeface="Calibri"/>
              </a:rPr>
              <a:t> build system (</a:t>
            </a:r>
            <a:r>
              <a:rPr lang="en-US" sz="1200" kern="1200" err="1">
                <a:solidFill>
                  <a:schemeClr val="tx1"/>
                </a:solidFill>
                <a:effectLst/>
                <a:latin typeface="+mn-lt"/>
                <a:ea typeface="ＭＳ Ｐゴシック"/>
                <a:cs typeface="Calibri"/>
              </a:rPr>
              <a:t>Bitbake</a:t>
            </a:r>
            <a:r>
              <a:rPr lang="en-US" sz="1200" kern="1200" dirty="0">
                <a:solidFill>
                  <a:schemeClr val="tx1"/>
                </a:solidFill>
                <a:effectLst/>
                <a:latin typeface="+mn-lt"/>
                <a:ea typeface="ＭＳ Ｐゴシック"/>
                <a:cs typeface="Calibri"/>
              </a:rPr>
              <a:t> and </a:t>
            </a:r>
            <a:r>
              <a:rPr lang="en-US" sz="1200" kern="1200" err="1">
                <a:solidFill>
                  <a:schemeClr val="tx1"/>
                </a:solidFill>
                <a:effectLst/>
                <a:latin typeface="+mn-lt"/>
                <a:ea typeface="ＭＳ Ｐゴシック"/>
                <a:cs typeface="Calibri"/>
              </a:rPr>
              <a:t>OpenEmbedded</a:t>
            </a:r>
            <a:r>
              <a:rPr lang="en-US" sz="1200" kern="1200" dirty="0">
                <a:solidFill>
                  <a:schemeClr val="tx1"/>
                </a:solidFill>
                <a:effectLst/>
                <a:latin typeface="+mn-lt"/>
                <a:ea typeface="ＭＳ Ｐゴシック"/>
                <a:cs typeface="Calibri"/>
              </a:rPr>
              <a:t> Core) and a set of metadata to start building custom embedded Linux systems. </a:t>
            </a:r>
            <a:endParaRPr lang="en-US" dirty="0">
              <a:ea typeface="ＭＳ Ｐゴシック"/>
              <a:cs typeface="Calibri"/>
            </a:endParaRPr>
          </a:p>
          <a:p>
            <a:endParaRPr lang="en-US" dirty="0">
              <a:ea typeface="ＭＳ Ｐゴシック"/>
              <a:cs typeface="Calibri"/>
            </a:endParaRPr>
          </a:p>
          <a:p>
            <a:r>
              <a:rPr lang="en-US" sz="1200" kern="1200" dirty="0">
                <a:solidFill>
                  <a:schemeClr val="tx1"/>
                </a:solidFill>
                <a:effectLst/>
                <a:latin typeface="+mn-lt"/>
                <a:ea typeface="ＭＳ Ｐゴシック"/>
                <a:cs typeface="Calibri"/>
              </a:rPr>
              <a:t>An Application Development Toolkit (ADT) is </a:t>
            </a:r>
            <a:r>
              <a:rPr lang="en-US" dirty="0">
                <a:ea typeface="ＭＳ Ｐゴシック"/>
                <a:cs typeface="Calibri"/>
              </a:rPr>
              <a:t>provided to</a:t>
            </a:r>
            <a:r>
              <a:rPr lang="en-US" sz="1200" kern="1200" dirty="0">
                <a:solidFill>
                  <a:schemeClr val="tx1"/>
                </a:solidFill>
                <a:effectLst/>
                <a:latin typeface="+mn-lt"/>
                <a:ea typeface="ＭＳ Ｐゴシック"/>
                <a:cs typeface="Calibri"/>
              </a:rPr>
              <a:t> </a:t>
            </a:r>
            <a:r>
              <a:rPr lang="en-US" dirty="0">
                <a:ea typeface="ＭＳ Ｐゴシック"/>
                <a:cs typeface="Calibri"/>
              </a:rPr>
              <a:t>enable </a:t>
            </a:r>
            <a:r>
              <a:rPr lang="en-US" sz="1200" kern="1200" dirty="0">
                <a:solidFill>
                  <a:schemeClr val="tx1"/>
                </a:solidFill>
                <a:effectLst/>
                <a:latin typeface="+mn-lt"/>
                <a:ea typeface="ＭＳ Ｐゴシック"/>
                <a:cs typeface="Calibri"/>
              </a:rPr>
              <a:t>application developers to write software to run on the custom-built embedded Linux system without knowing much about build systems.</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19</a:t>
            </a:fld>
            <a:endParaRPr lang="en-US" altLang="en-US"/>
          </a:p>
        </p:txBody>
      </p:sp>
    </p:spTree>
    <p:extLst>
      <p:ext uri="{BB962C8B-B14F-4D97-AF65-F5344CB8AC3E}">
        <p14:creationId xmlns:p14="http://schemas.microsoft.com/office/powerpoint/2010/main" val="57975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kern="1200" dirty="0">
                <a:solidFill>
                  <a:schemeClr val="tx1"/>
                </a:solidFill>
                <a:effectLst/>
                <a:latin typeface="+mn-lt"/>
                <a:ea typeface="ＭＳ Ｐゴシック"/>
                <a:cs typeface="Calibri"/>
              </a:rPr>
              <a:t>The </a:t>
            </a:r>
            <a:r>
              <a:rPr lang="en-US" sz="1200" kern="1200" dirty="0" err="1">
                <a:solidFill>
                  <a:schemeClr val="tx1"/>
                </a:solidFill>
                <a:effectLst/>
                <a:latin typeface="+mn-lt"/>
                <a:ea typeface="ＭＳ Ｐゴシック"/>
                <a:cs typeface="Calibri"/>
              </a:rPr>
              <a:t>Yocto</a:t>
            </a:r>
            <a:r>
              <a:rPr lang="en-US" sz="1200" kern="1200" dirty="0">
                <a:solidFill>
                  <a:schemeClr val="tx1"/>
                </a:solidFill>
                <a:effectLst/>
                <a:latin typeface="+mn-lt"/>
                <a:ea typeface="ＭＳ Ｐゴシック"/>
                <a:cs typeface="Calibri"/>
              </a:rPr>
              <a:t> build system is composed of multiple layers. These layers are essentially containers for the building blocks of the system. The layers do not contain component source code, but they do contain the metadata for them. These are called recipes. Recipes define how to build binary outputs, </a:t>
            </a:r>
            <a:r>
              <a:rPr lang="en-US" dirty="0">
                <a:ea typeface="ＭＳ Ｐゴシック"/>
                <a:cs typeface="Calibri"/>
              </a:rPr>
              <a:t>known as</a:t>
            </a:r>
            <a:r>
              <a:rPr lang="en-US" sz="1200" kern="1200" dirty="0">
                <a:solidFill>
                  <a:schemeClr val="tx1"/>
                </a:solidFill>
                <a:effectLst/>
                <a:latin typeface="+mn-lt"/>
                <a:ea typeface="ＭＳ Ｐゴシック"/>
                <a:cs typeface="Calibri"/>
              </a:rPr>
              <a:t> packages.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20</a:t>
            </a:fld>
            <a:endParaRPr lang="en-US" altLang="en-US"/>
          </a:p>
        </p:txBody>
      </p:sp>
    </p:spTree>
    <p:extLst>
      <p:ext uri="{BB962C8B-B14F-4D97-AF65-F5344CB8AC3E}">
        <p14:creationId xmlns:p14="http://schemas.microsoft.com/office/powerpoint/2010/main" val="40771708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This diagram illustrates the overall workflow of the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build system. We will look at the individual parts in more detail.</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21</a:t>
            </a:fld>
            <a:endParaRPr lang="en-US" altLang="en-US"/>
          </a:p>
        </p:txBody>
      </p:sp>
    </p:spTree>
    <p:extLst>
      <p:ext uri="{BB962C8B-B14F-4D97-AF65-F5344CB8AC3E}">
        <p14:creationId xmlns:p14="http://schemas.microsoft.com/office/powerpoint/2010/main" val="496355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ＭＳ Ｐゴシック"/>
                <a:cs typeface="Calibri"/>
              </a:rPr>
              <a:t>For </a:t>
            </a:r>
            <a:r>
              <a:rPr lang="en-US" dirty="0" err="1">
                <a:ea typeface="ＭＳ Ｐゴシック"/>
                <a:cs typeface="Calibri"/>
              </a:rPr>
              <a:t>Yocto</a:t>
            </a:r>
            <a:r>
              <a:rPr lang="en-US" sz="1200" kern="1200" dirty="0">
                <a:solidFill>
                  <a:schemeClr val="tx1"/>
                </a:solidFill>
                <a:effectLst/>
                <a:latin typeface="+mn-lt"/>
                <a:ea typeface="ＭＳ Ｐゴシック"/>
                <a:cs typeface="Calibri"/>
              </a:rPr>
              <a:t>, the build system workflow has a </a:t>
            </a:r>
            <a:r>
              <a:rPr lang="en-US" dirty="0">
                <a:ea typeface="ＭＳ Ｐゴシック"/>
                <a:cs typeface="Calibri"/>
              </a:rPr>
              <a:t>number</a:t>
            </a:r>
            <a:r>
              <a:rPr lang="en-US" sz="1200" kern="1200" dirty="0">
                <a:solidFill>
                  <a:schemeClr val="tx1"/>
                </a:solidFill>
                <a:effectLst/>
                <a:latin typeface="+mn-lt"/>
                <a:ea typeface="ＭＳ Ｐゴシック"/>
                <a:cs typeface="Calibri"/>
              </a:rPr>
              <a:t> of different configuration files, for different purposes.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Meta/conf/</a:t>
            </a:r>
            <a:r>
              <a:rPr lang="en-US" sz="1200" kern="1200" dirty="0" err="1">
                <a:solidFill>
                  <a:schemeClr val="tx1"/>
                </a:solidFill>
                <a:effectLst/>
                <a:latin typeface="+mn-lt"/>
                <a:ea typeface="ＭＳ Ｐゴシック" charset="0"/>
                <a:cs typeface="ＭＳ Ｐゴシック" charset="0"/>
              </a:rPr>
              <a:t>bitbake.conf</a:t>
            </a:r>
            <a:r>
              <a:rPr lang="en-US" sz="1200" kern="1200" dirty="0">
                <a:solidFill>
                  <a:schemeClr val="tx1"/>
                </a:solidFill>
                <a:effectLst/>
                <a:latin typeface="+mn-lt"/>
                <a:ea typeface="ＭＳ Ｐゴシック" charset="0"/>
                <a:cs typeface="ＭＳ Ｐゴシック" charset="0"/>
              </a:rPr>
              <a:t> is where the default configuration settings are stored.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Build/conf/</a:t>
            </a:r>
            <a:r>
              <a:rPr lang="en-US" sz="1200" kern="1200" dirty="0" err="1">
                <a:solidFill>
                  <a:schemeClr val="tx1"/>
                </a:solidFill>
                <a:effectLst/>
                <a:latin typeface="+mn-lt"/>
                <a:ea typeface="ＭＳ Ｐゴシック" charset="0"/>
                <a:cs typeface="ＭＳ Ｐゴシック" charset="0"/>
              </a:rPr>
              <a:t>bblayers.conf</a:t>
            </a:r>
            <a:r>
              <a:rPr lang="en-US" sz="1200" kern="1200" dirty="0">
                <a:solidFill>
                  <a:schemeClr val="tx1"/>
                </a:solidFill>
                <a:effectLst/>
                <a:latin typeface="+mn-lt"/>
                <a:ea typeface="ＭＳ Ｐゴシック" charset="0"/>
                <a:cs typeface="ＭＳ Ｐゴシック" charset="0"/>
              </a:rPr>
              <a:t> is where the layers to be used during the build process are stored.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/conf/</a:t>
            </a:r>
            <a:r>
              <a:rPr lang="en-US" sz="1200" kern="1200" dirty="0" err="1">
                <a:solidFill>
                  <a:schemeClr val="tx1"/>
                </a:solidFill>
                <a:effectLst/>
                <a:latin typeface="+mn-lt"/>
                <a:ea typeface="ＭＳ Ｐゴシック" charset="0"/>
                <a:cs typeface="ＭＳ Ｐゴシック" charset="0"/>
              </a:rPr>
              <a:t>layers.conf</a:t>
            </a:r>
            <a:r>
              <a:rPr lang="en-US" sz="1200" kern="1200" dirty="0">
                <a:solidFill>
                  <a:schemeClr val="tx1"/>
                </a:solidFill>
                <a:effectLst/>
                <a:latin typeface="+mn-lt"/>
                <a:ea typeface="ＭＳ Ｐゴシック" charset="0"/>
                <a:cs typeface="ＭＳ Ｐゴシック" charset="0"/>
              </a:rPr>
              <a:t> is where the layer configuration settings are stored.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Build/conf/</a:t>
            </a:r>
            <a:r>
              <a:rPr lang="en-US" sz="1200" kern="1200" dirty="0" err="1">
                <a:solidFill>
                  <a:schemeClr val="tx1"/>
                </a:solidFill>
                <a:effectLst/>
                <a:latin typeface="+mn-lt"/>
                <a:ea typeface="ＭＳ Ｐゴシック" charset="0"/>
                <a:cs typeface="ＭＳ Ｐゴシック" charset="0"/>
              </a:rPr>
              <a:t>local.conf</a:t>
            </a:r>
            <a:r>
              <a:rPr lang="en-US" sz="1200" kern="1200" dirty="0">
                <a:solidFill>
                  <a:schemeClr val="tx1"/>
                </a:solidFill>
                <a:effectLst/>
                <a:latin typeface="+mn-lt"/>
                <a:ea typeface="ＭＳ Ｐゴシック" charset="0"/>
                <a:cs typeface="ＭＳ Ｐゴシック" charset="0"/>
              </a:rPr>
              <a:t> are where the user-defined configurations are stored.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Meta-</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/conf/distro/</a:t>
            </a:r>
            <a:r>
              <a:rPr lang="en-US" sz="1200" kern="1200" dirty="0" err="1">
                <a:solidFill>
                  <a:schemeClr val="tx1"/>
                </a:solidFill>
                <a:effectLst/>
                <a:latin typeface="+mn-lt"/>
                <a:ea typeface="ＭＳ Ｐゴシック" charset="0"/>
                <a:cs typeface="ＭＳ Ｐゴシック" charset="0"/>
              </a:rPr>
              <a:t>poky.conf</a:t>
            </a:r>
            <a:r>
              <a:rPr lang="en-US" sz="1200" kern="1200" dirty="0">
                <a:solidFill>
                  <a:schemeClr val="tx1"/>
                </a:solidFill>
                <a:effectLst/>
                <a:latin typeface="+mn-lt"/>
                <a:ea typeface="ＭＳ Ｐゴシック" charset="0"/>
                <a:cs typeface="ＭＳ Ｐゴシック" charset="0"/>
              </a:rPr>
              <a:t> is where the distribution policy is stored.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Meta-yocto-</a:t>
            </a:r>
            <a:r>
              <a:rPr lang="en-US" sz="1200" kern="1200" dirty="0" err="1">
                <a:solidFill>
                  <a:schemeClr val="tx1"/>
                </a:solidFill>
                <a:effectLst/>
                <a:latin typeface="+mn-lt"/>
                <a:ea typeface="ＭＳ Ｐゴシック" charset="0"/>
                <a:cs typeface="ＭＳ Ｐゴシック" charset="0"/>
              </a:rPr>
              <a:t>bsp</a:t>
            </a:r>
            <a:r>
              <a:rPr lang="en-US" sz="1200" kern="1200" dirty="0">
                <a:solidFill>
                  <a:schemeClr val="tx1"/>
                </a:solidFill>
                <a:effectLst/>
                <a:latin typeface="+mn-lt"/>
                <a:ea typeface="ＭＳ Ｐゴシック" charset="0"/>
                <a:cs typeface="ＭＳ Ｐゴシック" charset="0"/>
              </a:rPr>
              <a:t>/conf/machine/board-</a:t>
            </a:r>
            <a:r>
              <a:rPr lang="en-US" sz="1200" kern="1200" dirty="0" err="1">
                <a:solidFill>
                  <a:schemeClr val="tx1"/>
                </a:solidFill>
                <a:effectLst/>
                <a:latin typeface="+mn-lt"/>
                <a:ea typeface="ＭＳ Ｐゴシック" charset="0"/>
                <a:cs typeface="ＭＳ Ｐゴシック" charset="0"/>
              </a:rPr>
              <a:t>name.conf</a:t>
            </a:r>
            <a:r>
              <a:rPr lang="en-US" sz="1200" kern="1200" dirty="0">
                <a:solidFill>
                  <a:schemeClr val="tx1"/>
                </a:solidFill>
                <a:effectLst/>
                <a:latin typeface="+mn-lt"/>
                <a:ea typeface="ＭＳ Ｐゴシック" charset="0"/>
                <a:cs typeface="ＭＳ Ｐゴシック" charset="0"/>
              </a:rPr>
              <a:t> is where the configuration settings for the BSP are stored.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Meta/conf/machine/include/tune/tune-CPU-name.inc is where the CPU-specific configuration settings are stored.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22</a:t>
            </a:fld>
            <a:endParaRPr lang="en-US" altLang="en-US"/>
          </a:p>
        </p:txBody>
      </p:sp>
    </p:spTree>
    <p:extLst>
      <p:ext uri="{BB962C8B-B14F-4D97-AF65-F5344CB8AC3E}">
        <p14:creationId xmlns:p14="http://schemas.microsoft.com/office/powerpoint/2010/main" val="31852635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One part of the </a:t>
            </a:r>
            <a:r>
              <a:rPr lang="en-US" dirty="0" err="1">
                <a:ea typeface="ＭＳ Ｐゴシック"/>
                <a:cs typeface="Calibri"/>
              </a:rPr>
              <a:t>Yocto</a:t>
            </a:r>
            <a:r>
              <a:rPr lang="en-US" dirty="0">
                <a:ea typeface="ＭＳ Ｐゴシック"/>
                <a:cs typeface="Calibri"/>
              </a:rPr>
              <a:t> workflow</a:t>
            </a:r>
            <a:r>
              <a:rPr lang="en-US" sz="1200" kern="1200" dirty="0">
                <a:solidFill>
                  <a:schemeClr val="tx1"/>
                </a:solidFill>
                <a:effectLst/>
                <a:latin typeface="+mn-lt"/>
                <a:ea typeface="ＭＳ Ｐゴシック"/>
                <a:cs typeface="Calibri"/>
              </a:rPr>
              <a:t> </a:t>
            </a:r>
            <a:r>
              <a:rPr lang="en-US" dirty="0">
                <a:ea typeface="ＭＳ Ｐゴシック"/>
                <a:cs typeface="Calibri"/>
              </a:rPr>
              <a:t>involves</a:t>
            </a:r>
            <a:r>
              <a:rPr lang="en-US" sz="1200" kern="1200" dirty="0">
                <a:solidFill>
                  <a:schemeClr val="tx1"/>
                </a:solidFill>
                <a:effectLst/>
                <a:latin typeface="+mn-lt"/>
                <a:ea typeface="ＭＳ Ｐゴシック"/>
                <a:cs typeface="Calibri"/>
              </a:rPr>
              <a:t> user configuration. The “build/conf/</a:t>
            </a:r>
            <a:r>
              <a:rPr lang="en-US" sz="1200" kern="1200" dirty="0" err="1">
                <a:solidFill>
                  <a:schemeClr val="tx1"/>
                </a:solidFill>
                <a:effectLst/>
                <a:latin typeface="+mn-lt"/>
                <a:ea typeface="ＭＳ Ｐゴシック"/>
                <a:cs typeface="Calibri"/>
              </a:rPr>
              <a:t>local.conf</a:t>
            </a:r>
            <a:r>
              <a:rPr lang="en-US" sz="1200" kern="1200" dirty="0">
                <a:solidFill>
                  <a:schemeClr val="tx1"/>
                </a:solidFill>
                <a:effectLst/>
                <a:latin typeface="+mn-lt"/>
                <a:ea typeface="ＭＳ Ｐゴシック"/>
                <a:cs typeface="Calibri"/>
              </a:rPr>
              <a:t>” file is used to override the default configuration and to define what to build. Some settings include the following:</a:t>
            </a:r>
          </a:p>
          <a:p>
            <a:pPr lvl="1"/>
            <a:r>
              <a:rPr lang="en-US" sz="1200" kern="1200" dirty="0">
                <a:solidFill>
                  <a:schemeClr val="tx1"/>
                </a:solidFill>
                <a:effectLst/>
                <a:latin typeface="+mn-lt"/>
                <a:ea typeface="ＭＳ Ｐゴシック" charset="0"/>
                <a:cs typeface="ＭＳ Ｐゴシック" charset="0"/>
              </a:rPr>
              <a:t>“BB_NUMBER_THREADS”</a:t>
            </a:r>
          </a:p>
          <a:p>
            <a:pPr lvl="1"/>
            <a:r>
              <a:rPr lang="en-US" sz="1200" kern="1200" dirty="0">
                <a:solidFill>
                  <a:schemeClr val="tx1"/>
                </a:solidFill>
                <a:effectLst/>
                <a:latin typeface="+mn-lt"/>
                <a:ea typeface="ＭＳ Ｐゴシック" charset="0"/>
                <a:cs typeface="ＭＳ Ｐゴシック" charset="0"/>
              </a:rPr>
              <a:t>“PARALLEL_MAKE”</a:t>
            </a:r>
          </a:p>
          <a:p>
            <a:pPr lvl="1"/>
            <a:r>
              <a:rPr lang="en-US" sz="1200" kern="1200" dirty="0">
                <a:solidFill>
                  <a:schemeClr val="tx1"/>
                </a:solidFill>
                <a:effectLst/>
                <a:latin typeface="+mn-lt"/>
                <a:ea typeface="ＭＳ Ｐゴシック" charset="0"/>
                <a:cs typeface="ＭＳ Ｐゴシック" charset="0"/>
              </a:rPr>
              <a:t>“DISTRO”</a:t>
            </a:r>
          </a:p>
          <a:p>
            <a:pPr lvl="1"/>
            <a:r>
              <a:rPr lang="en-US" sz="1200" kern="1200" dirty="0">
                <a:solidFill>
                  <a:schemeClr val="tx1"/>
                </a:solidFill>
                <a:effectLst/>
                <a:latin typeface="+mn-lt"/>
                <a:ea typeface="ＭＳ Ｐゴシック" charset="0"/>
                <a:cs typeface="ＭＳ Ｐゴシック" charset="0"/>
              </a:rPr>
              <a:t>“INCOMPATIBLE_LICENSE = “GPLv3””</a:t>
            </a:r>
          </a:p>
          <a:p>
            <a:pPr lvl="1"/>
            <a:r>
              <a:rPr lang="en-US" sz="1200" kern="1200" dirty="0">
                <a:solidFill>
                  <a:schemeClr val="tx1"/>
                </a:solidFill>
                <a:effectLst/>
                <a:latin typeface="+mn-lt"/>
                <a:ea typeface="ＭＳ Ｐゴシック" charset="0"/>
                <a:cs typeface="ＭＳ Ｐゴシック" charset="0"/>
              </a:rPr>
              <a:t>“EXTRA_IMAGE_FEATURES”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“build/conf/</a:t>
            </a:r>
            <a:r>
              <a:rPr lang="en-US" sz="1200" kern="1200" dirty="0" err="1">
                <a:solidFill>
                  <a:schemeClr val="tx1"/>
                </a:solidFill>
                <a:effectLst/>
                <a:latin typeface="+mn-lt"/>
                <a:ea typeface="ＭＳ Ｐゴシック" charset="0"/>
                <a:cs typeface="ＭＳ Ｐゴシック" charset="0"/>
              </a:rPr>
              <a:t>bblayers.conf</a:t>
            </a:r>
            <a:r>
              <a:rPr lang="en-US" sz="1200" kern="1200" dirty="0">
                <a:solidFill>
                  <a:schemeClr val="tx1"/>
                </a:solidFill>
                <a:effectLst/>
                <a:latin typeface="+mn-lt"/>
                <a:ea typeface="ＭＳ Ｐゴシック" charset="0"/>
                <a:cs typeface="ＭＳ Ｐゴシック" charset="0"/>
              </a:rPr>
              <a:t>” file is used to configure which layers to use.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Project-compatible layers can be added to the “</a:t>
            </a:r>
            <a:r>
              <a:rPr lang="en-US" sz="1200" kern="1200" dirty="0" err="1">
                <a:solidFill>
                  <a:schemeClr val="tx1"/>
                </a:solidFill>
                <a:effectLst/>
                <a:latin typeface="+mn-lt"/>
                <a:ea typeface="ＭＳ Ｐゴシック" charset="0"/>
                <a:cs typeface="ＭＳ Ｐゴシック" charset="0"/>
              </a:rPr>
              <a:t>bblayers</a:t>
            </a:r>
            <a:r>
              <a:rPr lang="en-US" sz="1200" kern="1200" dirty="0">
                <a:solidFill>
                  <a:schemeClr val="tx1"/>
                </a:solidFill>
                <a:effectLst/>
                <a:latin typeface="+mn-lt"/>
                <a:ea typeface="ＭＳ Ｐゴシック" charset="0"/>
                <a:cs typeface="ＭＳ Ｐゴシック" charset="0"/>
              </a:rPr>
              <a:t>” file. The default layers are meta (o e core), meta-</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and meta-yocto-</a:t>
            </a:r>
            <a:r>
              <a:rPr lang="en-US" sz="1200" kern="1200" dirty="0" err="1">
                <a:solidFill>
                  <a:schemeClr val="tx1"/>
                </a:solidFill>
                <a:effectLst/>
                <a:latin typeface="+mn-lt"/>
                <a:ea typeface="ＭＳ Ｐゴシック" charset="0"/>
                <a:cs typeface="ＭＳ Ｐゴシック" charset="0"/>
              </a:rPr>
              <a:t>bsp</a:t>
            </a:r>
            <a:r>
              <a:rPr lang="en-US" sz="1200" kern="1200" dirty="0">
                <a:solidFill>
                  <a:schemeClr val="tx1"/>
                </a:solidFill>
                <a:effectLst/>
                <a:latin typeface="+mn-lt"/>
                <a:ea typeface="ＭＳ Ｐゴシック" charset="0"/>
                <a:cs typeface="ＭＳ Ｐゴシック" charset="0"/>
              </a:rPr>
              <a:t>.</a:t>
            </a:r>
          </a:p>
          <a:p>
            <a:r>
              <a:rPr lang="en-US" sz="1200" kern="1200" dirty="0">
                <a:solidFill>
                  <a:schemeClr val="tx1"/>
                </a:solidFill>
                <a:effectLst/>
                <a:latin typeface="+mn-lt"/>
                <a:ea typeface="ＭＳ Ｐゴシック" charset="0"/>
                <a:cs typeface="ＭＳ Ｐゴシック" charset="0"/>
              </a:rPr>
              <a:t> </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23</a:t>
            </a:fld>
            <a:endParaRPr lang="en-US" altLang="en-US"/>
          </a:p>
        </p:txBody>
      </p:sp>
    </p:spTree>
    <p:extLst>
      <p:ext uri="{BB962C8B-B14F-4D97-AF65-F5344CB8AC3E}">
        <p14:creationId xmlns:p14="http://schemas.microsoft.com/office/powerpoint/2010/main" val="30052354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Another aspect of the </a:t>
            </a:r>
            <a:r>
              <a:rPr lang="en-US" dirty="0" err="1">
                <a:ea typeface="ＭＳ Ｐゴシック"/>
                <a:cs typeface="Calibri"/>
              </a:rPr>
              <a:t>Yocto</a:t>
            </a:r>
            <a:r>
              <a:rPr lang="en-US" dirty="0">
                <a:ea typeface="ＭＳ Ｐゴシック"/>
                <a:cs typeface="Calibri"/>
              </a:rPr>
              <a:t> workflow</a:t>
            </a:r>
            <a:r>
              <a:rPr lang="en-US" sz="1200" kern="1200" dirty="0">
                <a:solidFill>
                  <a:schemeClr val="tx1"/>
                </a:solidFill>
                <a:effectLst/>
                <a:latin typeface="+mn-lt"/>
                <a:ea typeface="ＭＳ Ｐゴシック"/>
                <a:cs typeface="Calibri"/>
              </a:rPr>
              <a:t> is </a:t>
            </a:r>
            <a:r>
              <a:rPr lang="en-US" dirty="0">
                <a:ea typeface="ＭＳ Ｐゴシック"/>
                <a:cs typeface="Calibri"/>
              </a:rPr>
              <a:t>metadata</a:t>
            </a:r>
            <a:r>
              <a:rPr lang="en-US" sz="1200" kern="1200" dirty="0">
                <a:solidFill>
                  <a:schemeClr val="tx1"/>
                </a:solidFill>
                <a:effectLst/>
                <a:latin typeface="+mn-lt"/>
                <a:ea typeface="ＭＳ Ｐゴシック"/>
                <a:cs typeface="Calibri"/>
              </a:rPr>
              <a:t>. Metadata can be thought of as the description of data. In </a:t>
            </a:r>
            <a:r>
              <a:rPr lang="en-US" sz="1200" kern="1200" dirty="0" err="1">
                <a:solidFill>
                  <a:schemeClr val="tx1"/>
                </a:solidFill>
                <a:effectLst/>
                <a:latin typeface="+mn-lt"/>
                <a:ea typeface="ＭＳ Ｐゴシック"/>
                <a:cs typeface="Calibri"/>
              </a:rPr>
              <a:t>Yocto</a:t>
            </a:r>
            <a:r>
              <a:rPr lang="en-US" sz="1200" kern="1200" dirty="0">
                <a:solidFill>
                  <a:schemeClr val="tx1"/>
                </a:solidFill>
                <a:effectLst/>
                <a:latin typeface="+mn-lt"/>
                <a:ea typeface="ＭＳ Ｐゴシック"/>
                <a:cs typeface="Calibri"/>
              </a:rPr>
              <a:t>, recipes </a:t>
            </a:r>
            <a:r>
              <a:rPr lang="en-US" dirty="0">
                <a:ea typeface="ＭＳ Ｐゴシック"/>
                <a:cs typeface="Calibri"/>
              </a:rPr>
              <a:t>are used</a:t>
            </a:r>
            <a:r>
              <a:rPr lang="en-US" sz="1200" kern="1200" dirty="0">
                <a:solidFill>
                  <a:schemeClr val="tx1"/>
                </a:solidFill>
                <a:effectLst/>
                <a:latin typeface="+mn-lt"/>
                <a:ea typeface="ＭＳ Ｐゴシック"/>
                <a:cs typeface="Calibri"/>
              </a:rPr>
              <a:t> for building packages. These recipes inherit the system configuration and adjust it to describe how to build and package the software. These can be extended and enhanced via layers. They are also compatible with </a:t>
            </a:r>
            <a:r>
              <a:rPr lang="en-US" sz="1200" kern="1200" dirty="0" err="1">
                <a:solidFill>
                  <a:schemeClr val="tx1"/>
                </a:solidFill>
                <a:effectLst/>
                <a:latin typeface="+mn-lt"/>
                <a:ea typeface="ＭＳ Ｐゴシック"/>
                <a:cs typeface="Calibri"/>
              </a:rPr>
              <a:t>OpenEmbedded</a:t>
            </a:r>
            <a:r>
              <a:rPr lang="en-US" sz="1200" kern="1200" dirty="0">
                <a:solidFill>
                  <a:schemeClr val="tx1"/>
                </a:solidFill>
                <a:effectLst/>
                <a:latin typeface="+mn-lt"/>
                <a:ea typeface="ＭＳ Ｐゴシック"/>
                <a:cs typeface="Calibri"/>
              </a:rPr>
              <a:t>.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Here is an example.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24</a:t>
            </a:fld>
            <a:endParaRPr lang="en-US" altLang="en-US"/>
          </a:p>
        </p:txBody>
      </p:sp>
    </p:spTree>
    <p:extLst>
      <p:ext uri="{BB962C8B-B14F-4D97-AF65-F5344CB8AC3E}">
        <p14:creationId xmlns:p14="http://schemas.microsoft.com/office/powerpoint/2010/main" val="42027902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Machine configuration is another stage in the workflow</a:t>
            </a:r>
            <a:r>
              <a:rPr lang="en-US" dirty="0">
                <a:ea typeface="ＭＳ Ｐゴシック"/>
                <a:cs typeface="Calibri"/>
              </a:rPr>
              <a:t>,</a:t>
            </a:r>
            <a:r>
              <a:rPr lang="en-US" sz="1200" kern="1200" dirty="0">
                <a:solidFill>
                  <a:schemeClr val="tx1"/>
                </a:solidFill>
                <a:effectLst/>
                <a:latin typeface="+mn-lt"/>
                <a:ea typeface="ＭＳ Ｐゴシック"/>
                <a:cs typeface="Calibri"/>
              </a:rPr>
              <a:t> and </a:t>
            </a:r>
            <a:r>
              <a:rPr lang="en-US" sz="1200" kern="1200" dirty="0" err="1">
                <a:solidFill>
                  <a:schemeClr val="tx1"/>
                </a:solidFill>
                <a:effectLst/>
                <a:latin typeface="+mn-lt"/>
                <a:ea typeface="ＭＳ Ｐゴシック"/>
                <a:cs typeface="Calibri"/>
              </a:rPr>
              <a:t>Yocto</a:t>
            </a:r>
            <a:r>
              <a:rPr lang="en-US" sz="1200" kern="1200" dirty="0">
                <a:solidFill>
                  <a:schemeClr val="tx1"/>
                </a:solidFill>
                <a:effectLst/>
                <a:latin typeface="+mn-lt"/>
                <a:ea typeface="ＭＳ Ｐゴシック"/>
                <a:cs typeface="Calibri"/>
              </a:rPr>
              <a:t> provides configuration files to describe a machine. They can define board-specific kernel configurations or process and system-on-chip tuning files.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machine configuration refers to kernel sources. </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As with other stages</a:t>
            </a:r>
            <a:r>
              <a:rPr lang="en-US" sz="1200" kern="1200" dirty="0">
                <a:solidFill>
                  <a:schemeClr val="tx1"/>
                </a:solidFill>
                <a:effectLst/>
                <a:latin typeface="+mn-lt"/>
                <a:ea typeface="ＭＳ Ｐゴシック"/>
                <a:cs typeface="Calibri"/>
              </a:rPr>
              <a:t>, this </a:t>
            </a:r>
            <a:r>
              <a:rPr lang="en-US" dirty="0">
                <a:ea typeface="ＭＳ Ｐゴシック"/>
                <a:cs typeface="Calibri"/>
              </a:rPr>
              <a:t>step is</a:t>
            </a:r>
            <a:r>
              <a:rPr lang="en-US" sz="1200" kern="1200" dirty="0">
                <a:solidFill>
                  <a:schemeClr val="tx1"/>
                </a:solidFill>
                <a:effectLst/>
                <a:latin typeface="+mn-lt"/>
                <a:ea typeface="ＭＳ Ｐゴシック"/>
                <a:cs typeface="Calibri"/>
              </a:rPr>
              <a:t> compatible with </a:t>
            </a:r>
            <a:r>
              <a:rPr lang="en-US" sz="1200" kern="1200" dirty="0" err="1">
                <a:solidFill>
                  <a:schemeClr val="tx1"/>
                </a:solidFill>
                <a:effectLst/>
                <a:latin typeface="+mn-lt"/>
                <a:ea typeface="ＭＳ Ｐゴシック"/>
                <a:cs typeface="Calibri"/>
              </a:rPr>
              <a:t>OpenEmbedded</a:t>
            </a:r>
            <a:r>
              <a:rPr lang="en-US" sz="1200" kern="1200" dirty="0">
                <a:solidFill>
                  <a:schemeClr val="tx1"/>
                </a:solidFill>
                <a:effectLst/>
                <a:latin typeface="+mn-lt"/>
                <a:ea typeface="ＭＳ Ｐゴシック"/>
                <a:cs typeface="Calibri"/>
              </a:rPr>
              <a:t>.</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Here is</a:t>
            </a:r>
            <a:r>
              <a:rPr lang="en-US" sz="1200" kern="1200" dirty="0">
                <a:solidFill>
                  <a:schemeClr val="tx1"/>
                </a:solidFill>
                <a:effectLst/>
                <a:latin typeface="+mn-lt"/>
                <a:ea typeface="ＭＳ Ｐゴシック"/>
                <a:cs typeface="Calibri"/>
              </a:rPr>
              <a:t> an example </a:t>
            </a:r>
            <a:r>
              <a:rPr lang="en-US" dirty="0">
                <a:ea typeface="ＭＳ Ｐゴシック"/>
                <a:cs typeface="Calibri"/>
              </a:rPr>
              <a:t>of a machine configuration</a:t>
            </a:r>
            <a:r>
              <a:rPr lang="en-US" sz="1200" kern="1200" dirty="0">
                <a:solidFill>
                  <a:schemeClr val="tx1"/>
                </a:solidFill>
                <a:effectLst/>
                <a:latin typeface="+mn-lt"/>
                <a:ea typeface="ＭＳ Ｐゴシック"/>
                <a:cs typeface="Calibri"/>
              </a:rPr>
              <a:t> file.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25</a:t>
            </a:fld>
            <a:endParaRPr lang="en-US" altLang="en-US"/>
          </a:p>
        </p:txBody>
      </p:sp>
    </p:spTree>
    <p:extLst>
      <p:ext uri="{BB962C8B-B14F-4D97-AF65-F5344CB8AC3E}">
        <p14:creationId xmlns:p14="http://schemas.microsoft.com/office/powerpoint/2010/main" val="32856064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a:cs typeface="Calibri"/>
              </a:rPr>
              <a:t>Distribution policies that affect the way individual recipes are built are defined</a:t>
            </a:r>
            <a:r>
              <a:rPr lang="en-US" dirty="0">
                <a:ea typeface="ＭＳ Ｐゴシック"/>
                <a:cs typeface="Calibri"/>
              </a:rPr>
              <a:t> in </a:t>
            </a:r>
            <a:r>
              <a:rPr lang="en-US" dirty="0" err="1">
                <a:ea typeface="ＭＳ Ｐゴシック"/>
                <a:cs typeface="Calibri"/>
              </a:rPr>
              <a:t>Yocto</a:t>
            </a:r>
            <a:r>
              <a:rPr lang="en-US" sz="1200" kern="1200" dirty="0">
                <a:solidFill>
                  <a:schemeClr val="tx1"/>
                </a:solidFill>
                <a:effectLst/>
                <a:latin typeface="+mn-lt"/>
                <a:ea typeface="ＭＳ Ｐゴシック"/>
                <a:cs typeface="Calibri"/>
              </a:rPr>
              <a:t>. </a:t>
            </a:r>
            <a:r>
              <a:rPr lang="en-US" dirty="0">
                <a:ea typeface="ＭＳ Ｐゴシック"/>
                <a:cs typeface="Calibri"/>
              </a:rPr>
              <a:t>These</a:t>
            </a:r>
            <a:r>
              <a:rPr lang="en-US" sz="1200" kern="1200" dirty="0">
                <a:solidFill>
                  <a:schemeClr val="tx1"/>
                </a:solidFill>
                <a:effectLst/>
                <a:latin typeface="+mn-lt"/>
                <a:ea typeface="ＭＳ Ｐゴシック"/>
                <a:cs typeface="Calibri"/>
              </a:rPr>
              <a:t> </a:t>
            </a:r>
            <a:r>
              <a:rPr lang="en-US" dirty="0">
                <a:ea typeface="ＭＳ Ｐゴシック"/>
                <a:cs typeface="Calibri"/>
              </a:rPr>
              <a:t>policies </a:t>
            </a:r>
            <a:r>
              <a:rPr lang="en-US" sz="1200" kern="1200" dirty="0">
                <a:solidFill>
                  <a:schemeClr val="tx1"/>
                </a:solidFill>
                <a:effectLst/>
                <a:latin typeface="+mn-lt"/>
                <a:ea typeface="ＭＳ Ｐゴシック"/>
                <a:cs typeface="Calibri"/>
              </a:rPr>
              <a:t>may</a:t>
            </a:r>
            <a:r>
              <a:rPr lang="en-US" dirty="0">
                <a:ea typeface="ＭＳ Ｐゴシック"/>
                <a:cs typeface="Calibri"/>
              </a:rPr>
              <a:t>:</a:t>
            </a:r>
            <a:endParaRPr lang="en-US" sz="1200" kern="1200" dirty="0">
              <a:solidFill>
                <a:schemeClr val="tx1"/>
              </a:solidFill>
              <a:effectLst/>
              <a:latin typeface="+mn-lt"/>
              <a:ea typeface="ＭＳ Ｐゴシック"/>
              <a:cs typeface="Calibri"/>
            </a:endParaRPr>
          </a:p>
          <a:p>
            <a:pPr marL="742950" lvl="1" indent="-285750">
              <a:buFont typeface="Calibri"/>
              <a:buChar char="-"/>
            </a:pPr>
            <a:r>
              <a:rPr lang="en-US" sz="1200" kern="1200">
                <a:solidFill>
                  <a:schemeClr val="tx1"/>
                </a:solidFill>
                <a:effectLst/>
                <a:latin typeface="+mn-lt"/>
                <a:ea typeface="ＭＳ Ｐゴシック"/>
                <a:cs typeface="Calibri"/>
              </a:rPr>
              <a:t>Set alternative preferred versions of recipes.</a:t>
            </a:r>
          </a:p>
          <a:p>
            <a:pPr marL="742950" lvl="1" indent="-285750">
              <a:buFont typeface="Calibri"/>
              <a:buChar char="-"/>
            </a:pPr>
            <a:r>
              <a:rPr lang="en-US" sz="1200" kern="1200" dirty="0">
                <a:solidFill>
                  <a:schemeClr val="tx1"/>
                </a:solidFill>
                <a:effectLst/>
                <a:latin typeface="+mn-lt"/>
                <a:ea typeface="ＭＳ Ｐゴシック"/>
                <a:cs typeface="Calibri"/>
              </a:rPr>
              <a:t>Enable/disable features.</a:t>
            </a:r>
          </a:p>
          <a:p>
            <a:pPr marL="742950" lvl="1" indent="-285750">
              <a:buFont typeface="Calibri"/>
              <a:buChar char="-"/>
            </a:pPr>
            <a:r>
              <a:rPr lang="en-US" sz="1200" kern="1200" dirty="0">
                <a:solidFill>
                  <a:schemeClr val="tx1"/>
                </a:solidFill>
                <a:effectLst/>
                <a:latin typeface="+mn-lt"/>
                <a:ea typeface="ＭＳ Ｐゴシック"/>
                <a:cs typeface="Calibri"/>
              </a:rPr>
              <a:t>Configure specific package rules.</a:t>
            </a:r>
          </a:p>
          <a:p>
            <a:pPr marL="742950" lvl="1" indent="-285750">
              <a:buFont typeface="Calibri"/>
              <a:buChar char="-"/>
            </a:pPr>
            <a:r>
              <a:rPr lang="en-US" sz="1200" kern="1200" dirty="0">
                <a:solidFill>
                  <a:schemeClr val="tx1"/>
                </a:solidFill>
                <a:effectLst/>
                <a:latin typeface="+mn-lt"/>
                <a:ea typeface="ＭＳ Ｐゴシック"/>
                <a:cs typeface="Calibri"/>
              </a:rPr>
              <a:t>Adjust image deployment settings.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They are enabled via the DISTRO setting.</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There are four predefined settings:</a:t>
            </a:r>
          </a:p>
          <a:p>
            <a:pPr marL="742950" lvl="1" indent="-285750">
              <a:buFont typeface="Calibri"/>
              <a:buChar char="-"/>
            </a:pPr>
            <a:r>
              <a:rPr lang="en-US" sz="1200" kern="1200">
                <a:solidFill>
                  <a:schemeClr val="tx1"/>
                </a:solidFill>
                <a:effectLst/>
                <a:latin typeface="+mn-lt"/>
                <a:ea typeface="ＭＳ Ｐゴシック"/>
                <a:cs typeface="Calibri"/>
              </a:rPr>
              <a:t>Poky-bleeding, which enables bleeding edge packages</a:t>
            </a:r>
          </a:p>
          <a:p>
            <a:pPr marL="742950" lvl="1" indent="-285750">
              <a:buFont typeface="Calibri"/>
              <a:buChar char="-"/>
            </a:pPr>
            <a:r>
              <a:rPr lang="en-US" sz="1200" kern="1200">
                <a:solidFill>
                  <a:schemeClr val="tx1"/>
                </a:solidFill>
                <a:effectLst/>
                <a:latin typeface="+mn-lt"/>
                <a:ea typeface="ＭＳ Ｐゴシック"/>
                <a:cs typeface="Calibri"/>
              </a:rPr>
              <a:t>Poky, which is the core distribution definition and defines the base</a:t>
            </a:r>
          </a:p>
          <a:p>
            <a:pPr marL="742950" lvl="1" indent="-285750">
              <a:buFont typeface="Calibri"/>
              <a:buChar char="-"/>
            </a:pPr>
            <a:r>
              <a:rPr lang="en-US" sz="1200" kern="1200" dirty="0">
                <a:solidFill>
                  <a:schemeClr val="tx1"/>
                </a:solidFill>
                <a:effectLst/>
                <a:latin typeface="+mn-lt"/>
                <a:ea typeface="ＭＳ Ｐゴシック"/>
                <a:cs typeface="Calibri"/>
              </a:rPr>
              <a:t>Poky-</a:t>
            </a:r>
            <a:r>
              <a:rPr lang="en-US" sz="1200" kern="1200" dirty="0" err="1">
                <a:solidFill>
                  <a:schemeClr val="tx1"/>
                </a:solidFill>
                <a:effectLst/>
                <a:latin typeface="+mn-lt"/>
                <a:ea typeface="ＭＳ Ｐゴシック"/>
                <a:cs typeface="Calibri"/>
              </a:rPr>
              <a:t>lsb</a:t>
            </a:r>
            <a:r>
              <a:rPr lang="en-US" sz="1200" kern="1200" dirty="0">
                <a:solidFill>
                  <a:schemeClr val="tx1"/>
                </a:solidFill>
                <a:effectLst/>
                <a:latin typeface="+mn-lt"/>
                <a:ea typeface="ＭＳ Ｐゴシック"/>
                <a:cs typeface="Calibri"/>
              </a:rPr>
              <a:t>, which enables items required for </a:t>
            </a:r>
            <a:r>
              <a:rPr lang="en-US" dirty="0">
                <a:ea typeface="ＭＳ Ｐゴシック"/>
                <a:cs typeface="Calibri"/>
              </a:rPr>
              <a:t>Linux Standard Base (LSB)</a:t>
            </a:r>
            <a:r>
              <a:rPr lang="en-US" sz="1200" kern="1200" dirty="0">
                <a:solidFill>
                  <a:schemeClr val="tx1"/>
                </a:solidFill>
                <a:effectLst/>
                <a:latin typeface="+mn-lt"/>
                <a:ea typeface="ＭＳ Ｐゴシック"/>
                <a:cs typeface="Calibri"/>
              </a:rPr>
              <a:t> support</a:t>
            </a:r>
          </a:p>
          <a:p>
            <a:pPr marL="742950" lvl="1" indent="-285750">
              <a:buFont typeface="Calibri"/>
              <a:buChar char="-"/>
            </a:pPr>
            <a:r>
              <a:rPr lang="en-US" sz="1200" kern="1200" dirty="0">
                <a:solidFill>
                  <a:schemeClr val="tx1"/>
                </a:solidFill>
                <a:effectLst/>
                <a:latin typeface="+mn-lt"/>
                <a:ea typeface="ＭＳ Ｐゴシック"/>
                <a:cs typeface="Calibri"/>
              </a:rPr>
              <a:t>Poky-tiny, which is for constructing a smaller-than-usual system</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26</a:t>
            </a:fld>
            <a:endParaRPr lang="en-US" altLang="en-US"/>
          </a:p>
        </p:txBody>
      </p:sp>
    </p:spTree>
    <p:extLst>
      <p:ext uri="{BB962C8B-B14F-4D97-AF65-F5344CB8AC3E}">
        <p14:creationId xmlns:p14="http://schemas.microsoft.com/office/powerpoint/2010/main" val="24878119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ＭＳ Ｐゴシック"/>
                <a:cs typeface="Calibri"/>
              </a:rPr>
              <a:t>Given</a:t>
            </a:r>
            <a:r>
              <a:rPr lang="en-US" sz="1200" kern="1200" dirty="0">
                <a:solidFill>
                  <a:schemeClr val="tx1"/>
                </a:solidFill>
                <a:effectLst/>
                <a:latin typeface="+mn-lt"/>
                <a:ea typeface="ＭＳ Ｐゴシック"/>
                <a:cs typeface="Calibri"/>
              </a:rPr>
              <a:t> </a:t>
            </a:r>
            <a:r>
              <a:rPr lang="en-US" dirty="0">
                <a:ea typeface="ＭＳ Ｐゴシック"/>
                <a:cs typeface="Calibri"/>
              </a:rPr>
              <a:t>that </a:t>
            </a:r>
            <a:r>
              <a:rPr lang="en-US" sz="1200" kern="1200" dirty="0">
                <a:solidFill>
                  <a:schemeClr val="tx1"/>
                </a:solidFill>
                <a:effectLst/>
                <a:latin typeface="+mn-lt"/>
                <a:ea typeface="ＭＳ Ｐゴシック"/>
                <a:cs typeface="Calibri"/>
              </a:rPr>
              <a:t>the project </a:t>
            </a:r>
            <a:r>
              <a:rPr lang="en-US" dirty="0">
                <a:ea typeface="ＭＳ Ｐゴシック"/>
                <a:cs typeface="Calibri"/>
              </a:rPr>
              <a:t>uses a</a:t>
            </a:r>
            <a:r>
              <a:rPr lang="en-US" sz="1200" kern="1200" dirty="0">
                <a:solidFill>
                  <a:schemeClr val="tx1"/>
                </a:solidFill>
                <a:effectLst/>
                <a:latin typeface="+mn-lt"/>
                <a:ea typeface="ＭＳ Ｐゴシック"/>
                <a:cs typeface="Calibri"/>
              </a:rPr>
              <a:t> variety of sources to build a certain target, the sources must be fetched. Recipes specify the location of all source, patches, and files. </a:t>
            </a:r>
            <a:r>
              <a:rPr lang="en-US" dirty="0">
                <a:ea typeface="ＭＳ Ｐゴシック"/>
                <a:cs typeface="Calibri"/>
              </a:rPr>
              <a:t>These</a:t>
            </a:r>
            <a:r>
              <a:rPr lang="en-US" sz="1200" kern="1200" dirty="0">
                <a:solidFill>
                  <a:schemeClr val="tx1"/>
                </a:solidFill>
                <a:effectLst/>
                <a:latin typeface="+mn-lt"/>
                <a:ea typeface="ＭＳ Ｐゴシック"/>
                <a:cs typeface="Calibri"/>
              </a:rPr>
              <a:t> may be stored locally or obtained via the Internet.</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a:cs typeface="Calibri"/>
              </a:rPr>
              <a:t>BitBake</a:t>
            </a:r>
            <a:r>
              <a:rPr lang="en-US" sz="1200" kern="1200" dirty="0">
                <a:solidFill>
                  <a:schemeClr val="tx1"/>
                </a:solidFill>
                <a:effectLst/>
                <a:latin typeface="+mn-lt"/>
                <a:ea typeface="ＭＳ Ｐゴシック"/>
                <a:cs typeface="Calibri"/>
              </a:rPr>
              <a:t> is able to get the sources from a variety of forms, such as </a:t>
            </a:r>
            <a:r>
              <a:rPr lang="en-US" dirty="0">
                <a:ea typeface="ＭＳ Ｐゴシック"/>
                <a:cs typeface="Calibri"/>
              </a:rPr>
              <a:t>Git</a:t>
            </a:r>
            <a:r>
              <a:rPr lang="en-US" sz="1200" kern="1200" dirty="0">
                <a:solidFill>
                  <a:schemeClr val="tx1"/>
                </a:solidFill>
                <a:effectLst/>
                <a:latin typeface="+mn-lt"/>
                <a:ea typeface="ＭＳ Ｐゴシック"/>
                <a:cs typeface="Calibri"/>
              </a:rPr>
              <a:t>, </a:t>
            </a:r>
            <a:r>
              <a:rPr lang="en-US" sz="1200" kern="1200" dirty="0" err="1">
                <a:solidFill>
                  <a:schemeClr val="tx1"/>
                </a:solidFill>
                <a:effectLst/>
                <a:latin typeface="+mn-lt"/>
                <a:ea typeface="ＭＳ Ｐゴシック"/>
                <a:cs typeface="Calibri"/>
              </a:rPr>
              <a:t>svn</a:t>
            </a:r>
            <a:r>
              <a:rPr lang="en-US" sz="1200" kern="1200" dirty="0">
                <a:solidFill>
                  <a:schemeClr val="tx1"/>
                </a:solidFill>
                <a:effectLst/>
                <a:latin typeface="+mn-lt"/>
                <a:ea typeface="ＭＳ Ｐゴシック"/>
                <a:cs typeface="Calibri"/>
              </a:rPr>
              <a:t>, </a:t>
            </a:r>
            <a:r>
              <a:rPr lang="en-US" sz="1200" kern="1200" dirty="0" err="1">
                <a:solidFill>
                  <a:schemeClr val="tx1"/>
                </a:solidFill>
                <a:effectLst/>
                <a:latin typeface="+mn-lt"/>
                <a:ea typeface="ＭＳ Ｐゴシック"/>
                <a:cs typeface="Calibri"/>
              </a:rPr>
              <a:t>bzr</a:t>
            </a:r>
            <a:r>
              <a:rPr lang="en-US" sz="1200" kern="1200" dirty="0">
                <a:solidFill>
                  <a:schemeClr val="tx1"/>
                </a:solidFill>
                <a:effectLst/>
                <a:latin typeface="+mn-lt"/>
                <a:ea typeface="ＭＳ Ｐゴシック"/>
                <a:cs typeface="Calibri"/>
              </a:rPr>
              <a:t>, and </a:t>
            </a:r>
            <a:r>
              <a:rPr lang="en-US" sz="1200" kern="1200" dirty="0" err="1">
                <a:solidFill>
                  <a:schemeClr val="tx1"/>
                </a:solidFill>
                <a:effectLst/>
                <a:latin typeface="+mn-lt"/>
                <a:ea typeface="ＭＳ Ｐゴシック"/>
                <a:cs typeface="Calibri"/>
              </a:rPr>
              <a:t>tarballs</a:t>
            </a:r>
            <a:r>
              <a:rPr lang="en-US" sz="1200" kern="1200" dirty="0">
                <a:solidFill>
                  <a:schemeClr val="tx1"/>
                </a:solidFill>
                <a:effectLst/>
                <a:latin typeface="+mn-lt"/>
                <a:ea typeface="ＭＳ Ｐゴシック"/>
                <a:cs typeface="Calibri"/>
              </a:rPr>
              <a:t>.</a:t>
            </a:r>
          </a:p>
          <a:p>
            <a:r>
              <a:rPr lang="en-US" sz="1200" kern="1200" dirty="0">
                <a:solidFill>
                  <a:schemeClr val="tx1"/>
                </a:solidFill>
                <a:effectLst/>
                <a:latin typeface="+mn-lt"/>
                <a:ea typeface="ＭＳ Ｐゴシック" charset="0"/>
                <a:cs typeface="ＭＳ Ｐゴシック" charset="0"/>
              </a:rPr>
              <a:t> </a:t>
            </a:r>
          </a:p>
          <a:p>
            <a:r>
              <a:rPr lang="en-US" sz="1200" kern="1200">
                <a:solidFill>
                  <a:schemeClr val="tx1"/>
                </a:solidFill>
                <a:effectLst/>
                <a:latin typeface="+mn-lt"/>
                <a:ea typeface="ＭＳ Ｐゴシック"/>
                <a:cs typeface="Calibri"/>
              </a:rPr>
              <a:t>Differing versions of packages can be fixed or updated automatically by </a:t>
            </a:r>
            <a:r>
              <a:rPr lang="en-US">
                <a:ea typeface="ＭＳ Ｐゴシック"/>
                <a:cs typeface="Calibri"/>
              </a:rPr>
              <a:t>adjusting the</a:t>
            </a:r>
            <a:r>
              <a:rPr lang="en-US" sz="1200" kern="1200">
                <a:solidFill>
                  <a:schemeClr val="tx1"/>
                </a:solidFill>
                <a:effectLst/>
                <a:latin typeface="+mn-lt"/>
                <a:ea typeface="ＭＳ Ｐゴシック"/>
                <a:cs typeface="Calibri"/>
              </a:rPr>
              <a:t> “</a:t>
            </a:r>
            <a:r>
              <a:rPr lang="en-US" sz="1200" kern="1200" err="1">
                <a:solidFill>
                  <a:schemeClr val="tx1"/>
                </a:solidFill>
                <a:effectLst/>
                <a:latin typeface="+mn-lt"/>
                <a:ea typeface="ＭＳ Ｐゴシック"/>
                <a:cs typeface="Calibri"/>
              </a:rPr>
              <a:t>local.conf</a:t>
            </a:r>
            <a:r>
              <a:rPr lang="en-US" sz="1200" kern="1200" dirty="0">
                <a:solidFill>
                  <a:schemeClr val="tx1"/>
                </a:solidFill>
                <a:effectLst/>
                <a:latin typeface="+mn-lt"/>
                <a:ea typeface="ＭＳ Ｐゴシック"/>
                <a:cs typeface="Calibri"/>
              </a:rPr>
              <a:t>” file.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Project mirrors the sources to ensure their reliability.</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27</a:t>
            </a:fld>
            <a:endParaRPr lang="en-US" altLang="en-US"/>
          </a:p>
        </p:txBody>
      </p:sp>
    </p:spTree>
    <p:extLst>
      <p:ext uri="{BB962C8B-B14F-4D97-AF65-F5344CB8AC3E}">
        <p14:creationId xmlns:p14="http://schemas.microsoft.com/office/powerpoint/2010/main" val="5588434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Once the sources are fetched, they are then extracted. </a:t>
            </a:r>
          </a:p>
          <a:p>
            <a:r>
              <a:rPr lang="en-US" sz="1200" kern="1200" dirty="0">
                <a:solidFill>
                  <a:schemeClr val="tx1"/>
                </a:solidFill>
                <a:effectLst/>
                <a:latin typeface="+mn-lt"/>
                <a:ea typeface="ＭＳ Ｐゴシック" charset="0"/>
                <a:cs typeface="ＭＳ Ｐゴシック" charset="0"/>
              </a:rPr>
              <a:t> </a:t>
            </a:r>
          </a:p>
          <a:p>
            <a:r>
              <a:rPr lang="en-US" dirty="0">
                <a:ea typeface="ＭＳ Ｐゴシック"/>
                <a:cs typeface="Calibri"/>
              </a:rPr>
              <a:t>Next, patches</a:t>
            </a:r>
            <a:r>
              <a:rPr lang="en-US" sz="1200" kern="1200" dirty="0">
                <a:solidFill>
                  <a:schemeClr val="tx1"/>
                </a:solidFill>
                <a:effectLst/>
                <a:latin typeface="+mn-lt"/>
                <a:ea typeface="ＭＳ Ｐゴシック"/>
                <a:cs typeface="Calibri"/>
              </a:rPr>
              <a:t> </a:t>
            </a:r>
            <a:r>
              <a:rPr lang="en-US" dirty="0">
                <a:ea typeface="ＭＳ Ｐゴシック"/>
                <a:cs typeface="Calibri"/>
              </a:rPr>
              <a:t>are applied</a:t>
            </a:r>
            <a:r>
              <a:rPr lang="en-US" sz="1200" kern="1200" dirty="0">
                <a:solidFill>
                  <a:schemeClr val="tx1"/>
                </a:solidFill>
                <a:effectLst/>
                <a:latin typeface="+mn-lt"/>
                <a:ea typeface="ＭＳ Ｐゴシック"/>
                <a:cs typeface="Calibri"/>
              </a:rPr>
              <a:t> in the order that they appear in “</a:t>
            </a:r>
            <a:r>
              <a:rPr lang="en-US" sz="1200" kern="1200" dirty="0" err="1">
                <a:solidFill>
                  <a:schemeClr val="tx1"/>
                </a:solidFill>
                <a:effectLst/>
                <a:latin typeface="+mn-lt"/>
                <a:ea typeface="ＭＳ Ｐゴシック"/>
                <a:cs typeface="Calibri"/>
              </a:rPr>
              <a:t>source_uri</a:t>
            </a:r>
            <a:r>
              <a:rPr lang="en-US" sz="1200" kern="1200" dirty="0">
                <a:solidFill>
                  <a:schemeClr val="tx1"/>
                </a:solidFill>
                <a:effectLst/>
                <a:latin typeface="+mn-lt"/>
                <a:ea typeface="ＭＳ Ｐゴシック"/>
                <a:cs typeface="Calibri"/>
              </a:rPr>
              <a:t>”.</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At this stage, the application-specific patches are applied. This includes customer modifications to the open-source code that are mandated by the specific application for which the embedded system is intended.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28</a:t>
            </a:fld>
            <a:endParaRPr lang="en-US" altLang="en-US"/>
          </a:p>
        </p:txBody>
      </p:sp>
    </p:spTree>
    <p:extLst>
      <p:ext uri="{BB962C8B-B14F-4D97-AF65-F5344CB8AC3E}">
        <p14:creationId xmlns:p14="http://schemas.microsoft.com/office/powerpoint/2010/main" val="32337525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recipe specifies the configuration and compilation rules. There are a variety of standard build rules that are available, such as “auto tools” and “get text”.</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There are standard ways to specify custom environment flags.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installation step runs under “</a:t>
            </a:r>
            <a:r>
              <a:rPr lang="en-US" sz="1200" kern="1200" dirty="0" err="1">
                <a:solidFill>
                  <a:schemeClr val="tx1"/>
                </a:solidFill>
                <a:effectLst/>
                <a:latin typeface="+mn-lt"/>
                <a:ea typeface="ＭＳ Ｐゴシック" charset="0"/>
                <a:cs typeface="ＭＳ Ｐゴシック" charset="0"/>
              </a:rPr>
              <a:t>sudo</a:t>
            </a:r>
            <a:r>
              <a:rPr lang="en-US" sz="1200" kern="1200" dirty="0">
                <a:solidFill>
                  <a:schemeClr val="tx1"/>
                </a:solidFill>
                <a:effectLst/>
                <a:latin typeface="+mn-lt"/>
                <a:ea typeface="ＭＳ Ｐゴシック" charset="0"/>
                <a:cs typeface="ＭＳ Ｐゴシック" charset="0"/>
              </a:rPr>
              <a:t>” and allows special files, permissions, and owners/groups to be set.</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29</a:t>
            </a:fld>
            <a:endParaRPr lang="en-US" altLang="en-US"/>
          </a:p>
        </p:txBody>
      </p:sp>
    </p:spTree>
    <p:extLst>
      <p:ext uri="{BB962C8B-B14F-4D97-AF65-F5344CB8AC3E}">
        <p14:creationId xmlns:p14="http://schemas.microsoft.com/office/powerpoint/2010/main" val="1761471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In terms of output analysis, the generated software can be categorized, for example, debug, dev, docs, and locales. There is split runtime and debug information, too.</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It performs quality assurance tests or “sanity checks” and then generates the packages. There is support for popular formats, such as RPM, Debian, and </a:t>
            </a:r>
            <a:r>
              <a:rPr lang="en-US" sz="1200" kern="1200" dirty="0" err="1">
                <a:solidFill>
                  <a:schemeClr val="tx1"/>
                </a:solidFill>
                <a:effectLst/>
                <a:latin typeface="+mn-lt"/>
                <a:ea typeface="ＭＳ Ｐゴシック" charset="0"/>
                <a:cs typeface="ＭＳ Ｐゴシック" charset="0"/>
              </a:rPr>
              <a:t>ipk</a:t>
            </a:r>
            <a:r>
              <a:rPr lang="en-US" sz="1200" kern="1200" dirty="0">
                <a:solidFill>
                  <a:schemeClr val="tx1"/>
                </a:solidFill>
                <a:effectLst/>
                <a:latin typeface="+mn-lt"/>
                <a:ea typeface="ＭＳ Ｐゴシック" charset="0"/>
                <a:cs typeface="ＭＳ Ｐゴシック" charset="0"/>
              </a:rPr>
              <a:t>. The preferred format can be set in the “</a:t>
            </a:r>
            <a:r>
              <a:rPr lang="en-US" sz="1200" kern="1200" dirty="0" err="1">
                <a:solidFill>
                  <a:schemeClr val="tx1"/>
                </a:solidFill>
                <a:effectLst/>
                <a:latin typeface="+mn-lt"/>
                <a:ea typeface="ＭＳ Ｐゴシック" charset="0"/>
                <a:cs typeface="ＭＳ Ｐゴシック" charset="0"/>
              </a:rPr>
              <a:t>local.conf</a:t>
            </a:r>
            <a:r>
              <a:rPr lang="en-US" sz="1200" kern="1200" dirty="0">
                <a:solidFill>
                  <a:schemeClr val="tx1"/>
                </a:solidFill>
                <a:effectLst/>
                <a:latin typeface="+mn-lt"/>
                <a:ea typeface="ＭＳ Ｐゴシック" charset="0"/>
                <a:cs typeface="ＭＳ Ｐゴシック" charset="0"/>
              </a:rPr>
              <a:t>” file. </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30</a:t>
            </a:fld>
            <a:endParaRPr lang="en-US" altLang="en-US"/>
          </a:p>
        </p:txBody>
      </p:sp>
    </p:spTree>
    <p:extLst>
      <p:ext uri="{BB962C8B-B14F-4D97-AF65-F5344CB8AC3E}">
        <p14:creationId xmlns:p14="http://schemas.microsoft.com/office/powerpoint/2010/main" val="13024762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When looking at image generation in regard to the overall workflow, images are constructed using the packages built earlier and put into the “package feeds”.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decision of what to install on the image is based on the minimum required components in an image recipe. This minimum set is then expanded based on dependencies to produce a package solution.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Images can be generated in a variety of formats, such as “tar.bz2”, “ext2”, “ext3”, and “j f </a:t>
            </a:r>
            <a:r>
              <a:rPr lang="en-US" sz="1200" kern="1200" dirty="0" err="1">
                <a:solidFill>
                  <a:schemeClr val="tx1"/>
                </a:solidFill>
                <a:effectLst/>
                <a:latin typeface="+mn-lt"/>
                <a:ea typeface="ＭＳ Ｐゴシック" charset="0"/>
                <a:cs typeface="ＭＳ Ｐゴシック" charset="0"/>
              </a:rPr>
              <a:t>f</a:t>
            </a:r>
            <a:r>
              <a:rPr lang="en-US" sz="1200" kern="1200" dirty="0">
                <a:solidFill>
                  <a:schemeClr val="tx1"/>
                </a:solidFill>
                <a:effectLst/>
                <a:latin typeface="+mn-lt"/>
                <a:ea typeface="ＭＳ Ｐゴシック" charset="0"/>
                <a:cs typeface="ＭＳ Ｐゴシック" charset="0"/>
              </a:rPr>
              <a:t> 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31</a:t>
            </a:fld>
            <a:endParaRPr lang="en-US" altLang="en-US"/>
          </a:p>
        </p:txBody>
      </p:sp>
    </p:spTree>
    <p:extLst>
      <p:ext uri="{BB962C8B-B14F-4D97-AF65-F5344CB8AC3E}">
        <p14:creationId xmlns:p14="http://schemas.microsoft.com/office/powerpoint/2010/main" val="13823001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Finally, software development kit (SDK) generation is the final step. A specific SDK may be created. This SDK might be based on the contents of the image generation. The SDK contains native applications, cross-compiling toolchain, and installation scripts.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It can be used by the Eclipse Application Developer Tool to enable App developers.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This concludes the fourth lecture on Linux for Embedded Systems. </a:t>
            </a:r>
            <a:r>
              <a:rPr lang="en-US" sz="1200" kern="1200">
                <a:solidFill>
                  <a:schemeClr val="tx1"/>
                </a:solidFill>
                <a:effectLst/>
                <a:latin typeface="+mn-lt"/>
                <a:ea typeface="ＭＳ Ｐゴシック" charset="0"/>
                <a:cs typeface="ＭＳ Ｐゴシック" charset="0"/>
              </a:rPr>
              <a:t>In the next module, we will take a look at Linux kernel modules.</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32</a:t>
            </a:fld>
            <a:endParaRPr lang="en-US" altLang="en-US"/>
          </a:p>
        </p:txBody>
      </p:sp>
    </p:spTree>
    <p:extLst>
      <p:ext uri="{BB962C8B-B14F-4D97-AF65-F5344CB8AC3E}">
        <p14:creationId xmlns:p14="http://schemas.microsoft.com/office/powerpoint/2010/main" val="41423034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3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9F0F991D-FCA4-4B63-990A-F6816AD19558}"/>
              </a:ext>
            </a:extLst>
          </p:cNvPr>
          <p:cNvPicPr>
            <a:picLocks noChangeAspect="1"/>
          </p:cNvPicPr>
          <p:nvPr userDrawn="1"/>
        </p:nvPicPr>
        <p:blipFill>
          <a:blip r:embed="rId2">
            <a:extLst>
              <a:ext uri="{28A0092B-C50C-407E-A947-70E740481C1C}">
                <a14:useLocalDpi xmlns:a14="http://schemas.microsoft.com/office/drawing/2010/main" val="0"/>
              </a:ext>
            </a:extLst>
          </a:blip>
          <a:srcRect r="-367"/>
          <a:stretch>
            <a:fillRect/>
          </a:stretch>
        </p:blipFill>
        <p:spPr bwMode="auto">
          <a:xfrm>
            <a:off x="0" y="0"/>
            <a:ext cx="122523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A156D165-7270-40C4-88D8-90852D96F7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588"/>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8AD9B17F-0E30-4ADC-88D4-20A157463F8E}"/>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CD4279F1-F98A-4D42-BE2C-F6824E400D1C}"/>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FBDD11B8-AE29-46D7-AA16-FC0782F0224C}"/>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2152EDD9-932E-446C-B0D1-08200969EF9A}"/>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0A8448B8-61E4-4D23-9334-33FE7B6C6659}"/>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F4378299-CD03-4252-AFFD-BC205B792D81}"/>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011A3030-FB66-4CA3-A565-EB5EEB758B3F}"/>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16" name="Picture 16">
            <a:extLst>
              <a:ext uri="{FF2B5EF4-FFF2-40B4-BE49-F238E27FC236}">
                <a16:creationId xmlns:a16="http://schemas.microsoft.com/office/drawing/2014/main" id="{853C1CC1-ADAC-4345-8FD5-7780D35BE3C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20"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145957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5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9191A9FE-449B-4D65-A314-B50D80F224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1384F5AA-5239-4357-B200-8BEED4FBA13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97E2E261-7BED-4DD4-B009-2B25A53A4EBF}"/>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853851FE-FFF1-472C-AEC9-BE3EC0DF692A}"/>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07133448-B5CA-4850-92E8-804B482259E3}"/>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EA04FC3D-FE02-4FF4-BA44-4FA201FDC89D}"/>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41B1EEB9-F737-43CE-9DAF-FD651FCF17F4}"/>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DB146E33-F9AB-4720-97B5-DC431CB6E5F2}"/>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B1371B1D-E5D0-498C-9B3E-67F1875CD52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16" name="Picture 16">
            <a:extLst>
              <a:ext uri="{FF2B5EF4-FFF2-40B4-BE49-F238E27FC236}">
                <a16:creationId xmlns:a16="http://schemas.microsoft.com/office/drawing/2014/main" id="{48B9274A-2385-4BAC-AD9B-101FD86C1BD2}"/>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8050" y="1209675"/>
            <a:ext cx="22447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17"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2592933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6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881F7329-72E1-410D-B159-CAFFC8A65DAC}"/>
              </a:ext>
            </a:extLst>
          </p:cNvPr>
          <p:cNvPicPr>
            <a:picLocks noChangeAspect="1"/>
          </p:cNvPicPr>
          <p:nvPr userDrawn="1"/>
        </p:nvPicPr>
        <p:blipFill>
          <a:blip r:embed="rId2">
            <a:extLst>
              <a:ext uri="{28A0092B-C50C-407E-A947-70E740481C1C}">
                <a14:useLocalDpi xmlns:a14="http://schemas.microsoft.com/office/drawing/2010/main" val="0"/>
              </a:ext>
            </a:extLst>
          </a:blip>
          <a:srcRect t="-2"/>
          <a:stretch>
            <a:fillRect/>
          </a:stretch>
        </p:blipFill>
        <p:spPr bwMode="auto">
          <a:xfrm>
            <a:off x="0" y="0"/>
            <a:ext cx="122253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6671FFD2-62DD-44F2-B7FC-C1C9E1E92FA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32E4E07A-6819-4C29-BF28-4F83F8BD2D4B}"/>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3D57E3AF-04F8-4E7D-9BA5-B48233D16A5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497630BA-F687-4796-8386-5F084C22C874}"/>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684A0690-E005-4537-A292-DD859965222C}"/>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389C8DAB-6E80-43C8-B1D5-92781A9333B3}"/>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A06BBFBC-AD83-46C6-8A92-1A6C7DF2B428}"/>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6B75FFE4-11B1-46BA-8330-0110FEFE81FB}"/>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16" name="Picture 16">
            <a:extLst>
              <a:ext uri="{FF2B5EF4-FFF2-40B4-BE49-F238E27FC236}">
                <a16:creationId xmlns:a16="http://schemas.microsoft.com/office/drawing/2014/main" id="{225A10BD-84F3-4666-BF7A-4853183B66F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20"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3954915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0_Title Slide">
    <p:bg>
      <p:bgPr>
        <a:solidFill>
          <a:schemeClr val="accent1"/>
        </a:solidFill>
        <a:effectLst/>
      </p:bgPr>
    </p:bg>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D86ACCD9-F471-43BC-B77A-0C37A0363EE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tx2"/>
              </a:solidFill>
              <a:cs typeface="ＭＳ Ｐゴシック" charset="0"/>
            </a:endParaRPr>
          </a:p>
        </p:txBody>
      </p:sp>
      <p:sp>
        <p:nvSpPr>
          <p:cNvPr id="8" name="TextBox 20">
            <a:extLst>
              <a:ext uri="{FF2B5EF4-FFF2-40B4-BE49-F238E27FC236}">
                <a16:creationId xmlns:a16="http://schemas.microsoft.com/office/drawing/2014/main" id="{5B1BEE8E-C9DD-4507-ABC1-BE5E4AA64E0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2025 Arm Limited </a:t>
            </a:r>
          </a:p>
        </p:txBody>
      </p:sp>
      <p:pic>
        <p:nvPicPr>
          <p:cNvPr id="9" name="Picture 9">
            <a:extLst>
              <a:ext uri="{FF2B5EF4-FFF2-40B4-BE49-F238E27FC236}">
                <a16:creationId xmlns:a16="http://schemas.microsoft.com/office/drawing/2014/main" id="{ED085226-B7FC-4237-9307-87DDA9C6ACC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itle 1"/>
          <p:cNvSpPr>
            <a:spLocks noGrp="1"/>
          </p:cNvSpPr>
          <p:nvPr>
            <p:ph type="title"/>
          </p:nvPr>
        </p:nvSpPr>
        <p:spPr>
          <a:xfrm>
            <a:off x="6294006" y="2057639"/>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0" name="Subtitle 2"/>
          <p:cNvSpPr>
            <a:spLocks noGrp="1"/>
          </p:cNvSpPr>
          <p:nvPr>
            <p:ph type="subTitle" idx="1"/>
          </p:nvPr>
        </p:nvSpPr>
        <p:spPr>
          <a:xfrm>
            <a:off x="6298735" y="3671282"/>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
        <p:nvSpPr>
          <p:cNvPr id="21" name="Text Placeholder 28"/>
          <p:cNvSpPr>
            <a:spLocks noGrp="1"/>
          </p:cNvSpPr>
          <p:nvPr>
            <p:ph type="body" sz="quarter" idx="12"/>
          </p:nvPr>
        </p:nvSpPr>
        <p:spPr>
          <a:xfrm>
            <a:off x="6294006" y="5562481"/>
            <a:ext cx="5041572" cy="239159"/>
          </a:xfrm>
        </p:spPr>
        <p:txBody>
          <a:bodyPr/>
          <a:lstStyle>
            <a:lvl1pPr algn="r">
              <a:spcAft>
                <a:spcPts val="600"/>
              </a:spcAft>
              <a:defRPr sz="16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294006" y="5872361"/>
            <a:ext cx="5041572" cy="239159"/>
          </a:xfrm>
        </p:spPr>
        <p:txBody>
          <a:bodyPr/>
          <a:lstStyle>
            <a:lvl1pPr algn="r">
              <a:spcAft>
                <a:spcPts val="600"/>
              </a:spcAft>
              <a:defRPr sz="1600">
                <a:solidFill>
                  <a:schemeClr val="bg1"/>
                </a:solidFill>
              </a:defRPr>
            </a:lvl1pPr>
          </a:lstStyle>
          <a:p>
            <a:pPr lvl="0"/>
            <a:r>
              <a:rPr lang="en-US"/>
              <a:t>Edit Master text styles</a:t>
            </a:r>
          </a:p>
        </p:txBody>
      </p:sp>
      <p:sp>
        <p:nvSpPr>
          <p:cNvPr id="23" name="Text Placeholder 3"/>
          <p:cNvSpPr>
            <a:spLocks noGrp="1"/>
          </p:cNvSpPr>
          <p:nvPr>
            <p:ph type="body" sz="quarter" idx="14"/>
          </p:nvPr>
        </p:nvSpPr>
        <p:spPr>
          <a:xfrm>
            <a:off x="7071306" y="1639338"/>
            <a:ext cx="4268207" cy="289871"/>
          </a:xfrm>
        </p:spPr>
        <p:txBody>
          <a:bodyPr/>
          <a:lstStyle>
            <a:lvl1pPr algn="r">
              <a:defRPr sz="2400" baseline="0">
                <a:solidFill>
                  <a:schemeClr val="bg1"/>
                </a:solidFill>
              </a:defRPr>
            </a:lvl1pPr>
          </a:lstStyle>
          <a:p>
            <a:pPr lvl="0"/>
            <a:r>
              <a:rPr lang="en-US"/>
              <a:t>Edit Master text styles</a:t>
            </a:r>
          </a:p>
        </p:txBody>
      </p:sp>
    </p:spTree>
    <p:extLst>
      <p:ext uri="{BB962C8B-B14F-4D97-AF65-F5344CB8AC3E}">
        <p14:creationId xmlns:p14="http://schemas.microsoft.com/office/powerpoint/2010/main" val="3146543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solidFill>
          <a:schemeClr val="accent1"/>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EF15EA80-6A97-4306-A565-A598BFCD4C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25508CEF-5483-4725-B847-F2F3C9C3A99C}"/>
              </a:ext>
            </a:extLst>
          </p:cNvPr>
          <p:cNvSpPr/>
          <p:nvPr userDrawn="1"/>
        </p:nvSpPr>
        <p:spPr>
          <a:xfrm>
            <a:off x="9145588" y="0"/>
            <a:ext cx="94456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F4D455E4-5A73-4DDA-B182-EC48A76868CF}"/>
              </a:ext>
            </a:extLst>
          </p:cNvPr>
          <p:cNvSpPr/>
          <p:nvPr userDrawn="1"/>
        </p:nvSpPr>
        <p:spPr>
          <a:xfrm rot="5400000">
            <a:off x="5618956" y="-781843"/>
            <a:ext cx="954087" cy="12192000"/>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pic>
        <p:nvPicPr>
          <p:cNvPr id="6" name="Picture 10">
            <a:extLst>
              <a:ext uri="{FF2B5EF4-FFF2-40B4-BE49-F238E27FC236}">
                <a16:creationId xmlns:a16="http://schemas.microsoft.com/office/drawing/2014/main" id="{40586515-A17C-43AB-93C1-E92185BB050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20">
            <a:extLst>
              <a:ext uri="{FF2B5EF4-FFF2-40B4-BE49-F238E27FC236}">
                <a16:creationId xmlns:a16="http://schemas.microsoft.com/office/drawing/2014/main" id="{6972167F-6CB3-4785-B2B2-AD65609A7955}"/>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sp>
        <p:nvSpPr>
          <p:cNvPr id="10"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1095200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Title Slide">
    <p:bg>
      <p:bgPr>
        <a:solidFill>
          <a:schemeClr val="tx2">
            <a:alpha val="79999"/>
          </a:schemeClr>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D4D25FBE-48A0-4F3D-AC55-357CA1A98B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6EB17126-C2D4-4E6B-B84A-8123291ABB4F}"/>
              </a:ext>
            </a:extLst>
          </p:cNvPr>
          <p:cNvSpPr/>
          <p:nvPr userDrawn="1"/>
        </p:nvSpPr>
        <p:spPr>
          <a:xfrm>
            <a:off x="2473325" y="5788025"/>
            <a:ext cx="5715000" cy="957263"/>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CD47F78D-5AB3-4ADE-9638-2185B4841924}"/>
              </a:ext>
            </a:extLst>
          </p:cNvPr>
          <p:cNvSpPr/>
          <p:nvPr userDrawn="1"/>
        </p:nvSpPr>
        <p:spPr>
          <a:xfrm rot="5400000">
            <a:off x="8668545" y="3399631"/>
            <a:ext cx="950912" cy="3825875"/>
          </a:xfrm>
          <a:prstGeom prst="rect">
            <a:avLst/>
          </a:prstGeom>
          <a:solidFill>
            <a:schemeClr val="accent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rgbClr val="FFFFFF"/>
              </a:solidFill>
              <a:ea typeface="ＭＳ Ｐゴシック" charset="0"/>
              <a:cs typeface="ＭＳ Ｐゴシック" charset="0"/>
            </a:endParaRPr>
          </a:p>
        </p:txBody>
      </p:sp>
      <p:sp>
        <p:nvSpPr>
          <p:cNvPr id="6" name="Rectangle 5">
            <a:extLst>
              <a:ext uri="{FF2B5EF4-FFF2-40B4-BE49-F238E27FC236}">
                <a16:creationId xmlns:a16="http://schemas.microsoft.com/office/drawing/2014/main" id="{B5D40661-F4D5-46CD-9CB3-AAB36DEEFA2B}"/>
              </a:ext>
            </a:extLst>
          </p:cNvPr>
          <p:cNvSpPr/>
          <p:nvPr userDrawn="1"/>
        </p:nvSpPr>
        <p:spPr>
          <a:xfrm rot="5400000">
            <a:off x="8661400" y="-395287"/>
            <a:ext cx="2852737" cy="3798888"/>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7" name="TextBox 20">
            <a:extLst>
              <a:ext uri="{FF2B5EF4-FFF2-40B4-BE49-F238E27FC236}">
                <a16:creationId xmlns:a16="http://schemas.microsoft.com/office/drawing/2014/main" id="{8B1EE9D2-8B68-4D93-9C86-8338D46F4C46}"/>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8" name="Picture 12">
            <a:extLst>
              <a:ext uri="{FF2B5EF4-FFF2-40B4-BE49-F238E27FC236}">
                <a16:creationId xmlns:a16="http://schemas.microsoft.com/office/drawing/2014/main" id="{60A4E36D-CD54-4848-8DD7-B57EE5F009C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2968902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8_Title Slide">
    <p:bg>
      <p:bgPr>
        <a:solidFill>
          <a:schemeClr val="tx2">
            <a:alpha val="79999"/>
          </a:schemeClr>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20AFDBE9-218D-49BD-8C6F-6D0C0A98EA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641F8C5-D368-475A-AD71-1C5D28182145}"/>
              </a:ext>
            </a:extLst>
          </p:cNvPr>
          <p:cNvSpPr/>
          <p:nvPr userDrawn="1"/>
        </p:nvSpPr>
        <p:spPr>
          <a:xfrm rot="5400000">
            <a:off x="8189913" y="1981200"/>
            <a:ext cx="2865438" cy="2859087"/>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DEC8AC68-A10F-478C-9423-982B686F3608}"/>
              </a:ext>
            </a:extLst>
          </p:cNvPr>
          <p:cNvSpPr/>
          <p:nvPr userDrawn="1"/>
        </p:nvSpPr>
        <p:spPr>
          <a:xfrm rot="5400000">
            <a:off x="7238207" y="70644"/>
            <a:ext cx="952500" cy="2865437"/>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6" name="TextBox 20">
            <a:extLst>
              <a:ext uri="{FF2B5EF4-FFF2-40B4-BE49-F238E27FC236}">
                <a16:creationId xmlns:a16="http://schemas.microsoft.com/office/drawing/2014/main" id="{88B94D0A-8607-4811-8C63-2236031788C2}"/>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7" name="Picture 11">
            <a:extLst>
              <a:ext uri="{FF2B5EF4-FFF2-40B4-BE49-F238E27FC236}">
                <a16:creationId xmlns:a16="http://schemas.microsoft.com/office/drawing/2014/main" id="{6EE9950B-2E11-47E8-A70E-654A0376F71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E0F46732-360C-400A-BCD8-30F9E9884440}"/>
              </a:ext>
            </a:extLst>
          </p:cNvPr>
          <p:cNvSpPr/>
          <p:nvPr userDrawn="1"/>
        </p:nvSpPr>
        <p:spPr>
          <a:xfrm>
            <a:off x="2473325" y="4838700"/>
            <a:ext cx="5715000" cy="955675"/>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3204883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Pr>
        <a:solidFill>
          <a:schemeClr val="accent1"/>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5E581C57-84E7-44DE-8059-2BC02B56527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20">
            <a:extLst>
              <a:ext uri="{FF2B5EF4-FFF2-40B4-BE49-F238E27FC236}">
                <a16:creationId xmlns:a16="http://schemas.microsoft.com/office/drawing/2014/main" id="{92152423-4E66-421D-8D42-F851512FB599}"/>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2017 Arm Limited </a:t>
            </a:r>
          </a:p>
        </p:txBody>
      </p:sp>
      <p:pic>
        <p:nvPicPr>
          <p:cNvPr id="5" name="Picture 9">
            <a:extLst>
              <a:ext uri="{FF2B5EF4-FFF2-40B4-BE49-F238E27FC236}">
                <a16:creationId xmlns:a16="http://schemas.microsoft.com/office/drawing/2014/main" id="{68A167BD-2209-47A0-A85D-8C9A549C4D4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80685B97-5328-4BD9-8E71-18F45D97C243}"/>
              </a:ext>
            </a:extLst>
          </p:cNvPr>
          <p:cNvSpPr/>
          <p:nvPr userDrawn="1"/>
        </p:nvSpPr>
        <p:spPr>
          <a:xfrm>
            <a:off x="2473325" y="4838700"/>
            <a:ext cx="5715000" cy="955675"/>
          </a:xfrm>
          <a:prstGeom prst="rect">
            <a:avLst/>
          </a:prstGeom>
          <a:solidFill>
            <a:srgbClr val="FFC600">
              <a:alpha val="7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7" name="Rectangle 6">
            <a:extLst>
              <a:ext uri="{FF2B5EF4-FFF2-40B4-BE49-F238E27FC236}">
                <a16:creationId xmlns:a16="http://schemas.microsoft.com/office/drawing/2014/main" id="{06961C66-0202-411F-8BB2-4D63F421739C}"/>
              </a:ext>
            </a:extLst>
          </p:cNvPr>
          <p:cNvSpPr/>
          <p:nvPr userDrawn="1"/>
        </p:nvSpPr>
        <p:spPr>
          <a:xfrm rot="5400000">
            <a:off x="8189913" y="1981200"/>
            <a:ext cx="2865438" cy="2859087"/>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8" name="Rectangle 7">
            <a:extLst>
              <a:ext uri="{FF2B5EF4-FFF2-40B4-BE49-F238E27FC236}">
                <a16:creationId xmlns:a16="http://schemas.microsoft.com/office/drawing/2014/main" id="{4B481E86-DD33-48E9-B034-4769BB1BF208}"/>
              </a:ext>
            </a:extLst>
          </p:cNvPr>
          <p:cNvSpPr/>
          <p:nvPr userDrawn="1"/>
        </p:nvSpPr>
        <p:spPr>
          <a:xfrm rot="5400000">
            <a:off x="7238207" y="70644"/>
            <a:ext cx="952500" cy="2865437"/>
          </a:xfrm>
          <a:prstGeom prst="rect">
            <a:avLst/>
          </a:prstGeom>
          <a:solidFill>
            <a:srgbClr val="FF6900">
              <a:alpha val="7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1" name="Text Placeholder 3"/>
          <p:cNvSpPr>
            <a:spLocks noGrp="1"/>
          </p:cNvSpPr>
          <p:nvPr>
            <p:ph type="body" sz="quarter" idx="10"/>
          </p:nvPr>
        </p:nvSpPr>
        <p:spPr>
          <a:xfrm>
            <a:off x="697312" y="209352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2109158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2"/>
          <p:cNvSpPr>
            <a:spLocks noGrp="1"/>
          </p:cNvSpPr>
          <p:nvPr>
            <p:ph idx="1"/>
          </p:nvPr>
        </p:nvSpPr>
        <p:spPr>
          <a:xfrm>
            <a:off x="492125" y="1479468"/>
            <a:ext cx="11180762" cy="4086225"/>
          </a:xfrm>
          <a:prstGeom prst="rect">
            <a:avLst/>
          </a:prstGeo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76421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CEC54C1-485F-40D2-B042-79849DAFE15A}"/>
              </a:ext>
            </a:extLst>
          </p:cNvPr>
          <p:cNvCxnSpPr>
            <a:cxnSpLocks/>
          </p:cNvCxnSpPr>
          <p:nvPr userDrawn="1"/>
        </p:nvCxnSpPr>
        <p:spPr>
          <a:xfrm>
            <a:off x="6096000" y="1662113"/>
            <a:ext cx="0" cy="447357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spcAft>
                <a:spcPts val="0"/>
              </a:spcAft>
              <a:buNone/>
              <a:defRPr sz="2400">
                <a:solidFill>
                  <a:schemeClr val="tx2">
                    <a:lumMod val="60000"/>
                    <a:lumOff val="40000"/>
                  </a:schemeClr>
                </a:solidFill>
              </a:defRPr>
            </a:lvl1pPr>
          </a:lstStyle>
          <a:p>
            <a:pPr lvl="0"/>
            <a:r>
              <a:rPr lang="en-US"/>
              <a:t>Edit Master text styles</a:t>
            </a:r>
          </a:p>
        </p:txBody>
      </p:sp>
      <p:sp>
        <p:nvSpPr>
          <p:cNvPr id="9" name="Text Placeholder 131"/>
          <p:cNvSpPr>
            <a:spLocks noGrp="1"/>
          </p:cNvSpPr>
          <p:nvPr>
            <p:ph type="body" sz="quarter" idx="16"/>
          </p:nvPr>
        </p:nvSpPr>
        <p:spPr>
          <a:xfrm>
            <a:off x="492125"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4" name="Content Placeholder 3"/>
          <p:cNvSpPr>
            <a:spLocks noGrp="1"/>
          </p:cNvSpPr>
          <p:nvPr>
            <p:ph sz="quarter" idx="19"/>
          </p:nvPr>
        </p:nvSpPr>
        <p:spPr>
          <a:xfrm>
            <a:off x="492125" y="2361952"/>
            <a:ext cx="5332941" cy="3605743"/>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p:nvPr>
        </p:nvSpPr>
        <p:spPr>
          <a:xfrm>
            <a:off x="6341534"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8" name="Content Placeholder 7"/>
          <p:cNvSpPr>
            <a:spLocks noGrp="1"/>
          </p:cNvSpPr>
          <p:nvPr>
            <p:ph sz="quarter" idx="20"/>
          </p:nvPr>
        </p:nvSpPr>
        <p:spPr>
          <a:xfrm>
            <a:off x="6341534" y="2362483"/>
            <a:ext cx="5331354" cy="3605212"/>
          </a:xfr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59526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ECD41E8-8F7A-4802-BD8A-6CACEC985F17}"/>
              </a:ext>
            </a:extLst>
          </p:cNvPr>
          <p:cNvGrpSpPr>
            <a:grpSpLocks/>
          </p:cNvGrpSpPr>
          <p:nvPr userDrawn="1"/>
        </p:nvGrpSpPr>
        <p:grpSpPr bwMode="auto">
          <a:xfrm>
            <a:off x="4148138" y="1754188"/>
            <a:ext cx="3903662" cy="4305300"/>
            <a:chOff x="3706307" y="1883391"/>
            <a:chExt cx="3803176" cy="4472959"/>
          </a:xfrm>
        </p:grpSpPr>
        <p:cxnSp>
          <p:nvCxnSpPr>
            <p:cNvPr id="11" name="Straight Connector 10">
              <a:extLst>
                <a:ext uri="{FF2B5EF4-FFF2-40B4-BE49-F238E27FC236}">
                  <a16:creationId xmlns:a16="http://schemas.microsoft.com/office/drawing/2014/main" id="{AC4DA0A3-5394-4DD3-8DBF-449419EB9BEC}"/>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F2575E8-95EA-447D-9561-5F51443D866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2373786"/>
            <a:ext cx="3359281" cy="3605945"/>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p:txBody>
      </p:sp>
      <p:sp>
        <p:nvSpPr>
          <p:cNvPr id="100" name="Text Placeholder 131"/>
          <p:cNvSpPr>
            <a:spLocks noGrp="1"/>
          </p:cNvSpPr>
          <p:nvPr>
            <p:ph type="body" sz="quarter" idx="16"/>
          </p:nvPr>
        </p:nvSpPr>
        <p:spPr>
          <a:xfrm>
            <a:off x="492125"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3" name="Text Placeholder 2"/>
          <p:cNvSpPr>
            <a:spLocks noGrp="1"/>
          </p:cNvSpPr>
          <p:nvPr>
            <p:ph idx="17"/>
          </p:nvPr>
        </p:nvSpPr>
        <p:spPr>
          <a:xfrm>
            <a:off x="4444207" y="2373786"/>
            <a:ext cx="3359281" cy="3605945"/>
          </a:xfrm>
          <a:prstGeom prst="rect">
            <a:avLst/>
          </a:prstGeom>
        </p:spPr>
        <p:txBody>
          <a:bodyPr/>
          <a:lstStyle>
            <a:lvl1pPr marL="0" indent="0">
              <a:buNone/>
              <a:defRPr/>
            </a:lvl1pPr>
          </a:lstStyle>
          <a:p>
            <a:pPr lvl="0"/>
            <a:r>
              <a:rPr lang="en-US"/>
              <a:t>Edit Master text styles</a:t>
            </a:r>
          </a:p>
          <a:p>
            <a:pPr lvl="1"/>
            <a:r>
              <a:rPr lang="en-US"/>
              <a:t>Second level</a:t>
            </a:r>
          </a:p>
        </p:txBody>
      </p:sp>
      <p:sp>
        <p:nvSpPr>
          <p:cNvPr id="14" name="Text Placeholder 2"/>
          <p:cNvSpPr>
            <a:spLocks noGrp="1"/>
          </p:cNvSpPr>
          <p:nvPr>
            <p:ph idx="18"/>
          </p:nvPr>
        </p:nvSpPr>
        <p:spPr>
          <a:xfrm>
            <a:off x="8300113" y="2373786"/>
            <a:ext cx="3359281" cy="3605945"/>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
        <p:nvSpPr>
          <p:cNvPr id="15" name="Text Placeholder 131"/>
          <p:cNvSpPr>
            <a:spLocks noGrp="1"/>
          </p:cNvSpPr>
          <p:nvPr>
            <p:ph type="body" sz="quarter" idx="19"/>
          </p:nvPr>
        </p:nvSpPr>
        <p:spPr>
          <a:xfrm>
            <a:off x="4419997"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6" name="Text Placeholder 131"/>
          <p:cNvSpPr>
            <a:spLocks noGrp="1"/>
          </p:cNvSpPr>
          <p:nvPr>
            <p:ph type="body" sz="quarter" idx="20"/>
          </p:nvPr>
        </p:nvSpPr>
        <p:spPr>
          <a:xfrm>
            <a:off x="8299449"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Tree>
    <p:extLst>
      <p:ext uri="{BB962C8B-B14F-4D97-AF65-F5344CB8AC3E}">
        <p14:creationId xmlns:p14="http://schemas.microsoft.com/office/powerpoint/2010/main" val="2949384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F5E88F4-34BF-4FB5-900D-00FBACE9F35D}"/>
              </a:ext>
            </a:extLst>
          </p:cNvPr>
          <p:cNvCxnSpPr>
            <a:cxnSpLocks/>
          </p:cNvCxnSpPr>
          <p:nvPr userDrawn="1"/>
        </p:nvCxnSpPr>
        <p:spPr>
          <a:xfrm>
            <a:off x="3233738" y="16319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47" name="Text Placeholder 2"/>
          <p:cNvSpPr>
            <a:spLocks noGrp="1"/>
          </p:cNvSpPr>
          <p:nvPr>
            <p:ph idx="14"/>
          </p:nvPr>
        </p:nvSpPr>
        <p:spPr>
          <a:xfrm>
            <a:off x="3369738" y="1631112"/>
            <a:ext cx="8303150"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idx="1"/>
          </p:nvPr>
        </p:nvSpPr>
        <p:spPr>
          <a:xfrm>
            <a:off x="492789" y="1631112"/>
            <a:ext cx="2606011" cy="4086426"/>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671634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CCBF85B-6B38-418B-B229-63FD770EDEA7}"/>
              </a:ext>
            </a:extLst>
          </p:cNvPr>
          <p:cNvCxnSpPr>
            <a:cxnSpLocks/>
          </p:cNvCxnSpPr>
          <p:nvPr userDrawn="1"/>
        </p:nvCxnSpPr>
        <p:spPr>
          <a:xfrm>
            <a:off x="8932863" y="17462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4" name="Content Placeholder 3"/>
          <p:cNvSpPr>
            <a:spLocks noGrp="1"/>
          </p:cNvSpPr>
          <p:nvPr>
            <p:ph sz="quarter" idx="14"/>
          </p:nvPr>
        </p:nvSpPr>
        <p:spPr>
          <a:xfrm>
            <a:off x="492125" y="1746560"/>
            <a:ext cx="8305669" cy="4086428"/>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5"/>
          </p:nvPr>
        </p:nvSpPr>
        <p:spPr>
          <a:xfrm>
            <a:off x="9037638" y="1746560"/>
            <a:ext cx="2635250" cy="4086428"/>
          </a:xfr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1811968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14A2708-7A8B-4D20-8225-CD1C8C761ACF}"/>
              </a:ext>
            </a:extLst>
          </p:cNvPr>
          <p:cNvGrpSpPr>
            <a:grpSpLocks/>
          </p:cNvGrpSpPr>
          <p:nvPr userDrawn="1"/>
        </p:nvGrpSpPr>
        <p:grpSpPr bwMode="auto">
          <a:xfrm>
            <a:off x="4148138" y="1625600"/>
            <a:ext cx="3903662" cy="4305300"/>
            <a:chOff x="3706307" y="1883391"/>
            <a:chExt cx="3803176" cy="4472959"/>
          </a:xfrm>
        </p:grpSpPr>
        <p:cxnSp>
          <p:nvCxnSpPr>
            <p:cNvPr id="11" name="Straight Connector 10">
              <a:extLst>
                <a:ext uri="{FF2B5EF4-FFF2-40B4-BE49-F238E27FC236}">
                  <a16:creationId xmlns:a16="http://schemas.microsoft.com/office/drawing/2014/main" id="{EB25F9CF-0B60-43CC-9056-F30880901E51}"/>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EA81E11-C818-456E-B39B-0D107A2FB43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18" name="Text Placeholder 131"/>
          <p:cNvSpPr>
            <a:spLocks noGrp="1"/>
          </p:cNvSpPr>
          <p:nvPr>
            <p:ph type="body" sz="quarter" idx="16"/>
          </p:nvPr>
        </p:nvSpPr>
        <p:spPr>
          <a:xfrm>
            <a:off x="492125" y="1562924"/>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9" name="Text Placeholder 131"/>
          <p:cNvSpPr>
            <a:spLocks noGrp="1"/>
          </p:cNvSpPr>
          <p:nvPr>
            <p:ph type="body" sz="quarter" idx="17"/>
          </p:nvPr>
        </p:nvSpPr>
        <p:spPr>
          <a:xfrm>
            <a:off x="4416027"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20" name="Text Placeholder 131"/>
          <p:cNvSpPr>
            <a:spLocks noGrp="1"/>
          </p:cNvSpPr>
          <p:nvPr>
            <p:ph type="body" sz="quarter" idx="18"/>
          </p:nvPr>
        </p:nvSpPr>
        <p:spPr>
          <a:xfrm>
            <a:off x="8306264"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4" name="Content Placeholder 3"/>
          <p:cNvSpPr>
            <a:spLocks noGrp="1"/>
          </p:cNvSpPr>
          <p:nvPr>
            <p:ph sz="quarter" idx="19"/>
          </p:nvPr>
        </p:nvSpPr>
        <p:spPr>
          <a:xfrm>
            <a:off x="492125" y="2323016"/>
            <a:ext cx="3359945" cy="3608590"/>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6" name="Content Placeholder 5"/>
          <p:cNvSpPr>
            <a:spLocks noGrp="1"/>
          </p:cNvSpPr>
          <p:nvPr>
            <p:ph sz="quarter" idx="20"/>
          </p:nvPr>
        </p:nvSpPr>
        <p:spPr>
          <a:xfrm>
            <a:off x="4416027" y="2323016"/>
            <a:ext cx="3359548"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9" name="Content Placeholder 8"/>
          <p:cNvSpPr>
            <a:spLocks noGrp="1"/>
          </p:cNvSpPr>
          <p:nvPr>
            <p:ph sz="quarter" idx="21"/>
          </p:nvPr>
        </p:nvSpPr>
        <p:spPr>
          <a:xfrm>
            <a:off x="8306264" y="2323016"/>
            <a:ext cx="3360274"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84970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6" name="Picture Placeholder 5"/>
          <p:cNvSpPr>
            <a:spLocks noGrp="1"/>
          </p:cNvSpPr>
          <p:nvPr>
            <p:ph type="pic" sz="quarter" idx="17"/>
          </p:nvPr>
        </p:nvSpPr>
        <p:spPr>
          <a:xfrm>
            <a:off x="3354388" y="1671610"/>
            <a:ext cx="2606675" cy="1953683"/>
          </a:xfrm>
        </p:spPr>
        <p:txBody>
          <a:bodyPr/>
          <a:lstStyle>
            <a:lvl1pPr marL="0" indent="0">
              <a:buNone/>
              <a:defRPr/>
            </a:lvl1pPr>
          </a:lstStyle>
          <a:p>
            <a:pPr lvl="0"/>
            <a:r>
              <a:rPr lang="en-US" noProof="0"/>
              <a:t>Click icon to add picture</a:t>
            </a:r>
            <a:endParaRPr lang="en-US" noProof="0" dirty="0"/>
          </a:p>
        </p:txBody>
      </p:sp>
      <p:sp>
        <p:nvSpPr>
          <p:cNvPr id="104" name="Picture Placeholder 5"/>
          <p:cNvSpPr>
            <a:spLocks noGrp="1"/>
          </p:cNvSpPr>
          <p:nvPr>
            <p:ph type="pic" sz="quarter" idx="18"/>
          </p:nvPr>
        </p:nvSpPr>
        <p:spPr>
          <a:xfrm>
            <a:off x="3354388" y="3809037"/>
            <a:ext cx="2606675" cy="1953683"/>
          </a:xfrm>
        </p:spPr>
        <p:txBody>
          <a:bodyPr/>
          <a:lstStyle>
            <a:lvl1pPr marL="0" indent="0">
              <a:buNone/>
              <a:defRPr/>
            </a:lvl1pPr>
          </a:lstStyle>
          <a:p>
            <a:pPr lvl="0"/>
            <a:r>
              <a:rPr lang="en-US" noProof="0"/>
              <a:t>Click icon to add picture</a:t>
            </a:r>
            <a:endParaRPr lang="en-US" noProof="0" dirty="0"/>
          </a:p>
        </p:txBody>
      </p:sp>
      <p:sp>
        <p:nvSpPr>
          <p:cNvPr id="105" name="Picture Placeholder 5"/>
          <p:cNvSpPr>
            <a:spLocks noGrp="1"/>
          </p:cNvSpPr>
          <p:nvPr>
            <p:ph type="pic" sz="quarter" idx="19"/>
          </p:nvPr>
        </p:nvSpPr>
        <p:spPr>
          <a:xfrm>
            <a:off x="9066213" y="1671610"/>
            <a:ext cx="2606675" cy="1953683"/>
          </a:xfrm>
        </p:spPr>
        <p:txBody>
          <a:bodyPr/>
          <a:lstStyle>
            <a:lvl1pPr marL="0" indent="0">
              <a:buNone/>
              <a:defRPr/>
            </a:lvl1pPr>
          </a:lstStyle>
          <a:p>
            <a:pPr lvl="0"/>
            <a:r>
              <a:rPr lang="en-US" noProof="0"/>
              <a:t>Click icon to add picture</a:t>
            </a:r>
            <a:endParaRPr lang="en-US" noProof="0" dirty="0"/>
          </a:p>
        </p:txBody>
      </p:sp>
      <p:sp>
        <p:nvSpPr>
          <p:cNvPr id="106" name="Picture Placeholder 5"/>
          <p:cNvSpPr>
            <a:spLocks noGrp="1"/>
          </p:cNvSpPr>
          <p:nvPr>
            <p:ph type="pic" sz="quarter" idx="20"/>
          </p:nvPr>
        </p:nvSpPr>
        <p:spPr>
          <a:xfrm>
            <a:off x="9066213" y="3809037"/>
            <a:ext cx="2606675" cy="1953683"/>
          </a:xfrm>
        </p:spPr>
        <p:txBody>
          <a:bodyPr/>
          <a:lstStyle>
            <a:lvl1pPr marL="0" indent="0">
              <a:buNone/>
              <a:defRPr/>
            </a:lvl1pPr>
          </a:lstStyle>
          <a:p>
            <a:pPr lvl="0"/>
            <a:r>
              <a:rPr lang="en-US" noProof="0"/>
              <a:t>Click icon to add picture</a:t>
            </a:r>
            <a:endParaRPr lang="en-US" noProof="0" dirty="0"/>
          </a:p>
        </p:txBody>
      </p:sp>
      <p:sp>
        <p:nvSpPr>
          <p:cNvPr id="14" name="Text Placeholder 7"/>
          <p:cNvSpPr>
            <a:spLocks noGrp="1"/>
          </p:cNvSpPr>
          <p:nvPr>
            <p:ph type="body" sz="quarter" idx="21"/>
          </p:nvPr>
        </p:nvSpPr>
        <p:spPr>
          <a:xfrm>
            <a:off x="492125" y="1671610"/>
            <a:ext cx="2606675" cy="4086225"/>
          </a:xfr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7"/>
          <p:cNvSpPr>
            <a:spLocks noGrp="1"/>
          </p:cNvSpPr>
          <p:nvPr>
            <p:ph type="body" sz="quarter" idx="22"/>
          </p:nvPr>
        </p:nvSpPr>
        <p:spPr>
          <a:xfrm>
            <a:off x="6220216" y="1671610"/>
            <a:ext cx="2606675" cy="4086225"/>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7667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1671612"/>
            <a:ext cx="5467744"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11237" y="1671610"/>
            <a:ext cx="5461651" cy="4086427"/>
          </a:xfrm>
        </p:spPr>
        <p:txBody>
          <a:bodyPr/>
          <a:lstStyle>
            <a:lvl1pPr marL="0" indent="0">
              <a:buNone/>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3917060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endParaRPr lang="en-US" dirty="0"/>
          </a:p>
        </p:txBody>
      </p:sp>
      <p:sp>
        <p:nvSpPr>
          <p:cNvPr id="10" name="Table Placeholder 3"/>
          <p:cNvSpPr>
            <a:spLocks noGrp="1"/>
          </p:cNvSpPr>
          <p:nvPr>
            <p:ph type="tbl" sz="quarter" idx="13"/>
          </p:nvPr>
        </p:nvSpPr>
        <p:spPr>
          <a:xfrm>
            <a:off x="492789" y="1536022"/>
            <a:ext cx="11180867" cy="4087104"/>
          </a:xfrm>
        </p:spPr>
        <p:txBody>
          <a:bodyPr/>
          <a:lstStyle>
            <a:lvl1pPr marL="0" indent="0">
              <a:buNone/>
              <a:defRPr/>
            </a:lvl1pPr>
          </a:lstStyle>
          <a:p>
            <a:pPr lvl="0"/>
            <a:r>
              <a:rPr lang="en-US" noProof="0"/>
              <a:t>Click icon to add table</a:t>
            </a:r>
            <a:endParaRPr lang="en-US" noProof="0" dirty="0"/>
          </a:p>
        </p:txBody>
      </p:sp>
    </p:spTree>
    <p:extLst>
      <p:ext uri="{BB962C8B-B14F-4D97-AF65-F5344CB8AC3E}">
        <p14:creationId xmlns:p14="http://schemas.microsoft.com/office/powerpoint/2010/main" val="16776218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125" y="1745884"/>
            <a:ext cx="11180867" cy="4087104"/>
          </a:xfrm>
          <a:prstGeom prst="rect">
            <a:avLst/>
          </a:prstGeo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57317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570007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A2A34492-F104-49D9-B2A8-5887D4BE4189}"/>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70E07034-B01E-4995-A0AB-E9D06DC28C30}"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pic>
        <p:nvPicPr>
          <p:cNvPr id="3" name="Picture 8">
            <a:extLst>
              <a:ext uri="{FF2B5EF4-FFF2-40B4-BE49-F238E27FC236}">
                <a16:creationId xmlns:a16="http://schemas.microsoft.com/office/drawing/2014/main" id="{ECC54FFF-040E-4293-A78C-D12026DB661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69325" y="2768600"/>
            <a:ext cx="1911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274C27F2-5006-428E-B404-DFA19F59A57A}"/>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3D584DE2-3A9D-4119-8B84-79386FA94C59}" type="slidenum">
              <a:rPr lang="en-US" altLang="en-US" sz="1000" smtClean="0">
                <a:solidFill>
                  <a:schemeClr val="bg1"/>
                </a:solidFill>
              </a:rPr>
              <a:pPr eaLnBrk="1" hangingPunct="1">
                <a:lnSpc>
                  <a:spcPct val="90000"/>
                </a:lnSpc>
                <a:spcAft>
                  <a:spcPts val="600"/>
                </a:spcAft>
                <a:buFont typeface="Arial" charset="0"/>
                <a:buNone/>
                <a:defRPr/>
              </a:pPr>
              <a:t>‹#›</a:t>
            </a:fld>
            <a:endParaRPr lang="en-US" altLang="en-US" sz="1000">
              <a:solidFill>
                <a:schemeClr val="bg1"/>
              </a:solidFill>
            </a:endParaRPr>
          </a:p>
        </p:txBody>
      </p:sp>
      <p:sp>
        <p:nvSpPr>
          <p:cNvPr id="5" name="Rectangle 4">
            <a:extLst>
              <a:ext uri="{FF2B5EF4-FFF2-40B4-BE49-F238E27FC236}">
                <a16:creationId xmlns:a16="http://schemas.microsoft.com/office/drawing/2014/main" id="{45EF4A43-763A-4A78-98FA-A857C8AEB631}"/>
              </a:ext>
            </a:extLst>
          </p:cNvPr>
          <p:cNvSpPr>
            <a:spLocks noChangeArrowheads="1"/>
          </p:cNvSpPr>
          <p:nvPr userDrawn="1"/>
        </p:nvSpPr>
        <p:spPr bwMode="auto">
          <a:xfrm>
            <a:off x="1344613" y="944563"/>
            <a:ext cx="4403725"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defRPr/>
            </a:pPr>
            <a:r>
              <a:rPr lang="en-US" altLang="en-US" sz="3700" dirty="0">
                <a:solidFill>
                  <a:schemeClr val="bg1"/>
                </a:solidFill>
              </a:rPr>
              <a:t>Thank You!</a:t>
            </a:r>
          </a:p>
          <a:p>
            <a:pPr>
              <a:defRPr/>
            </a:pPr>
            <a:r>
              <a:rPr lang="en-US" altLang="en-US" sz="3700" dirty="0" err="1">
                <a:solidFill>
                  <a:schemeClr val="bg1"/>
                </a:solidFill>
              </a:rPr>
              <a:t>Danke</a:t>
            </a:r>
            <a:r>
              <a:rPr lang="en-US" altLang="en-US" sz="3700" dirty="0">
                <a:solidFill>
                  <a:schemeClr val="bg1"/>
                </a:solidFill>
              </a:rPr>
              <a:t>!</a:t>
            </a:r>
          </a:p>
          <a:p>
            <a:pPr>
              <a:defRPr/>
            </a:pPr>
            <a:r>
              <a:rPr lang="en-US" altLang="en-US" sz="3700" dirty="0">
                <a:solidFill>
                  <a:schemeClr val="bg1"/>
                </a:solidFill>
              </a:rPr>
              <a:t>Merci!</a:t>
            </a:r>
          </a:p>
          <a:p>
            <a:pPr>
              <a:defRPr/>
            </a:pPr>
            <a:r>
              <a:rPr lang="en-US" altLang="en-US" sz="3700" dirty="0" err="1">
                <a:solidFill>
                  <a:schemeClr val="bg1"/>
                </a:solidFill>
              </a:rPr>
              <a:t>谢谢</a:t>
            </a:r>
            <a:r>
              <a:rPr lang="en-US" altLang="en-US" sz="3700" dirty="0">
                <a:solidFill>
                  <a:schemeClr val="bg1"/>
                </a:solidFill>
              </a:rPr>
              <a:t>!</a:t>
            </a:r>
          </a:p>
          <a:p>
            <a:pPr>
              <a:defRPr/>
            </a:pPr>
            <a:r>
              <a:rPr lang="en-US" altLang="en-US" sz="3700" dirty="0" err="1">
                <a:solidFill>
                  <a:schemeClr val="bg1"/>
                </a:solidFill>
              </a:rPr>
              <a:t>ありがとう</a:t>
            </a:r>
            <a:r>
              <a:rPr lang="en-US" altLang="en-US" sz="3700" dirty="0">
                <a:solidFill>
                  <a:schemeClr val="bg1"/>
                </a:solidFill>
              </a:rPr>
              <a:t>!</a:t>
            </a:r>
          </a:p>
          <a:p>
            <a:pPr>
              <a:defRPr/>
            </a:pPr>
            <a:r>
              <a:rPr lang="en-US" altLang="en-US" sz="3700" dirty="0">
                <a:solidFill>
                  <a:schemeClr val="bg1"/>
                </a:solidFill>
              </a:rPr>
              <a:t>Gracias!</a:t>
            </a:r>
          </a:p>
          <a:p>
            <a:pPr>
              <a:defRPr/>
            </a:pPr>
            <a:r>
              <a:rPr lang="en-US" altLang="en-US" sz="3700" dirty="0" err="1">
                <a:solidFill>
                  <a:schemeClr val="bg1"/>
                </a:solidFill>
              </a:rPr>
              <a:t>Kiitos</a:t>
            </a:r>
            <a:r>
              <a:rPr lang="en-US" altLang="en-US" sz="3700" dirty="0">
                <a:solidFill>
                  <a:schemeClr val="bg1"/>
                </a:solidFill>
              </a:rPr>
              <a:t>!</a:t>
            </a:r>
          </a:p>
          <a:p>
            <a:pPr>
              <a:defRPr/>
            </a:pPr>
            <a:r>
              <a:rPr lang="ko-KR" altLang="en-US" b="1" dirty="0">
                <a:solidFill>
                  <a:schemeClr val="bg1"/>
                </a:solidFill>
              </a:rPr>
              <a:t>감사합니다</a:t>
            </a:r>
            <a:endParaRPr lang="ko-KR" altLang="en-US" dirty="0">
              <a:solidFill>
                <a:schemeClr val="bg1"/>
              </a:solidFill>
            </a:endParaRPr>
          </a:p>
          <a:p>
            <a:pPr>
              <a:defRPr/>
            </a:pPr>
            <a:r>
              <a:rPr lang="hi-IN" dirty="0">
                <a:solidFill>
                  <a:schemeClr val="bg1"/>
                </a:solidFill>
              </a:rPr>
              <a:t>धन्यवाद</a:t>
            </a:r>
          </a:p>
        </p:txBody>
      </p:sp>
      <p:sp>
        <p:nvSpPr>
          <p:cNvPr id="6" name="Rectangle 5">
            <a:extLst>
              <a:ext uri="{FF2B5EF4-FFF2-40B4-BE49-F238E27FC236}">
                <a16:creationId xmlns:a16="http://schemas.microsoft.com/office/drawing/2014/main" id="{9EE0DEA7-43E8-4E8B-BF3B-ECDD1789EFD8}"/>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7" name="TextBox 20">
            <a:extLst>
              <a:ext uri="{FF2B5EF4-FFF2-40B4-BE49-F238E27FC236}">
                <a16:creationId xmlns:a16="http://schemas.microsoft.com/office/drawing/2014/main" id="{EDCEC421-DC18-4F4D-908C-1BDA875A15E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2015 Arm Limited </a:t>
            </a:r>
          </a:p>
        </p:txBody>
      </p:sp>
    </p:spTree>
    <p:extLst>
      <p:ext uri="{BB962C8B-B14F-4D97-AF65-F5344CB8AC3E}">
        <p14:creationId xmlns:p14="http://schemas.microsoft.com/office/powerpoint/2010/main" val="28983985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60469B51-4F41-474D-899C-9101B8E89B06}"/>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D3C19EB0-1FB8-4B0E-97A7-851B376C9AFB}"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sp>
        <p:nvSpPr>
          <p:cNvPr id="3" name="TextBox 2">
            <a:extLst>
              <a:ext uri="{FF2B5EF4-FFF2-40B4-BE49-F238E27FC236}">
                <a16:creationId xmlns:a16="http://schemas.microsoft.com/office/drawing/2014/main" id="{310E89F6-8B1D-440B-A606-D6472285A2D4}"/>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94E6D76A-D4FF-448C-95E1-0684FC86836B}" type="slidenum">
              <a:rPr lang="en-US" altLang="en-US" sz="1000" smtClean="0">
                <a:solidFill>
                  <a:schemeClr val="bg1"/>
                </a:solidFill>
              </a:rPr>
              <a:pPr eaLnBrk="1" hangingPunct="1">
                <a:lnSpc>
                  <a:spcPct val="90000"/>
                </a:lnSpc>
                <a:spcAft>
                  <a:spcPts val="600"/>
                </a:spcAft>
                <a:buFont typeface="Arial" charset="0"/>
                <a:buNone/>
                <a:defRPr/>
              </a:pPr>
              <a:t>‹#›</a:t>
            </a:fld>
            <a:endParaRPr lang="en-US" altLang="en-US" sz="1000">
              <a:solidFill>
                <a:schemeClr val="bg1"/>
              </a:solidFill>
            </a:endParaRPr>
          </a:p>
        </p:txBody>
      </p:sp>
      <p:sp>
        <p:nvSpPr>
          <p:cNvPr id="4" name="Rectangle 3">
            <a:extLst>
              <a:ext uri="{FF2B5EF4-FFF2-40B4-BE49-F238E27FC236}">
                <a16:creationId xmlns:a16="http://schemas.microsoft.com/office/drawing/2014/main" id="{5AAB441B-C53F-49CC-9D00-D557A10A485D}"/>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5" name="TextBox 20">
            <a:extLst>
              <a:ext uri="{FF2B5EF4-FFF2-40B4-BE49-F238E27FC236}">
                <a16:creationId xmlns:a16="http://schemas.microsoft.com/office/drawing/2014/main" id="{A67728C3-36B0-449B-A0E3-6FDE16164B47}"/>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2025 Arm Limited </a:t>
            </a:r>
          </a:p>
        </p:txBody>
      </p:sp>
      <p:sp>
        <p:nvSpPr>
          <p:cNvPr id="6" name="Rectangle 5">
            <a:extLst>
              <a:ext uri="{FF2B5EF4-FFF2-40B4-BE49-F238E27FC236}">
                <a16:creationId xmlns:a16="http://schemas.microsoft.com/office/drawing/2014/main" id="{0B3A1922-DC94-4C4E-B0EB-A17F59FA8DB3}"/>
              </a:ext>
            </a:extLst>
          </p:cNvPr>
          <p:cNvSpPr>
            <a:spLocks noChangeArrowheads="1"/>
          </p:cNvSpPr>
          <p:nvPr userDrawn="1"/>
        </p:nvSpPr>
        <p:spPr bwMode="auto">
          <a:xfrm>
            <a:off x="728663" y="4800600"/>
            <a:ext cx="54324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defRPr/>
            </a:pPr>
            <a:r>
              <a:rPr lang="en-US" altLang="x-none" sz="1200" dirty="0">
                <a:solidFill>
                  <a:schemeClr val="bg1"/>
                </a:solidFill>
              </a:rPr>
              <a:t>The Arm trademarks featured in this presentation are registered trademarks or trademarks of Arm Limited (or its subsidiaries) in the US and/or elsewhere.  All rights reserved.  All other marks featured may be trademarks of their respective owners.</a:t>
            </a:r>
          </a:p>
          <a:p>
            <a:pPr>
              <a:defRPr/>
            </a:pPr>
            <a:br>
              <a:rPr lang="en-US" altLang="x-none" sz="1200" dirty="0">
                <a:solidFill>
                  <a:schemeClr val="bg1"/>
                </a:solidFill>
              </a:rPr>
            </a:br>
            <a:r>
              <a:rPr lang="en-US" altLang="x-none" sz="1200" dirty="0" err="1">
                <a:solidFill>
                  <a:schemeClr val="bg1"/>
                </a:solidFill>
              </a:rPr>
              <a:t>www.arm.com</a:t>
            </a:r>
            <a:r>
              <a:rPr lang="en-US" altLang="x-none" sz="1200" dirty="0">
                <a:solidFill>
                  <a:schemeClr val="bg1"/>
                </a:solidFill>
              </a:rPr>
              <a:t>/company/policies/trademarks</a:t>
            </a:r>
          </a:p>
        </p:txBody>
      </p:sp>
      <p:pic>
        <p:nvPicPr>
          <p:cNvPr id="7" name="Picture 12">
            <a:extLst>
              <a:ext uri="{FF2B5EF4-FFF2-40B4-BE49-F238E27FC236}">
                <a16:creationId xmlns:a16="http://schemas.microsoft.com/office/drawing/2014/main" id="{4CAEB61F-5C5B-402E-A3C9-0F328A3DB5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69325" y="2768600"/>
            <a:ext cx="1911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7429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ubtitle and Content alterna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71E09E-E80A-4DB6-BC16-53731D379FC7}"/>
              </a:ext>
            </a:extLst>
          </p:cNvPr>
          <p:cNvSpPr/>
          <p:nvPr userDrawn="1"/>
        </p:nvSpPr>
        <p:spPr>
          <a:xfrm>
            <a:off x="0" y="0"/>
            <a:ext cx="12192000" cy="59674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6" name="Rectangle 5">
            <a:extLst>
              <a:ext uri="{FF2B5EF4-FFF2-40B4-BE49-F238E27FC236}">
                <a16:creationId xmlns:a16="http://schemas.microsoft.com/office/drawing/2014/main" id="{BA9D7E58-0873-4139-BEC0-EB7B3BB161D2}"/>
              </a:ext>
            </a:extLst>
          </p:cNvPr>
          <p:cNvSpPr/>
          <p:nvPr userDrawn="1"/>
        </p:nvSpPr>
        <p:spPr>
          <a:xfrm>
            <a:off x="-15875" y="0"/>
            <a:ext cx="12192000" cy="59674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pic>
        <p:nvPicPr>
          <p:cNvPr id="9" name="Picture 8">
            <a:extLst>
              <a:ext uri="{FF2B5EF4-FFF2-40B4-BE49-F238E27FC236}">
                <a16:creationId xmlns:a16="http://schemas.microsoft.com/office/drawing/2014/main" id="{4A591610-CC17-4969-8433-050E55D9449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182461" y="5720754"/>
            <a:ext cx="5800089" cy="1137247"/>
          </a:xfrm>
          <a:custGeom>
            <a:avLst/>
            <a:gdLst>
              <a:gd name="connsiteX0" fmla="*/ 1969769 w 5800089"/>
              <a:gd name="connsiteY0" fmla="*/ 0 h 1137247"/>
              <a:gd name="connsiteX1" fmla="*/ 5800089 w 5800089"/>
              <a:gd name="connsiteY1" fmla="*/ 0 h 1137247"/>
              <a:gd name="connsiteX2" fmla="*/ 3830319 w 5800089"/>
              <a:gd name="connsiteY2" fmla="*/ 1137247 h 1137247"/>
              <a:gd name="connsiteX3" fmla="*/ 0 w 5800089"/>
              <a:gd name="connsiteY3" fmla="*/ 1137247 h 1137247"/>
            </a:gdLst>
            <a:ahLst/>
            <a:cxnLst>
              <a:cxn ang="0">
                <a:pos x="connsiteX0" y="connsiteY0"/>
              </a:cxn>
              <a:cxn ang="0">
                <a:pos x="connsiteX1" y="connsiteY1"/>
              </a:cxn>
              <a:cxn ang="0">
                <a:pos x="connsiteX2" y="connsiteY2"/>
              </a:cxn>
              <a:cxn ang="0">
                <a:pos x="connsiteX3" y="connsiteY3"/>
              </a:cxn>
            </a:cxnLst>
            <a:rect l="l" t="t" r="r" b="b"/>
            <a:pathLst>
              <a:path w="5800089" h="1137247">
                <a:moveTo>
                  <a:pt x="1969769" y="0"/>
                </a:moveTo>
                <a:lnTo>
                  <a:pt x="5800089" y="0"/>
                </a:lnTo>
                <a:lnTo>
                  <a:pt x="3830319" y="1137247"/>
                </a:lnTo>
                <a:lnTo>
                  <a:pt x="0" y="1137247"/>
                </a:lnTo>
                <a:close/>
              </a:path>
            </a:pathLst>
          </a:custGeom>
        </p:spPr>
      </p:pic>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bg1"/>
                </a:solidFill>
              </a:defRPr>
            </a:lvl1pPr>
          </a:lstStyle>
          <a:p>
            <a:pPr lvl="0"/>
            <a:r>
              <a:rPr lang="en-US"/>
              <a:t>Edit Master text styles</a:t>
            </a:r>
          </a:p>
        </p:txBody>
      </p:sp>
      <p:sp>
        <p:nvSpPr>
          <p:cNvPr id="8" name="Text Placeholder 2"/>
          <p:cNvSpPr>
            <a:spLocks noGrp="1"/>
          </p:cNvSpPr>
          <p:nvPr>
            <p:ph idx="1"/>
          </p:nvPr>
        </p:nvSpPr>
        <p:spPr>
          <a:xfrm>
            <a:off x="490435" y="1666160"/>
            <a:ext cx="11180867" cy="3619578"/>
          </a:xfrm>
          <a:prstGeom prst="rect">
            <a:avLst/>
          </a:prstGeom>
        </p:spPr>
        <p:txBody>
          <a:bodyPr/>
          <a:lstStyle>
            <a:lvl1pPr marL="0" indent="0">
              <a:buNone/>
              <a:defRPr>
                <a:solidFill>
                  <a:srgbClr val="93E5FF"/>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25885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63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9B0FB7-70CB-4D4F-9BFF-1D8341004D47}"/>
              </a:ext>
            </a:extLst>
          </p:cNvPr>
          <p:cNvSpPr>
            <a:spLocks noGrp="1"/>
          </p:cNvSpPr>
          <p:nvPr>
            <p:ph type="title"/>
          </p:nvPr>
        </p:nvSpPr>
        <p:spPr>
          <a:xfrm>
            <a:off x="492125" y="295275"/>
            <a:ext cx="11180763" cy="666750"/>
          </a:xfrm>
          <a:prstGeom prst="rect">
            <a:avLst/>
          </a:prstGeom>
        </p:spPr>
        <p:txBody>
          <a:bodyPr vert="horz" lIns="0" tIns="0" rIns="0" bIns="0" rtlCol="0"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8C3B0A-FB0C-4FFC-A4A5-FC52A896386E}"/>
              </a:ext>
            </a:extLst>
          </p:cNvPr>
          <p:cNvSpPr>
            <a:spLocks noGrp="1"/>
          </p:cNvSpPr>
          <p:nvPr>
            <p:ph type="body" idx="1"/>
          </p:nvPr>
        </p:nvSpPr>
        <p:spPr>
          <a:xfrm>
            <a:off x="492125" y="1479550"/>
            <a:ext cx="11180763" cy="4086225"/>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28" name="TextBox 20">
            <a:extLst>
              <a:ext uri="{FF2B5EF4-FFF2-40B4-BE49-F238E27FC236}">
                <a16:creationId xmlns:a16="http://schemas.microsoft.com/office/drawing/2014/main" id="{8E97ECFD-1DCA-4409-BCAA-67793DDCA550}"/>
              </a:ext>
            </a:extLst>
          </p:cNvPr>
          <p:cNvSpPr txBox="1">
            <a:spLocks noChangeArrowheads="1"/>
          </p:cNvSpPr>
          <p:nvPr userDrawn="1"/>
        </p:nvSpPr>
        <p:spPr bwMode="auto">
          <a:xfrm>
            <a:off x="804863" y="6430963"/>
            <a:ext cx="8350250" cy="138499"/>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rgbClr val="7F7F7F"/>
                </a:solidFill>
              </a:rPr>
              <a:t>© 2025 Arm Limited </a:t>
            </a:r>
          </a:p>
        </p:txBody>
      </p:sp>
      <p:sp>
        <p:nvSpPr>
          <p:cNvPr id="1029" name="TextBox 26">
            <a:extLst>
              <a:ext uri="{FF2B5EF4-FFF2-40B4-BE49-F238E27FC236}">
                <a16:creationId xmlns:a16="http://schemas.microsoft.com/office/drawing/2014/main" id="{BF72FE98-121C-4E05-9B4E-5A9C4E4C705B}"/>
              </a:ext>
            </a:extLst>
          </p:cNvPr>
          <p:cNvSpPr txBox="1">
            <a:spLocks noChangeArrowheads="1"/>
          </p:cNvSpPr>
          <p:nvPr userDrawn="1"/>
        </p:nvSpPr>
        <p:spPr bwMode="auto">
          <a:xfrm>
            <a:off x="492125" y="643096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89A935BB-B359-4CD8-988A-690185F8A591}"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pic>
        <p:nvPicPr>
          <p:cNvPr id="1030" name="Picture 6">
            <a:extLst>
              <a:ext uri="{FF2B5EF4-FFF2-40B4-BE49-F238E27FC236}">
                <a16:creationId xmlns:a16="http://schemas.microsoft.com/office/drawing/2014/main" id="{3DCABB85-C4DD-4C7F-92ED-6C057E9F5511}"/>
              </a:ext>
            </a:extLst>
          </p:cNvPr>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340" r:id="rId1"/>
    <p:sldLayoutId id="2147485341" r:id="rId2"/>
    <p:sldLayoutId id="2147485342" r:id="rId3"/>
    <p:sldLayoutId id="2147485343" r:id="rId4"/>
    <p:sldLayoutId id="2147485344" r:id="rId5"/>
    <p:sldLayoutId id="2147485345" r:id="rId6"/>
    <p:sldLayoutId id="2147485346" r:id="rId7"/>
    <p:sldLayoutId id="2147485347" r:id="rId8"/>
    <p:sldLayoutId id="2147485333" r:id="rId9"/>
    <p:sldLayoutId id="2147485348" r:id="rId10"/>
    <p:sldLayoutId id="2147485349" r:id="rId11"/>
    <p:sldLayoutId id="2147485350" r:id="rId12"/>
    <p:sldLayoutId id="2147485351" r:id="rId13"/>
    <p:sldLayoutId id="2147485352" r:id="rId14"/>
    <p:sldLayoutId id="2147485334" r:id="rId15"/>
    <p:sldLayoutId id="2147485335" r:id="rId16"/>
    <p:sldLayoutId id="2147485336" r:id="rId17"/>
    <p:sldLayoutId id="2147485337" r:id="rId18"/>
    <p:sldLayoutId id="2147485338" r:id="rId19"/>
    <p:sldLayoutId id="2147485353" r:id="rId20"/>
    <p:sldLayoutId id="2147485354" r:id="rId21"/>
    <p:sldLayoutId id="2147485355" r:id="rId22"/>
    <p:sldLayoutId id="2147485339" r:id="rId23"/>
  </p:sldLayoutIdLst>
  <p:hf hdr="0" ftr="0" dt="0"/>
  <p:txStyles>
    <p:titleStyle>
      <a:lvl1pPr algn="l" rtl="0" eaLnBrk="1" fontAlgn="base" hangingPunct="1">
        <a:lnSpc>
          <a:spcPct val="85000"/>
        </a:lnSpc>
        <a:spcBef>
          <a:spcPct val="0"/>
        </a:spcBef>
        <a:spcAft>
          <a:spcPct val="0"/>
        </a:spcAft>
        <a:defRPr sz="3600" b="1"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D69F7-95CB-48D6-AF90-353C0C79A9D9}"/>
              </a:ext>
            </a:extLst>
          </p:cNvPr>
          <p:cNvSpPr>
            <a:spLocks noGrp="1"/>
          </p:cNvSpPr>
          <p:nvPr>
            <p:ph type="title"/>
          </p:nvPr>
        </p:nvSpPr>
        <p:spPr>
          <a:xfrm>
            <a:off x="4582634" y="1563688"/>
            <a:ext cx="6756880" cy="1555750"/>
          </a:xfrm>
        </p:spPr>
        <p:txBody>
          <a:bodyPr wrap="square" numCol="1" compatLnSpc="1">
            <a:prstTxWarp prst="textNoShape">
              <a:avLst/>
            </a:prstTxWarp>
          </a:bodyPr>
          <a:lstStyle/>
          <a:p>
            <a:pPr>
              <a:defRPr/>
            </a:pPr>
            <a:r>
              <a:rPr lang="en-US"/>
              <a:t>Embedded Linux</a:t>
            </a:r>
            <a:endParaRPr lang="en-US" dirty="0"/>
          </a:p>
        </p:txBody>
      </p:sp>
      <p:sp>
        <p:nvSpPr>
          <p:cNvPr id="23555" name="Subtitle 2">
            <a:extLst>
              <a:ext uri="{FF2B5EF4-FFF2-40B4-BE49-F238E27FC236}">
                <a16:creationId xmlns:a16="http://schemas.microsoft.com/office/drawing/2014/main" id="{BA26D659-3551-45F0-9606-6E59BEA59060}"/>
              </a:ext>
            </a:extLst>
          </p:cNvPr>
          <p:cNvSpPr>
            <a:spLocks noGrp="1" noChangeArrowheads="1"/>
          </p:cNvSpPr>
          <p:nvPr>
            <p:ph type="subTitle" idx="1"/>
          </p:nvPr>
        </p:nvSpPr>
        <p:spPr bwMode="auto">
          <a:xfrm>
            <a:off x="3710764" y="3176588"/>
            <a:ext cx="7628750" cy="739775"/>
          </a:xfrm>
        </p:spPr>
        <p:txBody>
          <a:bodyPr wrap="square" numCol="1" anchor="t" anchorCtr="0" compatLnSpc="1">
            <a:prstTxWarp prst="textNoShape">
              <a:avLst/>
            </a:prstTxWarp>
          </a:bodyPr>
          <a:lstStyle/>
          <a:p>
            <a:pPr fontAlgn="base">
              <a:spcBef>
                <a:spcPct val="0"/>
              </a:spcBef>
            </a:pPr>
            <a:r>
              <a:rPr lang="en-GB" dirty="0"/>
              <a:t>Configuration &amp; Build Process of an Embedded Linux System</a:t>
            </a:r>
            <a:endParaRPr lang="en-US" altLang="en-US" dirty="0">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Goal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IN" altLang="en-US" dirty="0">
                <a:ea typeface="ＭＳ Ｐゴシック" panose="020B0600070205080204" pitchFamily="34" charset="-128"/>
              </a:rPr>
              <a:t>To illustrate the configuration &amp; build process of an embedded Linux system</a:t>
            </a:r>
          </a:p>
          <a:p>
            <a:r>
              <a:rPr lang="en-IN" altLang="en-US" dirty="0">
                <a:ea typeface="ＭＳ Ｐゴシック" panose="020B0600070205080204" pitchFamily="34" charset="-128"/>
              </a:rPr>
              <a:t>To illustrate the concept of build systems</a:t>
            </a:r>
            <a:endParaRPr lang="en-US" altLang="en-US" dirty="0">
              <a:ea typeface="ＭＳ Ｐゴシック" panose="020B060007020508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IN" altLang="en-US" dirty="0">
                <a:ea typeface="ＭＳ Ｐゴシック" panose="020B0600070205080204" pitchFamily="34" charset="-128"/>
              </a:rPr>
              <a:t>Introduction</a:t>
            </a:r>
          </a:p>
          <a:p>
            <a:r>
              <a:rPr lang="en-IN" altLang="en-US" dirty="0">
                <a:ea typeface="ＭＳ Ｐゴシック"/>
              </a:rPr>
              <a:t>The Workflow</a:t>
            </a:r>
            <a:endParaRPr lang="en-IN" altLang="en-US" dirty="0">
              <a:ea typeface="ＭＳ Ｐゴシック" panose="020B0600070205080204" pitchFamily="34" charset="-128"/>
            </a:endParaRPr>
          </a:p>
          <a:p>
            <a:r>
              <a:rPr lang="en-IN" altLang="en-US" dirty="0">
                <a:ea typeface="ＭＳ Ｐゴシック"/>
              </a:rPr>
              <a:t>The Build Systems</a:t>
            </a:r>
          </a:p>
          <a:p>
            <a:r>
              <a:rPr lang="en-IN" altLang="en-US" dirty="0" err="1">
                <a:ea typeface="ＭＳ Ｐゴシック" panose="020B0600070205080204" pitchFamily="34" charset="-128"/>
              </a:rPr>
              <a:t>Yocto</a:t>
            </a:r>
            <a:endParaRPr lang="en-IN" altLang="en-US" dirty="0">
              <a:ea typeface="ＭＳ Ｐゴシック" panose="020B0600070205080204" pitchFamily="34" charset="-128"/>
            </a:endParaRPr>
          </a:p>
        </p:txBody>
      </p:sp>
    </p:spTree>
    <p:extLst>
      <p:ext uri="{BB962C8B-B14F-4D97-AF65-F5344CB8AC3E}">
        <p14:creationId xmlns:p14="http://schemas.microsoft.com/office/powerpoint/2010/main" val="1914793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solidFill>
                  <a:srgbClr val="128CAB"/>
                </a:solidFill>
              </a:rPr>
              <a:t>Introduction</a:t>
            </a:r>
          </a:p>
          <a:p>
            <a:r>
              <a:rPr lang="en-US" dirty="0">
                <a:ea typeface="ＭＳ Ｐゴシック"/>
              </a:rPr>
              <a:t>The Workflow</a:t>
            </a:r>
            <a:endParaRPr lang="en-US"/>
          </a:p>
          <a:p>
            <a:r>
              <a:rPr lang="en-US" dirty="0">
                <a:ea typeface="ＭＳ Ｐゴシック"/>
              </a:rPr>
              <a:t>The Build Systems</a:t>
            </a:r>
          </a:p>
          <a:p>
            <a:r>
              <a:rPr lang="en-US" dirty="0" err="1"/>
              <a:t>Yocto</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41184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Introduction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491617"/>
            <a:ext cx="7329231" cy="4086225"/>
          </a:xfrm>
        </p:spPr>
        <p:txBody>
          <a:bodyPr wrap="square" numCol="1" anchor="t" anchorCtr="0" compatLnSpc="1">
            <a:prstTxWarp prst="textNoShape">
              <a:avLst/>
            </a:prstTxWarp>
          </a:bodyPr>
          <a:lstStyle/>
          <a:p>
            <a:r>
              <a:rPr lang="en-US" sz="2000" dirty="0"/>
              <a:t>An embedded Linux system requires the following components to operate:</a:t>
            </a:r>
            <a:endParaRPr lang="en-US" altLang="en-US" sz="2000" dirty="0">
              <a:ea typeface="ＭＳ Ｐゴシック" panose="020B0600070205080204" pitchFamily="34" charset="-128"/>
            </a:endParaRPr>
          </a:p>
          <a:p>
            <a:pPr lvl="1"/>
            <a:r>
              <a:rPr lang="en-US" sz="1600" dirty="0"/>
              <a:t>The Bootloader</a:t>
            </a:r>
          </a:p>
          <a:p>
            <a:pPr lvl="1"/>
            <a:r>
              <a:rPr lang="en-US" sz="1600" dirty="0"/>
              <a:t>The Linux Kernel</a:t>
            </a:r>
          </a:p>
          <a:p>
            <a:pPr lvl="1"/>
            <a:r>
              <a:rPr lang="en-US" sz="1600" dirty="0"/>
              <a:t>The Device Tree Blob (DTB)</a:t>
            </a:r>
          </a:p>
          <a:p>
            <a:pPr lvl="1"/>
            <a:r>
              <a:rPr lang="en-US" sz="1600" dirty="0"/>
              <a:t>The Root File System</a:t>
            </a:r>
            <a:endParaRPr lang="en-US" altLang="en-US" sz="1600" dirty="0">
              <a:ea typeface="ＭＳ Ｐゴシック" panose="020B0600070205080204" pitchFamily="34" charset="-128"/>
            </a:endParaRPr>
          </a:p>
          <a:p>
            <a:r>
              <a:rPr lang="en-US" sz="2000" dirty="0"/>
              <a:t>All these components must be:</a:t>
            </a:r>
            <a:endParaRPr lang="en-US" altLang="en-US" sz="2000" dirty="0">
              <a:ea typeface="ＭＳ Ｐゴシック" panose="020B0600070205080204" pitchFamily="34" charset="-128"/>
            </a:endParaRPr>
          </a:p>
          <a:p>
            <a:pPr lvl="1"/>
            <a:r>
              <a:rPr lang="en-US" sz="1600" dirty="0"/>
              <a:t>Configured for the embedded system hardware platform</a:t>
            </a:r>
          </a:p>
          <a:p>
            <a:pPr lvl="1"/>
            <a:r>
              <a:rPr lang="en-US" sz="1600" dirty="0"/>
              <a:t>Compiled and linked into an executable format</a:t>
            </a:r>
          </a:p>
          <a:p>
            <a:pPr lvl="1"/>
            <a:r>
              <a:rPr lang="en-US" sz="1600" dirty="0"/>
              <a:t>Deployed into the embedded system persistent storage for booting and operations</a:t>
            </a:r>
            <a:endParaRPr lang="en-US" altLang="en-US" sz="1600" dirty="0">
              <a:ea typeface="ＭＳ Ｐゴシック" panose="020B0600070205080204" pitchFamily="34" charset="-128"/>
            </a:endParaRPr>
          </a:p>
          <a:p>
            <a:pPr lvl="2"/>
            <a:endParaRPr lang="en-US" altLang="en-US" sz="1600" dirty="0">
              <a:ea typeface="ＭＳ Ｐゴシック" panose="020B0600070205080204" pitchFamily="34" charset="-128"/>
            </a:endParaRPr>
          </a:p>
        </p:txBody>
      </p:sp>
      <p:sp>
        <p:nvSpPr>
          <p:cNvPr id="5" name="CasellaDiTesto 6">
            <a:extLst>
              <a:ext uri="{FF2B5EF4-FFF2-40B4-BE49-F238E27FC236}">
                <a16:creationId xmlns:a16="http://schemas.microsoft.com/office/drawing/2014/main" id="{CCA66760-CF0E-4E6C-8CA5-B205BA65C235}"/>
              </a:ext>
            </a:extLst>
          </p:cNvPr>
          <p:cNvSpPr txBox="1"/>
          <p:nvPr/>
        </p:nvSpPr>
        <p:spPr>
          <a:xfrm>
            <a:off x="7821356" y="1280158"/>
            <a:ext cx="1494094" cy="834391"/>
          </a:xfrm>
          <a:prstGeom prst="roundRect">
            <a:avLst>
              <a:gd name="adj" fmla="val 7167"/>
            </a:avLst>
          </a:prstGeom>
          <a:solidFill>
            <a:schemeClr val="accent4">
              <a:lumMod val="75000"/>
            </a:schemeClr>
          </a:solidFill>
          <a:ln>
            <a:solidFill>
              <a:schemeClr val="tx1"/>
            </a:solidFill>
          </a:ln>
        </p:spPr>
        <p:txBody>
          <a:bodyPr wrap="square" rtlCol="0" anchor="ctr">
            <a:noAutofit/>
          </a:bodyPr>
          <a:lstStyle/>
          <a:p>
            <a:pPr algn="ctr"/>
            <a:r>
              <a:rPr lang="en-US" dirty="0">
                <a:solidFill>
                  <a:schemeClr val="bg1"/>
                </a:solidFill>
              </a:rPr>
              <a:t>U-Boot</a:t>
            </a:r>
          </a:p>
        </p:txBody>
      </p:sp>
      <p:sp>
        <p:nvSpPr>
          <p:cNvPr id="6" name="CasellaDiTesto 6">
            <a:extLst>
              <a:ext uri="{FF2B5EF4-FFF2-40B4-BE49-F238E27FC236}">
                <a16:creationId xmlns:a16="http://schemas.microsoft.com/office/drawing/2014/main" id="{B2CECFE8-D2BA-4D79-9ED1-47202322B0A0}"/>
              </a:ext>
            </a:extLst>
          </p:cNvPr>
          <p:cNvSpPr txBox="1"/>
          <p:nvPr/>
        </p:nvSpPr>
        <p:spPr>
          <a:xfrm>
            <a:off x="7821356" y="2114549"/>
            <a:ext cx="1494094" cy="1314451"/>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dirty="0">
                <a:solidFill>
                  <a:schemeClr val="bg1"/>
                </a:solidFill>
              </a:rPr>
              <a:t>Linux Kernel</a:t>
            </a:r>
          </a:p>
        </p:txBody>
      </p:sp>
      <p:sp>
        <p:nvSpPr>
          <p:cNvPr id="7" name="CasellaDiTesto 6">
            <a:extLst>
              <a:ext uri="{FF2B5EF4-FFF2-40B4-BE49-F238E27FC236}">
                <a16:creationId xmlns:a16="http://schemas.microsoft.com/office/drawing/2014/main" id="{9F862AFF-4E58-4432-8217-D5A17594168B}"/>
              </a:ext>
            </a:extLst>
          </p:cNvPr>
          <p:cNvSpPr txBox="1"/>
          <p:nvPr/>
        </p:nvSpPr>
        <p:spPr>
          <a:xfrm>
            <a:off x="7821356" y="3429001"/>
            <a:ext cx="1494094" cy="628650"/>
          </a:xfrm>
          <a:prstGeom prst="roundRect">
            <a:avLst>
              <a:gd name="adj" fmla="val 7167"/>
            </a:avLst>
          </a:prstGeom>
          <a:solidFill>
            <a:srgbClr val="002060"/>
          </a:solidFill>
          <a:ln>
            <a:solidFill>
              <a:schemeClr val="tx1"/>
            </a:solidFill>
          </a:ln>
        </p:spPr>
        <p:txBody>
          <a:bodyPr wrap="square" rtlCol="0" anchor="ctr">
            <a:noAutofit/>
          </a:bodyPr>
          <a:lstStyle/>
          <a:p>
            <a:pPr algn="ctr"/>
            <a:r>
              <a:rPr lang="en-US" dirty="0">
                <a:solidFill>
                  <a:schemeClr val="bg1"/>
                </a:solidFill>
              </a:rPr>
              <a:t>DTB</a:t>
            </a:r>
          </a:p>
        </p:txBody>
      </p:sp>
      <p:sp>
        <p:nvSpPr>
          <p:cNvPr id="8" name="CasellaDiTesto 6">
            <a:extLst>
              <a:ext uri="{FF2B5EF4-FFF2-40B4-BE49-F238E27FC236}">
                <a16:creationId xmlns:a16="http://schemas.microsoft.com/office/drawing/2014/main" id="{B22F322B-BF89-4347-9F1A-E81F76BA6CF2}"/>
              </a:ext>
            </a:extLst>
          </p:cNvPr>
          <p:cNvSpPr txBox="1"/>
          <p:nvPr/>
        </p:nvSpPr>
        <p:spPr>
          <a:xfrm>
            <a:off x="7821356" y="4057650"/>
            <a:ext cx="1494094" cy="2062349"/>
          </a:xfrm>
          <a:prstGeom prst="roundRect">
            <a:avLst>
              <a:gd name="adj" fmla="val 7167"/>
            </a:avLst>
          </a:prstGeom>
          <a:solidFill>
            <a:srgbClr val="128CAB"/>
          </a:solidFill>
          <a:ln>
            <a:solidFill>
              <a:schemeClr val="tx1"/>
            </a:solidFill>
          </a:ln>
        </p:spPr>
        <p:txBody>
          <a:bodyPr wrap="square" rtlCol="0" anchor="ctr">
            <a:noAutofit/>
          </a:bodyPr>
          <a:lstStyle/>
          <a:p>
            <a:pPr algn="ctr"/>
            <a:r>
              <a:rPr lang="en-US" dirty="0">
                <a:solidFill>
                  <a:schemeClr val="bg1"/>
                </a:solidFill>
              </a:rPr>
              <a:t>Root File System</a:t>
            </a:r>
          </a:p>
        </p:txBody>
      </p:sp>
      <p:sp>
        <p:nvSpPr>
          <p:cNvPr id="9" name="TextBox 8">
            <a:extLst>
              <a:ext uri="{FF2B5EF4-FFF2-40B4-BE49-F238E27FC236}">
                <a16:creationId xmlns:a16="http://schemas.microsoft.com/office/drawing/2014/main" id="{D671AF84-476A-456B-AF99-5701E09D3694}"/>
              </a:ext>
            </a:extLst>
          </p:cNvPr>
          <p:cNvSpPr txBox="1"/>
          <p:nvPr/>
        </p:nvSpPr>
        <p:spPr>
          <a:xfrm>
            <a:off x="7740242" y="565422"/>
            <a:ext cx="1575208" cy="615553"/>
          </a:xfrm>
          <a:prstGeom prst="rect">
            <a:avLst/>
          </a:prstGeom>
        </p:spPr>
        <p:txBody>
          <a:bodyPr vert="horz" wrap="square" lIns="0" tIns="0" rIns="0" bIns="0" rtlCol="0" anchor="t">
            <a:spAutoFit/>
          </a:bodyPr>
          <a:lstStyle/>
          <a:p>
            <a:pPr algn="ctr"/>
            <a:r>
              <a:rPr lang="en-US" sz="2000" dirty="0">
                <a:solidFill>
                  <a:schemeClr val="accent1"/>
                </a:solidFill>
              </a:rPr>
              <a:t>MicroSD card image layout</a:t>
            </a:r>
          </a:p>
        </p:txBody>
      </p:sp>
      <p:sp>
        <p:nvSpPr>
          <p:cNvPr id="10" name="TextBox 9">
            <a:extLst>
              <a:ext uri="{FF2B5EF4-FFF2-40B4-BE49-F238E27FC236}">
                <a16:creationId xmlns:a16="http://schemas.microsoft.com/office/drawing/2014/main" id="{4DC99808-8255-41E4-A6D5-0E9DD7D9DF70}"/>
              </a:ext>
            </a:extLst>
          </p:cNvPr>
          <p:cNvSpPr txBox="1"/>
          <p:nvPr/>
        </p:nvSpPr>
        <p:spPr>
          <a:xfrm>
            <a:off x="9644063" y="1440000"/>
            <a:ext cx="1849846" cy="553998"/>
          </a:xfrm>
          <a:prstGeom prst="rect">
            <a:avLst/>
          </a:prstGeom>
        </p:spPr>
        <p:txBody>
          <a:bodyPr vert="horz" wrap="square" lIns="0" tIns="0" rIns="0" bIns="0" rtlCol="0" anchor="t">
            <a:spAutoFit/>
          </a:bodyPr>
          <a:lstStyle/>
          <a:p>
            <a:pPr algn="ctr"/>
            <a:r>
              <a:rPr lang="en-US" dirty="0">
                <a:solidFill>
                  <a:schemeClr val="accent1"/>
                </a:solidFill>
              </a:rPr>
              <a:t>RAW unformatted space</a:t>
            </a:r>
          </a:p>
        </p:txBody>
      </p:sp>
      <p:sp>
        <p:nvSpPr>
          <p:cNvPr id="11" name="TextBox 10">
            <a:extLst>
              <a:ext uri="{FF2B5EF4-FFF2-40B4-BE49-F238E27FC236}">
                <a16:creationId xmlns:a16="http://schemas.microsoft.com/office/drawing/2014/main" id="{DB3BE8DA-5AB1-4A1E-BC5C-763611188007}"/>
              </a:ext>
            </a:extLst>
          </p:cNvPr>
          <p:cNvSpPr txBox="1"/>
          <p:nvPr/>
        </p:nvSpPr>
        <p:spPr>
          <a:xfrm>
            <a:off x="9558338" y="2960457"/>
            <a:ext cx="1849846" cy="276999"/>
          </a:xfrm>
          <a:prstGeom prst="rect">
            <a:avLst/>
          </a:prstGeom>
        </p:spPr>
        <p:txBody>
          <a:bodyPr vert="horz" wrap="square" lIns="0" tIns="0" rIns="0" bIns="0" rtlCol="0" anchor="t">
            <a:spAutoFit/>
          </a:bodyPr>
          <a:lstStyle/>
          <a:p>
            <a:pPr algn="ctr"/>
            <a:r>
              <a:rPr lang="en-US" dirty="0">
                <a:solidFill>
                  <a:schemeClr val="accent1"/>
                </a:solidFill>
              </a:rPr>
              <a:t>FAT file system</a:t>
            </a:r>
          </a:p>
        </p:txBody>
      </p:sp>
      <p:sp>
        <p:nvSpPr>
          <p:cNvPr id="12" name="TextBox 11">
            <a:extLst>
              <a:ext uri="{FF2B5EF4-FFF2-40B4-BE49-F238E27FC236}">
                <a16:creationId xmlns:a16="http://schemas.microsoft.com/office/drawing/2014/main" id="{EFCCBA64-6888-440E-81B9-416DA3F81C74}"/>
              </a:ext>
            </a:extLst>
          </p:cNvPr>
          <p:cNvSpPr txBox="1"/>
          <p:nvPr/>
        </p:nvSpPr>
        <p:spPr>
          <a:xfrm>
            <a:off x="9472612" y="4926940"/>
            <a:ext cx="2595061" cy="276999"/>
          </a:xfrm>
          <a:prstGeom prst="rect">
            <a:avLst/>
          </a:prstGeom>
        </p:spPr>
        <p:txBody>
          <a:bodyPr vert="horz" wrap="square" lIns="0" tIns="0" rIns="0" bIns="0" rtlCol="0" anchor="t">
            <a:spAutoFit/>
          </a:bodyPr>
          <a:lstStyle/>
          <a:p>
            <a:pPr algn="ctr"/>
            <a:r>
              <a:rPr lang="en-US" dirty="0">
                <a:solidFill>
                  <a:schemeClr val="accent1"/>
                </a:solidFill>
              </a:rPr>
              <a:t>Linux-native file system</a:t>
            </a:r>
          </a:p>
        </p:txBody>
      </p:sp>
      <p:sp>
        <p:nvSpPr>
          <p:cNvPr id="13" name="Right Brace 12">
            <a:extLst>
              <a:ext uri="{FF2B5EF4-FFF2-40B4-BE49-F238E27FC236}">
                <a16:creationId xmlns:a16="http://schemas.microsoft.com/office/drawing/2014/main" id="{8A8C4598-D51B-4339-AEBF-00841E93A19B}"/>
              </a:ext>
            </a:extLst>
          </p:cNvPr>
          <p:cNvSpPr/>
          <p:nvPr/>
        </p:nvSpPr>
        <p:spPr>
          <a:xfrm>
            <a:off x="9472613" y="1280158"/>
            <a:ext cx="171450" cy="83439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C0FC0CB3-6197-4313-A012-FCDEE68E77A3}"/>
              </a:ext>
            </a:extLst>
          </p:cNvPr>
          <p:cNvSpPr/>
          <p:nvPr/>
        </p:nvSpPr>
        <p:spPr>
          <a:xfrm>
            <a:off x="9472613" y="2140264"/>
            <a:ext cx="171450" cy="191738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40377793-93CA-45E0-9620-4E74F9DB5E7F}"/>
              </a:ext>
            </a:extLst>
          </p:cNvPr>
          <p:cNvSpPr/>
          <p:nvPr/>
        </p:nvSpPr>
        <p:spPr>
          <a:xfrm>
            <a:off x="9472613" y="4083364"/>
            <a:ext cx="171450" cy="196415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17" name="Group 16">
            <a:extLst>
              <a:ext uri="{FF2B5EF4-FFF2-40B4-BE49-F238E27FC236}">
                <a16:creationId xmlns:a16="http://schemas.microsoft.com/office/drawing/2014/main" id="{85D9BB4D-7B55-06D5-7481-2AE79E960F3A}"/>
              </a:ext>
            </a:extLst>
          </p:cNvPr>
          <p:cNvGrpSpPr/>
          <p:nvPr/>
        </p:nvGrpSpPr>
        <p:grpSpPr>
          <a:xfrm>
            <a:off x="9472612" y="553537"/>
            <a:ext cx="1776915" cy="583953"/>
            <a:chOff x="9472612" y="553537"/>
            <a:chExt cx="1776915" cy="583953"/>
          </a:xfrm>
        </p:grpSpPr>
        <p:pic>
          <p:nvPicPr>
            <p:cNvPr id="3" name="Picture 2" descr="A close up of a microSD memory card">
              <a:extLst>
                <a:ext uri="{FF2B5EF4-FFF2-40B4-BE49-F238E27FC236}">
                  <a16:creationId xmlns:a16="http://schemas.microsoft.com/office/drawing/2014/main" id="{E3EA463E-06C2-D24C-4C3D-7F6824DAB3B6}"/>
                </a:ext>
              </a:extLst>
            </p:cNvPr>
            <p:cNvPicPr>
              <a:picLocks noChangeAspect="1"/>
            </p:cNvPicPr>
            <p:nvPr/>
          </p:nvPicPr>
          <p:blipFill>
            <a:blip r:embed="rId3"/>
            <a:stretch>
              <a:fillRect/>
            </a:stretch>
          </p:blipFill>
          <p:spPr>
            <a:xfrm>
              <a:off x="9472612" y="553537"/>
              <a:ext cx="429444" cy="583953"/>
            </a:xfrm>
            <a:prstGeom prst="rect">
              <a:avLst/>
            </a:prstGeom>
          </p:spPr>
        </p:pic>
        <p:sp>
          <p:nvSpPr>
            <p:cNvPr id="16" name="TextBox 15">
              <a:extLst>
                <a:ext uri="{FF2B5EF4-FFF2-40B4-BE49-F238E27FC236}">
                  <a16:creationId xmlns:a16="http://schemas.microsoft.com/office/drawing/2014/main" id="{E8FE56A4-A178-98E5-0CAC-B1C1ECBECD81}"/>
                </a:ext>
              </a:extLst>
            </p:cNvPr>
            <p:cNvSpPr txBox="1"/>
            <p:nvPr/>
          </p:nvSpPr>
          <p:spPr>
            <a:xfrm>
              <a:off x="9908825" y="573332"/>
              <a:ext cx="1340702" cy="184658"/>
            </a:xfrm>
            <a:prstGeom prst="rect">
              <a:avLst/>
            </a:prstGeom>
          </p:spPr>
          <p:txBody>
            <a:bodyPr vert="horz" wrap="none" lIns="0" tIns="0" rIns="0" bIns="0" rtlCol="0" anchor="t">
              <a:normAutofit/>
            </a:bodyPr>
            <a:lstStyle/>
            <a:p>
              <a:r>
                <a:rPr lang="en-GB" sz="1100" dirty="0"/>
                <a:t>Photo by Jeremy Singer</a:t>
              </a:r>
              <a:endParaRPr lang="en-US" sz="1100" dirty="0"/>
            </a:p>
          </p:txBody>
        </p:sp>
      </p:grpSp>
    </p:spTree>
    <p:extLst>
      <p:ext uri="{BB962C8B-B14F-4D97-AF65-F5344CB8AC3E}">
        <p14:creationId xmlns:p14="http://schemas.microsoft.com/office/powerpoint/2010/main" val="771511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solidFill>
                  <a:srgbClr val="128CAB"/>
                </a:solidFill>
                <a:ea typeface="ＭＳ Ｐゴシック"/>
              </a:rPr>
              <a:t>The Workflow</a:t>
            </a:r>
            <a:endParaRPr lang="en-US" dirty="0">
              <a:solidFill>
                <a:srgbClr val="128CAB"/>
              </a:solidFill>
            </a:endParaRPr>
          </a:p>
          <a:p>
            <a:r>
              <a:rPr lang="en-US" dirty="0">
                <a:ea typeface="ＭＳ Ｐゴシック"/>
              </a:rPr>
              <a:t>The Build Systems</a:t>
            </a:r>
          </a:p>
          <a:p>
            <a:r>
              <a:rPr lang="en-US" dirty="0" err="1"/>
              <a:t>Yocto</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349798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Workflow</a:t>
            </a:r>
          </a:p>
        </p:txBody>
      </p:sp>
      <p:sp>
        <p:nvSpPr>
          <p:cNvPr id="6" name="CasellaDiTesto 6">
            <a:extLst>
              <a:ext uri="{FF2B5EF4-FFF2-40B4-BE49-F238E27FC236}">
                <a16:creationId xmlns:a16="http://schemas.microsoft.com/office/drawing/2014/main" id="{E680DA4C-D083-4ECC-8D8D-5F33C0907E9E}"/>
              </a:ext>
            </a:extLst>
          </p:cNvPr>
          <p:cNvSpPr txBox="1"/>
          <p:nvPr/>
        </p:nvSpPr>
        <p:spPr>
          <a:xfrm>
            <a:off x="2008725" y="1334632"/>
            <a:ext cx="1494094" cy="1103768"/>
          </a:xfrm>
          <a:prstGeom prst="foldedCorner">
            <a:avLst/>
          </a:prstGeom>
          <a:solidFill>
            <a:schemeClr val="accent4">
              <a:lumMod val="75000"/>
            </a:schemeClr>
          </a:solidFill>
          <a:ln>
            <a:solidFill>
              <a:schemeClr val="tx1"/>
            </a:solidFill>
          </a:ln>
        </p:spPr>
        <p:txBody>
          <a:bodyPr wrap="square" rtlCol="0" anchor="t">
            <a:noAutofit/>
          </a:bodyPr>
          <a:lstStyle>
            <a:defPPr>
              <a:defRPr lang="en-US"/>
            </a:defPPr>
            <a:lvl1pPr algn="ctr">
              <a:defRPr>
                <a:solidFill>
                  <a:schemeClr val="bg1"/>
                </a:solidFill>
              </a:defRPr>
            </a:lvl1pPr>
          </a:lstStyle>
          <a:p>
            <a:r>
              <a:rPr lang="en-US" dirty="0"/>
              <a:t>Bootloader source code</a:t>
            </a:r>
          </a:p>
        </p:txBody>
      </p:sp>
      <p:sp>
        <p:nvSpPr>
          <p:cNvPr id="7" name="CasellaDiTesto 6">
            <a:extLst>
              <a:ext uri="{FF2B5EF4-FFF2-40B4-BE49-F238E27FC236}">
                <a16:creationId xmlns:a16="http://schemas.microsoft.com/office/drawing/2014/main" id="{30F0A6B9-016C-419B-895B-C11D0457D907}"/>
              </a:ext>
            </a:extLst>
          </p:cNvPr>
          <p:cNvSpPr txBox="1"/>
          <p:nvPr/>
        </p:nvSpPr>
        <p:spPr>
          <a:xfrm>
            <a:off x="5461249" y="1334632"/>
            <a:ext cx="1494094" cy="1103768"/>
          </a:xfrm>
          <a:prstGeom prst="foldedCorner">
            <a:avLst/>
          </a:prstGeom>
          <a:solidFill>
            <a:srgbClr val="FFC000"/>
          </a:solidFill>
          <a:ln>
            <a:solidFill>
              <a:schemeClr val="tx1"/>
            </a:solidFill>
          </a:ln>
        </p:spPr>
        <p:txBody>
          <a:bodyPr wrap="square" rtlCol="0" anchor="t">
            <a:noAutofit/>
          </a:bodyPr>
          <a:lstStyle/>
          <a:p>
            <a:pPr algn="ctr"/>
            <a:r>
              <a:rPr lang="en-US" dirty="0">
                <a:solidFill>
                  <a:schemeClr val="bg1"/>
                </a:solidFill>
              </a:rPr>
              <a:t>Linux Kernel</a:t>
            </a:r>
          </a:p>
          <a:p>
            <a:pPr algn="ctr"/>
            <a:r>
              <a:rPr lang="en-US" dirty="0">
                <a:solidFill>
                  <a:schemeClr val="bg1"/>
                </a:solidFill>
              </a:rPr>
              <a:t>source code</a:t>
            </a:r>
          </a:p>
        </p:txBody>
      </p:sp>
      <p:sp>
        <p:nvSpPr>
          <p:cNvPr id="8" name="CasellaDiTesto 6">
            <a:extLst>
              <a:ext uri="{FF2B5EF4-FFF2-40B4-BE49-F238E27FC236}">
                <a16:creationId xmlns:a16="http://schemas.microsoft.com/office/drawing/2014/main" id="{C5CAAB19-C28C-469C-B05C-D198EA6158F2}"/>
              </a:ext>
            </a:extLst>
          </p:cNvPr>
          <p:cNvSpPr txBox="1"/>
          <p:nvPr/>
        </p:nvSpPr>
        <p:spPr>
          <a:xfrm>
            <a:off x="282030" y="2438400"/>
            <a:ext cx="1494094" cy="990600"/>
          </a:xfrm>
          <a:prstGeom prst="foldedCorner">
            <a:avLst/>
          </a:prstGeom>
          <a:solidFill>
            <a:srgbClr val="800000"/>
          </a:solidFill>
          <a:ln>
            <a:solidFill>
              <a:schemeClr val="tx1"/>
            </a:solidFill>
          </a:ln>
        </p:spPr>
        <p:txBody>
          <a:bodyPr wrap="square" rtlCol="0" anchor="ctr">
            <a:normAutofit/>
          </a:bodyPr>
          <a:lstStyle>
            <a:defPPr>
              <a:defRPr lang="en-US"/>
            </a:defPPr>
            <a:lvl1pPr algn="ctr">
              <a:defRPr sz="2400">
                <a:solidFill>
                  <a:schemeClr val="bg1"/>
                </a:solidFill>
              </a:defRPr>
            </a:lvl1pPr>
          </a:lstStyle>
          <a:p>
            <a:r>
              <a:rPr lang="en-US" sz="1800" dirty="0" err="1"/>
              <a:t>Hw</a:t>
            </a:r>
            <a:r>
              <a:rPr lang="en-US" sz="1800" dirty="0"/>
              <a:t>-specific configuration</a:t>
            </a:r>
          </a:p>
        </p:txBody>
      </p:sp>
      <p:sp>
        <p:nvSpPr>
          <p:cNvPr id="9" name="CasellaDiTesto 6">
            <a:extLst>
              <a:ext uri="{FF2B5EF4-FFF2-40B4-BE49-F238E27FC236}">
                <a16:creationId xmlns:a16="http://schemas.microsoft.com/office/drawing/2014/main" id="{2C526C12-4756-49F8-BC49-5ACADF313AAF}"/>
              </a:ext>
            </a:extLst>
          </p:cNvPr>
          <p:cNvSpPr txBox="1"/>
          <p:nvPr/>
        </p:nvSpPr>
        <p:spPr>
          <a:xfrm>
            <a:off x="2008725" y="2716688"/>
            <a:ext cx="1494094" cy="445200"/>
          </a:xfrm>
          <a:prstGeom prst="rect">
            <a:avLst/>
          </a:prstGeom>
          <a:solidFill>
            <a:srgbClr val="00B05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sz="1600" dirty="0"/>
              <a:t>Cross compiler</a:t>
            </a:r>
          </a:p>
        </p:txBody>
      </p:sp>
      <p:cxnSp>
        <p:nvCxnSpPr>
          <p:cNvPr id="10" name="Straight Arrow Connector 9">
            <a:extLst>
              <a:ext uri="{FF2B5EF4-FFF2-40B4-BE49-F238E27FC236}">
                <a16:creationId xmlns:a16="http://schemas.microsoft.com/office/drawing/2014/main" id="{8289F35A-B136-44E4-B405-FE71054304D2}"/>
              </a:ext>
            </a:extLst>
          </p:cNvPr>
          <p:cNvCxnSpPr>
            <a:stCxn id="8" idx="3"/>
            <a:endCxn id="9" idx="1"/>
          </p:cNvCxnSpPr>
          <p:nvPr/>
        </p:nvCxnSpPr>
        <p:spPr>
          <a:xfrm>
            <a:off x="1776124" y="2933700"/>
            <a:ext cx="232601" cy="55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B6652EA-F0A2-41F1-8DF2-CB1523E94E88}"/>
              </a:ext>
            </a:extLst>
          </p:cNvPr>
          <p:cNvCxnSpPr>
            <a:cxnSpLocks/>
            <a:stCxn id="6" idx="2"/>
            <a:endCxn id="9" idx="0"/>
          </p:cNvCxnSpPr>
          <p:nvPr/>
        </p:nvCxnSpPr>
        <p:spPr>
          <a:xfrm>
            <a:off x="2755772" y="2438400"/>
            <a:ext cx="0" cy="2782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 name="CasellaDiTesto 6">
            <a:extLst>
              <a:ext uri="{FF2B5EF4-FFF2-40B4-BE49-F238E27FC236}">
                <a16:creationId xmlns:a16="http://schemas.microsoft.com/office/drawing/2014/main" id="{382D87DE-FF07-46F5-98DD-DAE6D4434C9C}"/>
              </a:ext>
            </a:extLst>
          </p:cNvPr>
          <p:cNvSpPr txBox="1"/>
          <p:nvPr/>
        </p:nvSpPr>
        <p:spPr>
          <a:xfrm>
            <a:off x="3731419" y="2438400"/>
            <a:ext cx="1494094" cy="990600"/>
          </a:xfrm>
          <a:prstGeom prst="foldedCorner">
            <a:avLst/>
          </a:prstGeom>
          <a:solidFill>
            <a:srgbClr val="FFC00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err="1"/>
              <a:t>Hw</a:t>
            </a:r>
            <a:r>
              <a:rPr lang="en-US" dirty="0"/>
              <a:t>-specific configuration</a:t>
            </a:r>
          </a:p>
        </p:txBody>
      </p:sp>
      <p:sp>
        <p:nvSpPr>
          <p:cNvPr id="13" name="CasellaDiTesto 6">
            <a:extLst>
              <a:ext uri="{FF2B5EF4-FFF2-40B4-BE49-F238E27FC236}">
                <a16:creationId xmlns:a16="http://schemas.microsoft.com/office/drawing/2014/main" id="{086B4BB2-D118-4862-B55F-740CB2EBEA8A}"/>
              </a:ext>
            </a:extLst>
          </p:cNvPr>
          <p:cNvSpPr txBox="1"/>
          <p:nvPr/>
        </p:nvSpPr>
        <p:spPr>
          <a:xfrm>
            <a:off x="5461249" y="2716688"/>
            <a:ext cx="1494094" cy="445200"/>
          </a:xfrm>
          <a:prstGeom prst="rect">
            <a:avLst/>
          </a:prstGeom>
          <a:solidFill>
            <a:srgbClr val="00B05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sz="1600" dirty="0"/>
              <a:t>Cross compiler</a:t>
            </a:r>
          </a:p>
        </p:txBody>
      </p:sp>
      <p:cxnSp>
        <p:nvCxnSpPr>
          <p:cNvPr id="14" name="Straight Arrow Connector 13">
            <a:extLst>
              <a:ext uri="{FF2B5EF4-FFF2-40B4-BE49-F238E27FC236}">
                <a16:creationId xmlns:a16="http://schemas.microsoft.com/office/drawing/2014/main" id="{25D6B7E5-F415-41CF-A929-0181321B93C4}"/>
              </a:ext>
            </a:extLst>
          </p:cNvPr>
          <p:cNvCxnSpPr>
            <a:endCxn id="13" idx="1"/>
          </p:cNvCxnSpPr>
          <p:nvPr/>
        </p:nvCxnSpPr>
        <p:spPr>
          <a:xfrm>
            <a:off x="5225513" y="2933700"/>
            <a:ext cx="235736" cy="55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F165994-16ED-4A4C-A182-7321245A3298}"/>
              </a:ext>
            </a:extLst>
          </p:cNvPr>
          <p:cNvCxnSpPr>
            <a:cxnSpLocks/>
            <a:stCxn id="7" idx="2"/>
            <a:endCxn id="13" idx="0"/>
          </p:cNvCxnSpPr>
          <p:nvPr/>
        </p:nvCxnSpPr>
        <p:spPr>
          <a:xfrm>
            <a:off x="6208296" y="2438400"/>
            <a:ext cx="0" cy="2782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6" name="CasellaDiTesto 6">
            <a:extLst>
              <a:ext uri="{FF2B5EF4-FFF2-40B4-BE49-F238E27FC236}">
                <a16:creationId xmlns:a16="http://schemas.microsoft.com/office/drawing/2014/main" id="{B64DD402-A747-4025-B30D-B7EADAA21B10}"/>
              </a:ext>
            </a:extLst>
          </p:cNvPr>
          <p:cNvSpPr txBox="1"/>
          <p:nvPr/>
        </p:nvSpPr>
        <p:spPr>
          <a:xfrm>
            <a:off x="9660819" y="1333831"/>
            <a:ext cx="1494094" cy="1104569"/>
          </a:xfrm>
          <a:prstGeom prst="foldedCorner">
            <a:avLst/>
          </a:prstGeom>
          <a:solidFill>
            <a:srgbClr val="128CAB"/>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a:t>System programs source code</a:t>
            </a:r>
          </a:p>
        </p:txBody>
      </p:sp>
      <p:sp>
        <p:nvSpPr>
          <p:cNvPr id="17" name="TextBox 16">
            <a:extLst>
              <a:ext uri="{FF2B5EF4-FFF2-40B4-BE49-F238E27FC236}">
                <a16:creationId xmlns:a16="http://schemas.microsoft.com/office/drawing/2014/main" id="{CBF014C7-6E1A-4607-8F93-0F8F5109D7DE}"/>
              </a:ext>
            </a:extLst>
          </p:cNvPr>
          <p:cNvSpPr txBox="1"/>
          <p:nvPr/>
        </p:nvSpPr>
        <p:spPr>
          <a:xfrm>
            <a:off x="4200525" y="-657225"/>
            <a:ext cx="914400" cy="914400"/>
          </a:xfrm>
          <a:prstGeom prst="rect">
            <a:avLst/>
          </a:prstGeom>
        </p:spPr>
        <p:txBody>
          <a:bodyPr vert="horz" wrap="none" lIns="0" tIns="0" rIns="0" bIns="0" rtlCol="0" anchor="t">
            <a:normAutofit/>
          </a:bodyPr>
          <a:lstStyle/>
          <a:p>
            <a:endParaRPr lang="en-US" dirty="0"/>
          </a:p>
        </p:txBody>
      </p:sp>
      <p:sp>
        <p:nvSpPr>
          <p:cNvPr id="18" name="CasellaDiTesto 6">
            <a:extLst>
              <a:ext uri="{FF2B5EF4-FFF2-40B4-BE49-F238E27FC236}">
                <a16:creationId xmlns:a16="http://schemas.microsoft.com/office/drawing/2014/main" id="{D47B7D49-C13E-4C40-9E4F-37BE5E47D3F5}"/>
              </a:ext>
            </a:extLst>
          </p:cNvPr>
          <p:cNvSpPr txBox="1"/>
          <p:nvPr/>
        </p:nvSpPr>
        <p:spPr>
          <a:xfrm>
            <a:off x="7866688" y="2482538"/>
            <a:ext cx="1494094" cy="990600"/>
          </a:xfrm>
          <a:prstGeom prst="foldedCorner">
            <a:avLst/>
          </a:prstGeom>
          <a:solidFill>
            <a:srgbClr val="128CAB"/>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a:t>Application specific configuration</a:t>
            </a:r>
          </a:p>
        </p:txBody>
      </p:sp>
      <p:sp>
        <p:nvSpPr>
          <p:cNvPr id="19" name="CasellaDiTesto 6">
            <a:extLst>
              <a:ext uri="{FF2B5EF4-FFF2-40B4-BE49-F238E27FC236}">
                <a16:creationId xmlns:a16="http://schemas.microsoft.com/office/drawing/2014/main" id="{D8E2AE87-97D5-43B5-BFDA-6A123282AD74}"/>
              </a:ext>
            </a:extLst>
          </p:cNvPr>
          <p:cNvSpPr txBox="1"/>
          <p:nvPr/>
        </p:nvSpPr>
        <p:spPr>
          <a:xfrm>
            <a:off x="9660819" y="2755238"/>
            <a:ext cx="1494094" cy="445200"/>
          </a:xfrm>
          <a:prstGeom prst="rect">
            <a:avLst/>
          </a:prstGeom>
          <a:solidFill>
            <a:srgbClr val="00B05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sz="1600" dirty="0"/>
              <a:t>Cross compiler</a:t>
            </a:r>
          </a:p>
        </p:txBody>
      </p:sp>
      <p:cxnSp>
        <p:nvCxnSpPr>
          <p:cNvPr id="20" name="Straight Arrow Connector 19">
            <a:extLst>
              <a:ext uri="{FF2B5EF4-FFF2-40B4-BE49-F238E27FC236}">
                <a16:creationId xmlns:a16="http://schemas.microsoft.com/office/drawing/2014/main" id="{A58A398C-54B1-4FFD-A7D3-F94297DD661D}"/>
              </a:ext>
            </a:extLst>
          </p:cNvPr>
          <p:cNvCxnSpPr>
            <a:stCxn id="18" idx="3"/>
            <a:endCxn id="19" idx="1"/>
          </p:cNvCxnSpPr>
          <p:nvPr/>
        </p:nvCxnSpPr>
        <p:spPr>
          <a:xfrm>
            <a:off x="9360782" y="2977838"/>
            <a:ext cx="300037" cy="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1973C6E-A656-4BE5-8ADF-23557FFAE31B}"/>
              </a:ext>
            </a:extLst>
          </p:cNvPr>
          <p:cNvCxnSpPr>
            <a:cxnSpLocks/>
            <a:stCxn id="16" idx="2"/>
            <a:endCxn id="19" idx="0"/>
          </p:cNvCxnSpPr>
          <p:nvPr/>
        </p:nvCxnSpPr>
        <p:spPr>
          <a:xfrm>
            <a:off x="10407866" y="2438400"/>
            <a:ext cx="0" cy="31683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38ABBB3C-4266-4957-B776-CBBF9C9059F3}"/>
              </a:ext>
            </a:extLst>
          </p:cNvPr>
          <p:cNvCxnSpPr>
            <a:stCxn id="19" idx="2"/>
            <a:endCxn id="32" idx="0"/>
          </p:cNvCxnSpPr>
          <p:nvPr/>
        </p:nvCxnSpPr>
        <p:spPr>
          <a:xfrm>
            <a:off x="10407866" y="3200438"/>
            <a:ext cx="0" cy="34807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3" name="CasellaDiTesto 6">
            <a:extLst>
              <a:ext uri="{FF2B5EF4-FFF2-40B4-BE49-F238E27FC236}">
                <a16:creationId xmlns:a16="http://schemas.microsoft.com/office/drawing/2014/main" id="{EB300A28-3A53-471B-ADEF-13E6363232BE}"/>
              </a:ext>
            </a:extLst>
          </p:cNvPr>
          <p:cNvSpPr txBox="1"/>
          <p:nvPr/>
        </p:nvSpPr>
        <p:spPr>
          <a:xfrm>
            <a:off x="2008725" y="4538356"/>
            <a:ext cx="1494094" cy="834391"/>
          </a:xfrm>
          <a:prstGeom prst="roundRect">
            <a:avLst>
              <a:gd name="adj" fmla="val 7167"/>
            </a:avLst>
          </a:prstGeom>
          <a:solidFill>
            <a:schemeClr val="accent4">
              <a:lumMod val="75000"/>
            </a:schemeClr>
          </a:solidFill>
          <a:ln>
            <a:solidFill>
              <a:schemeClr val="tx1"/>
            </a:solidFill>
          </a:ln>
        </p:spPr>
        <p:txBody>
          <a:bodyPr wrap="square" rtlCol="0" anchor="ctr">
            <a:noAutofit/>
          </a:bodyPr>
          <a:lstStyle/>
          <a:p>
            <a:pPr algn="ctr"/>
            <a:r>
              <a:rPr lang="en-US">
                <a:solidFill>
                  <a:schemeClr val="bg1"/>
                </a:solidFill>
              </a:rPr>
              <a:t>Bootloader binary</a:t>
            </a:r>
            <a:endParaRPr lang="en-US" dirty="0">
              <a:solidFill>
                <a:schemeClr val="bg1"/>
              </a:solidFill>
            </a:endParaRPr>
          </a:p>
        </p:txBody>
      </p:sp>
      <p:sp>
        <p:nvSpPr>
          <p:cNvPr id="24" name="CasellaDiTesto 6">
            <a:extLst>
              <a:ext uri="{FF2B5EF4-FFF2-40B4-BE49-F238E27FC236}">
                <a16:creationId xmlns:a16="http://schemas.microsoft.com/office/drawing/2014/main" id="{09FA1E28-02C8-4DF3-9342-78FD70399800}"/>
              </a:ext>
            </a:extLst>
          </p:cNvPr>
          <p:cNvSpPr txBox="1"/>
          <p:nvPr/>
        </p:nvSpPr>
        <p:spPr>
          <a:xfrm>
            <a:off x="3505479" y="4538356"/>
            <a:ext cx="1494094" cy="834391"/>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dirty="0">
                <a:solidFill>
                  <a:schemeClr val="bg1"/>
                </a:solidFill>
              </a:rPr>
              <a:t>Linux Kernel</a:t>
            </a:r>
          </a:p>
          <a:p>
            <a:pPr algn="ctr"/>
            <a:r>
              <a:rPr lang="en-US" dirty="0">
                <a:solidFill>
                  <a:schemeClr val="bg1"/>
                </a:solidFill>
              </a:rPr>
              <a:t>binary</a:t>
            </a:r>
          </a:p>
        </p:txBody>
      </p:sp>
      <p:sp>
        <p:nvSpPr>
          <p:cNvPr id="25" name="CasellaDiTesto 6">
            <a:extLst>
              <a:ext uri="{FF2B5EF4-FFF2-40B4-BE49-F238E27FC236}">
                <a16:creationId xmlns:a16="http://schemas.microsoft.com/office/drawing/2014/main" id="{DB4267E6-084E-4391-A565-00D24D5FA36E}"/>
              </a:ext>
            </a:extLst>
          </p:cNvPr>
          <p:cNvSpPr txBox="1"/>
          <p:nvPr/>
        </p:nvSpPr>
        <p:spPr>
          <a:xfrm>
            <a:off x="5010376" y="4538355"/>
            <a:ext cx="669131" cy="834391"/>
          </a:xfrm>
          <a:prstGeom prst="roundRect">
            <a:avLst>
              <a:gd name="adj" fmla="val 7167"/>
            </a:avLst>
          </a:prstGeom>
          <a:solidFill>
            <a:srgbClr val="002060"/>
          </a:solidFill>
          <a:ln>
            <a:solidFill>
              <a:schemeClr val="tx1"/>
            </a:solidFill>
          </a:ln>
        </p:spPr>
        <p:txBody>
          <a:bodyPr wrap="square" rtlCol="0" anchor="ctr">
            <a:noAutofit/>
          </a:bodyPr>
          <a:lstStyle/>
          <a:p>
            <a:pPr algn="ctr"/>
            <a:r>
              <a:rPr lang="en-US">
                <a:solidFill>
                  <a:schemeClr val="bg1"/>
                </a:solidFill>
              </a:rPr>
              <a:t>DTB</a:t>
            </a:r>
            <a:endParaRPr lang="en-US" dirty="0">
              <a:solidFill>
                <a:schemeClr val="bg1"/>
              </a:solidFill>
            </a:endParaRPr>
          </a:p>
        </p:txBody>
      </p:sp>
      <p:sp>
        <p:nvSpPr>
          <p:cNvPr id="26" name="CasellaDiTesto 6">
            <a:extLst>
              <a:ext uri="{FF2B5EF4-FFF2-40B4-BE49-F238E27FC236}">
                <a16:creationId xmlns:a16="http://schemas.microsoft.com/office/drawing/2014/main" id="{84DE6671-31A1-4889-A17D-6619854105FE}"/>
              </a:ext>
            </a:extLst>
          </p:cNvPr>
          <p:cNvSpPr txBox="1"/>
          <p:nvPr/>
        </p:nvSpPr>
        <p:spPr>
          <a:xfrm>
            <a:off x="5690310" y="4538355"/>
            <a:ext cx="3637219" cy="834391"/>
          </a:xfrm>
          <a:prstGeom prst="roundRect">
            <a:avLst>
              <a:gd name="adj" fmla="val 7167"/>
            </a:avLst>
          </a:prstGeom>
          <a:solidFill>
            <a:srgbClr val="128CAB"/>
          </a:solidFill>
          <a:ln>
            <a:solidFill>
              <a:schemeClr val="tx1"/>
            </a:solidFill>
          </a:ln>
        </p:spPr>
        <p:txBody>
          <a:bodyPr wrap="square" rtlCol="0" anchor="ctr">
            <a:noAutofit/>
          </a:bodyPr>
          <a:lstStyle/>
          <a:p>
            <a:pPr algn="ctr"/>
            <a:r>
              <a:rPr lang="en-US" dirty="0">
                <a:solidFill>
                  <a:schemeClr val="bg1"/>
                </a:solidFill>
              </a:rPr>
              <a:t>Root File System</a:t>
            </a:r>
          </a:p>
        </p:txBody>
      </p:sp>
      <p:cxnSp>
        <p:nvCxnSpPr>
          <p:cNvPr id="27" name="Straight Arrow Connector 26">
            <a:extLst>
              <a:ext uri="{FF2B5EF4-FFF2-40B4-BE49-F238E27FC236}">
                <a16:creationId xmlns:a16="http://schemas.microsoft.com/office/drawing/2014/main" id="{34C4D1BA-9532-4CAA-AC59-CAF6F4C93FC9}"/>
              </a:ext>
            </a:extLst>
          </p:cNvPr>
          <p:cNvCxnSpPr>
            <a:stCxn id="9" idx="2"/>
            <a:endCxn id="23" idx="0"/>
          </p:cNvCxnSpPr>
          <p:nvPr/>
        </p:nvCxnSpPr>
        <p:spPr>
          <a:xfrm>
            <a:off x="2755772" y="3161888"/>
            <a:ext cx="0" cy="137646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8" name="Right Brace 27">
            <a:extLst>
              <a:ext uri="{FF2B5EF4-FFF2-40B4-BE49-F238E27FC236}">
                <a16:creationId xmlns:a16="http://schemas.microsoft.com/office/drawing/2014/main" id="{7240FD02-D6D0-45C3-8BE6-CC88331270AA}"/>
              </a:ext>
            </a:extLst>
          </p:cNvPr>
          <p:cNvSpPr/>
          <p:nvPr/>
        </p:nvSpPr>
        <p:spPr>
          <a:xfrm rot="16200000">
            <a:off x="4493699" y="3274290"/>
            <a:ext cx="230070" cy="214155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9" name="Elbow Connector 52">
            <a:extLst>
              <a:ext uri="{FF2B5EF4-FFF2-40B4-BE49-F238E27FC236}">
                <a16:creationId xmlns:a16="http://schemas.microsoft.com/office/drawing/2014/main" id="{F1DDE0E9-2741-4C53-B1A9-E1D559543DAD}"/>
              </a:ext>
            </a:extLst>
          </p:cNvPr>
          <p:cNvCxnSpPr>
            <a:cxnSpLocks/>
            <a:stCxn id="13" idx="2"/>
            <a:endCxn id="28" idx="1"/>
          </p:cNvCxnSpPr>
          <p:nvPr/>
        </p:nvCxnSpPr>
        <p:spPr>
          <a:xfrm rot="5400000">
            <a:off x="4874444" y="2896178"/>
            <a:ext cx="1068142" cy="1599562"/>
          </a:xfrm>
          <a:prstGeom prst="bentConnector3">
            <a:avLst>
              <a:gd name="adj1" fmla="val 49166"/>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0BF7C961-0D15-43E8-96ED-25D944682D6A}"/>
              </a:ext>
            </a:extLst>
          </p:cNvPr>
          <p:cNvCxnSpPr>
            <a:stCxn id="18" idx="2"/>
          </p:cNvCxnSpPr>
          <p:nvPr/>
        </p:nvCxnSpPr>
        <p:spPr>
          <a:xfrm flipH="1">
            <a:off x="6208296" y="3473138"/>
            <a:ext cx="2405439" cy="1065217"/>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1" name="Elbow Connector 67">
            <a:extLst>
              <a:ext uri="{FF2B5EF4-FFF2-40B4-BE49-F238E27FC236}">
                <a16:creationId xmlns:a16="http://schemas.microsoft.com/office/drawing/2014/main" id="{633390E9-6D54-46FB-A3F3-B38E31E19815}"/>
              </a:ext>
            </a:extLst>
          </p:cNvPr>
          <p:cNvCxnSpPr/>
          <p:nvPr/>
        </p:nvCxnSpPr>
        <p:spPr>
          <a:xfrm rot="10800000" flipV="1">
            <a:off x="8499521" y="3944051"/>
            <a:ext cx="2151899" cy="594303"/>
          </a:xfrm>
          <a:prstGeom prst="bentConnector2">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2" name="CasellaDiTesto 6">
            <a:extLst>
              <a:ext uri="{FF2B5EF4-FFF2-40B4-BE49-F238E27FC236}">
                <a16:creationId xmlns:a16="http://schemas.microsoft.com/office/drawing/2014/main" id="{0E3BA2B5-CE85-40CA-973B-E3CD27CF0BF6}"/>
              </a:ext>
            </a:extLst>
          </p:cNvPr>
          <p:cNvSpPr txBox="1"/>
          <p:nvPr/>
        </p:nvSpPr>
        <p:spPr>
          <a:xfrm>
            <a:off x="9660819" y="3548513"/>
            <a:ext cx="1494094" cy="791078"/>
          </a:xfrm>
          <a:prstGeom prst="roundRect">
            <a:avLst>
              <a:gd name="adj" fmla="val 7167"/>
            </a:avLst>
          </a:prstGeom>
          <a:solidFill>
            <a:srgbClr val="128CAB"/>
          </a:solidFill>
          <a:ln>
            <a:solidFill>
              <a:schemeClr val="tx1"/>
            </a:solidFill>
          </a:ln>
        </p:spPr>
        <p:txBody>
          <a:bodyPr wrap="square" rtlCol="0" anchor="ctr">
            <a:noAutofit/>
          </a:bodyPr>
          <a:lstStyle/>
          <a:p>
            <a:pPr algn="ctr"/>
            <a:r>
              <a:rPr lang="en-US" dirty="0">
                <a:solidFill>
                  <a:schemeClr val="bg1"/>
                </a:solidFill>
              </a:rPr>
              <a:t>System programs binary</a:t>
            </a:r>
          </a:p>
        </p:txBody>
      </p:sp>
      <p:pic>
        <p:nvPicPr>
          <p:cNvPr id="3" name="Graphic 2" descr="Document outline">
            <a:extLst>
              <a:ext uri="{FF2B5EF4-FFF2-40B4-BE49-F238E27FC236}">
                <a16:creationId xmlns:a16="http://schemas.microsoft.com/office/drawing/2014/main" id="{AFB61E68-C61A-4506-DA3D-6987D9DC17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33172" y="1943100"/>
            <a:ext cx="445200" cy="445200"/>
          </a:xfrm>
          <a:prstGeom prst="rect">
            <a:avLst/>
          </a:prstGeom>
        </p:spPr>
      </p:pic>
      <p:pic>
        <p:nvPicPr>
          <p:cNvPr id="34" name="Graphic 33" descr="Document outline">
            <a:extLst>
              <a:ext uri="{FF2B5EF4-FFF2-40B4-BE49-F238E27FC236}">
                <a16:creationId xmlns:a16="http://schemas.microsoft.com/office/drawing/2014/main" id="{72E02D59-531F-B4CF-D8E4-5593B8FBA8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85695" y="1924763"/>
            <a:ext cx="445200" cy="445200"/>
          </a:xfrm>
          <a:prstGeom prst="rect">
            <a:avLst/>
          </a:prstGeom>
        </p:spPr>
      </p:pic>
      <p:pic>
        <p:nvPicPr>
          <p:cNvPr id="35" name="Graphic 34" descr="Document outline">
            <a:extLst>
              <a:ext uri="{FF2B5EF4-FFF2-40B4-BE49-F238E27FC236}">
                <a16:creationId xmlns:a16="http://schemas.microsoft.com/office/drawing/2014/main" id="{2F4F5FF1-CF03-DB35-98CC-507DA54A4A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09713" y="1341657"/>
            <a:ext cx="445200" cy="445200"/>
          </a:xfrm>
          <a:prstGeom prst="rect">
            <a:avLst/>
          </a:prstGeom>
        </p:spPr>
      </p:pic>
      <p:grpSp>
        <p:nvGrpSpPr>
          <p:cNvPr id="40" name="Group 39">
            <a:extLst>
              <a:ext uri="{FF2B5EF4-FFF2-40B4-BE49-F238E27FC236}">
                <a16:creationId xmlns:a16="http://schemas.microsoft.com/office/drawing/2014/main" id="{69528A88-546B-E384-FF17-CB260F17CD74}"/>
              </a:ext>
            </a:extLst>
          </p:cNvPr>
          <p:cNvGrpSpPr/>
          <p:nvPr/>
        </p:nvGrpSpPr>
        <p:grpSpPr>
          <a:xfrm>
            <a:off x="3075859" y="4927546"/>
            <a:ext cx="478999" cy="445200"/>
            <a:chOff x="8042321" y="1072838"/>
            <a:chExt cx="914400" cy="914400"/>
          </a:xfrm>
        </p:grpSpPr>
        <p:pic>
          <p:nvPicPr>
            <p:cNvPr id="37" name="Graphic 36" descr="Binary with solid fill">
              <a:extLst>
                <a:ext uri="{FF2B5EF4-FFF2-40B4-BE49-F238E27FC236}">
                  <a16:creationId xmlns:a16="http://schemas.microsoft.com/office/drawing/2014/main" id="{ACB38732-BEF6-8C71-6CBE-4F86BC34462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8753" y="1356919"/>
              <a:ext cx="501712" cy="501712"/>
            </a:xfrm>
            <a:prstGeom prst="rect">
              <a:avLst/>
            </a:prstGeom>
          </p:spPr>
        </p:pic>
        <p:pic>
          <p:nvPicPr>
            <p:cNvPr id="39" name="Graphic 38" descr="Paper outline">
              <a:extLst>
                <a:ext uri="{FF2B5EF4-FFF2-40B4-BE49-F238E27FC236}">
                  <a16:creationId xmlns:a16="http://schemas.microsoft.com/office/drawing/2014/main" id="{1BCC04E4-5A62-695D-699C-08EFA301B4B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42321" y="1072838"/>
              <a:ext cx="914400" cy="914400"/>
            </a:xfrm>
            <a:prstGeom prst="rect">
              <a:avLst/>
            </a:prstGeom>
          </p:spPr>
        </p:pic>
      </p:grpSp>
      <p:grpSp>
        <p:nvGrpSpPr>
          <p:cNvPr id="41" name="Group 40">
            <a:extLst>
              <a:ext uri="{FF2B5EF4-FFF2-40B4-BE49-F238E27FC236}">
                <a16:creationId xmlns:a16="http://schemas.microsoft.com/office/drawing/2014/main" id="{CD946F42-94B7-2AEE-BD80-2458D4D7BC45}"/>
              </a:ext>
            </a:extLst>
          </p:cNvPr>
          <p:cNvGrpSpPr/>
          <p:nvPr/>
        </p:nvGrpSpPr>
        <p:grpSpPr>
          <a:xfrm>
            <a:off x="10755989" y="3894391"/>
            <a:ext cx="478999" cy="445200"/>
            <a:chOff x="8042321" y="1072838"/>
            <a:chExt cx="914400" cy="914400"/>
          </a:xfrm>
        </p:grpSpPr>
        <p:pic>
          <p:nvPicPr>
            <p:cNvPr id="42" name="Graphic 41" descr="Binary with solid fill">
              <a:extLst>
                <a:ext uri="{FF2B5EF4-FFF2-40B4-BE49-F238E27FC236}">
                  <a16:creationId xmlns:a16="http://schemas.microsoft.com/office/drawing/2014/main" id="{AFD3E2EC-F1FD-BAB1-6F78-DDBA69A6E2F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8753" y="1356919"/>
              <a:ext cx="501712" cy="501712"/>
            </a:xfrm>
            <a:prstGeom prst="rect">
              <a:avLst/>
            </a:prstGeom>
          </p:spPr>
        </p:pic>
        <p:pic>
          <p:nvPicPr>
            <p:cNvPr id="43" name="Graphic 42" descr="Paper outline">
              <a:extLst>
                <a:ext uri="{FF2B5EF4-FFF2-40B4-BE49-F238E27FC236}">
                  <a16:creationId xmlns:a16="http://schemas.microsoft.com/office/drawing/2014/main" id="{E6CEDBB2-896A-CC13-5FDB-9E8CDD46539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42321" y="1072838"/>
              <a:ext cx="914400" cy="914400"/>
            </a:xfrm>
            <a:prstGeom prst="rect">
              <a:avLst/>
            </a:prstGeom>
          </p:spPr>
        </p:pic>
      </p:grpSp>
      <p:grpSp>
        <p:nvGrpSpPr>
          <p:cNvPr id="44" name="Group 43">
            <a:extLst>
              <a:ext uri="{FF2B5EF4-FFF2-40B4-BE49-F238E27FC236}">
                <a16:creationId xmlns:a16="http://schemas.microsoft.com/office/drawing/2014/main" id="{9765D7F5-1A20-B82E-E764-1BA272CA4E11}"/>
              </a:ext>
            </a:extLst>
          </p:cNvPr>
          <p:cNvGrpSpPr/>
          <p:nvPr/>
        </p:nvGrpSpPr>
        <p:grpSpPr>
          <a:xfrm>
            <a:off x="4520574" y="4921414"/>
            <a:ext cx="478999" cy="445200"/>
            <a:chOff x="8042321" y="1072838"/>
            <a:chExt cx="914400" cy="914400"/>
          </a:xfrm>
        </p:grpSpPr>
        <p:pic>
          <p:nvPicPr>
            <p:cNvPr id="45" name="Graphic 44" descr="Binary with solid fill">
              <a:extLst>
                <a:ext uri="{FF2B5EF4-FFF2-40B4-BE49-F238E27FC236}">
                  <a16:creationId xmlns:a16="http://schemas.microsoft.com/office/drawing/2014/main" id="{890549DC-BD51-ABBC-81FD-9AC39DE455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8753" y="1356919"/>
              <a:ext cx="501712" cy="501712"/>
            </a:xfrm>
            <a:prstGeom prst="rect">
              <a:avLst/>
            </a:prstGeom>
          </p:spPr>
        </p:pic>
        <p:pic>
          <p:nvPicPr>
            <p:cNvPr id="46" name="Graphic 45" descr="Paper outline">
              <a:extLst>
                <a:ext uri="{FF2B5EF4-FFF2-40B4-BE49-F238E27FC236}">
                  <a16:creationId xmlns:a16="http://schemas.microsoft.com/office/drawing/2014/main" id="{60481AC8-2A42-3231-F869-BC8066DFAB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42321" y="1072838"/>
              <a:ext cx="914400" cy="914400"/>
            </a:xfrm>
            <a:prstGeom prst="rect">
              <a:avLst/>
            </a:prstGeom>
          </p:spPr>
        </p:pic>
      </p:grpSp>
    </p:spTree>
    <p:extLst>
      <p:ext uri="{BB962C8B-B14F-4D97-AF65-F5344CB8AC3E}">
        <p14:creationId xmlns:p14="http://schemas.microsoft.com/office/powerpoint/2010/main" val="2838781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Workflow</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8194675" cy="4086225"/>
          </a:xfrm>
        </p:spPr>
        <p:txBody>
          <a:bodyPr wrap="square" numCol="1" anchor="t" anchorCtr="0" compatLnSpc="1">
            <a:prstTxWarp prst="textNoShape">
              <a:avLst/>
            </a:prstTxWarp>
          </a:bodyPr>
          <a:lstStyle/>
          <a:p>
            <a:r>
              <a:rPr lang="en-US" dirty="0"/>
              <a:t>The Bootloader source code shall be procured.</a:t>
            </a:r>
          </a:p>
          <a:p>
            <a:r>
              <a:rPr lang="is-IS" dirty="0"/>
              <a:t>It shall be configured for the specific hw of the embedded system.</a:t>
            </a:r>
            <a:endParaRPr lang="en-US" altLang="en-US" dirty="0">
              <a:ea typeface="ＭＳ Ｐゴシック" panose="020B0600070205080204" pitchFamily="34" charset="-128"/>
            </a:endParaRPr>
          </a:p>
          <a:p>
            <a:pPr lvl="1"/>
            <a:r>
              <a:rPr lang="is-IS" dirty="0"/>
              <a:t>The proper CPU shall be selected.</a:t>
            </a:r>
          </a:p>
          <a:p>
            <a:pPr lvl="1"/>
            <a:r>
              <a:rPr lang="is-IS" dirty="0"/>
              <a:t>The proper board shall be selected.</a:t>
            </a:r>
          </a:p>
          <a:p>
            <a:pPr lvl="1"/>
            <a:r>
              <a:rPr lang="is-IS" dirty="0"/>
              <a:t>Custom configuration may be needed if the hw is non-standard.</a:t>
            </a:r>
            <a:endParaRPr lang="en-US" altLang="en-US" dirty="0">
              <a:ea typeface="ＭＳ Ｐゴシック" panose="020B0600070205080204" pitchFamily="34" charset="-128"/>
            </a:endParaRPr>
          </a:p>
          <a:p>
            <a:r>
              <a:rPr lang="is-IS" dirty="0"/>
              <a:t>It shall be cross-compiled for the CPU of choice obtaining the executable code.</a:t>
            </a:r>
          </a:p>
          <a:p>
            <a:r>
              <a:rPr lang="is-IS" dirty="0"/>
              <a:t>It shall be copied into the boot device.</a:t>
            </a:r>
            <a:endParaRPr lang="en-US" altLang="en-US" dirty="0">
              <a:ea typeface="ＭＳ Ｐゴシック" panose="020B0600070205080204" pitchFamily="34" charset="-128"/>
            </a:endParaRPr>
          </a:p>
          <a:p>
            <a:pPr lvl="1"/>
            <a:r>
              <a:rPr lang="is-IS" dirty="0"/>
              <a:t>First sector of a MicroSD card</a:t>
            </a:r>
          </a:p>
          <a:p>
            <a:pPr lvl="1"/>
            <a:r>
              <a:rPr lang="is-IS" dirty="0"/>
              <a:t>Bootflash device on the embedded system board</a:t>
            </a:r>
          </a:p>
        </p:txBody>
      </p:sp>
      <p:sp>
        <p:nvSpPr>
          <p:cNvPr id="5" name="CasellaDiTesto 6">
            <a:extLst>
              <a:ext uri="{FF2B5EF4-FFF2-40B4-BE49-F238E27FC236}">
                <a16:creationId xmlns:a16="http://schemas.microsoft.com/office/drawing/2014/main" id="{53D71678-F825-4F73-A2C3-6BD10823E6B4}"/>
              </a:ext>
            </a:extLst>
          </p:cNvPr>
          <p:cNvSpPr txBox="1"/>
          <p:nvPr/>
        </p:nvSpPr>
        <p:spPr>
          <a:xfrm>
            <a:off x="10390725" y="1447800"/>
            <a:ext cx="1494094" cy="990600"/>
          </a:xfrm>
          <a:prstGeom prst="foldedCorner">
            <a:avLst/>
          </a:prstGeom>
          <a:solidFill>
            <a:schemeClr val="accent4">
              <a:lumMod val="75000"/>
            </a:schemeClr>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a:t>Bootloader source code</a:t>
            </a:r>
          </a:p>
        </p:txBody>
      </p:sp>
      <p:sp>
        <p:nvSpPr>
          <p:cNvPr id="6" name="CasellaDiTesto 6">
            <a:extLst>
              <a:ext uri="{FF2B5EF4-FFF2-40B4-BE49-F238E27FC236}">
                <a16:creationId xmlns:a16="http://schemas.microsoft.com/office/drawing/2014/main" id="{C1E99ACD-F840-49FA-B933-C5C7FF648FEB}"/>
              </a:ext>
            </a:extLst>
          </p:cNvPr>
          <p:cNvSpPr txBox="1"/>
          <p:nvPr/>
        </p:nvSpPr>
        <p:spPr>
          <a:xfrm>
            <a:off x="8664030" y="2438400"/>
            <a:ext cx="1494094" cy="990600"/>
          </a:xfrm>
          <a:prstGeom prst="foldedCorner">
            <a:avLst/>
          </a:prstGeom>
          <a:solidFill>
            <a:srgbClr val="800000"/>
          </a:solidFill>
          <a:ln>
            <a:solidFill>
              <a:schemeClr val="tx1"/>
            </a:solidFill>
          </a:ln>
        </p:spPr>
        <p:txBody>
          <a:bodyPr wrap="square" rtlCol="0" anchor="ctr">
            <a:normAutofit/>
          </a:bodyPr>
          <a:lstStyle>
            <a:defPPr>
              <a:defRPr lang="en-US"/>
            </a:defPPr>
            <a:lvl1pPr algn="ctr">
              <a:defRPr sz="2400">
                <a:solidFill>
                  <a:schemeClr val="bg1"/>
                </a:solidFill>
              </a:defRPr>
            </a:lvl1pPr>
          </a:lstStyle>
          <a:p>
            <a:r>
              <a:rPr lang="en-US" sz="1800" dirty="0" err="1"/>
              <a:t>Hw</a:t>
            </a:r>
            <a:r>
              <a:rPr lang="en-US" sz="1800" dirty="0"/>
              <a:t>-specific configuration</a:t>
            </a:r>
          </a:p>
        </p:txBody>
      </p:sp>
      <p:sp>
        <p:nvSpPr>
          <p:cNvPr id="7" name="CasellaDiTesto 6">
            <a:extLst>
              <a:ext uri="{FF2B5EF4-FFF2-40B4-BE49-F238E27FC236}">
                <a16:creationId xmlns:a16="http://schemas.microsoft.com/office/drawing/2014/main" id="{283B47C1-5846-46B1-80EA-80E0C89CF946}"/>
              </a:ext>
            </a:extLst>
          </p:cNvPr>
          <p:cNvSpPr txBox="1"/>
          <p:nvPr/>
        </p:nvSpPr>
        <p:spPr>
          <a:xfrm>
            <a:off x="10390725" y="2716688"/>
            <a:ext cx="1494094" cy="445200"/>
          </a:xfrm>
          <a:prstGeom prst="rect">
            <a:avLst/>
          </a:prstGeom>
          <a:solidFill>
            <a:srgbClr val="00B05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sz="1600" dirty="0"/>
              <a:t>Cross compiler</a:t>
            </a:r>
          </a:p>
        </p:txBody>
      </p:sp>
      <p:cxnSp>
        <p:nvCxnSpPr>
          <p:cNvPr id="8" name="Straight Arrow Connector 7">
            <a:extLst>
              <a:ext uri="{FF2B5EF4-FFF2-40B4-BE49-F238E27FC236}">
                <a16:creationId xmlns:a16="http://schemas.microsoft.com/office/drawing/2014/main" id="{BAC3F895-2C84-43C6-B7B9-CD6A5B8FAFAA}"/>
              </a:ext>
            </a:extLst>
          </p:cNvPr>
          <p:cNvCxnSpPr>
            <a:stCxn id="9" idx="3"/>
            <a:endCxn id="10" idx="1"/>
          </p:cNvCxnSpPr>
          <p:nvPr/>
        </p:nvCxnSpPr>
        <p:spPr>
          <a:xfrm>
            <a:off x="10158124" y="2933700"/>
            <a:ext cx="232601" cy="55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B0B75AC-9CC4-42B6-9F7C-D89DD51DC1F5}"/>
              </a:ext>
            </a:extLst>
          </p:cNvPr>
          <p:cNvCxnSpPr>
            <a:stCxn id="7" idx="2"/>
            <a:endCxn id="10" idx="0"/>
          </p:cNvCxnSpPr>
          <p:nvPr/>
        </p:nvCxnSpPr>
        <p:spPr>
          <a:xfrm>
            <a:off x="11137772" y="2438400"/>
            <a:ext cx="0" cy="2782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 name="CasellaDiTesto 6">
            <a:extLst>
              <a:ext uri="{FF2B5EF4-FFF2-40B4-BE49-F238E27FC236}">
                <a16:creationId xmlns:a16="http://schemas.microsoft.com/office/drawing/2014/main" id="{1C592ADA-EB82-468D-91F4-2905467015E2}"/>
              </a:ext>
            </a:extLst>
          </p:cNvPr>
          <p:cNvSpPr txBox="1"/>
          <p:nvPr/>
        </p:nvSpPr>
        <p:spPr>
          <a:xfrm>
            <a:off x="10390725" y="4538356"/>
            <a:ext cx="1494094" cy="834391"/>
          </a:xfrm>
          <a:prstGeom prst="roundRect">
            <a:avLst>
              <a:gd name="adj" fmla="val 7167"/>
            </a:avLst>
          </a:prstGeom>
          <a:solidFill>
            <a:schemeClr val="accent4">
              <a:lumMod val="75000"/>
            </a:schemeClr>
          </a:solidFill>
          <a:ln>
            <a:solidFill>
              <a:schemeClr val="tx1"/>
            </a:solidFill>
          </a:ln>
        </p:spPr>
        <p:txBody>
          <a:bodyPr wrap="square" rtlCol="0" anchor="ctr">
            <a:noAutofit/>
          </a:bodyPr>
          <a:lstStyle/>
          <a:p>
            <a:pPr algn="ctr"/>
            <a:r>
              <a:rPr lang="en-US">
                <a:solidFill>
                  <a:schemeClr val="bg1"/>
                </a:solidFill>
              </a:rPr>
              <a:t>Bootloader binary</a:t>
            </a:r>
            <a:endParaRPr lang="en-US" dirty="0">
              <a:solidFill>
                <a:schemeClr val="bg1"/>
              </a:solidFill>
            </a:endParaRPr>
          </a:p>
        </p:txBody>
      </p:sp>
      <p:cxnSp>
        <p:nvCxnSpPr>
          <p:cNvPr id="11" name="Straight Arrow Connector 10">
            <a:extLst>
              <a:ext uri="{FF2B5EF4-FFF2-40B4-BE49-F238E27FC236}">
                <a16:creationId xmlns:a16="http://schemas.microsoft.com/office/drawing/2014/main" id="{1C174168-F391-408D-9067-98BA6677BCE3}"/>
              </a:ext>
            </a:extLst>
          </p:cNvPr>
          <p:cNvCxnSpPr>
            <a:stCxn id="10" idx="2"/>
          </p:cNvCxnSpPr>
          <p:nvPr/>
        </p:nvCxnSpPr>
        <p:spPr>
          <a:xfrm>
            <a:off x="11137772" y="3161888"/>
            <a:ext cx="0" cy="137646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8969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Workflow</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208088"/>
            <a:ext cx="8245476" cy="4086225"/>
          </a:xfrm>
        </p:spPr>
        <p:txBody>
          <a:bodyPr wrap="square" numCol="1" anchor="t" anchorCtr="0" compatLnSpc="1">
            <a:prstTxWarp prst="textNoShape">
              <a:avLst/>
            </a:prstTxWarp>
          </a:bodyPr>
          <a:lstStyle/>
          <a:p>
            <a:r>
              <a:rPr lang="en-US" dirty="0"/>
              <a:t>The Linux Kernel source code shall be procured.</a:t>
            </a:r>
          </a:p>
          <a:p>
            <a:r>
              <a:rPr lang="is-IS" dirty="0"/>
              <a:t>It shall be configured for the specific hw of the embedded system.</a:t>
            </a:r>
            <a:endParaRPr lang="en-US" altLang="en-US" dirty="0">
              <a:ea typeface="ＭＳ Ｐゴシック" panose="020B0600070205080204" pitchFamily="34" charset="-128"/>
            </a:endParaRPr>
          </a:p>
          <a:p>
            <a:pPr lvl="1"/>
            <a:r>
              <a:rPr lang="is-IS" dirty="0"/>
              <a:t>The proper CPU shall be selected.</a:t>
            </a:r>
          </a:p>
          <a:p>
            <a:pPr lvl="1"/>
            <a:r>
              <a:rPr lang="is-IS" dirty="0"/>
              <a:t>The proper board shall be selected.</a:t>
            </a:r>
          </a:p>
          <a:p>
            <a:pPr lvl="1"/>
            <a:r>
              <a:rPr lang="is-IS" dirty="0"/>
              <a:t>Custom configuration may be needed if the hw is non-standard.</a:t>
            </a:r>
            <a:endParaRPr lang="en-US" altLang="en-US" dirty="0">
              <a:ea typeface="ＭＳ Ｐゴシック" panose="020B0600070205080204" pitchFamily="34" charset="-128"/>
            </a:endParaRPr>
          </a:p>
          <a:p>
            <a:r>
              <a:rPr lang="is-IS" dirty="0"/>
              <a:t>It shall be cross-compiled for obtaining</a:t>
            </a:r>
            <a:endParaRPr lang="en-US" altLang="en-US" dirty="0">
              <a:ea typeface="ＭＳ Ｐゴシック" panose="020B0600070205080204" pitchFamily="34" charset="-128"/>
            </a:endParaRPr>
          </a:p>
          <a:p>
            <a:pPr lvl="1"/>
            <a:r>
              <a:rPr lang="is-IS" dirty="0"/>
              <a:t>Executable Linux kernel</a:t>
            </a:r>
          </a:p>
          <a:p>
            <a:pPr lvl="1"/>
            <a:r>
              <a:rPr lang="is-IS" dirty="0"/>
              <a:t>Executable Linux kernel modules</a:t>
            </a:r>
          </a:p>
          <a:p>
            <a:pPr lvl="1"/>
            <a:r>
              <a:rPr lang="is-IS" dirty="0"/>
              <a:t>Device Tree Blob</a:t>
            </a:r>
            <a:endParaRPr lang="en-US" altLang="en-US" dirty="0">
              <a:ea typeface="ＭＳ Ｐゴシック" panose="020B0600070205080204" pitchFamily="34" charset="-128"/>
            </a:endParaRPr>
          </a:p>
          <a:p>
            <a:r>
              <a:rPr lang="is-IS" dirty="0"/>
              <a:t>The obtained files shall be copied into the boot device.</a:t>
            </a:r>
            <a:endParaRPr lang="en-US" altLang="en-US" dirty="0">
              <a:ea typeface="ＭＳ Ｐゴシック" panose="020B0600070205080204" pitchFamily="34" charset="-128"/>
            </a:endParaRPr>
          </a:p>
          <a:p>
            <a:pPr lvl="1"/>
            <a:r>
              <a:rPr lang="is-IS" dirty="0"/>
              <a:t>Partition on a MicroSD device</a:t>
            </a:r>
          </a:p>
          <a:p>
            <a:pPr lvl="1"/>
            <a:r>
              <a:rPr lang="is-IS" dirty="0"/>
              <a:t>Bootflash device on the embedded system board</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
        <p:nvSpPr>
          <p:cNvPr id="5" name="CasellaDiTesto 6">
            <a:extLst>
              <a:ext uri="{FF2B5EF4-FFF2-40B4-BE49-F238E27FC236}">
                <a16:creationId xmlns:a16="http://schemas.microsoft.com/office/drawing/2014/main" id="{01C04906-31A0-4776-A3C6-5FCDD31C2540}"/>
              </a:ext>
            </a:extLst>
          </p:cNvPr>
          <p:cNvSpPr txBox="1"/>
          <p:nvPr/>
        </p:nvSpPr>
        <p:spPr>
          <a:xfrm>
            <a:off x="10391519" y="1447800"/>
            <a:ext cx="1494094" cy="990600"/>
          </a:xfrm>
          <a:prstGeom prst="foldedCorner">
            <a:avLst/>
          </a:prstGeom>
          <a:solidFill>
            <a:srgbClr val="FFC000"/>
          </a:solidFill>
          <a:ln>
            <a:solidFill>
              <a:schemeClr val="tx1"/>
            </a:solidFill>
          </a:ln>
        </p:spPr>
        <p:txBody>
          <a:bodyPr wrap="square" rtlCol="0" anchor="ctr">
            <a:noAutofit/>
          </a:bodyPr>
          <a:lstStyle/>
          <a:p>
            <a:pPr algn="ctr"/>
            <a:r>
              <a:rPr lang="en-US" dirty="0">
                <a:solidFill>
                  <a:schemeClr val="bg1"/>
                </a:solidFill>
              </a:rPr>
              <a:t>Linux Kernel</a:t>
            </a:r>
          </a:p>
          <a:p>
            <a:pPr algn="ctr"/>
            <a:r>
              <a:rPr lang="en-US" dirty="0">
                <a:solidFill>
                  <a:schemeClr val="bg1"/>
                </a:solidFill>
              </a:rPr>
              <a:t>source code</a:t>
            </a:r>
          </a:p>
        </p:txBody>
      </p:sp>
      <p:sp>
        <p:nvSpPr>
          <p:cNvPr id="6" name="CasellaDiTesto 6">
            <a:extLst>
              <a:ext uri="{FF2B5EF4-FFF2-40B4-BE49-F238E27FC236}">
                <a16:creationId xmlns:a16="http://schemas.microsoft.com/office/drawing/2014/main" id="{ACDB1663-5DE7-4365-A771-103473DFF82B}"/>
              </a:ext>
            </a:extLst>
          </p:cNvPr>
          <p:cNvSpPr txBox="1"/>
          <p:nvPr/>
        </p:nvSpPr>
        <p:spPr>
          <a:xfrm>
            <a:off x="8661689" y="2438400"/>
            <a:ext cx="1494094" cy="990600"/>
          </a:xfrm>
          <a:prstGeom prst="foldedCorner">
            <a:avLst/>
          </a:prstGeom>
          <a:solidFill>
            <a:srgbClr val="FFC00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err="1"/>
              <a:t>Hw</a:t>
            </a:r>
            <a:r>
              <a:rPr lang="en-US" dirty="0"/>
              <a:t>-specific configuration</a:t>
            </a:r>
          </a:p>
        </p:txBody>
      </p:sp>
      <p:sp>
        <p:nvSpPr>
          <p:cNvPr id="7" name="CasellaDiTesto 6">
            <a:extLst>
              <a:ext uri="{FF2B5EF4-FFF2-40B4-BE49-F238E27FC236}">
                <a16:creationId xmlns:a16="http://schemas.microsoft.com/office/drawing/2014/main" id="{D446CED4-CFA3-4FB9-8464-B483F2DAADFD}"/>
              </a:ext>
            </a:extLst>
          </p:cNvPr>
          <p:cNvSpPr txBox="1"/>
          <p:nvPr/>
        </p:nvSpPr>
        <p:spPr>
          <a:xfrm>
            <a:off x="10391519" y="2716688"/>
            <a:ext cx="1494094" cy="445200"/>
          </a:xfrm>
          <a:prstGeom prst="rect">
            <a:avLst/>
          </a:prstGeom>
          <a:solidFill>
            <a:srgbClr val="00B05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sz="1600" dirty="0"/>
              <a:t>Cross compiler</a:t>
            </a:r>
          </a:p>
        </p:txBody>
      </p:sp>
      <p:cxnSp>
        <p:nvCxnSpPr>
          <p:cNvPr id="8" name="Straight Arrow Connector 7">
            <a:extLst>
              <a:ext uri="{FF2B5EF4-FFF2-40B4-BE49-F238E27FC236}">
                <a16:creationId xmlns:a16="http://schemas.microsoft.com/office/drawing/2014/main" id="{1EC5C3B3-FB7E-4543-B878-DABEFA9AEC0B}"/>
              </a:ext>
            </a:extLst>
          </p:cNvPr>
          <p:cNvCxnSpPr/>
          <p:nvPr/>
        </p:nvCxnSpPr>
        <p:spPr>
          <a:xfrm>
            <a:off x="10155783" y="2933700"/>
            <a:ext cx="235736" cy="55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9B72A78-2287-46E6-98C6-BA8C75B85110}"/>
              </a:ext>
            </a:extLst>
          </p:cNvPr>
          <p:cNvCxnSpPr>
            <a:stCxn id="8" idx="2"/>
          </p:cNvCxnSpPr>
          <p:nvPr/>
        </p:nvCxnSpPr>
        <p:spPr>
          <a:xfrm>
            <a:off x="11138566" y="2438400"/>
            <a:ext cx="0" cy="2782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 name="CasellaDiTesto 6">
            <a:extLst>
              <a:ext uri="{FF2B5EF4-FFF2-40B4-BE49-F238E27FC236}">
                <a16:creationId xmlns:a16="http://schemas.microsoft.com/office/drawing/2014/main" id="{2D1AAC6C-D2D1-442D-BF0A-8A0715977D70}"/>
              </a:ext>
            </a:extLst>
          </p:cNvPr>
          <p:cNvSpPr txBox="1"/>
          <p:nvPr/>
        </p:nvSpPr>
        <p:spPr>
          <a:xfrm>
            <a:off x="9711583" y="4536322"/>
            <a:ext cx="1494094" cy="834391"/>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dirty="0">
                <a:solidFill>
                  <a:schemeClr val="bg1"/>
                </a:solidFill>
              </a:rPr>
              <a:t>Linux Kernel</a:t>
            </a:r>
          </a:p>
          <a:p>
            <a:pPr algn="ctr"/>
            <a:r>
              <a:rPr lang="en-US" dirty="0">
                <a:solidFill>
                  <a:schemeClr val="bg1"/>
                </a:solidFill>
              </a:rPr>
              <a:t>binary</a:t>
            </a:r>
          </a:p>
        </p:txBody>
      </p:sp>
      <p:sp>
        <p:nvSpPr>
          <p:cNvPr id="11" name="CasellaDiTesto 6">
            <a:extLst>
              <a:ext uri="{FF2B5EF4-FFF2-40B4-BE49-F238E27FC236}">
                <a16:creationId xmlns:a16="http://schemas.microsoft.com/office/drawing/2014/main" id="{1C369DB5-5F3B-4420-BF9A-F38529ABFBB7}"/>
              </a:ext>
            </a:extLst>
          </p:cNvPr>
          <p:cNvSpPr txBox="1"/>
          <p:nvPr/>
        </p:nvSpPr>
        <p:spPr>
          <a:xfrm>
            <a:off x="11216480" y="4536321"/>
            <a:ext cx="669131" cy="834391"/>
          </a:xfrm>
          <a:prstGeom prst="roundRect">
            <a:avLst>
              <a:gd name="adj" fmla="val 7167"/>
            </a:avLst>
          </a:prstGeom>
          <a:solidFill>
            <a:srgbClr val="002060"/>
          </a:solidFill>
          <a:ln>
            <a:solidFill>
              <a:schemeClr val="tx1"/>
            </a:solidFill>
          </a:ln>
        </p:spPr>
        <p:txBody>
          <a:bodyPr wrap="square" rtlCol="0" anchor="ctr">
            <a:noAutofit/>
          </a:bodyPr>
          <a:lstStyle/>
          <a:p>
            <a:pPr algn="ctr"/>
            <a:r>
              <a:rPr lang="en-US">
                <a:solidFill>
                  <a:schemeClr val="bg1"/>
                </a:solidFill>
              </a:rPr>
              <a:t>DTB</a:t>
            </a:r>
            <a:endParaRPr lang="en-US" dirty="0">
              <a:solidFill>
                <a:schemeClr val="bg1"/>
              </a:solidFill>
            </a:endParaRPr>
          </a:p>
        </p:txBody>
      </p:sp>
      <p:sp>
        <p:nvSpPr>
          <p:cNvPr id="12" name="Right Brace 11">
            <a:extLst>
              <a:ext uri="{FF2B5EF4-FFF2-40B4-BE49-F238E27FC236}">
                <a16:creationId xmlns:a16="http://schemas.microsoft.com/office/drawing/2014/main" id="{1F4DB5D6-A8F5-4550-B39D-E94EB3334835}"/>
              </a:ext>
            </a:extLst>
          </p:cNvPr>
          <p:cNvSpPr/>
          <p:nvPr/>
        </p:nvSpPr>
        <p:spPr>
          <a:xfrm rot="16200000">
            <a:off x="10699803" y="3272256"/>
            <a:ext cx="230070" cy="214155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3" name="Elbow Connector 25">
            <a:extLst>
              <a:ext uri="{FF2B5EF4-FFF2-40B4-BE49-F238E27FC236}">
                <a16:creationId xmlns:a16="http://schemas.microsoft.com/office/drawing/2014/main" id="{FCC9BDBE-15B6-4C77-93E8-B2F67DA1FA2B}"/>
              </a:ext>
            </a:extLst>
          </p:cNvPr>
          <p:cNvCxnSpPr/>
          <p:nvPr/>
        </p:nvCxnSpPr>
        <p:spPr>
          <a:xfrm rot="5400000">
            <a:off x="10440080" y="3529508"/>
            <a:ext cx="1066107" cy="330866"/>
          </a:xfrm>
          <a:prstGeom prst="bentConnector3">
            <a:avLst>
              <a:gd name="adj1" fmla="val 50000"/>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9828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Workflow</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8004175" cy="4086225"/>
          </a:xfrm>
        </p:spPr>
        <p:txBody>
          <a:bodyPr wrap="square" numCol="1" anchor="t" anchorCtr="0" compatLnSpc="1">
            <a:prstTxWarp prst="textNoShape">
              <a:avLst/>
            </a:prstTxWarp>
          </a:bodyPr>
          <a:lstStyle/>
          <a:p>
            <a:r>
              <a:rPr lang="en-US" dirty="0"/>
              <a:t>The system programs source code shall be procured.</a:t>
            </a:r>
            <a:endParaRPr lang="en-US" altLang="en-US" dirty="0">
              <a:ea typeface="ＭＳ Ｐゴシック" panose="020B0600070205080204" pitchFamily="34" charset="-128"/>
            </a:endParaRPr>
          </a:p>
          <a:p>
            <a:pPr lvl="1"/>
            <a:r>
              <a:rPr lang="en-US" dirty="0"/>
              <a:t>Downloaded from Internet</a:t>
            </a:r>
          </a:p>
          <a:p>
            <a:pPr lvl="1"/>
            <a:r>
              <a:rPr lang="en-US" dirty="0"/>
              <a:t>Received from operating system vendor</a:t>
            </a:r>
            <a:endParaRPr lang="en-US" altLang="en-US" dirty="0">
              <a:ea typeface="ＭＳ Ｐゴシック" panose="020B0600070205080204" pitchFamily="34" charset="-128"/>
            </a:endParaRPr>
          </a:p>
          <a:p>
            <a:r>
              <a:rPr lang="is-IS" dirty="0"/>
              <a:t>They shall be configured for the specific application.</a:t>
            </a:r>
            <a:endParaRPr lang="en-US" altLang="en-US" dirty="0">
              <a:ea typeface="ＭＳ Ｐゴシック" panose="020B0600070205080204" pitchFamily="34" charset="-128"/>
            </a:endParaRPr>
          </a:p>
          <a:p>
            <a:pPr lvl="1"/>
            <a:r>
              <a:rPr lang="is-IS" dirty="0"/>
              <a:t>Only the system programs needed for the application the embedded system is intended for shall be considered.</a:t>
            </a:r>
            <a:endParaRPr lang="en-US" altLang="en-US" dirty="0">
              <a:ea typeface="ＭＳ Ｐゴシック" panose="020B0600070205080204" pitchFamily="34" charset="-128"/>
            </a:endParaRPr>
          </a:p>
          <a:p>
            <a:r>
              <a:rPr lang="is-IS" dirty="0"/>
              <a:t>They shall be cross-compiled obtaining the executable binary.</a:t>
            </a:r>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sp>
        <p:nvSpPr>
          <p:cNvPr id="5" name="CasellaDiTesto 6">
            <a:extLst>
              <a:ext uri="{FF2B5EF4-FFF2-40B4-BE49-F238E27FC236}">
                <a16:creationId xmlns:a16="http://schemas.microsoft.com/office/drawing/2014/main" id="{C4F16DB8-9EBB-4598-8141-6B2F07520E8D}"/>
              </a:ext>
            </a:extLst>
          </p:cNvPr>
          <p:cNvSpPr txBox="1"/>
          <p:nvPr/>
        </p:nvSpPr>
        <p:spPr>
          <a:xfrm>
            <a:off x="10391519" y="1440000"/>
            <a:ext cx="1494094" cy="990600"/>
          </a:xfrm>
          <a:prstGeom prst="foldedCorner">
            <a:avLst/>
          </a:prstGeom>
          <a:solidFill>
            <a:srgbClr val="128CAB"/>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a:t>System programs source code</a:t>
            </a:r>
          </a:p>
        </p:txBody>
      </p:sp>
      <p:sp>
        <p:nvSpPr>
          <p:cNvPr id="6" name="CasellaDiTesto 6">
            <a:extLst>
              <a:ext uri="{FF2B5EF4-FFF2-40B4-BE49-F238E27FC236}">
                <a16:creationId xmlns:a16="http://schemas.microsoft.com/office/drawing/2014/main" id="{ABDCB16C-B4A8-4287-A191-980E1CB20131}"/>
              </a:ext>
            </a:extLst>
          </p:cNvPr>
          <p:cNvSpPr txBox="1"/>
          <p:nvPr/>
        </p:nvSpPr>
        <p:spPr>
          <a:xfrm>
            <a:off x="8597388" y="2474738"/>
            <a:ext cx="1494094" cy="990600"/>
          </a:xfrm>
          <a:prstGeom prst="foldedCorner">
            <a:avLst/>
          </a:prstGeom>
          <a:solidFill>
            <a:srgbClr val="128CAB"/>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a:t>Application specific configuration</a:t>
            </a:r>
          </a:p>
        </p:txBody>
      </p:sp>
      <p:sp>
        <p:nvSpPr>
          <p:cNvPr id="7" name="CasellaDiTesto 6">
            <a:extLst>
              <a:ext uri="{FF2B5EF4-FFF2-40B4-BE49-F238E27FC236}">
                <a16:creationId xmlns:a16="http://schemas.microsoft.com/office/drawing/2014/main" id="{B643BC34-57A6-4AD4-A690-131391FBABEB}"/>
              </a:ext>
            </a:extLst>
          </p:cNvPr>
          <p:cNvSpPr txBox="1"/>
          <p:nvPr/>
        </p:nvSpPr>
        <p:spPr>
          <a:xfrm>
            <a:off x="10391519" y="2747438"/>
            <a:ext cx="1494094" cy="445200"/>
          </a:xfrm>
          <a:prstGeom prst="rect">
            <a:avLst/>
          </a:prstGeom>
          <a:solidFill>
            <a:srgbClr val="00B05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sz="1600" dirty="0"/>
              <a:t>Cross compiler</a:t>
            </a:r>
          </a:p>
        </p:txBody>
      </p:sp>
      <p:cxnSp>
        <p:nvCxnSpPr>
          <p:cNvPr id="8" name="Straight Arrow Connector 7">
            <a:extLst>
              <a:ext uri="{FF2B5EF4-FFF2-40B4-BE49-F238E27FC236}">
                <a16:creationId xmlns:a16="http://schemas.microsoft.com/office/drawing/2014/main" id="{F3E59E8C-D20F-40FD-987E-6BFF787E335B}"/>
              </a:ext>
            </a:extLst>
          </p:cNvPr>
          <p:cNvCxnSpPr/>
          <p:nvPr/>
        </p:nvCxnSpPr>
        <p:spPr>
          <a:xfrm>
            <a:off x="10091482" y="2970038"/>
            <a:ext cx="300037" cy="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4D56D08-9106-4D19-8843-8869579CC38B}"/>
              </a:ext>
            </a:extLst>
          </p:cNvPr>
          <p:cNvCxnSpPr/>
          <p:nvPr/>
        </p:nvCxnSpPr>
        <p:spPr>
          <a:xfrm>
            <a:off x="11138566" y="2430600"/>
            <a:ext cx="0" cy="31683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55FCFFB-E406-4F94-AD6A-146F3559813A}"/>
              </a:ext>
            </a:extLst>
          </p:cNvPr>
          <p:cNvCxnSpPr/>
          <p:nvPr/>
        </p:nvCxnSpPr>
        <p:spPr>
          <a:xfrm>
            <a:off x="11138566" y="3192638"/>
            <a:ext cx="0" cy="34807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1" name="CasellaDiTesto 6">
            <a:extLst>
              <a:ext uri="{FF2B5EF4-FFF2-40B4-BE49-F238E27FC236}">
                <a16:creationId xmlns:a16="http://schemas.microsoft.com/office/drawing/2014/main" id="{83263A38-62EA-455C-B799-FF76F7DD1128}"/>
              </a:ext>
            </a:extLst>
          </p:cNvPr>
          <p:cNvSpPr txBox="1"/>
          <p:nvPr/>
        </p:nvSpPr>
        <p:spPr>
          <a:xfrm>
            <a:off x="10391519" y="3540713"/>
            <a:ext cx="1494094" cy="791078"/>
          </a:xfrm>
          <a:prstGeom prst="roundRect">
            <a:avLst>
              <a:gd name="adj" fmla="val 7167"/>
            </a:avLst>
          </a:prstGeom>
          <a:solidFill>
            <a:srgbClr val="128CAB"/>
          </a:solidFill>
          <a:ln>
            <a:solidFill>
              <a:schemeClr val="tx1"/>
            </a:solidFill>
          </a:ln>
        </p:spPr>
        <p:txBody>
          <a:bodyPr wrap="square" rtlCol="0" anchor="ctr">
            <a:noAutofit/>
          </a:bodyPr>
          <a:lstStyle/>
          <a:p>
            <a:pPr algn="ctr"/>
            <a:r>
              <a:rPr lang="en-US" dirty="0">
                <a:solidFill>
                  <a:schemeClr val="bg1"/>
                </a:solidFill>
              </a:rPr>
              <a:t>System programs binary</a:t>
            </a:r>
          </a:p>
        </p:txBody>
      </p:sp>
    </p:spTree>
    <p:extLst>
      <p:ext uri="{BB962C8B-B14F-4D97-AF65-F5344CB8AC3E}">
        <p14:creationId xmlns:p14="http://schemas.microsoft.com/office/powerpoint/2010/main" val="1234888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Workflow</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181166"/>
            <a:ext cx="6086475" cy="4086225"/>
          </a:xfrm>
        </p:spPr>
        <p:txBody>
          <a:bodyPr wrap="square" numCol="1" anchor="t" anchorCtr="0" compatLnSpc="1">
            <a:prstTxWarp prst="textNoShape">
              <a:avLst/>
            </a:prstTxWarp>
          </a:bodyPr>
          <a:lstStyle/>
          <a:p>
            <a:r>
              <a:rPr lang="en-US" dirty="0"/>
              <a:t>The root file system shall be prepared.</a:t>
            </a:r>
          </a:p>
          <a:p>
            <a:r>
              <a:rPr lang="en-US" dirty="0"/>
              <a:t>It typically requires</a:t>
            </a:r>
            <a:endParaRPr lang="en-US" altLang="en-US" dirty="0">
              <a:ea typeface="ＭＳ Ｐゴシック" panose="020B0600070205080204" pitchFamily="34" charset="-128"/>
            </a:endParaRPr>
          </a:p>
          <a:p>
            <a:pPr lvl="1"/>
            <a:r>
              <a:rPr lang="en-US" dirty="0"/>
              <a:t>To create a file and mount it as a volume on the development host</a:t>
            </a:r>
          </a:p>
          <a:p>
            <a:pPr lvl="1"/>
            <a:r>
              <a:rPr lang="en-US" dirty="0"/>
              <a:t>To format it using any of the file systems Linux supports (e.g., </a:t>
            </a:r>
            <a:r>
              <a:rPr lang="en-US" dirty="0" err="1"/>
              <a:t>ext3</a:t>
            </a:r>
            <a:r>
              <a:rPr lang="en-US" dirty="0"/>
              <a:t>)</a:t>
            </a:r>
          </a:p>
          <a:p>
            <a:pPr lvl="1"/>
            <a:r>
              <a:rPr lang="en-US" dirty="0"/>
              <a:t>To create the required directory tree</a:t>
            </a:r>
          </a:p>
          <a:p>
            <a:pPr lvl="1"/>
            <a:r>
              <a:rPr lang="en-US" dirty="0"/>
              <a:t>To populate it with the needed configuration files</a:t>
            </a:r>
          </a:p>
          <a:p>
            <a:pPr lvl="1"/>
            <a:r>
              <a:rPr lang="en-US" dirty="0"/>
              <a:t>To populate it with the system program binary</a:t>
            </a:r>
          </a:p>
          <a:p>
            <a:r>
              <a:rPr lang="en-US" dirty="0"/>
              <a:t>The root file system shall be copied into the embedded system persistent storage.</a:t>
            </a:r>
            <a:endParaRPr lang="en-US" altLang="en-US" dirty="0">
              <a:ea typeface="ＭＳ Ｐゴシック" panose="020B0600070205080204" pitchFamily="34" charset="-128"/>
            </a:endParaRPr>
          </a:p>
          <a:p>
            <a:pPr lvl="1"/>
            <a:r>
              <a:rPr lang="is-IS" dirty="0"/>
              <a:t>Partition on a MicroSD device</a:t>
            </a:r>
          </a:p>
          <a:p>
            <a:pPr lvl="1"/>
            <a:r>
              <a:rPr lang="is-IS" dirty="0"/>
              <a:t>Bootflash device on the embedded system board</a:t>
            </a:r>
            <a:endParaRPr lang="en-US" dirty="0"/>
          </a:p>
          <a:p>
            <a:pPr lvl="1"/>
            <a:endParaRPr lang="en-US" altLang="en-US" dirty="0">
              <a:ea typeface="ＭＳ Ｐゴシック" panose="020B0600070205080204" pitchFamily="34" charset="-128"/>
            </a:endParaRPr>
          </a:p>
        </p:txBody>
      </p:sp>
      <p:sp>
        <p:nvSpPr>
          <p:cNvPr id="5" name="TextBox 4">
            <a:extLst>
              <a:ext uri="{FF2B5EF4-FFF2-40B4-BE49-F238E27FC236}">
                <a16:creationId xmlns:a16="http://schemas.microsoft.com/office/drawing/2014/main" id="{C9E1DD9F-D365-4782-A8C5-39B1ED5FEAC7}"/>
              </a:ext>
            </a:extLst>
          </p:cNvPr>
          <p:cNvSpPr txBox="1">
            <a:spLocks noChangeArrowheads="1"/>
          </p:cNvSpPr>
          <p:nvPr/>
        </p:nvSpPr>
        <p:spPr bwMode="auto">
          <a:xfrm>
            <a:off x="6578600" y="1590609"/>
            <a:ext cx="5307013" cy="4324261"/>
          </a:xfrm>
          <a:prstGeom prst="rect">
            <a:avLst/>
          </a:prstGeom>
          <a:solidFill>
            <a:srgbClr val="FFFFCC"/>
          </a:solidFill>
          <a:ln w="9525">
            <a:solidFill>
              <a:schemeClr val="tx1"/>
            </a:solidFill>
            <a:miter lim="800000"/>
            <a:headEnd/>
            <a:tailEnd/>
          </a:ln>
        </p:spPr>
        <p:txBody>
          <a:bodyPr wrap="square">
            <a:spAutoFit/>
          </a:bodyPr>
          <a:lstStyle>
            <a:lvl1pPr eaLnBrk="0" hangingPunct="0">
              <a:defRPr sz="2400">
                <a:solidFill>
                  <a:schemeClr val="tx1"/>
                </a:solidFill>
                <a:latin typeface="Tahoma" charset="0"/>
                <a:ea typeface="ＭＳ Ｐゴシック" charset="-128"/>
              </a:defRPr>
            </a:lvl1pPr>
            <a:lvl2pPr marL="37931725" indent="-37474525" eaLnBrk="0" hangingPunct="0">
              <a:defRPr sz="2400">
                <a:solidFill>
                  <a:schemeClr val="tx1"/>
                </a:solidFill>
                <a:latin typeface="Tahoma" charset="0"/>
                <a:ea typeface="ＭＳ Ｐゴシック" charset="-128"/>
              </a:defRPr>
            </a:lvl2pPr>
            <a:lvl3pPr eaLnBrk="0" hangingPunct="0">
              <a:defRPr sz="2400">
                <a:solidFill>
                  <a:schemeClr val="tx1"/>
                </a:solidFill>
                <a:latin typeface="Tahoma" charset="0"/>
                <a:ea typeface="ＭＳ Ｐゴシック" charset="-128"/>
              </a:defRPr>
            </a:lvl3pPr>
            <a:lvl4pPr eaLnBrk="0" hangingPunct="0">
              <a:defRPr sz="2400">
                <a:solidFill>
                  <a:schemeClr val="tx1"/>
                </a:solidFill>
                <a:latin typeface="Tahoma" charset="0"/>
                <a:ea typeface="ＭＳ Ｐゴシック" charset="-128"/>
              </a:defRPr>
            </a:lvl4pPr>
            <a:lvl5pPr eaLnBrk="0" hangingPunct="0">
              <a:defRPr sz="2400">
                <a:solidFill>
                  <a:schemeClr val="tx1"/>
                </a:solidFill>
                <a:latin typeface="Tahoma" charset="0"/>
                <a:ea typeface="ＭＳ Ｐゴシック" charset="-128"/>
              </a:defRPr>
            </a:lvl5pPr>
            <a:lvl6pPr marL="457200" eaLnBrk="0" fontAlgn="base" hangingPunct="0">
              <a:spcBef>
                <a:spcPct val="0"/>
              </a:spcBef>
              <a:spcAft>
                <a:spcPct val="0"/>
              </a:spcAft>
              <a:defRPr sz="2400">
                <a:solidFill>
                  <a:schemeClr val="tx1"/>
                </a:solidFill>
                <a:latin typeface="Tahoma" charset="0"/>
                <a:ea typeface="ＭＳ Ｐゴシック" charset="-128"/>
              </a:defRPr>
            </a:lvl6pPr>
            <a:lvl7pPr marL="914400" eaLnBrk="0" fontAlgn="base" hangingPunct="0">
              <a:spcBef>
                <a:spcPct val="0"/>
              </a:spcBef>
              <a:spcAft>
                <a:spcPct val="0"/>
              </a:spcAft>
              <a:defRPr sz="2400">
                <a:solidFill>
                  <a:schemeClr val="tx1"/>
                </a:solidFill>
                <a:latin typeface="Tahoma" charset="0"/>
                <a:ea typeface="ＭＳ Ｐゴシック" charset="-128"/>
              </a:defRPr>
            </a:lvl7pPr>
            <a:lvl8pPr marL="1371600" eaLnBrk="0" fontAlgn="base" hangingPunct="0">
              <a:spcBef>
                <a:spcPct val="0"/>
              </a:spcBef>
              <a:spcAft>
                <a:spcPct val="0"/>
              </a:spcAft>
              <a:defRPr sz="2400">
                <a:solidFill>
                  <a:schemeClr val="tx1"/>
                </a:solidFill>
                <a:latin typeface="Tahoma" charset="0"/>
                <a:ea typeface="ＭＳ Ｐゴシック" charset="-128"/>
              </a:defRPr>
            </a:lvl8pPr>
            <a:lvl9pPr marL="1828800" eaLnBrk="0" fontAlgn="base" hangingPunct="0">
              <a:spcBef>
                <a:spcPct val="0"/>
              </a:spcBef>
              <a:spcAft>
                <a:spcPct val="0"/>
              </a:spcAft>
              <a:defRPr sz="2400">
                <a:solidFill>
                  <a:schemeClr val="tx1"/>
                </a:solidFill>
                <a:latin typeface="Tahoma" charset="0"/>
                <a:ea typeface="ＭＳ Ｐゴシック" charset="-128"/>
              </a:defRPr>
            </a:lvl9pPr>
          </a:lstStyle>
          <a:p>
            <a:pPr algn="l" eaLnBrk="1" hangingPunct="1"/>
            <a:r>
              <a:rPr lang="en-US" altLang="en-US" sz="1100" b="1" dirty="0">
                <a:latin typeface="Courier New" charset="0"/>
              </a:rPr>
              <a:t>/</a:t>
            </a:r>
            <a:r>
              <a:rPr lang="en-US" altLang="en-US" sz="1100" dirty="0">
                <a:latin typeface="Courier New" charset="0"/>
              </a:rPr>
              <a:t>				# Disk root</a:t>
            </a:r>
          </a:p>
          <a:p>
            <a:pPr algn="l" eaLnBrk="1" hangingPunct="1"/>
            <a:r>
              <a:rPr lang="en-US" altLang="en-US" sz="1100" dirty="0">
                <a:latin typeface="Courier New" charset="0"/>
              </a:rPr>
              <a:t>  </a:t>
            </a:r>
            <a:r>
              <a:rPr lang="en-US" altLang="en-US" sz="1100" b="1" dirty="0">
                <a:latin typeface="Courier New" charset="0"/>
              </a:rPr>
              <a:t>/bin	</a:t>
            </a:r>
            <a:r>
              <a:rPr lang="en-US" altLang="en-US" sz="1100" dirty="0">
                <a:latin typeface="Courier New" charset="0"/>
              </a:rPr>
              <a:t>	# Repository for binary files</a:t>
            </a:r>
          </a:p>
          <a:p>
            <a:pPr algn="l" eaLnBrk="1" hangingPunct="1"/>
            <a:r>
              <a:rPr lang="en-US" altLang="en-US" sz="1100" dirty="0">
                <a:latin typeface="Courier New" charset="0"/>
              </a:rPr>
              <a:t>  </a:t>
            </a:r>
            <a:r>
              <a:rPr lang="en-US" altLang="en-US" sz="1100" b="1" dirty="0">
                <a:latin typeface="Courier New" charset="0"/>
              </a:rPr>
              <a:t>/lib</a:t>
            </a:r>
            <a:r>
              <a:rPr lang="en-US" altLang="en-US" sz="1100" dirty="0">
                <a:latin typeface="Courier New" charset="0"/>
              </a:rPr>
              <a:t>		# Repository for library files</a:t>
            </a:r>
          </a:p>
          <a:p>
            <a:pPr algn="l" eaLnBrk="1" hangingPunct="1"/>
            <a:r>
              <a:rPr lang="en-US" altLang="en-US" sz="1100" dirty="0">
                <a:latin typeface="Courier New" charset="0"/>
              </a:rPr>
              <a:t>  </a:t>
            </a:r>
            <a:r>
              <a:rPr lang="en-US" altLang="en-US" sz="1100" b="1" dirty="0">
                <a:latin typeface="Courier New" charset="0"/>
              </a:rPr>
              <a:t>/dev</a:t>
            </a:r>
            <a:r>
              <a:rPr lang="en-US" altLang="en-US" sz="1100" dirty="0">
                <a:latin typeface="Courier New" charset="0"/>
              </a:rPr>
              <a:t>		# Repository for device files</a:t>
            </a:r>
          </a:p>
          <a:p>
            <a:pPr algn="l" eaLnBrk="1" hangingPunct="1"/>
            <a:r>
              <a:rPr lang="en-US" altLang="en-US" sz="1100" b="1" dirty="0">
                <a:latin typeface="Courier New" charset="0"/>
              </a:rPr>
              <a:t>    console c 5 1</a:t>
            </a:r>
            <a:r>
              <a:rPr lang="en-US" altLang="en-US" sz="1100" dirty="0">
                <a:latin typeface="Courier New" charset="0"/>
              </a:rPr>
              <a:t>	# Console device file</a:t>
            </a:r>
          </a:p>
          <a:p>
            <a:pPr algn="l" eaLnBrk="1" hangingPunct="1"/>
            <a:r>
              <a:rPr lang="en-US" altLang="en-US" sz="1100" b="1" dirty="0">
                <a:latin typeface="Courier New" charset="0"/>
              </a:rPr>
              <a:t>    null c 1 3</a:t>
            </a:r>
            <a:r>
              <a:rPr lang="en-US" altLang="en-US" sz="1100" dirty="0">
                <a:latin typeface="Courier New" charset="0"/>
              </a:rPr>
              <a:t>	# Null device file</a:t>
            </a:r>
          </a:p>
          <a:p>
            <a:pPr algn="l" eaLnBrk="1" hangingPunct="1"/>
            <a:r>
              <a:rPr lang="it-IT" altLang="en-US" sz="1100" b="1" dirty="0">
                <a:latin typeface="Courier New" charset="0"/>
              </a:rPr>
              <a:t>    zero c 1 5</a:t>
            </a:r>
            <a:r>
              <a:rPr lang="it-IT" altLang="en-US" sz="1100" dirty="0">
                <a:latin typeface="Courier New" charset="0"/>
              </a:rPr>
              <a:t> 	# </a:t>
            </a:r>
            <a:r>
              <a:rPr lang="it-IT" altLang="en-US" sz="1100" dirty="0" err="1">
                <a:latin typeface="Courier New" charset="0"/>
              </a:rPr>
              <a:t>All</a:t>
            </a:r>
            <a:r>
              <a:rPr lang="it-IT" altLang="en-US" sz="1100" dirty="0">
                <a:latin typeface="Courier New" charset="0"/>
              </a:rPr>
              <a:t>-zero </a:t>
            </a:r>
            <a:r>
              <a:rPr lang="it-IT" altLang="en-US" sz="1100" dirty="0" err="1">
                <a:latin typeface="Courier New" charset="0"/>
              </a:rPr>
              <a:t>device</a:t>
            </a:r>
            <a:r>
              <a:rPr lang="it-IT" altLang="en-US" sz="1100" dirty="0">
                <a:latin typeface="Courier New" charset="0"/>
              </a:rPr>
              <a:t> file</a:t>
            </a:r>
          </a:p>
          <a:p>
            <a:pPr algn="l" eaLnBrk="1" hangingPunct="1"/>
            <a:r>
              <a:rPr lang="it-IT" altLang="en-US" sz="1100" b="1" dirty="0">
                <a:latin typeface="Courier New" charset="0"/>
              </a:rPr>
              <a:t>    </a:t>
            </a:r>
            <a:r>
              <a:rPr lang="it-IT" altLang="en-US" sz="1100" b="1" dirty="0" err="1">
                <a:latin typeface="Courier New" charset="0"/>
              </a:rPr>
              <a:t>tty</a:t>
            </a:r>
            <a:r>
              <a:rPr lang="it-IT" altLang="en-US" sz="1100" b="1" dirty="0">
                <a:latin typeface="Courier New" charset="0"/>
              </a:rPr>
              <a:t> c 5 0 </a:t>
            </a:r>
            <a:r>
              <a:rPr lang="it-IT" altLang="en-US" sz="1100" dirty="0">
                <a:latin typeface="Courier New" charset="0"/>
              </a:rPr>
              <a:t>	# Serial console </a:t>
            </a:r>
            <a:r>
              <a:rPr lang="it-IT" altLang="en-US" sz="1100" dirty="0" err="1">
                <a:latin typeface="Courier New" charset="0"/>
              </a:rPr>
              <a:t>device</a:t>
            </a:r>
            <a:r>
              <a:rPr lang="it-IT" altLang="en-US" sz="1100" dirty="0">
                <a:latin typeface="Courier New" charset="0"/>
              </a:rPr>
              <a:t> file</a:t>
            </a:r>
          </a:p>
          <a:p>
            <a:pPr algn="l" eaLnBrk="1" hangingPunct="1"/>
            <a:r>
              <a:rPr lang="it-IT" altLang="en-US" sz="1100" b="1" dirty="0">
                <a:latin typeface="Courier New" charset="0"/>
              </a:rPr>
              <a:t>    tty0 c 4 0</a:t>
            </a:r>
            <a:r>
              <a:rPr lang="it-IT" altLang="en-US" sz="1100" dirty="0">
                <a:latin typeface="Courier New" charset="0"/>
              </a:rPr>
              <a:t> 	# Serial terminal </a:t>
            </a:r>
            <a:r>
              <a:rPr lang="it-IT" altLang="en-US" sz="1100" dirty="0" err="1">
                <a:latin typeface="Courier New" charset="0"/>
              </a:rPr>
              <a:t>device</a:t>
            </a:r>
            <a:r>
              <a:rPr lang="it-IT" altLang="en-US" sz="1100" dirty="0">
                <a:latin typeface="Courier New" charset="0"/>
              </a:rPr>
              <a:t> file</a:t>
            </a:r>
          </a:p>
          <a:p>
            <a:pPr algn="l" eaLnBrk="1" hangingPunct="1"/>
            <a:r>
              <a:rPr lang="it-IT" altLang="en-US" sz="1100" b="1" dirty="0">
                <a:latin typeface="Courier New" charset="0"/>
              </a:rPr>
              <a:t>    tty1 c 4 1</a:t>
            </a:r>
            <a:r>
              <a:rPr lang="it-IT" altLang="en-US" sz="1100" dirty="0">
                <a:latin typeface="Courier New" charset="0"/>
              </a:rPr>
              <a:t> 	#</a:t>
            </a:r>
          </a:p>
          <a:p>
            <a:pPr algn="l" eaLnBrk="1" hangingPunct="1"/>
            <a:r>
              <a:rPr lang="it-IT" altLang="en-US" sz="1100" b="1" dirty="0">
                <a:latin typeface="Courier New" charset="0"/>
              </a:rPr>
              <a:t>    tty2 c 4 2</a:t>
            </a:r>
            <a:r>
              <a:rPr lang="it-IT" altLang="en-US" sz="1100" dirty="0">
                <a:latin typeface="Courier New" charset="0"/>
              </a:rPr>
              <a:t> 	#</a:t>
            </a:r>
          </a:p>
          <a:p>
            <a:pPr algn="l" eaLnBrk="1" hangingPunct="1"/>
            <a:r>
              <a:rPr lang="it-IT" altLang="en-US" sz="1100" b="1" dirty="0">
                <a:latin typeface="Courier New" charset="0"/>
              </a:rPr>
              <a:t>    tty3 c 4 3</a:t>
            </a:r>
            <a:r>
              <a:rPr lang="it-IT" altLang="en-US" sz="1100" dirty="0">
                <a:latin typeface="Courier New" charset="0"/>
              </a:rPr>
              <a:t> 	#</a:t>
            </a:r>
          </a:p>
          <a:p>
            <a:pPr algn="l" eaLnBrk="1" hangingPunct="1"/>
            <a:r>
              <a:rPr lang="it-IT" altLang="en-US" sz="1100" b="1" dirty="0">
                <a:latin typeface="Courier New" charset="0"/>
              </a:rPr>
              <a:t>    tty4 c 4 4</a:t>
            </a:r>
            <a:r>
              <a:rPr lang="it-IT" altLang="en-US" sz="1100" dirty="0">
                <a:latin typeface="Courier New" charset="0"/>
              </a:rPr>
              <a:t> 	#</a:t>
            </a:r>
          </a:p>
          <a:p>
            <a:pPr algn="l" eaLnBrk="1" hangingPunct="1"/>
            <a:r>
              <a:rPr lang="it-IT" altLang="en-US" sz="1100" b="1" dirty="0">
                <a:latin typeface="Courier New" charset="0"/>
              </a:rPr>
              <a:t>    tty5 c 4 5</a:t>
            </a:r>
            <a:r>
              <a:rPr lang="it-IT" altLang="en-US" sz="1100" dirty="0">
                <a:latin typeface="Courier New" charset="0"/>
              </a:rPr>
              <a:t> 	#</a:t>
            </a:r>
            <a:endParaRPr lang="en-US" altLang="en-US" sz="1100" dirty="0">
              <a:latin typeface="Courier New" charset="0"/>
            </a:endParaRPr>
          </a:p>
          <a:p>
            <a:pPr algn="l" eaLnBrk="1" hangingPunct="1"/>
            <a:r>
              <a:rPr lang="en-US" altLang="en-US" sz="1100" dirty="0">
                <a:latin typeface="Courier New" charset="0"/>
              </a:rPr>
              <a:t>  </a:t>
            </a:r>
            <a:r>
              <a:rPr lang="en-US" altLang="en-US" sz="1100" b="1" dirty="0">
                <a:latin typeface="Courier New" charset="0"/>
              </a:rPr>
              <a:t>/</a:t>
            </a:r>
            <a:r>
              <a:rPr lang="en-US" altLang="en-US" sz="1100" b="1" dirty="0" err="1">
                <a:latin typeface="Courier New" charset="0"/>
              </a:rPr>
              <a:t>etc</a:t>
            </a:r>
            <a:r>
              <a:rPr lang="en-US" altLang="en-US" sz="1100" dirty="0">
                <a:latin typeface="Courier New" charset="0"/>
              </a:rPr>
              <a:t>		# Repository for </a:t>
            </a:r>
            <a:r>
              <a:rPr lang="en-US" altLang="en-US" sz="1100" dirty="0" err="1">
                <a:latin typeface="Courier New" charset="0"/>
              </a:rPr>
              <a:t>config</a:t>
            </a:r>
            <a:r>
              <a:rPr lang="en-US" altLang="en-US" sz="1100" dirty="0">
                <a:latin typeface="Courier New" charset="0"/>
              </a:rPr>
              <a:t> files</a:t>
            </a:r>
          </a:p>
          <a:p>
            <a:pPr algn="l" eaLnBrk="1" hangingPunct="1"/>
            <a:r>
              <a:rPr lang="en-US" altLang="en-US" sz="1100" b="1" dirty="0">
                <a:latin typeface="Courier New" charset="0"/>
              </a:rPr>
              <a:t>    </a:t>
            </a:r>
            <a:r>
              <a:rPr lang="en-US" altLang="en-US" sz="1100" b="1" dirty="0" err="1">
                <a:latin typeface="Courier New" charset="0"/>
              </a:rPr>
              <a:t>inittab</a:t>
            </a:r>
            <a:r>
              <a:rPr lang="en-US" altLang="en-US" sz="1100" dirty="0">
                <a:latin typeface="Courier New" charset="0"/>
              </a:rPr>
              <a:t>	# The </a:t>
            </a:r>
            <a:r>
              <a:rPr lang="en-US" altLang="en-US" sz="1100" dirty="0" err="1">
                <a:latin typeface="Courier New" charset="0"/>
              </a:rPr>
              <a:t>inittab</a:t>
            </a:r>
            <a:endParaRPr lang="en-US" altLang="en-US" sz="1100" dirty="0">
              <a:latin typeface="Courier New" charset="0"/>
            </a:endParaRPr>
          </a:p>
          <a:p>
            <a:pPr algn="l" eaLnBrk="1" hangingPunct="1"/>
            <a:r>
              <a:rPr lang="en-US" altLang="en-US" sz="1100" b="1" dirty="0">
                <a:latin typeface="Courier New" charset="0"/>
              </a:rPr>
              <a:t>    /</a:t>
            </a:r>
            <a:r>
              <a:rPr lang="en-US" altLang="en-US" sz="1100" b="1" dirty="0" err="1">
                <a:latin typeface="Courier New" charset="0"/>
              </a:rPr>
              <a:t>init.d</a:t>
            </a:r>
            <a:r>
              <a:rPr lang="en-US" altLang="en-US" sz="1100" dirty="0">
                <a:latin typeface="Courier New" charset="0"/>
              </a:rPr>
              <a:t>	# Repository for </a:t>
            </a:r>
            <a:r>
              <a:rPr lang="en-US" altLang="en-US" sz="1100" dirty="0" err="1">
                <a:latin typeface="Courier New" charset="0"/>
              </a:rPr>
              <a:t>init</a:t>
            </a:r>
            <a:r>
              <a:rPr lang="en-US" altLang="en-US" sz="1100" dirty="0">
                <a:latin typeface="Courier New" charset="0"/>
              </a:rPr>
              <a:t> </a:t>
            </a:r>
            <a:r>
              <a:rPr lang="en-US" altLang="en-US" sz="1100" dirty="0" err="1">
                <a:latin typeface="Courier New" charset="0"/>
              </a:rPr>
              <a:t>config</a:t>
            </a:r>
            <a:r>
              <a:rPr lang="en-US" altLang="en-US" sz="1100" dirty="0">
                <a:latin typeface="Courier New" charset="0"/>
              </a:rPr>
              <a:t> files</a:t>
            </a:r>
          </a:p>
          <a:p>
            <a:pPr algn="l" eaLnBrk="1" hangingPunct="1"/>
            <a:r>
              <a:rPr lang="en-US" altLang="en-US" sz="1100" b="1" dirty="0">
                <a:latin typeface="Courier New" charset="0"/>
              </a:rPr>
              <a:t>      </a:t>
            </a:r>
            <a:r>
              <a:rPr lang="en-US" altLang="en-US" sz="1100" b="1" dirty="0" err="1">
                <a:latin typeface="Courier New" charset="0"/>
              </a:rPr>
              <a:t>rcS</a:t>
            </a:r>
            <a:r>
              <a:rPr lang="en-US" altLang="en-US" sz="1100" dirty="0">
                <a:latin typeface="Courier New" charset="0"/>
              </a:rPr>
              <a:t>		# The script run at </a:t>
            </a:r>
            <a:r>
              <a:rPr lang="en-US" altLang="en-US" sz="1100" dirty="0" err="1">
                <a:latin typeface="Courier New" charset="0"/>
              </a:rPr>
              <a:t>sysinit</a:t>
            </a:r>
            <a:endParaRPr lang="en-US" altLang="en-US" sz="1100" dirty="0">
              <a:latin typeface="Courier New" charset="0"/>
            </a:endParaRPr>
          </a:p>
          <a:p>
            <a:pPr algn="l" eaLnBrk="1" hangingPunct="1"/>
            <a:r>
              <a:rPr lang="en-US" altLang="en-US" sz="1100" dirty="0">
                <a:latin typeface="Courier New" charset="0"/>
              </a:rPr>
              <a:t>  </a:t>
            </a:r>
            <a:r>
              <a:rPr lang="en-US" altLang="en-US" sz="1100" b="1" dirty="0">
                <a:latin typeface="Courier New" charset="0"/>
              </a:rPr>
              <a:t>/proc</a:t>
            </a:r>
            <a:r>
              <a:rPr lang="en-US" altLang="en-US" sz="1100" dirty="0">
                <a:latin typeface="Courier New" charset="0"/>
              </a:rPr>
              <a:t>		# The /proc file system</a:t>
            </a:r>
          </a:p>
          <a:p>
            <a:pPr algn="l" eaLnBrk="1" hangingPunct="1"/>
            <a:r>
              <a:rPr lang="en-US" altLang="en-US" sz="1100" dirty="0">
                <a:latin typeface="Courier New" charset="0"/>
              </a:rPr>
              <a:t>  </a:t>
            </a:r>
            <a:r>
              <a:rPr lang="en-US" altLang="en-US" sz="1100" b="1" dirty="0">
                <a:latin typeface="Courier New" charset="0"/>
              </a:rPr>
              <a:t>/</a:t>
            </a:r>
            <a:r>
              <a:rPr lang="en-US" altLang="en-US" sz="1100" b="1" dirty="0" err="1">
                <a:latin typeface="Courier New" charset="0"/>
              </a:rPr>
              <a:t>sbin</a:t>
            </a:r>
            <a:r>
              <a:rPr lang="en-US" altLang="en-US" sz="1100" dirty="0">
                <a:latin typeface="Courier New" charset="0"/>
              </a:rPr>
              <a:t>		# Repository for accessory binary files</a:t>
            </a:r>
          </a:p>
          <a:p>
            <a:pPr algn="l" eaLnBrk="1" hangingPunct="1"/>
            <a:r>
              <a:rPr lang="en-US" altLang="en-US" sz="1100" dirty="0">
                <a:latin typeface="Courier New" charset="0"/>
              </a:rPr>
              <a:t>  </a:t>
            </a:r>
            <a:r>
              <a:rPr lang="en-US" altLang="en-US" sz="1100" b="1" dirty="0">
                <a:latin typeface="Courier New" charset="0"/>
              </a:rPr>
              <a:t>/</a:t>
            </a:r>
            <a:r>
              <a:rPr lang="en-US" altLang="en-US" sz="1100" b="1" dirty="0" err="1">
                <a:latin typeface="Courier New" charset="0"/>
              </a:rPr>
              <a:t>tmp</a:t>
            </a:r>
            <a:r>
              <a:rPr lang="en-US" altLang="en-US" sz="1100" dirty="0">
                <a:latin typeface="Courier New" charset="0"/>
              </a:rPr>
              <a:t>		# Repository for temporary files</a:t>
            </a:r>
          </a:p>
          <a:p>
            <a:pPr algn="l" eaLnBrk="1" hangingPunct="1"/>
            <a:r>
              <a:rPr lang="en-US" altLang="en-US" sz="1100" dirty="0">
                <a:latin typeface="Courier New" charset="0"/>
              </a:rPr>
              <a:t>  </a:t>
            </a:r>
            <a:r>
              <a:rPr lang="en-US" altLang="en-US" sz="1100" b="1" dirty="0">
                <a:latin typeface="Courier New" charset="0"/>
              </a:rPr>
              <a:t>/</a:t>
            </a:r>
            <a:r>
              <a:rPr lang="en-US" altLang="en-US" sz="1100" b="1" dirty="0" err="1">
                <a:latin typeface="Courier New" charset="0"/>
              </a:rPr>
              <a:t>var</a:t>
            </a:r>
            <a:r>
              <a:rPr lang="en-US" altLang="en-US" sz="1100" dirty="0">
                <a:latin typeface="Courier New" charset="0"/>
              </a:rPr>
              <a:t>		# Repository for optional </a:t>
            </a:r>
            <a:r>
              <a:rPr lang="en-US" altLang="en-US" sz="1100" dirty="0" err="1">
                <a:latin typeface="Courier New" charset="0"/>
              </a:rPr>
              <a:t>config</a:t>
            </a:r>
            <a:r>
              <a:rPr lang="en-US" altLang="en-US" sz="1100" dirty="0">
                <a:latin typeface="Courier New" charset="0"/>
              </a:rPr>
              <a:t> files</a:t>
            </a:r>
          </a:p>
          <a:p>
            <a:pPr algn="l" eaLnBrk="1" hangingPunct="1"/>
            <a:r>
              <a:rPr lang="en-US" altLang="en-US" sz="1100" dirty="0">
                <a:latin typeface="Courier New" charset="0"/>
              </a:rPr>
              <a:t>  </a:t>
            </a:r>
            <a:r>
              <a:rPr lang="en-US" altLang="en-US" sz="1100" b="1" dirty="0">
                <a:latin typeface="Courier New" charset="0"/>
              </a:rPr>
              <a:t>/</a:t>
            </a:r>
            <a:r>
              <a:rPr lang="en-US" altLang="en-US" sz="1100" b="1" dirty="0" err="1">
                <a:latin typeface="Courier New" charset="0"/>
              </a:rPr>
              <a:t>usr</a:t>
            </a:r>
            <a:r>
              <a:rPr lang="en-US" altLang="en-US" sz="1100" dirty="0">
                <a:latin typeface="Courier New" charset="0"/>
              </a:rPr>
              <a:t>		# Repository for user files</a:t>
            </a:r>
          </a:p>
          <a:p>
            <a:pPr algn="l" eaLnBrk="1" hangingPunct="1"/>
            <a:r>
              <a:rPr lang="en-US" altLang="en-US" sz="1100" dirty="0">
                <a:latin typeface="Courier New" charset="0"/>
              </a:rPr>
              <a:t>  </a:t>
            </a:r>
            <a:r>
              <a:rPr lang="en-US" altLang="en-US" sz="1100" b="1" dirty="0">
                <a:latin typeface="Courier New" charset="0"/>
              </a:rPr>
              <a:t>/sys</a:t>
            </a:r>
            <a:r>
              <a:rPr lang="en-US" altLang="en-US" sz="1100" dirty="0">
                <a:latin typeface="Courier New" charset="0"/>
              </a:rPr>
              <a:t>		# Repository for system service files</a:t>
            </a:r>
          </a:p>
          <a:p>
            <a:pPr algn="l" eaLnBrk="1" hangingPunct="1"/>
            <a:r>
              <a:rPr lang="en-US" altLang="en-US" sz="1100" dirty="0">
                <a:latin typeface="Courier New" charset="0"/>
              </a:rPr>
              <a:t>  </a:t>
            </a:r>
            <a:r>
              <a:rPr lang="en-US" altLang="en-US" sz="1100" b="1" dirty="0">
                <a:latin typeface="Courier New" charset="0"/>
              </a:rPr>
              <a:t>/media</a:t>
            </a:r>
            <a:r>
              <a:rPr lang="en-US" altLang="en-US" sz="1100" dirty="0">
                <a:latin typeface="Courier New" charset="0"/>
              </a:rPr>
              <a:t>		# Mount point for removable storage</a:t>
            </a:r>
          </a:p>
        </p:txBody>
      </p:sp>
    </p:spTree>
    <p:extLst>
      <p:ext uri="{BB962C8B-B14F-4D97-AF65-F5344CB8AC3E}">
        <p14:creationId xmlns:p14="http://schemas.microsoft.com/office/powerpoint/2010/main" val="699701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a:ea typeface="ＭＳ Ｐゴシック"/>
              </a:rPr>
              <a:t>The Workflow</a:t>
            </a:r>
            <a:endParaRPr lang="en-US"/>
          </a:p>
          <a:p>
            <a:r>
              <a:rPr lang="en-US" dirty="0">
                <a:solidFill>
                  <a:srgbClr val="128CAB"/>
                </a:solidFill>
                <a:ea typeface="ＭＳ Ｐゴシック"/>
              </a:rPr>
              <a:t>The Build Systems</a:t>
            </a:r>
          </a:p>
          <a:p>
            <a:r>
              <a:rPr lang="en-US" dirty="0" err="1"/>
              <a:t>Yocto</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130319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Build Systems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Building an embedded Linux system is a complex operation.</a:t>
            </a:r>
            <a:endParaRPr lang="en-US" altLang="en-US" dirty="0">
              <a:ea typeface="ＭＳ Ｐゴシック" panose="020B0600070205080204" pitchFamily="34" charset="-128"/>
            </a:endParaRPr>
          </a:p>
          <a:p>
            <a:pPr lvl="1"/>
            <a:r>
              <a:rPr lang="en-US" dirty="0"/>
              <a:t>Multiple sources shall be configured and compiled.</a:t>
            </a:r>
          </a:p>
          <a:p>
            <a:pPr lvl="1"/>
            <a:r>
              <a:rPr lang="en-US" dirty="0"/>
              <a:t>Root file system shall be updated at each build through a non-trivial task.</a:t>
            </a:r>
          </a:p>
          <a:p>
            <a:pPr lvl="1"/>
            <a:r>
              <a:rPr lang="en-US" dirty="0"/>
              <a:t>In cases of multiple </a:t>
            </a:r>
            <a:r>
              <a:rPr lang="en-US" dirty="0" err="1"/>
              <a:t>hw</a:t>
            </a:r>
            <a:r>
              <a:rPr lang="en-US" dirty="0"/>
              <a:t> and multiple </a:t>
            </a:r>
            <a:r>
              <a:rPr lang="en-US" dirty="0" err="1"/>
              <a:t>hw</a:t>
            </a:r>
            <a:r>
              <a:rPr lang="en-US" dirty="0"/>
              <a:t> configurations, manual iteration is needed.</a:t>
            </a:r>
          </a:p>
          <a:p>
            <a:r>
              <a:rPr lang="en-US" dirty="0"/>
              <a:t>Tools, known as </a:t>
            </a:r>
            <a:r>
              <a:rPr lang="en-US" dirty="0">
                <a:solidFill>
                  <a:srgbClr val="128CAB"/>
                </a:solidFill>
              </a:rPr>
              <a:t>build systems</a:t>
            </a:r>
            <a:r>
              <a:rPr lang="en-US" dirty="0"/>
              <a:t>, are available to automate such operations.</a:t>
            </a:r>
          </a:p>
          <a:p>
            <a:r>
              <a:rPr lang="is-IS" dirty="0"/>
              <a:t>Build systems takes care of:</a:t>
            </a:r>
            <a:endParaRPr lang="en-US" altLang="en-US" dirty="0">
              <a:ea typeface="ＭＳ Ｐゴシック" panose="020B0600070205080204" pitchFamily="34" charset="-128"/>
            </a:endParaRPr>
          </a:p>
          <a:p>
            <a:pPr lvl="1"/>
            <a:r>
              <a:rPr lang="is-IS" dirty="0"/>
              <a:t>Building the cross compiler for the selected embedded system CPU</a:t>
            </a:r>
          </a:p>
          <a:p>
            <a:pPr lvl="1"/>
            <a:r>
              <a:rPr lang="is-IS" dirty="0"/>
              <a:t>Managing bootloader/kernel/system programs configuration</a:t>
            </a:r>
          </a:p>
          <a:p>
            <a:pPr lvl="1"/>
            <a:r>
              <a:rPr lang="is-IS" dirty="0"/>
              <a:t>Managing bootloader/kernel/system program build</a:t>
            </a:r>
          </a:p>
          <a:p>
            <a:pPr lvl="1"/>
            <a:r>
              <a:rPr lang="is-IS" dirty="0"/>
              <a:t>Preparation of the root file system and boot device image preparation</a:t>
            </a:r>
            <a:endParaRPr lang="en-US" dirty="0"/>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930764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Build Systems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Several solutions are available.</a:t>
            </a:r>
          </a:p>
          <a:p>
            <a:r>
              <a:rPr lang="en-US" dirty="0" err="1"/>
              <a:t>Hw</a:t>
            </a:r>
            <a:r>
              <a:rPr lang="en-US" dirty="0"/>
              <a:t>-vendor custom-built systems</a:t>
            </a:r>
            <a:endParaRPr lang="en-US" altLang="en-US" dirty="0">
              <a:ea typeface="ＭＳ Ｐゴシック" panose="020B0600070205080204" pitchFamily="34" charset="-128"/>
            </a:endParaRPr>
          </a:p>
          <a:p>
            <a:pPr lvl="1"/>
            <a:r>
              <a:rPr lang="en-US" dirty="0" err="1"/>
              <a:t>NXP</a:t>
            </a:r>
            <a:r>
              <a:rPr lang="en-US" dirty="0"/>
              <a:t> Linux Target Image Builder (</a:t>
            </a:r>
            <a:r>
              <a:rPr lang="en-US" dirty="0" err="1"/>
              <a:t>LTIB</a:t>
            </a:r>
            <a:r>
              <a:rPr lang="en-US" dirty="0"/>
              <a:t>)</a:t>
            </a:r>
          </a:p>
          <a:p>
            <a:r>
              <a:rPr lang="en-US" dirty="0"/>
              <a:t>Open-source build systems, among which the most popular are </a:t>
            </a:r>
            <a:r>
              <a:rPr lang="en-US" dirty="0" err="1">
                <a:solidFill>
                  <a:srgbClr val="128CAB"/>
                </a:solidFill>
              </a:rPr>
              <a:t>Yocto</a:t>
            </a:r>
            <a:r>
              <a:rPr lang="en-US" dirty="0"/>
              <a:t> and </a:t>
            </a:r>
            <a:r>
              <a:rPr lang="en-US" dirty="0" err="1">
                <a:solidFill>
                  <a:srgbClr val="128CAB"/>
                </a:solidFill>
              </a:rPr>
              <a:t>Buildroot</a:t>
            </a:r>
            <a:endParaRPr lang="en-US" altLang="en-US" dirty="0">
              <a:ea typeface="ＭＳ Ｐゴシック" panose="020B0600070205080204" pitchFamily="34" charset="-128"/>
            </a:endParaRPr>
          </a:p>
          <a:p>
            <a:pPr lvl="1"/>
            <a:r>
              <a:rPr lang="en-US" dirty="0"/>
              <a:t>Very actively maintained and developed projects </a:t>
            </a:r>
          </a:p>
          <a:p>
            <a:pPr lvl="1"/>
            <a:r>
              <a:rPr lang="en-US" dirty="0"/>
              <a:t>Widely used in the industry</a:t>
            </a:r>
          </a:p>
          <a:p>
            <a:pPr lvl="1"/>
            <a:r>
              <a:rPr lang="en-US" dirty="0"/>
              <a:t>Built from scratch from source toolchain, bootloaders, kernel, and root file system</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256867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err="1"/>
              <a:t>Buildroot</a:t>
            </a:r>
            <a:r>
              <a:rPr lang="en-US" dirty="0"/>
              <a:t> vs </a:t>
            </a:r>
            <a:r>
              <a:rPr lang="en-US" dirty="0" err="1"/>
              <a:t>Yocto</a:t>
            </a:r>
            <a:r>
              <a:rPr lang="en-US" dirty="0"/>
              <a:t>: General Aspects</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626394"/>
            <a:ext cx="5332413" cy="3605212"/>
          </a:xfrm>
        </p:spPr>
        <p:txBody>
          <a:bodyPr wrap="square" numCol="1" anchor="t" anchorCtr="0" compatLnSpc="1">
            <a:prstTxWarp prst="textNoShape">
              <a:avLst/>
            </a:prstTxWarp>
          </a:bodyPr>
          <a:lstStyle/>
          <a:p>
            <a:r>
              <a:rPr lang="en-US" dirty="0" err="1"/>
              <a:t>Buildroot</a:t>
            </a:r>
            <a:endParaRPr lang="en-US" altLang="en-US" dirty="0">
              <a:ea typeface="ＭＳ Ｐゴシック" panose="020B0600070205080204" pitchFamily="34" charset="-128"/>
            </a:endParaRPr>
          </a:p>
          <a:p>
            <a:pPr lvl="1"/>
            <a:r>
              <a:rPr lang="en-US" dirty="0"/>
              <a:t>Focus on simplicity</a:t>
            </a:r>
          </a:p>
          <a:p>
            <a:pPr lvl="1"/>
            <a:r>
              <a:rPr lang="en-US" dirty="0"/>
              <a:t>Use existing technologies: </a:t>
            </a:r>
            <a:r>
              <a:rPr lang="en-US" dirty="0" err="1"/>
              <a:t>kconfig</a:t>
            </a:r>
            <a:r>
              <a:rPr lang="en-US" dirty="0"/>
              <a:t>, make</a:t>
            </a:r>
          </a:p>
          <a:p>
            <a:pPr lvl="1"/>
            <a:r>
              <a:rPr lang="en-US" dirty="0"/>
              <a:t>Open community</a:t>
            </a: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626394"/>
            <a:ext cx="5330825" cy="3605212"/>
          </a:xfrm>
        </p:spPr>
        <p:txBody>
          <a:bodyPr wrap="square" numCol="1" anchor="t" anchorCtr="0" compatLnSpc="1">
            <a:prstTxWarp prst="textNoShape">
              <a:avLst/>
            </a:prstTxWarp>
          </a:bodyPr>
          <a:lstStyle/>
          <a:p>
            <a:r>
              <a:rPr lang="en-US" dirty="0" err="1"/>
              <a:t>Yocto</a:t>
            </a:r>
            <a:endParaRPr lang="en-US" altLang="en-US" dirty="0">
              <a:ea typeface="ＭＳ Ｐゴシック" panose="020B0600070205080204" pitchFamily="34" charset="-128"/>
            </a:endParaRPr>
          </a:p>
          <a:p>
            <a:pPr lvl="1"/>
            <a:r>
              <a:rPr lang="en-US" dirty="0"/>
              <a:t>Provides core recipes and use layers to get support for more packages and more machines</a:t>
            </a:r>
          </a:p>
          <a:p>
            <a:pPr lvl="1"/>
            <a:r>
              <a:rPr lang="en-US" dirty="0"/>
              <a:t>Custom modifications should stay in a separate layer</a:t>
            </a:r>
          </a:p>
          <a:p>
            <a:pPr lvl="1"/>
            <a:r>
              <a:rPr lang="en-US" dirty="0"/>
              <a:t>Versatile build system: tries to be as flexible as possible and to handle most use cases</a:t>
            </a:r>
          </a:p>
          <a:p>
            <a:pPr lvl="1"/>
            <a:r>
              <a:rPr lang="en-US" dirty="0"/>
              <a:t>Open community but governed by the </a:t>
            </a:r>
            <a:r>
              <a:rPr lang="en-US" dirty="0" err="1"/>
              <a:t>Yocto</a:t>
            </a:r>
            <a:r>
              <a:rPr lang="en-US" dirty="0"/>
              <a:t> Project Advisory Board</a:t>
            </a:r>
            <a:endParaRPr lang="en-US" altLang="en-US" dirty="0">
              <a:ea typeface="ＭＳ Ｐゴシック" panose="020B0600070205080204" pitchFamily="34"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err="1"/>
              <a:t>Buildroot</a:t>
            </a:r>
            <a:r>
              <a:rPr lang="en-US" dirty="0"/>
              <a:t> vs </a:t>
            </a:r>
            <a:r>
              <a:rPr lang="en-US" dirty="0" err="1"/>
              <a:t>Yocto</a:t>
            </a:r>
            <a:r>
              <a:rPr lang="en-US" dirty="0"/>
              <a:t>: Configuration</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626394"/>
            <a:ext cx="5332413" cy="3605212"/>
          </a:xfrm>
        </p:spPr>
        <p:txBody>
          <a:bodyPr wrap="square" numCol="1" anchor="t" anchorCtr="0" compatLnSpc="1">
            <a:prstTxWarp prst="textNoShape">
              <a:avLst/>
            </a:prstTxWarp>
          </a:bodyPr>
          <a:lstStyle/>
          <a:p>
            <a:r>
              <a:rPr lang="en-US" dirty="0" err="1"/>
              <a:t>Buildroot</a:t>
            </a:r>
            <a:r>
              <a:rPr lang="en-US" dirty="0"/>
              <a:t> reuses </a:t>
            </a:r>
            <a:r>
              <a:rPr lang="en-US" dirty="0" err="1"/>
              <a:t>kconfig</a:t>
            </a:r>
            <a:r>
              <a:rPr lang="en-US" dirty="0"/>
              <a:t> from the Linux kernel</a:t>
            </a:r>
            <a:endParaRPr lang="en-US" altLang="en-US" dirty="0">
              <a:ea typeface="ＭＳ Ｐゴシック" panose="020B0600070205080204" pitchFamily="34" charset="-128"/>
            </a:endParaRPr>
          </a:p>
          <a:p>
            <a:pPr lvl="1"/>
            <a:r>
              <a:rPr lang="en-US" dirty="0"/>
              <a:t>Entire configuration stored in a single </a:t>
            </a:r>
            <a:r>
              <a:rPr lang="en-US" sz="1600" dirty="0">
                <a:latin typeface="Courier New" charset="0"/>
                <a:ea typeface="Courier New" charset="0"/>
                <a:cs typeface="Courier New" charset="0"/>
              </a:rPr>
              <a:t>.config/</a:t>
            </a:r>
            <a:r>
              <a:rPr lang="en-US" sz="1600" dirty="0" err="1">
                <a:latin typeface="Courier New" charset="0"/>
                <a:ea typeface="Courier New" charset="0"/>
                <a:cs typeface="Courier New" charset="0"/>
              </a:rPr>
              <a:t>defconfig</a:t>
            </a:r>
            <a:endParaRPr lang="en-US" dirty="0">
              <a:latin typeface="Courier New" charset="0"/>
              <a:ea typeface="Courier New" charset="0"/>
              <a:cs typeface="Courier New" charset="0"/>
            </a:endParaRPr>
          </a:p>
          <a:p>
            <a:pPr lvl="1"/>
            <a:r>
              <a:rPr lang="en-US" dirty="0"/>
              <a:t>Defines all aspects of the system: architecture, kernel version/config, bootloaders, user-space packages, </a:t>
            </a:r>
            <a:r>
              <a:rPr lang="is-IS" dirty="0"/>
              <a:t>etc.</a:t>
            </a:r>
            <a:endParaRPr lang="en-US" dirty="0"/>
          </a:p>
          <a:p>
            <a:pPr lvl="1"/>
            <a:r>
              <a:rPr lang="en-US" dirty="0"/>
              <a:t>Building the same system for different machines to be handled separately</a:t>
            </a: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626394"/>
            <a:ext cx="5330825" cy="3605212"/>
          </a:xfrm>
        </p:spPr>
        <p:txBody>
          <a:bodyPr wrap="square" numCol="1" anchor="t" anchorCtr="0" compatLnSpc="1">
            <a:prstTxWarp prst="textNoShape">
              <a:avLst/>
            </a:prstTxWarp>
          </a:bodyPr>
          <a:lstStyle/>
          <a:p>
            <a:r>
              <a:rPr lang="en-US" dirty="0"/>
              <a:t>In </a:t>
            </a:r>
            <a:r>
              <a:rPr lang="en-US" dirty="0" err="1"/>
              <a:t>Yocto</a:t>
            </a:r>
            <a:r>
              <a:rPr lang="en-US" dirty="0"/>
              <a:t> the configuration is separated in multiple parts:</a:t>
            </a:r>
            <a:endParaRPr lang="en-US" altLang="en-US" dirty="0">
              <a:ea typeface="ＭＳ Ｐゴシック" panose="020B0600070205080204" pitchFamily="34" charset="-128"/>
            </a:endParaRPr>
          </a:p>
          <a:p>
            <a:pPr lvl="1"/>
            <a:r>
              <a:rPr lang="en-US" dirty="0">
                <a:solidFill>
                  <a:srgbClr val="128CAB"/>
                </a:solidFill>
              </a:rPr>
              <a:t>Distribution</a:t>
            </a:r>
            <a:r>
              <a:rPr lang="en-US" dirty="0"/>
              <a:t> configuration (general configuration, toolchain selection, etc.)</a:t>
            </a:r>
          </a:p>
          <a:p>
            <a:pPr lvl="1"/>
            <a:r>
              <a:rPr lang="en-US" dirty="0">
                <a:solidFill>
                  <a:srgbClr val="128CAB"/>
                </a:solidFill>
              </a:rPr>
              <a:t>Machine </a:t>
            </a:r>
            <a:r>
              <a:rPr lang="en-US" dirty="0"/>
              <a:t>configuration (defines the </a:t>
            </a:r>
            <a:r>
              <a:rPr lang="en-US" dirty="0" err="1"/>
              <a:t>hw</a:t>
            </a:r>
            <a:r>
              <a:rPr lang="en-US" dirty="0"/>
              <a:t> architecture, </a:t>
            </a:r>
            <a:r>
              <a:rPr lang="en-US" dirty="0" err="1"/>
              <a:t>hw</a:t>
            </a:r>
            <a:r>
              <a:rPr lang="en-US" dirty="0"/>
              <a:t> features, </a:t>
            </a:r>
            <a:r>
              <a:rPr lang="en-US" dirty="0" err="1"/>
              <a:t>BSP</a:t>
            </a:r>
            <a:r>
              <a:rPr lang="en-US" dirty="0"/>
              <a:t>)</a:t>
            </a:r>
          </a:p>
          <a:p>
            <a:pPr lvl="1"/>
            <a:r>
              <a:rPr lang="en-US" dirty="0">
                <a:solidFill>
                  <a:srgbClr val="128CAB"/>
                </a:solidFill>
              </a:rPr>
              <a:t>Image</a:t>
            </a:r>
            <a:r>
              <a:rPr lang="en-US" dirty="0"/>
              <a:t> recipe (what system programs should be installed on the target)</a:t>
            </a:r>
          </a:p>
          <a:p>
            <a:pPr lvl="1"/>
            <a:r>
              <a:rPr lang="en-US" dirty="0"/>
              <a:t>Local configuration (e.g., how many threads to use when compiling, whether to remove build artifacts, etc.)</a:t>
            </a:r>
          </a:p>
          <a:p>
            <a:pPr lvl="1"/>
            <a:r>
              <a:rPr lang="en-US" dirty="0"/>
              <a:t>Allows to build the same image for different machines or using different distributions or different images for one machine</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702488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err="1"/>
              <a:t>Buildroot</a:t>
            </a:r>
            <a:r>
              <a:rPr lang="en-US" dirty="0"/>
              <a:t> vs </a:t>
            </a:r>
            <a:r>
              <a:rPr lang="en-US" dirty="0" err="1"/>
              <a:t>Yocto</a:t>
            </a:r>
            <a:r>
              <a:rPr lang="en-US" dirty="0"/>
              <a:t>: Purpose</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626394"/>
            <a:ext cx="5332413" cy="3605212"/>
          </a:xfrm>
        </p:spPr>
        <p:txBody>
          <a:bodyPr wrap="square" numCol="1" anchor="t" anchorCtr="0" compatLnSpc="1">
            <a:prstTxWarp prst="textNoShape">
              <a:avLst/>
            </a:prstTxWarp>
          </a:bodyPr>
          <a:lstStyle/>
          <a:p>
            <a:r>
              <a:rPr lang="en-US" dirty="0" err="1"/>
              <a:t>Buildroot</a:t>
            </a:r>
            <a:r>
              <a:rPr lang="en-US" dirty="0"/>
              <a:t> is intended for</a:t>
            </a:r>
            <a:endParaRPr lang="en-US" altLang="en-US" dirty="0">
              <a:ea typeface="ＭＳ Ｐゴシック" panose="020B0600070205080204" pitchFamily="34" charset="-128"/>
            </a:endParaRPr>
          </a:p>
          <a:p>
            <a:pPr lvl="1"/>
            <a:r>
              <a:rPr lang="en-US" dirty="0"/>
              <a:t>Very small root file systems (&lt; 8 MB)</a:t>
            </a:r>
          </a:p>
          <a:p>
            <a:pPr lvl="1"/>
            <a:r>
              <a:rPr lang="en-US" dirty="0"/>
              <a:t>Simple embedded system (with limited number of system programs)</a:t>
            </a:r>
          </a:p>
          <a:p>
            <a:pPr lvl="1"/>
            <a:r>
              <a:rPr lang="en-US" dirty="0"/>
              <a:t>Non-dedicated build engineers (e.g., engineers that are not focused only in building embedded Linux)</a:t>
            </a: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626394"/>
            <a:ext cx="5330825" cy="3605212"/>
          </a:xfrm>
        </p:spPr>
        <p:txBody>
          <a:bodyPr wrap="square" numCol="1" anchor="t" anchorCtr="0" compatLnSpc="1">
            <a:prstTxWarp prst="textNoShape">
              <a:avLst/>
            </a:prstTxWarp>
          </a:bodyPr>
          <a:lstStyle/>
          <a:p>
            <a:r>
              <a:rPr lang="en-US" dirty="0" err="1"/>
              <a:t>Yocto</a:t>
            </a:r>
            <a:r>
              <a:rPr lang="en-US" dirty="0"/>
              <a:t> </a:t>
            </a:r>
            <a:r>
              <a:rPr lang="en-US"/>
              <a:t>is intended </a:t>
            </a:r>
            <a:r>
              <a:rPr lang="en-US" dirty="0"/>
              <a:t>for</a:t>
            </a:r>
            <a:endParaRPr lang="en-US" altLang="en-US" dirty="0">
              <a:ea typeface="ＭＳ Ｐゴシック" panose="020B0600070205080204" pitchFamily="34" charset="-128"/>
            </a:endParaRPr>
          </a:p>
          <a:p>
            <a:pPr lvl="1"/>
            <a:r>
              <a:rPr lang="en-US" dirty="0"/>
              <a:t>Large root file systems</a:t>
            </a:r>
          </a:p>
          <a:p>
            <a:pPr lvl="1"/>
            <a:r>
              <a:rPr lang="en-US" dirty="0"/>
              <a:t>Large embedded systems</a:t>
            </a:r>
          </a:p>
          <a:p>
            <a:pPr lvl="1"/>
            <a:r>
              <a:rPr lang="en-US" dirty="0"/>
              <a:t>Support for multiple </a:t>
            </a:r>
            <a:r>
              <a:rPr lang="en-US" dirty="0" err="1"/>
              <a:t>hw</a:t>
            </a:r>
            <a:r>
              <a:rPr lang="en-US" dirty="0"/>
              <a:t> configurations</a:t>
            </a:r>
          </a:p>
          <a:p>
            <a:pPr lvl="1"/>
            <a:r>
              <a:rPr lang="en-US" dirty="0"/>
              <a:t>Dedicated build engineers</a:t>
            </a:r>
            <a:endParaRPr lang="en-US" altLang="en-US" dirty="0">
              <a:ea typeface="ＭＳ Ｐゴシック" panose="020B0600070205080204" pitchFamily="34" charset="-128"/>
            </a:endParaRPr>
          </a:p>
        </p:txBody>
      </p:sp>
      <p:pic>
        <p:nvPicPr>
          <p:cNvPr id="6" name="Picture 5" descr="Yocto logo">
            <a:extLst>
              <a:ext uri="{FF2B5EF4-FFF2-40B4-BE49-F238E27FC236}">
                <a16:creationId xmlns:a16="http://schemas.microsoft.com/office/drawing/2014/main" id="{CE477425-1B8A-4302-9FFD-3CB605822A49}"/>
              </a:ext>
            </a:extLst>
          </p:cNvPr>
          <p:cNvPicPr>
            <a:picLocks noChangeAspect="1"/>
          </p:cNvPicPr>
          <p:nvPr/>
        </p:nvPicPr>
        <p:blipFill>
          <a:blip r:embed="rId3"/>
          <a:stretch>
            <a:fillRect/>
          </a:stretch>
        </p:blipFill>
        <p:spPr>
          <a:xfrm>
            <a:off x="7319169" y="5003800"/>
            <a:ext cx="2299539" cy="869415"/>
          </a:xfrm>
          <a:prstGeom prst="rect">
            <a:avLst/>
          </a:prstGeom>
        </p:spPr>
      </p:pic>
      <p:sp>
        <p:nvSpPr>
          <p:cNvPr id="2" name="TextBox 1">
            <a:extLst>
              <a:ext uri="{FF2B5EF4-FFF2-40B4-BE49-F238E27FC236}">
                <a16:creationId xmlns:a16="http://schemas.microsoft.com/office/drawing/2014/main" id="{F45B6AC0-9137-DAE4-D041-34BF4EF131CD}"/>
              </a:ext>
            </a:extLst>
          </p:cNvPr>
          <p:cNvSpPr txBox="1"/>
          <p:nvPr/>
        </p:nvSpPr>
        <p:spPr>
          <a:xfrm>
            <a:off x="8070724" y="5939397"/>
            <a:ext cx="2407429" cy="180604"/>
          </a:xfrm>
          <a:prstGeom prst="rect">
            <a:avLst/>
          </a:prstGeom>
        </p:spPr>
        <p:txBody>
          <a:bodyPr vert="horz" wrap="none" lIns="0" tIns="0" rIns="0" bIns="0" rtlCol="0" anchor="t">
            <a:normAutofit/>
          </a:bodyPr>
          <a:lstStyle/>
          <a:p>
            <a:r>
              <a:rPr lang="en-GB" sz="1100" dirty="0"/>
              <a:t>public domain logo from </a:t>
            </a:r>
            <a:r>
              <a:rPr lang="en-GB" sz="1100" dirty="0" err="1"/>
              <a:t>yoctoproject.org</a:t>
            </a:r>
            <a:endParaRPr lang="en-US" sz="1100" dirty="0"/>
          </a:p>
        </p:txBody>
      </p:sp>
      <p:pic>
        <p:nvPicPr>
          <p:cNvPr id="8" name="Picture 7" descr="A yellow hard hat with a square on the side&#10;">
            <a:extLst>
              <a:ext uri="{FF2B5EF4-FFF2-40B4-BE49-F238E27FC236}">
                <a16:creationId xmlns:a16="http://schemas.microsoft.com/office/drawing/2014/main" id="{C40A7D2C-5C9B-A0B7-378E-46FB1EAF0BDF}"/>
              </a:ext>
            </a:extLst>
          </p:cNvPr>
          <p:cNvPicPr>
            <a:picLocks noChangeAspect="1"/>
          </p:cNvPicPr>
          <p:nvPr/>
        </p:nvPicPr>
        <p:blipFill>
          <a:blip r:embed="rId4"/>
          <a:stretch>
            <a:fillRect/>
          </a:stretch>
        </p:blipFill>
        <p:spPr>
          <a:xfrm>
            <a:off x="1974756" y="4642665"/>
            <a:ext cx="1531245" cy="1177881"/>
          </a:xfrm>
          <a:prstGeom prst="rect">
            <a:avLst/>
          </a:prstGeom>
        </p:spPr>
      </p:pic>
      <p:sp>
        <p:nvSpPr>
          <p:cNvPr id="9" name="TextBox 8">
            <a:extLst>
              <a:ext uri="{FF2B5EF4-FFF2-40B4-BE49-F238E27FC236}">
                <a16:creationId xmlns:a16="http://schemas.microsoft.com/office/drawing/2014/main" id="{1B283020-CFF4-A245-AC80-93AEB71A18AC}"/>
              </a:ext>
            </a:extLst>
          </p:cNvPr>
          <p:cNvSpPr txBox="1"/>
          <p:nvPr/>
        </p:nvSpPr>
        <p:spPr>
          <a:xfrm>
            <a:off x="2112281" y="5849095"/>
            <a:ext cx="2407429" cy="180604"/>
          </a:xfrm>
          <a:prstGeom prst="rect">
            <a:avLst/>
          </a:prstGeom>
        </p:spPr>
        <p:txBody>
          <a:bodyPr vert="horz" wrap="none" lIns="0" tIns="0" rIns="0" bIns="0" rtlCol="0" anchor="t">
            <a:normAutofit/>
          </a:bodyPr>
          <a:lstStyle/>
          <a:p>
            <a:r>
              <a:rPr lang="en-GB" sz="1100" dirty="0"/>
              <a:t>public domain image from </a:t>
            </a:r>
            <a:r>
              <a:rPr lang="en-GB" sz="1100" dirty="0" err="1"/>
              <a:t>Openclipart</a:t>
            </a:r>
            <a:endParaRPr lang="en-US" sz="1100" dirty="0"/>
          </a:p>
        </p:txBody>
      </p:sp>
    </p:spTree>
    <p:extLst>
      <p:ext uri="{BB962C8B-B14F-4D97-AF65-F5344CB8AC3E}">
        <p14:creationId xmlns:p14="http://schemas.microsoft.com/office/powerpoint/2010/main" val="240393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ea typeface="ＭＳ Ｐゴシック"/>
              </a:rPr>
              <a:t>The Workflow</a:t>
            </a:r>
            <a:endParaRPr lang="en-US" dirty="0"/>
          </a:p>
          <a:p>
            <a:r>
              <a:rPr lang="en-US" dirty="0">
                <a:ea typeface="ＭＳ Ｐゴシック"/>
              </a:rPr>
              <a:t>The Build Systems</a:t>
            </a:r>
          </a:p>
          <a:p>
            <a:r>
              <a:rPr lang="en-US" dirty="0" err="1">
                <a:solidFill>
                  <a:srgbClr val="128CAB"/>
                </a:solidFill>
              </a:rPr>
              <a:t>Yocto</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894407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a:t>
            </a:r>
            <a:r>
              <a:rPr lang="en-US" dirty="0" err="1"/>
              <a:t>Yocto</a:t>
            </a:r>
            <a:r>
              <a:rPr lang="en-US" dirty="0"/>
              <a:t> Project </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Open-source project hosted by the Linux Foundation</a:t>
            </a:r>
          </a:p>
          <a:p>
            <a:r>
              <a:rPr lang="en-US" dirty="0"/>
              <a:t>Collaboration of multiple projects that make up the “</a:t>
            </a:r>
            <a:r>
              <a:rPr lang="en-US" dirty="0" err="1"/>
              <a:t>Yocto</a:t>
            </a:r>
            <a:r>
              <a:rPr lang="en-US" dirty="0"/>
              <a:t> Project”</a:t>
            </a:r>
            <a:endParaRPr lang="en-US" altLang="en-US" dirty="0">
              <a:ea typeface="ＭＳ Ｐゴシック" panose="020B0600070205080204" pitchFamily="34" charset="-128"/>
            </a:endParaRPr>
          </a:p>
          <a:p>
            <a:pPr lvl="1"/>
            <a:r>
              <a:rPr lang="en-US" dirty="0" err="1">
                <a:solidFill>
                  <a:srgbClr val="128CAB"/>
                </a:solidFill>
              </a:rPr>
              <a:t>Bitbake</a:t>
            </a:r>
            <a:r>
              <a:rPr lang="en-US" dirty="0">
                <a:solidFill>
                  <a:srgbClr val="128CAB"/>
                </a:solidFill>
              </a:rPr>
              <a:t>: </a:t>
            </a:r>
            <a:r>
              <a:rPr lang="en-US" dirty="0"/>
              <a:t>build tool</a:t>
            </a:r>
          </a:p>
          <a:p>
            <a:pPr lvl="1"/>
            <a:r>
              <a:rPr lang="en-US" dirty="0" err="1">
                <a:solidFill>
                  <a:srgbClr val="128CAB"/>
                </a:solidFill>
              </a:rPr>
              <a:t>OpenEmbedded</a:t>
            </a:r>
            <a:r>
              <a:rPr lang="en-US" dirty="0">
                <a:solidFill>
                  <a:srgbClr val="128CAB"/>
                </a:solidFill>
              </a:rPr>
              <a:t> core:</a:t>
            </a:r>
            <a:r>
              <a:rPr lang="en-US" dirty="0"/>
              <a:t> software framework used for creating Linux distributions </a:t>
            </a:r>
          </a:p>
          <a:p>
            <a:pPr lvl="1"/>
            <a:r>
              <a:rPr lang="en-US" dirty="0">
                <a:solidFill>
                  <a:srgbClr val="128CAB"/>
                </a:solidFill>
              </a:rPr>
              <a:t>Poky: </a:t>
            </a:r>
            <a:r>
              <a:rPr lang="en-US" dirty="0"/>
              <a:t>a reference distribution of the </a:t>
            </a:r>
            <a:r>
              <a:rPr lang="en-US" dirty="0" err="1"/>
              <a:t>Yocto</a:t>
            </a:r>
            <a:r>
              <a:rPr lang="en-US" dirty="0"/>
              <a:t> Project, containing the </a:t>
            </a:r>
            <a:r>
              <a:rPr lang="en-US" dirty="0" err="1"/>
              <a:t>OpenEmbedded</a:t>
            </a:r>
            <a:r>
              <a:rPr lang="en-US" dirty="0"/>
              <a:t> Build System (</a:t>
            </a:r>
            <a:r>
              <a:rPr lang="en-US" dirty="0" err="1"/>
              <a:t>BitBake</a:t>
            </a:r>
            <a:r>
              <a:rPr lang="en-US" dirty="0"/>
              <a:t> and </a:t>
            </a:r>
            <a:r>
              <a:rPr lang="en-US" dirty="0" err="1"/>
              <a:t>OpenEmbedded</a:t>
            </a:r>
            <a:r>
              <a:rPr lang="en-US" dirty="0"/>
              <a:t> Core) and a set of metadata to start building custom embedded Linux systems </a:t>
            </a:r>
          </a:p>
          <a:p>
            <a:pPr lvl="1"/>
            <a:r>
              <a:rPr lang="en-US" dirty="0">
                <a:solidFill>
                  <a:srgbClr val="128CAB"/>
                </a:solidFill>
              </a:rPr>
              <a:t>Application Development Toolkit:</a:t>
            </a:r>
            <a:r>
              <a:rPr lang="en-US" dirty="0"/>
              <a:t> provides application developer a way to write </a:t>
            </a:r>
            <a:r>
              <a:rPr lang="en-US" dirty="0" err="1"/>
              <a:t>sw</a:t>
            </a:r>
            <a:r>
              <a:rPr lang="en-US" dirty="0"/>
              <a:t> running on the custom-built embedded Linux system without the need for knowing build systems</a:t>
            </a:r>
          </a:p>
          <a:p>
            <a:r>
              <a:rPr lang="en-US" dirty="0"/>
              <a:t>Support for Arm, MIPS, PPC, RISC-V, x86, and x86-64 architectures</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55782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a:t>
            </a:r>
            <a:r>
              <a:rPr lang="en-US" dirty="0" err="1"/>
              <a:t>Yocto</a:t>
            </a:r>
            <a:r>
              <a:rPr lang="en-US" dirty="0"/>
              <a:t> Build System</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6454775" cy="4086225"/>
          </a:xfrm>
        </p:spPr>
        <p:txBody>
          <a:bodyPr wrap="square" numCol="1" anchor="t" anchorCtr="0" compatLnSpc="1">
            <a:prstTxWarp prst="textNoShape">
              <a:avLst/>
            </a:prstTxWarp>
          </a:bodyPr>
          <a:lstStyle/>
          <a:p>
            <a:r>
              <a:rPr lang="en-US" dirty="0"/>
              <a:t>It is composed of multiple </a:t>
            </a:r>
            <a:r>
              <a:rPr lang="en-US" dirty="0">
                <a:solidFill>
                  <a:srgbClr val="128CAB"/>
                </a:solidFill>
              </a:rPr>
              <a:t>layers</a:t>
            </a:r>
            <a:r>
              <a:rPr lang="en-US" dirty="0"/>
              <a:t> which are containers for the building blocks of the system.</a:t>
            </a:r>
          </a:p>
          <a:p>
            <a:r>
              <a:rPr lang="en-US" dirty="0"/>
              <a:t>Layers do not contain components source code, only their metadata, called </a:t>
            </a:r>
            <a:r>
              <a:rPr lang="en-US" dirty="0">
                <a:solidFill>
                  <a:srgbClr val="128CAB"/>
                </a:solidFill>
              </a:rPr>
              <a:t>recipes</a:t>
            </a:r>
            <a:r>
              <a:rPr lang="en-US" dirty="0">
                <a:solidFill>
                  <a:schemeClr val="tx1"/>
                </a:solidFill>
              </a:rPr>
              <a:t>.</a:t>
            </a:r>
          </a:p>
          <a:p>
            <a:r>
              <a:rPr lang="en-US" dirty="0"/>
              <a:t>Recipes define how to build binary outputs called </a:t>
            </a:r>
            <a:r>
              <a:rPr lang="en-US" dirty="0">
                <a:solidFill>
                  <a:srgbClr val="128CAB"/>
                </a:solidFill>
              </a:rPr>
              <a:t>packages</a:t>
            </a:r>
            <a:r>
              <a:rPr lang="en-US" dirty="0">
                <a:solidFill>
                  <a:schemeClr val="tx1"/>
                </a:solidFill>
              </a:rPr>
              <a:t>.</a:t>
            </a:r>
            <a:endParaRPr lang="en-US" altLang="en-US" dirty="0">
              <a:ea typeface="ＭＳ Ｐゴシック" panose="020B0600070205080204" pitchFamily="34" charset="-128"/>
            </a:endParaRPr>
          </a:p>
        </p:txBody>
      </p:sp>
      <p:sp>
        <p:nvSpPr>
          <p:cNvPr id="5" name="TextBox 4">
            <a:extLst>
              <a:ext uri="{FF2B5EF4-FFF2-40B4-BE49-F238E27FC236}">
                <a16:creationId xmlns:a16="http://schemas.microsoft.com/office/drawing/2014/main" id="{1D52E64B-DB63-492E-A2E7-87DA1648BFFE}"/>
              </a:ext>
            </a:extLst>
          </p:cNvPr>
          <p:cNvSpPr txBox="1"/>
          <p:nvPr/>
        </p:nvSpPr>
        <p:spPr>
          <a:xfrm>
            <a:off x="7124700" y="1440000"/>
            <a:ext cx="3797300" cy="368300"/>
          </a:xfrm>
          <a:prstGeom prst="rect">
            <a:avLst/>
          </a:prstGeom>
          <a:ln>
            <a:solidFill>
              <a:schemeClr val="tx1"/>
            </a:solidFill>
          </a:ln>
        </p:spPr>
        <p:txBody>
          <a:bodyPr vert="horz" wrap="none" lIns="0" tIns="0" rIns="0" bIns="0" rtlCol="0" anchor="ctr">
            <a:normAutofit/>
          </a:bodyPr>
          <a:lstStyle/>
          <a:p>
            <a:pPr algn="ctr"/>
            <a:r>
              <a:rPr lang="en-US" sz="2000" dirty="0"/>
              <a:t>Developer-specific layer</a:t>
            </a:r>
          </a:p>
        </p:txBody>
      </p:sp>
      <p:sp>
        <p:nvSpPr>
          <p:cNvPr id="6" name="TextBox 5">
            <a:extLst>
              <a:ext uri="{FF2B5EF4-FFF2-40B4-BE49-F238E27FC236}">
                <a16:creationId xmlns:a16="http://schemas.microsoft.com/office/drawing/2014/main" id="{79EB7A55-A265-485C-86DF-AC322194634A}"/>
              </a:ext>
            </a:extLst>
          </p:cNvPr>
          <p:cNvSpPr txBox="1"/>
          <p:nvPr/>
        </p:nvSpPr>
        <p:spPr>
          <a:xfrm>
            <a:off x="7124700" y="1968000"/>
            <a:ext cx="3797300" cy="787900"/>
          </a:xfrm>
          <a:prstGeom prst="rect">
            <a:avLst/>
          </a:prstGeom>
          <a:ln>
            <a:solidFill>
              <a:schemeClr val="tx1"/>
            </a:solidFill>
          </a:ln>
        </p:spPr>
        <p:txBody>
          <a:bodyPr vert="horz" wrap="none" lIns="0" tIns="0" rIns="0" bIns="0" rtlCol="0" anchor="ctr">
            <a:normAutofit/>
          </a:bodyPr>
          <a:lstStyle/>
          <a:p>
            <a:pPr algn="ctr"/>
            <a:r>
              <a:rPr lang="en-US" sz="2000" dirty="0"/>
              <a:t>Commercial layer from </a:t>
            </a:r>
            <a:br>
              <a:rPr lang="en-US" sz="2000" dirty="0"/>
            </a:br>
            <a:r>
              <a:rPr lang="en-US" sz="2000" dirty="0"/>
              <a:t>operating system vendor</a:t>
            </a:r>
          </a:p>
        </p:txBody>
      </p:sp>
      <p:sp>
        <p:nvSpPr>
          <p:cNvPr id="7" name="TextBox 6">
            <a:extLst>
              <a:ext uri="{FF2B5EF4-FFF2-40B4-BE49-F238E27FC236}">
                <a16:creationId xmlns:a16="http://schemas.microsoft.com/office/drawing/2014/main" id="{97BE8C32-328F-4B4A-8882-68961DF41774}"/>
              </a:ext>
            </a:extLst>
          </p:cNvPr>
          <p:cNvSpPr txBox="1"/>
          <p:nvPr/>
        </p:nvSpPr>
        <p:spPr>
          <a:xfrm>
            <a:off x="8242300" y="2133600"/>
            <a:ext cx="914400" cy="914400"/>
          </a:xfrm>
          <a:prstGeom prst="rect">
            <a:avLst/>
          </a:prstGeom>
        </p:spPr>
        <p:txBody>
          <a:bodyPr vert="horz" wrap="none" lIns="0" tIns="0" rIns="0" bIns="0" rtlCol="0" anchor="t">
            <a:normAutofit/>
          </a:bodyPr>
          <a:lstStyle/>
          <a:p>
            <a:endParaRPr lang="en-US" dirty="0"/>
          </a:p>
        </p:txBody>
      </p:sp>
      <p:sp>
        <p:nvSpPr>
          <p:cNvPr id="8" name="TextBox 7">
            <a:extLst>
              <a:ext uri="{FF2B5EF4-FFF2-40B4-BE49-F238E27FC236}">
                <a16:creationId xmlns:a16="http://schemas.microsoft.com/office/drawing/2014/main" id="{FEECD83C-23CD-4458-B767-CA404A1F6554}"/>
              </a:ext>
            </a:extLst>
          </p:cNvPr>
          <p:cNvSpPr txBox="1"/>
          <p:nvPr/>
        </p:nvSpPr>
        <p:spPr>
          <a:xfrm>
            <a:off x="7124700" y="2992100"/>
            <a:ext cx="3797300" cy="500400"/>
          </a:xfrm>
          <a:prstGeom prst="rect">
            <a:avLst/>
          </a:prstGeom>
          <a:ln>
            <a:solidFill>
              <a:schemeClr val="tx1"/>
            </a:solidFill>
          </a:ln>
        </p:spPr>
        <p:txBody>
          <a:bodyPr vert="horz" wrap="none" lIns="0" tIns="0" rIns="0" bIns="0" rtlCol="0" anchor="ctr">
            <a:normAutofit/>
          </a:bodyPr>
          <a:lstStyle/>
          <a:p>
            <a:pPr algn="ctr"/>
            <a:r>
              <a:rPr lang="en-US" sz="2000" dirty="0"/>
              <a:t>User interface-specific layer</a:t>
            </a:r>
          </a:p>
        </p:txBody>
      </p:sp>
      <p:sp>
        <p:nvSpPr>
          <p:cNvPr id="9" name="TextBox 8">
            <a:extLst>
              <a:ext uri="{FF2B5EF4-FFF2-40B4-BE49-F238E27FC236}">
                <a16:creationId xmlns:a16="http://schemas.microsoft.com/office/drawing/2014/main" id="{B4D5062C-5E5C-4D12-BF6A-3CCCB390F030}"/>
              </a:ext>
            </a:extLst>
          </p:cNvPr>
          <p:cNvSpPr txBox="1"/>
          <p:nvPr/>
        </p:nvSpPr>
        <p:spPr>
          <a:xfrm>
            <a:off x="7124700" y="3711400"/>
            <a:ext cx="3797300" cy="657400"/>
          </a:xfrm>
          <a:prstGeom prst="rect">
            <a:avLst/>
          </a:prstGeom>
          <a:ln>
            <a:solidFill>
              <a:schemeClr val="tx1"/>
            </a:solidFill>
          </a:ln>
        </p:spPr>
        <p:txBody>
          <a:bodyPr vert="horz" wrap="none" lIns="0" tIns="0" rIns="0" bIns="0" rtlCol="0" anchor="ctr">
            <a:normAutofit/>
          </a:bodyPr>
          <a:lstStyle/>
          <a:p>
            <a:pPr algn="ctr"/>
            <a:r>
              <a:rPr lang="en-US" sz="2000" dirty="0"/>
              <a:t>Board </a:t>
            </a:r>
            <a:r>
              <a:rPr lang="en-US" sz="2000"/>
              <a:t>Support Package </a:t>
            </a:r>
            <a:br>
              <a:rPr lang="en-US" sz="2000"/>
            </a:br>
            <a:r>
              <a:rPr lang="en-US" sz="2000"/>
              <a:t>layer</a:t>
            </a:r>
            <a:endParaRPr lang="en-US" sz="2000" dirty="0"/>
          </a:p>
        </p:txBody>
      </p:sp>
      <p:sp>
        <p:nvSpPr>
          <p:cNvPr id="10" name="TextBox 9">
            <a:extLst>
              <a:ext uri="{FF2B5EF4-FFF2-40B4-BE49-F238E27FC236}">
                <a16:creationId xmlns:a16="http://schemas.microsoft.com/office/drawing/2014/main" id="{41D0844D-4F25-41E4-BE6E-E3605E5398B0}"/>
              </a:ext>
            </a:extLst>
          </p:cNvPr>
          <p:cNvSpPr txBox="1"/>
          <p:nvPr/>
        </p:nvSpPr>
        <p:spPr>
          <a:xfrm>
            <a:off x="7124700" y="4605000"/>
            <a:ext cx="3797300" cy="657400"/>
          </a:xfrm>
          <a:prstGeom prst="rect">
            <a:avLst/>
          </a:prstGeom>
          <a:ln>
            <a:solidFill>
              <a:schemeClr val="tx1"/>
            </a:solidFill>
          </a:ln>
        </p:spPr>
        <p:txBody>
          <a:bodyPr vert="horz" wrap="none" lIns="0" tIns="0" rIns="0" bIns="0" rtlCol="0" anchor="ctr">
            <a:normAutofit/>
          </a:bodyPr>
          <a:lstStyle/>
          <a:p>
            <a:pPr algn="ctr"/>
            <a:r>
              <a:rPr lang="en-US" sz="2000" dirty="0" err="1"/>
              <a:t>Yocto</a:t>
            </a:r>
            <a:r>
              <a:rPr lang="en-US" sz="2000" dirty="0"/>
              <a:t>-specific layer </a:t>
            </a:r>
            <a:br>
              <a:rPr lang="en-US" sz="2000" dirty="0"/>
            </a:br>
            <a:r>
              <a:rPr lang="en-US" sz="2000" dirty="0"/>
              <a:t>metadata (meta-</a:t>
            </a:r>
            <a:r>
              <a:rPr lang="en-US" sz="2000" dirty="0" err="1"/>
              <a:t>yocto</a:t>
            </a:r>
            <a:r>
              <a:rPr lang="en-US" sz="2000" dirty="0"/>
              <a:t>)</a:t>
            </a:r>
          </a:p>
        </p:txBody>
      </p:sp>
      <p:sp>
        <p:nvSpPr>
          <p:cNvPr id="11" name="TextBox 10">
            <a:extLst>
              <a:ext uri="{FF2B5EF4-FFF2-40B4-BE49-F238E27FC236}">
                <a16:creationId xmlns:a16="http://schemas.microsoft.com/office/drawing/2014/main" id="{D97ABA10-A024-4DEF-87DA-3E7045451EC9}"/>
              </a:ext>
            </a:extLst>
          </p:cNvPr>
          <p:cNvSpPr txBox="1"/>
          <p:nvPr/>
        </p:nvSpPr>
        <p:spPr>
          <a:xfrm>
            <a:off x="7124700" y="5486500"/>
            <a:ext cx="3797300" cy="657400"/>
          </a:xfrm>
          <a:prstGeom prst="rect">
            <a:avLst/>
          </a:prstGeom>
          <a:ln>
            <a:solidFill>
              <a:schemeClr val="tx1"/>
            </a:solidFill>
          </a:ln>
        </p:spPr>
        <p:txBody>
          <a:bodyPr vert="horz" wrap="none" lIns="0" tIns="0" rIns="0" bIns="0" rtlCol="0" anchor="ctr">
            <a:normAutofit/>
          </a:bodyPr>
          <a:lstStyle/>
          <a:p>
            <a:pPr algn="ctr"/>
            <a:r>
              <a:rPr lang="en-US" sz="2000" dirty="0" err="1"/>
              <a:t>OpenEmbedded</a:t>
            </a:r>
            <a:r>
              <a:rPr lang="en-US" sz="2000" dirty="0"/>
              <a:t> core </a:t>
            </a:r>
            <a:br>
              <a:rPr lang="en-US" sz="2000" dirty="0"/>
            </a:br>
            <a:r>
              <a:rPr lang="en-US" sz="2000" dirty="0"/>
              <a:t>metadata (</a:t>
            </a:r>
            <a:r>
              <a:rPr lang="en-US" sz="2000" dirty="0" err="1"/>
              <a:t>oe</a:t>
            </a:r>
            <a:r>
              <a:rPr lang="en-US" sz="2000" dirty="0"/>
              <a:t>-core)</a:t>
            </a:r>
          </a:p>
        </p:txBody>
      </p:sp>
    </p:spTree>
    <p:extLst>
      <p:ext uri="{BB962C8B-B14F-4D97-AF65-F5344CB8AC3E}">
        <p14:creationId xmlns:p14="http://schemas.microsoft.com/office/powerpoint/2010/main" val="672062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a:t>
            </a:r>
          </a:p>
        </p:txBody>
      </p:sp>
      <p:pic>
        <p:nvPicPr>
          <p:cNvPr id="6" name="Picture 5">
            <a:extLst>
              <a:ext uri="{FF2B5EF4-FFF2-40B4-BE49-F238E27FC236}">
                <a16:creationId xmlns:a16="http://schemas.microsoft.com/office/drawing/2014/main" id="{0E9F4EC6-5245-443C-9ACA-BCB34DC176CA}"/>
              </a:ext>
            </a:extLst>
          </p:cNvPr>
          <p:cNvPicPr>
            <a:picLocks noChangeAspect="1"/>
          </p:cNvPicPr>
          <p:nvPr/>
        </p:nvPicPr>
        <p:blipFill>
          <a:blip r:embed="rId3"/>
          <a:stretch>
            <a:fillRect/>
          </a:stretch>
        </p:blipFill>
        <p:spPr>
          <a:xfrm>
            <a:off x="1417682" y="1447800"/>
            <a:ext cx="9359635" cy="4584700"/>
          </a:xfrm>
          <a:prstGeom prst="rect">
            <a:avLst/>
          </a:prstGeom>
        </p:spPr>
      </p:pic>
      <p:sp>
        <p:nvSpPr>
          <p:cNvPr id="7" name="TextBox 6">
            <a:extLst>
              <a:ext uri="{FF2B5EF4-FFF2-40B4-BE49-F238E27FC236}">
                <a16:creationId xmlns:a16="http://schemas.microsoft.com/office/drawing/2014/main" id="{CCE06153-9179-4839-8459-73A9CF1F1D69}"/>
              </a:ext>
            </a:extLst>
          </p:cNvPr>
          <p:cNvSpPr txBox="1"/>
          <p:nvPr/>
        </p:nvSpPr>
        <p:spPr>
          <a:xfrm>
            <a:off x="1417682" y="6146800"/>
            <a:ext cx="7340600" cy="307200"/>
          </a:xfrm>
          <a:prstGeom prst="rect">
            <a:avLst/>
          </a:prstGeom>
        </p:spPr>
        <p:txBody>
          <a:bodyPr vert="horz" wrap="none" lIns="0" tIns="0" rIns="0" bIns="0" rtlCol="0" anchor="t">
            <a:normAutofit/>
          </a:bodyPr>
          <a:lstStyle/>
          <a:p>
            <a:r>
              <a:rPr lang="en-US" sz="1000" dirty="0"/>
              <a:t>Source: http://</a:t>
            </a:r>
            <a:r>
              <a:rPr lang="en-US" sz="1000" dirty="0" err="1"/>
              <a:t>www.yoctoproject.org</a:t>
            </a:r>
            <a:r>
              <a:rPr lang="en-US" sz="1000" dirty="0"/>
              <a:t>/docs/2.1/mega-manual/mega-</a:t>
            </a:r>
            <a:r>
              <a:rPr lang="en-US" sz="1000" dirty="0" err="1"/>
              <a:t>manual.html</a:t>
            </a:r>
            <a:endParaRPr lang="en-US" sz="1000" dirty="0"/>
          </a:p>
        </p:txBody>
      </p:sp>
    </p:spTree>
    <p:extLst>
      <p:ext uri="{BB962C8B-B14F-4D97-AF65-F5344CB8AC3E}">
        <p14:creationId xmlns:p14="http://schemas.microsoft.com/office/powerpoint/2010/main" val="1591183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Configuration Files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8855075" cy="4167146"/>
          </a:xfrm>
        </p:spPr>
        <p:txBody>
          <a:bodyPr wrap="square" numCol="1" anchor="t" anchorCtr="0" compatLnSpc="1">
            <a:prstTxWarp prst="textNoShape">
              <a:avLst/>
            </a:prstTxWarp>
          </a:bodyPr>
          <a:lstStyle/>
          <a:p>
            <a:r>
              <a:rPr lang="en-US" sz="2000" dirty="0">
                <a:latin typeface="Courier New" charset="0"/>
                <a:ea typeface="Courier New" charset="0"/>
                <a:cs typeface="Courier New" charset="0"/>
              </a:rPr>
              <a:t>meta/conf/</a:t>
            </a:r>
            <a:r>
              <a:rPr lang="en-US" sz="2000" dirty="0" err="1">
                <a:latin typeface="Courier New" charset="0"/>
                <a:ea typeface="Courier New" charset="0"/>
                <a:cs typeface="Courier New" charset="0"/>
              </a:rPr>
              <a:t>bitbake.conf</a:t>
            </a:r>
            <a:r>
              <a:rPr lang="en-US" dirty="0"/>
              <a:t> – default configuration</a:t>
            </a:r>
          </a:p>
          <a:p>
            <a:r>
              <a:rPr lang="en-US" sz="2000" dirty="0">
                <a:latin typeface="Courier New" charset="0"/>
                <a:ea typeface="Courier New" charset="0"/>
                <a:cs typeface="Courier New" charset="0"/>
              </a:rPr>
              <a:t>build/conf/</a:t>
            </a:r>
            <a:r>
              <a:rPr lang="en-US" sz="2000" dirty="0" err="1">
                <a:latin typeface="Courier New" charset="0"/>
                <a:ea typeface="Courier New" charset="0"/>
                <a:cs typeface="Courier New" charset="0"/>
              </a:rPr>
              <a:t>bblayers.conf</a:t>
            </a:r>
            <a:r>
              <a:rPr lang="en-US" dirty="0"/>
              <a:t> – layers to be used during build process</a:t>
            </a:r>
          </a:p>
          <a:p>
            <a:r>
              <a:rPr lang="en-US" sz="2000" dirty="0">
                <a:latin typeface="Courier New" charset="0"/>
                <a:ea typeface="Courier New" charset="0"/>
                <a:cs typeface="Courier New" charset="0"/>
              </a:rPr>
              <a:t>*/conf/</a:t>
            </a:r>
            <a:r>
              <a:rPr lang="en-US" sz="2000" dirty="0" err="1">
                <a:latin typeface="Courier New" charset="0"/>
                <a:ea typeface="Courier New" charset="0"/>
                <a:cs typeface="Courier New" charset="0"/>
              </a:rPr>
              <a:t>layers.conf</a:t>
            </a:r>
            <a:r>
              <a:rPr lang="en-US" sz="2000" dirty="0">
                <a:latin typeface="Courier New" charset="0"/>
                <a:ea typeface="Courier New" charset="0"/>
                <a:cs typeface="Courier New" charset="0"/>
              </a:rPr>
              <a:t> </a:t>
            </a:r>
            <a:r>
              <a:rPr lang="en-US" dirty="0"/>
              <a:t>– layer configuration </a:t>
            </a:r>
          </a:p>
          <a:p>
            <a:r>
              <a:rPr lang="en-US" sz="2000" dirty="0">
                <a:latin typeface="Courier New" charset="0"/>
                <a:ea typeface="Courier New" charset="0"/>
                <a:cs typeface="Courier New" charset="0"/>
              </a:rPr>
              <a:t>build/conf/</a:t>
            </a:r>
            <a:r>
              <a:rPr lang="en-US" sz="2000" dirty="0" err="1">
                <a:latin typeface="Courier New" charset="0"/>
                <a:ea typeface="Courier New" charset="0"/>
                <a:cs typeface="Courier New" charset="0"/>
              </a:rPr>
              <a:t>local.conf</a:t>
            </a:r>
            <a:r>
              <a:rPr lang="en-US" dirty="0"/>
              <a:t> – user-defined configuration</a:t>
            </a:r>
          </a:p>
          <a:p>
            <a:r>
              <a:rPr lang="en-US" sz="2000" dirty="0">
                <a:latin typeface="Courier New" charset="0"/>
                <a:ea typeface="Courier New" charset="0"/>
                <a:cs typeface="Courier New" charset="0"/>
              </a:rPr>
              <a:t>meta-</a:t>
            </a:r>
            <a:r>
              <a:rPr lang="en-US" sz="2000" dirty="0" err="1">
                <a:latin typeface="Courier New" charset="0"/>
                <a:ea typeface="Courier New" charset="0"/>
                <a:cs typeface="Courier New" charset="0"/>
              </a:rPr>
              <a:t>yocto</a:t>
            </a:r>
            <a:r>
              <a:rPr lang="en-US" sz="2000" dirty="0">
                <a:latin typeface="Courier New" charset="0"/>
                <a:ea typeface="Courier New" charset="0"/>
                <a:cs typeface="Courier New" charset="0"/>
              </a:rPr>
              <a:t>/conf/distro/</a:t>
            </a:r>
            <a:r>
              <a:rPr lang="en-US" sz="2000" dirty="0" err="1">
                <a:latin typeface="Courier New" charset="0"/>
                <a:ea typeface="Courier New" charset="0"/>
                <a:cs typeface="Courier New" charset="0"/>
              </a:rPr>
              <a:t>poky.conf</a:t>
            </a:r>
            <a:r>
              <a:rPr lang="en-US" dirty="0"/>
              <a:t> – distribution policy</a:t>
            </a:r>
          </a:p>
          <a:p>
            <a:r>
              <a:rPr lang="en-US" sz="2000" dirty="0">
                <a:latin typeface="Courier New" charset="0"/>
                <a:ea typeface="Courier New" charset="0"/>
                <a:cs typeface="Courier New" charset="0"/>
              </a:rPr>
              <a:t>meta-yocto-</a:t>
            </a:r>
            <a:r>
              <a:rPr lang="en-US" sz="2000" dirty="0" err="1">
                <a:latin typeface="Courier New" charset="0"/>
                <a:ea typeface="Courier New" charset="0"/>
                <a:cs typeface="Courier New" charset="0"/>
              </a:rPr>
              <a:t>bsp</a:t>
            </a:r>
            <a:r>
              <a:rPr lang="en-US" sz="2000" dirty="0">
                <a:latin typeface="Courier New" charset="0"/>
                <a:ea typeface="Courier New" charset="0"/>
                <a:cs typeface="Courier New" charset="0"/>
              </a:rPr>
              <a:t>/conf/machine/board-</a:t>
            </a:r>
            <a:r>
              <a:rPr lang="en-US" sz="2000" dirty="0" err="1">
                <a:latin typeface="Courier New" charset="0"/>
                <a:ea typeface="Courier New" charset="0"/>
                <a:cs typeface="Courier New" charset="0"/>
              </a:rPr>
              <a:t>name.conf</a:t>
            </a:r>
            <a:r>
              <a:rPr lang="en-US" dirty="0"/>
              <a:t> – configuration of the board support package</a:t>
            </a:r>
          </a:p>
          <a:p>
            <a:r>
              <a:rPr lang="en-US" sz="2000" dirty="0">
                <a:latin typeface="Courier New" charset="0"/>
                <a:ea typeface="Courier New" charset="0"/>
                <a:cs typeface="Courier New" charset="0"/>
              </a:rPr>
              <a:t>meta/conf/machine/include/tune-CPU-name.inc </a:t>
            </a:r>
            <a:r>
              <a:rPr lang="en-US" dirty="0"/>
              <a:t>– CPU-specific configuration</a:t>
            </a:r>
            <a:endParaRPr lang="en-US" altLang="en-US" dirty="0">
              <a:ea typeface="ＭＳ Ｐゴシック" panose="020B0600070205080204" pitchFamily="34" charset="-128"/>
            </a:endParaRPr>
          </a:p>
        </p:txBody>
      </p:sp>
      <p:grpSp>
        <p:nvGrpSpPr>
          <p:cNvPr id="5" name="Group 4">
            <a:extLst>
              <a:ext uri="{FF2B5EF4-FFF2-40B4-BE49-F238E27FC236}">
                <a16:creationId xmlns:a16="http://schemas.microsoft.com/office/drawing/2014/main" id="{C33A5123-BEB4-4621-8FDB-6EE28F6D6A27}"/>
              </a:ext>
            </a:extLst>
          </p:cNvPr>
          <p:cNvGrpSpPr/>
          <p:nvPr/>
        </p:nvGrpSpPr>
        <p:grpSpPr>
          <a:xfrm>
            <a:off x="10053637" y="1722120"/>
            <a:ext cx="1484986" cy="3239415"/>
            <a:chOff x="9970617" y="2004365"/>
            <a:chExt cx="1484986" cy="3239415"/>
          </a:xfrm>
        </p:grpSpPr>
        <p:sp>
          <p:nvSpPr>
            <p:cNvPr id="6" name="Rounded Rectangular Callout 4">
              <a:extLst>
                <a:ext uri="{FF2B5EF4-FFF2-40B4-BE49-F238E27FC236}">
                  <a16:creationId xmlns:a16="http://schemas.microsoft.com/office/drawing/2014/main" id="{299BEC6E-C4A4-4D2B-A0E9-0B84913EC051}"/>
                </a:ext>
              </a:extLst>
            </p:cNvPr>
            <p:cNvSpPr/>
            <p:nvPr/>
          </p:nvSpPr>
          <p:spPr>
            <a:xfrm>
              <a:off x="9970618" y="2004365"/>
              <a:ext cx="1484985" cy="716890"/>
            </a:xfrm>
            <a:prstGeom prst="wedgeRoundRectCallout">
              <a:avLst>
                <a:gd name="adj1" fmla="val 60448"/>
                <a:gd name="adj2" fmla="val 21685"/>
                <a:gd name="adj3" fmla="val 16667"/>
              </a:avLst>
            </a:prstGeom>
            <a:solidFill>
              <a:schemeClr val="tx1">
                <a:lumMod val="75000"/>
                <a:lumOff val="2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User Configuration</a:t>
              </a:r>
            </a:p>
          </p:txBody>
        </p:sp>
        <p:sp>
          <p:nvSpPr>
            <p:cNvPr id="7" name="Rounded Rectangular Callout 7">
              <a:extLst>
                <a:ext uri="{FF2B5EF4-FFF2-40B4-BE49-F238E27FC236}">
                  <a16:creationId xmlns:a16="http://schemas.microsoft.com/office/drawing/2014/main" id="{132C620A-4EFE-482F-996B-2E05A44986BC}"/>
                </a:ext>
              </a:extLst>
            </p:cNvPr>
            <p:cNvSpPr/>
            <p:nvPr/>
          </p:nvSpPr>
          <p:spPr>
            <a:xfrm>
              <a:off x="9970618" y="2873655"/>
              <a:ext cx="1484985" cy="716890"/>
            </a:xfrm>
            <a:prstGeom prst="wedgeRoundRectCallout">
              <a:avLst>
                <a:gd name="adj1" fmla="val 60448"/>
                <a:gd name="adj2" fmla="val 21685"/>
                <a:gd name="adj3" fmla="val 16667"/>
              </a:avLst>
            </a:prstGeom>
            <a:solidFill>
              <a:schemeClr val="tx1">
                <a:lumMod val="75000"/>
                <a:lumOff val="2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Metadata </a:t>
              </a:r>
              <a:br>
                <a:rPr lang="en-GB" sz="1400" dirty="0"/>
              </a:br>
              <a:r>
                <a:rPr lang="en-GB" sz="1400" dirty="0"/>
                <a:t>(.bb + patches)</a:t>
              </a:r>
            </a:p>
          </p:txBody>
        </p:sp>
        <p:sp>
          <p:nvSpPr>
            <p:cNvPr id="8" name="Rounded Rectangular Callout 8">
              <a:extLst>
                <a:ext uri="{FF2B5EF4-FFF2-40B4-BE49-F238E27FC236}">
                  <a16:creationId xmlns:a16="http://schemas.microsoft.com/office/drawing/2014/main" id="{83443C27-423F-43C4-886A-28E27C8D5BEA}"/>
                </a:ext>
              </a:extLst>
            </p:cNvPr>
            <p:cNvSpPr/>
            <p:nvPr/>
          </p:nvSpPr>
          <p:spPr>
            <a:xfrm>
              <a:off x="9970618" y="3700273"/>
              <a:ext cx="1484985" cy="716890"/>
            </a:xfrm>
            <a:prstGeom prst="wedgeRoundRectCallout">
              <a:avLst>
                <a:gd name="adj1" fmla="val 60448"/>
                <a:gd name="adj2" fmla="val 21685"/>
                <a:gd name="adj3" fmla="val 16667"/>
              </a:avLst>
            </a:prstGeom>
            <a:solidFill>
              <a:schemeClr val="tx1">
                <a:lumMod val="75000"/>
                <a:lumOff val="2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Machine (BSP)</a:t>
              </a:r>
              <a:br>
                <a:rPr lang="en-GB" sz="1400" dirty="0"/>
              </a:br>
              <a:r>
                <a:rPr lang="en-GB" sz="1400" dirty="0"/>
                <a:t>Configuration</a:t>
              </a:r>
            </a:p>
          </p:txBody>
        </p:sp>
        <p:sp>
          <p:nvSpPr>
            <p:cNvPr id="9" name="Rounded Rectangular Callout 9">
              <a:extLst>
                <a:ext uri="{FF2B5EF4-FFF2-40B4-BE49-F238E27FC236}">
                  <a16:creationId xmlns:a16="http://schemas.microsoft.com/office/drawing/2014/main" id="{9CFE902B-3A4A-48AF-912D-3DF9B044DEC7}"/>
                </a:ext>
              </a:extLst>
            </p:cNvPr>
            <p:cNvSpPr/>
            <p:nvPr/>
          </p:nvSpPr>
          <p:spPr>
            <a:xfrm>
              <a:off x="9970617" y="4526890"/>
              <a:ext cx="1484985" cy="716890"/>
            </a:xfrm>
            <a:prstGeom prst="wedgeRoundRectCallout">
              <a:avLst>
                <a:gd name="adj1" fmla="val 60448"/>
                <a:gd name="adj2" fmla="val 21685"/>
                <a:gd name="adj3" fmla="val 16667"/>
              </a:avLst>
            </a:prstGeom>
            <a:solidFill>
              <a:schemeClr val="tx1">
                <a:lumMod val="75000"/>
                <a:lumOff val="2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Policy Configuration</a:t>
              </a:r>
            </a:p>
          </p:txBody>
        </p:sp>
      </p:grpSp>
    </p:spTree>
    <p:extLst>
      <p:ext uri="{BB962C8B-B14F-4D97-AF65-F5344CB8AC3E}">
        <p14:creationId xmlns:p14="http://schemas.microsoft.com/office/powerpoint/2010/main" val="3781056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The Build System Workflow: User Configuration</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169194"/>
            <a:ext cx="5019675" cy="3605212"/>
          </a:xfrm>
        </p:spPr>
        <p:txBody>
          <a:bodyPr wrap="square" numCol="1" anchor="t" anchorCtr="0" compatLnSpc="1">
            <a:prstTxWarp prst="textNoShape">
              <a:avLst/>
            </a:prstTxWarp>
          </a:bodyPr>
          <a:lstStyle/>
          <a:p>
            <a:r>
              <a:rPr lang="en-US" sz="2000" dirty="0">
                <a:latin typeface="Courier New" charset="0"/>
                <a:ea typeface="Courier New" charset="0"/>
                <a:cs typeface="Courier New" charset="0"/>
              </a:rPr>
              <a:t>build/conf/</a:t>
            </a:r>
            <a:r>
              <a:rPr lang="en-US" sz="2000" dirty="0" err="1">
                <a:latin typeface="Courier New" charset="0"/>
                <a:ea typeface="Courier New" charset="0"/>
                <a:cs typeface="Courier New" charset="0"/>
              </a:rPr>
              <a:t>local.conf</a:t>
            </a:r>
            <a:r>
              <a:rPr lang="en-US" dirty="0">
                <a:ea typeface="Courier New" charset="0"/>
                <a:cs typeface="Courier New" charset="0"/>
              </a:rPr>
              <a:t> is used to override the default configuration and define what to build.</a:t>
            </a:r>
            <a:endParaRPr lang="en-US" altLang="en-US" dirty="0">
              <a:ea typeface="ＭＳ Ｐゴシック" panose="020B0600070205080204" pitchFamily="34" charset="-128"/>
            </a:endParaRPr>
          </a:p>
          <a:p>
            <a:pPr lvl="1"/>
            <a:r>
              <a:rPr lang="en-US" dirty="0" err="1">
                <a:latin typeface="Courier New" charset="0"/>
                <a:ea typeface="Courier New" charset="0"/>
                <a:cs typeface="Courier New" charset="0"/>
              </a:rPr>
              <a:t>BB_NUMBER_THREADS</a:t>
            </a:r>
            <a:r>
              <a:rPr lang="en-US" sz="2000" dirty="0">
                <a:ea typeface="Courier New" charset="0"/>
                <a:cs typeface="Courier New" charset="0"/>
              </a:rPr>
              <a:t> and </a:t>
            </a:r>
            <a:r>
              <a:rPr lang="en-US" dirty="0" err="1">
                <a:latin typeface="Courier New" charset="0"/>
                <a:ea typeface="Courier New" charset="0"/>
                <a:cs typeface="Courier New" charset="0"/>
              </a:rPr>
              <a:t>PARALLEL_MAKE</a:t>
            </a:r>
            <a:endParaRPr lang="en-US" sz="2400" dirty="0">
              <a:latin typeface="Courier New" charset="0"/>
              <a:ea typeface="Courier New" charset="0"/>
              <a:cs typeface="Courier New" charset="0"/>
            </a:endParaRPr>
          </a:p>
          <a:p>
            <a:pPr lvl="1"/>
            <a:r>
              <a:rPr lang="en-US" dirty="0">
                <a:latin typeface="Courier New" charset="0"/>
                <a:ea typeface="Courier New" charset="0"/>
                <a:cs typeface="Courier New" charset="0"/>
              </a:rPr>
              <a:t>MACHINE</a:t>
            </a:r>
            <a:r>
              <a:rPr lang="en-US" dirty="0">
                <a:ea typeface="Courier New" charset="0"/>
                <a:cs typeface="Courier New" charset="0"/>
              </a:rPr>
              <a:t> </a:t>
            </a:r>
            <a:r>
              <a:rPr lang="en-US" sz="2000" dirty="0">
                <a:ea typeface="Courier New" charset="0"/>
                <a:cs typeface="Courier New" charset="0"/>
              </a:rPr>
              <a:t>settings</a:t>
            </a:r>
          </a:p>
          <a:p>
            <a:pPr lvl="1"/>
            <a:r>
              <a:rPr lang="en-US" dirty="0">
                <a:latin typeface="Courier New" charset="0"/>
                <a:ea typeface="Courier New" charset="0"/>
                <a:cs typeface="Courier New" charset="0"/>
              </a:rPr>
              <a:t>DISTRO</a:t>
            </a:r>
            <a:r>
              <a:rPr lang="en-US" sz="2000" dirty="0">
                <a:ea typeface="Courier New" charset="0"/>
                <a:cs typeface="Courier New" charset="0"/>
              </a:rPr>
              <a:t> settings</a:t>
            </a:r>
          </a:p>
          <a:p>
            <a:pPr lvl="1"/>
            <a:r>
              <a:rPr lang="en-US" dirty="0" err="1">
                <a:latin typeface="Courier New" charset="0"/>
                <a:ea typeface="Courier New" charset="0"/>
                <a:cs typeface="Courier New" charset="0"/>
              </a:rPr>
              <a:t>INCOMPATIBLE_LICENSE</a:t>
            </a:r>
            <a:r>
              <a:rPr lang="en-US" dirty="0">
                <a:ea typeface="Courier New" charset="0"/>
                <a:cs typeface="Courier New" charset="0"/>
              </a:rPr>
              <a:t> </a:t>
            </a:r>
            <a:r>
              <a:rPr lang="en-US" dirty="0">
                <a:latin typeface="Courier New" charset="0"/>
                <a:ea typeface="Courier New" charset="0"/>
                <a:cs typeface="Courier New" charset="0"/>
              </a:rPr>
              <a:t>= “</a:t>
            </a:r>
            <a:r>
              <a:rPr lang="en-US" dirty="0" err="1">
                <a:latin typeface="Courier New" charset="0"/>
                <a:ea typeface="Courier New" charset="0"/>
                <a:cs typeface="Courier New" charset="0"/>
              </a:rPr>
              <a:t>GPLv3</a:t>
            </a:r>
            <a:r>
              <a:rPr lang="en-US" dirty="0">
                <a:latin typeface="Courier New" charset="0"/>
                <a:ea typeface="Courier New" charset="0"/>
                <a:cs typeface="Courier New" charset="0"/>
              </a:rPr>
              <a:t>”</a:t>
            </a:r>
          </a:p>
          <a:p>
            <a:pPr lvl="1"/>
            <a:r>
              <a:rPr lang="en-US" dirty="0" err="1">
                <a:latin typeface="Courier New" charset="0"/>
                <a:ea typeface="Courier New" charset="0"/>
                <a:cs typeface="Courier New" charset="0"/>
              </a:rPr>
              <a:t>EXTRA_IMAGE_FEATURES</a:t>
            </a:r>
            <a:endParaRPr lang="en-US" dirty="0">
              <a:latin typeface="Courier New" charset="0"/>
              <a:ea typeface="Courier New" charset="0"/>
              <a:cs typeface="Courier New" charset="0"/>
            </a:endParaRPr>
          </a:p>
          <a:p>
            <a:r>
              <a:rPr lang="en-US" sz="1800" dirty="0">
                <a:latin typeface="Courier New" charset="0"/>
                <a:ea typeface="Courier New" charset="0"/>
                <a:cs typeface="Courier New" charset="0"/>
              </a:rPr>
              <a:t>build/conf/</a:t>
            </a:r>
            <a:r>
              <a:rPr lang="en-US" sz="1800" dirty="0" err="1">
                <a:latin typeface="Courier New" charset="0"/>
                <a:ea typeface="Courier New" charset="0"/>
                <a:cs typeface="Courier New" charset="0"/>
              </a:rPr>
              <a:t>bblayers.conf</a:t>
            </a:r>
            <a:r>
              <a:rPr lang="en-US" sz="2000" dirty="0">
                <a:ea typeface="Courier New" charset="0"/>
                <a:cs typeface="Courier New" charset="0"/>
              </a:rPr>
              <a:t> is used to configure which layers to use.</a:t>
            </a:r>
            <a:endParaRPr lang="en-US" altLang="en-US" dirty="0">
              <a:ea typeface="ＭＳ Ｐゴシック" panose="020B0600070205080204" pitchFamily="34" charset="-128"/>
            </a:endParaRPr>
          </a:p>
          <a:p>
            <a:pPr lvl="1"/>
            <a:r>
              <a:rPr lang="en-US" dirty="0">
                <a:ea typeface="Courier New" charset="0"/>
                <a:cs typeface="Courier New" charset="0"/>
              </a:rPr>
              <a:t>Add </a:t>
            </a:r>
            <a:r>
              <a:rPr lang="en-US" dirty="0" err="1">
                <a:ea typeface="Courier New" charset="0"/>
                <a:cs typeface="Courier New" charset="0"/>
              </a:rPr>
              <a:t>Yocto</a:t>
            </a:r>
            <a:r>
              <a:rPr lang="en-US" dirty="0">
                <a:ea typeface="Courier New" charset="0"/>
                <a:cs typeface="Courier New" charset="0"/>
              </a:rPr>
              <a:t> Project Compatible layers to the </a:t>
            </a:r>
            <a:r>
              <a:rPr lang="en-US" sz="1600" dirty="0" err="1">
                <a:latin typeface="Courier New" charset="0"/>
                <a:ea typeface="Courier New" charset="0"/>
                <a:cs typeface="Courier New" charset="0"/>
              </a:rPr>
              <a:t>BBLAYERS</a:t>
            </a:r>
            <a:endParaRPr lang="en-US" sz="1600" dirty="0">
              <a:latin typeface="Courier New" charset="0"/>
              <a:ea typeface="Courier New" charset="0"/>
              <a:cs typeface="Courier New" charset="0"/>
            </a:endParaRPr>
          </a:p>
          <a:p>
            <a:pPr lvl="1"/>
            <a:r>
              <a:rPr lang="en-US" dirty="0">
                <a:ea typeface="Courier New" charset="0"/>
                <a:cs typeface="Courier New" charset="0"/>
              </a:rPr>
              <a:t>Default: meta (</a:t>
            </a:r>
            <a:r>
              <a:rPr lang="en-US" dirty="0" err="1">
                <a:ea typeface="Courier New" charset="0"/>
                <a:cs typeface="Courier New" charset="0"/>
              </a:rPr>
              <a:t>oe</a:t>
            </a:r>
            <a:r>
              <a:rPr lang="en-US" dirty="0">
                <a:ea typeface="Courier New" charset="0"/>
                <a:cs typeface="Courier New" charset="0"/>
              </a:rPr>
              <a:t>-core), meta-</a:t>
            </a:r>
            <a:r>
              <a:rPr lang="en-US" dirty="0" err="1">
                <a:ea typeface="Courier New" charset="0"/>
                <a:cs typeface="Courier New" charset="0"/>
              </a:rPr>
              <a:t>yocto</a:t>
            </a:r>
            <a:r>
              <a:rPr lang="en-US" dirty="0">
                <a:ea typeface="Courier New" charset="0"/>
                <a:cs typeface="Courier New" charset="0"/>
              </a:rPr>
              <a:t>, and meta-yocto-</a:t>
            </a:r>
            <a:r>
              <a:rPr lang="en-US" dirty="0" err="1">
                <a:ea typeface="Courier New" charset="0"/>
                <a:cs typeface="Courier New" charset="0"/>
              </a:rPr>
              <a:t>bsp</a:t>
            </a:r>
            <a:endParaRPr lang="en-US" sz="2400" dirty="0">
              <a:latin typeface="Courier New" charset="0"/>
              <a:ea typeface="Courier New" charset="0"/>
              <a:cs typeface="Courier New" charset="0"/>
            </a:endParaRPr>
          </a:p>
          <a:p>
            <a:pPr lvl="1"/>
            <a:endParaRPr lang="en-US" dirty="0"/>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180306"/>
            <a:ext cx="5330825" cy="3605212"/>
          </a:xfrm>
        </p:spPr>
        <p:txBody>
          <a:bodyPr wrap="square" numCol="1" anchor="t" anchorCtr="0" compatLnSpc="1">
            <a:prstTxWarp prst="textNoShape">
              <a:avLst/>
            </a:prstTxWarp>
          </a:bodyPr>
          <a:lstStyle/>
          <a:p>
            <a:r>
              <a:rPr lang="en-US" dirty="0"/>
              <a:t>Example for the Raspberry Pi 5</a:t>
            </a:r>
            <a:endParaRPr lang="en-US" altLang="en-US" dirty="0">
              <a:ea typeface="ＭＳ Ｐゴシック" panose="020B0600070205080204" pitchFamily="34" charset="-128"/>
            </a:endParaRPr>
          </a:p>
        </p:txBody>
      </p:sp>
      <p:sp>
        <p:nvSpPr>
          <p:cNvPr id="7" name="TextBox 6">
            <a:extLst>
              <a:ext uri="{FF2B5EF4-FFF2-40B4-BE49-F238E27FC236}">
                <a16:creationId xmlns:a16="http://schemas.microsoft.com/office/drawing/2014/main" id="{C9B33A4A-510F-41D4-AF86-37D9C5747E98}"/>
              </a:ext>
            </a:extLst>
          </p:cNvPr>
          <p:cNvSpPr txBox="1"/>
          <p:nvPr/>
        </p:nvSpPr>
        <p:spPr>
          <a:xfrm>
            <a:off x="6342063" y="1765710"/>
            <a:ext cx="5285786" cy="982500"/>
          </a:xfrm>
          <a:prstGeom prst="rect">
            <a:avLst/>
          </a:prstGeom>
          <a:solidFill>
            <a:schemeClr val="bg1">
              <a:lumMod val="95000"/>
            </a:schemeClr>
          </a:solidFill>
          <a:ln>
            <a:solidFill>
              <a:schemeClr val="tx1"/>
            </a:solidFill>
          </a:ln>
        </p:spPr>
        <p:txBody>
          <a:bodyPr vert="horz" wrap="none" lIns="0" tIns="0" rIns="0" bIns="0" rtlCol="0" anchor="t">
            <a:normAutofit fontScale="92500" lnSpcReduction="10000"/>
          </a:bodyPr>
          <a:lstStyle/>
          <a:p>
            <a:r>
              <a:rPr lang="en-US" b="1" dirty="0" err="1">
                <a:solidFill>
                  <a:srgbClr val="128CAB"/>
                </a:solidFill>
                <a:ea typeface="Courier New" charset="0"/>
                <a:cs typeface="Courier New" charset="0"/>
              </a:rPr>
              <a:t>local.conf</a:t>
            </a:r>
            <a:r>
              <a:rPr lang="en-US" b="1" dirty="0">
                <a:solidFill>
                  <a:srgbClr val="128CAB"/>
                </a:solidFill>
                <a:ea typeface="Courier New" charset="0"/>
                <a:cs typeface="Courier New" charset="0"/>
              </a:rPr>
              <a:t> (fragment)</a:t>
            </a:r>
            <a:endParaRPr lang="en-US" dirty="0">
              <a:latin typeface="Courier New" charset="0"/>
              <a:ea typeface="Courier New" charset="0"/>
              <a:cs typeface="Courier New" charset="0"/>
            </a:endParaRPr>
          </a:p>
          <a:p>
            <a:endParaRPr lang="en-US" dirty="0">
              <a:latin typeface="Courier New" charset="0"/>
              <a:ea typeface="Courier New" charset="0"/>
              <a:cs typeface="Courier New" charset="0"/>
            </a:endParaRPr>
          </a:p>
          <a:p>
            <a:r>
              <a:rPr lang="en-US">
                <a:latin typeface="Courier New" charset="0"/>
                <a:ea typeface="Courier New" charset="0"/>
                <a:cs typeface="Courier New" charset="0"/>
              </a:rPr>
              <a:t>MACHINE ?= </a:t>
            </a:r>
            <a:r>
              <a:rPr lang="en-US" dirty="0">
                <a:latin typeface="Courier New" charset="0"/>
                <a:ea typeface="Courier New" charset="0"/>
                <a:cs typeface="Courier New" charset="0"/>
              </a:rPr>
              <a:t>'raspberrypi5'</a:t>
            </a:r>
          </a:p>
          <a:p>
            <a:r>
              <a:rPr lang="en-US" dirty="0">
                <a:latin typeface="Courier New" charset="0"/>
                <a:ea typeface="Courier New" charset="0"/>
                <a:cs typeface="Courier New" charset="0"/>
              </a:rPr>
              <a:t>DISTRO ?= 'poky'</a:t>
            </a:r>
          </a:p>
        </p:txBody>
      </p:sp>
      <p:sp>
        <p:nvSpPr>
          <p:cNvPr id="8" name="TextBox 7">
            <a:extLst>
              <a:ext uri="{FF2B5EF4-FFF2-40B4-BE49-F238E27FC236}">
                <a16:creationId xmlns:a16="http://schemas.microsoft.com/office/drawing/2014/main" id="{704D1E3A-79DB-4B05-AD99-B70CA57C7690}"/>
              </a:ext>
            </a:extLst>
          </p:cNvPr>
          <p:cNvSpPr txBox="1"/>
          <p:nvPr/>
        </p:nvSpPr>
        <p:spPr>
          <a:xfrm>
            <a:off x="6342063" y="3019069"/>
            <a:ext cx="5285786" cy="3051532"/>
          </a:xfrm>
          <a:prstGeom prst="rect">
            <a:avLst/>
          </a:prstGeom>
          <a:solidFill>
            <a:schemeClr val="bg1">
              <a:lumMod val="95000"/>
            </a:schemeClr>
          </a:solidFill>
          <a:ln>
            <a:solidFill>
              <a:schemeClr val="tx1"/>
            </a:solidFill>
          </a:ln>
        </p:spPr>
        <p:txBody>
          <a:bodyPr vert="horz" wrap="none" lIns="0" tIns="0" rIns="0" bIns="0" rtlCol="0" anchor="t">
            <a:noAutofit/>
          </a:bodyPr>
          <a:lstStyle/>
          <a:p>
            <a:r>
              <a:rPr lang="en-US" sz="1200" b="1" dirty="0" err="1">
                <a:solidFill>
                  <a:srgbClr val="128CAB"/>
                </a:solidFill>
                <a:ea typeface="Courier New" charset="0"/>
                <a:cs typeface="Courier New" charset="0"/>
              </a:rPr>
              <a:t>bblayer.conf</a:t>
            </a:r>
            <a:r>
              <a:rPr lang="en-US" sz="1200" b="1" dirty="0">
                <a:solidFill>
                  <a:srgbClr val="128CAB"/>
                </a:solidFill>
                <a:ea typeface="Courier New" charset="0"/>
                <a:cs typeface="Courier New" charset="0"/>
              </a:rPr>
              <a:t> (fragment)</a:t>
            </a:r>
          </a:p>
          <a:p>
            <a:endParaRPr lang="en-US" sz="1200" b="1" dirty="0">
              <a:solidFill>
                <a:srgbClr val="128CAB"/>
              </a:solidFill>
              <a:ea typeface="Courier New" charset="0"/>
              <a:cs typeface="Courier New" charset="0"/>
            </a:endParaRPr>
          </a:p>
          <a:p>
            <a:r>
              <a:rPr lang="en-US" sz="1200" dirty="0">
                <a:latin typeface="Courier New" charset="0"/>
                <a:ea typeface="Courier New" charset="0"/>
                <a:cs typeface="Courier New" charset="0"/>
              </a:rPr>
              <a:t>BBLAYERS = " \</a:t>
            </a:r>
          </a:p>
          <a:p>
            <a:r>
              <a:rPr lang="en-US" sz="1200" dirty="0">
                <a:latin typeface="Courier New" charset="0"/>
                <a:ea typeface="Courier New" charset="0"/>
                <a:cs typeface="Courier New" charset="0"/>
              </a:rPr>
              <a:t>  ${BSPDIR}/sources/poky/meta \</a:t>
            </a:r>
          </a:p>
          <a:p>
            <a:r>
              <a:rPr lang="en-US" sz="1200" dirty="0">
                <a:latin typeface="Courier New" charset="0"/>
                <a:ea typeface="Courier New" charset="0"/>
                <a:cs typeface="Courier New" charset="0"/>
              </a:rPr>
              <a:t>  ${BSPDIR}/sources/poky/meta-</a:t>
            </a:r>
            <a:r>
              <a:rPr lang="en-US" sz="1200" dirty="0" err="1">
                <a:latin typeface="Courier New" charset="0"/>
                <a:ea typeface="Courier New" charset="0"/>
                <a:cs typeface="Courier New" charset="0"/>
              </a:rPr>
              <a:t>yocto</a:t>
            </a:r>
            <a:r>
              <a:rPr lang="en-US" sz="1200" dirty="0">
                <a:latin typeface="Courier New" charset="0"/>
                <a:ea typeface="Courier New" charset="0"/>
                <a:cs typeface="Courier New" charset="0"/>
              </a:rPr>
              <a:t> \</a:t>
            </a:r>
          </a:p>
          <a:p>
            <a:r>
              <a:rPr lang="en-US" sz="1200" dirty="0">
                <a:latin typeface="Courier New" charset="0"/>
                <a:ea typeface="Courier New" charset="0"/>
                <a:cs typeface="Courier New" charset="0"/>
              </a:rPr>
              <a:t>  ${BSPDIR}/sources/poky/meta-</a:t>
            </a:r>
            <a:r>
              <a:rPr lang="en-US" sz="1200" dirty="0" err="1">
                <a:latin typeface="Courier New" charset="0"/>
                <a:ea typeface="Courier New" charset="0"/>
                <a:cs typeface="Courier New" charset="0"/>
              </a:rPr>
              <a:t>yocto</a:t>
            </a:r>
            <a:r>
              <a:rPr lang="en-US" sz="1200" dirty="0">
                <a:latin typeface="Courier New" charset="0"/>
                <a:ea typeface="Courier New" charset="0"/>
                <a:cs typeface="Courier New" charset="0"/>
              </a:rPr>
              <a:t>-</a:t>
            </a:r>
            <a:r>
              <a:rPr lang="en-US" sz="1200" dirty="0" err="1">
                <a:latin typeface="Courier New" charset="0"/>
                <a:ea typeface="Courier New" charset="0"/>
                <a:cs typeface="Courier New" charset="0"/>
              </a:rPr>
              <a:t>bsp</a:t>
            </a:r>
            <a:r>
              <a:rPr lang="en-US" sz="1200" dirty="0">
                <a:latin typeface="Courier New" charset="0"/>
                <a:ea typeface="Courier New" charset="0"/>
                <a:cs typeface="Courier New" charset="0"/>
              </a:rPr>
              <a:t> \</a:t>
            </a:r>
          </a:p>
          <a:p>
            <a:r>
              <a:rPr lang="en-US" sz="1200" dirty="0">
                <a:latin typeface="Courier New" charset="0"/>
                <a:ea typeface="Courier New" charset="0"/>
                <a:cs typeface="Courier New" charset="0"/>
              </a:rPr>
              <a:t>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openembedded</a:t>
            </a:r>
            <a:r>
              <a:rPr lang="en-US" sz="1200" dirty="0">
                <a:latin typeface="Courier New" charset="0"/>
                <a:ea typeface="Courier New" charset="0"/>
                <a:cs typeface="Courier New" charset="0"/>
              </a:rPr>
              <a:t>/meta-</a:t>
            </a:r>
            <a:r>
              <a:rPr lang="en-US" sz="1200" dirty="0" err="1">
                <a:latin typeface="Courier New" charset="0"/>
                <a:ea typeface="Courier New" charset="0"/>
                <a:cs typeface="Courier New" charset="0"/>
              </a:rPr>
              <a:t>oe</a:t>
            </a:r>
            <a:r>
              <a:rPr lang="en-US" sz="1200" dirty="0">
                <a:latin typeface="Courier New" charset="0"/>
                <a:ea typeface="Courier New" charset="0"/>
                <a:cs typeface="Courier New" charset="0"/>
              </a:rPr>
              <a:t>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openembedded</a:t>
            </a:r>
            <a:r>
              <a:rPr lang="en-US" sz="1200" dirty="0">
                <a:latin typeface="Courier New" charset="0"/>
                <a:ea typeface="Courier New" charset="0"/>
                <a:cs typeface="Courier New" charset="0"/>
              </a:rPr>
              <a:t>/meta-multimedia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openembedded</a:t>
            </a:r>
            <a:r>
              <a:rPr lang="en-US" sz="1200" dirty="0">
                <a:latin typeface="Courier New" charset="0"/>
                <a:ea typeface="Courier New" charset="0"/>
                <a:cs typeface="Courier New" charset="0"/>
              </a:rPr>
              <a:t>/meta-networking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openembedded</a:t>
            </a:r>
            <a:r>
              <a:rPr lang="en-US" sz="1200" dirty="0">
                <a:latin typeface="Courier New" charset="0"/>
                <a:ea typeface="Courier New" charset="0"/>
                <a:cs typeface="Courier New" charset="0"/>
              </a:rPr>
              <a:t>/meta-python \</a:t>
            </a:r>
          </a:p>
          <a:p>
            <a:r>
              <a:rPr lang="en-US" sz="1200" dirty="0">
                <a:latin typeface="Courier New" charset="0"/>
                <a:ea typeface="Courier New" charset="0"/>
                <a:cs typeface="Courier New" charset="0"/>
              </a:rPr>
              <a:t>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fsl</a:t>
            </a:r>
            <a:r>
              <a:rPr lang="en-US" sz="1200" dirty="0">
                <a:latin typeface="Courier New" charset="0"/>
                <a:ea typeface="Courier New" charset="0"/>
                <a:cs typeface="Courier New" charset="0"/>
              </a:rPr>
              <a:t>-arm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fsl</a:t>
            </a:r>
            <a:r>
              <a:rPr lang="en-US" sz="1200" dirty="0">
                <a:latin typeface="Courier New" charset="0"/>
                <a:ea typeface="Courier New" charset="0"/>
                <a:cs typeface="Courier New" charset="0"/>
              </a:rPr>
              <a:t>-arm-extra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fsl</a:t>
            </a:r>
            <a:r>
              <a:rPr lang="en-US" sz="1200" dirty="0">
                <a:latin typeface="Courier New" charset="0"/>
                <a:ea typeface="Courier New" charset="0"/>
                <a:cs typeface="Courier New" charset="0"/>
              </a:rPr>
              <a:t>-demos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raspberrypi</a:t>
            </a:r>
            <a:r>
              <a:rPr lang="en-US" sz="1200" dirty="0">
                <a:latin typeface="Courier New" charset="0"/>
                <a:ea typeface="Courier New" charset="0"/>
                <a:cs typeface="Courier New" charset="0"/>
              </a:rPr>
              <a:t> \</a:t>
            </a:r>
          </a:p>
          <a:p>
            <a:endParaRPr lang="en-US" sz="1600" dirty="0">
              <a:latin typeface="Courier New" charset="0"/>
              <a:ea typeface="Courier New" charset="0"/>
              <a:cs typeface="Courier New" charset="0"/>
            </a:endParaRPr>
          </a:p>
        </p:txBody>
      </p:sp>
      <p:cxnSp>
        <p:nvCxnSpPr>
          <p:cNvPr id="9" name="Straight Arrow Connector 8">
            <a:extLst>
              <a:ext uri="{FF2B5EF4-FFF2-40B4-BE49-F238E27FC236}">
                <a16:creationId xmlns:a16="http://schemas.microsoft.com/office/drawing/2014/main" id="{D4DBB6BE-BD4F-4915-A7CE-30C31E90194D}"/>
              </a:ext>
            </a:extLst>
          </p:cNvPr>
          <p:cNvCxnSpPr/>
          <p:nvPr/>
        </p:nvCxnSpPr>
        <p:spPr>
          <a:xfrm>
            <a:off x="10820400" y="186640"/>
            <a:ext cx="6219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 name="Picture 2">
            <a:extLst>
              <a:ext uri="{FF2B5EF4-FFF2-40B4-BE49-F238E27FC236}">
                <a16:creationId xmlns:a16="http://schemas.microsoft.com/office/drawing/2014/main" id="{3ABECE4C-AAA4-462B-B248-3B8583F776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57372" y="42335"/>
            <a:ext cx="713513" cy="139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537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The Build System Workflow: Metadata</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169194"/>
            <a:ext cx="5019675" cy="3605212"/>
          </a:xfrm>
        </p:spPr>
        <p:txBody>
          <a:bodyPr wrap="square" numCol="1" anchor="t" anchorCtr="0" compatLnSpc="1">
            <a:prstTxWarp prst="textNoShape">
              <a:avLst/>
            </a:prstTxWarp>
          </a:bodyPr>
          <a:lstStyle/>
          <a:p>
            <a:r>
              <a:rPr lang="en-US" sz="2000" dirty="0"/>
              <a:t>Recipes for building packages</a:t>
            </a:r>
          </a:p>
          <a:p>
            <a:r>
              <a:rPr lang="en-US" sz="2000" dirty="0"/>
              <a:t>Recipes inherit the system configuration and adjust it to describe how to build and package the software.</a:t>
            </a:r>
          </a:p>
          <a:p>
            <a:r>
              <a:rPr lang="en-US" sz="2000" dirty="0"/>
              <a:t>Can be extended and enhanced via layers</a:t>
            </a:r>
          </a:p>
          <a:p>
            <a:r>
              <a:rPr lang="en-US" sz="2000" dirty="0"/>
              <a:t>Compatible with </a:t>
            </a:r>
            <a:r>
              <a:rPr lang="en-US" sz="2000" dirty="0" err="1"/>
              <a:t>OpenEmbedded</a:t>
            </a:r>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180306"/>
            <a:ext cx="5330825" cy="3605212"/>
          </a:xfrm>
        </p:spPr>
        <p:txBody>
          <a:bodyPr wrap="square" numCol="1" anchor="t" anchorCtr="0" compatLnSpc="1">
            <a:prstTxWarp prst="textNoShape">
              <a:avLst/>
            </a:prstTxWarp>
          </a:bodyPr>
          <a:lstStyle/>
          <a:p>
            <a:r>
              <a:rPr lang="en-US" dirty="0"/>
              <a:t>Example for the Raspberry Pi 5</a:t>
            </a:r>
            <a:endParaRPr lang="en-US" altLang="en-US" dirty="0">
              <a:ea typeface="ＭＳ Ｐゴシック" panose="020B0600070205080204" pitchFamily="34" charset="-128"/>
            </a:endParaRPr>
          </a:p>
        </p:txBody>
      </p:sp>
      <p:sp>
        <p:nvSpPr>
          <p:cNvPr id="11" name="TextBox 10">
            <a:extLst>
              <a:ext uri="{FF2B5EF4-FFF2-40B4-BE49-F238E27FC236}">
                <a16:creationId xmlns:a16="http://schemas.microsoft.com/office/drawing/2014/main" id="{DE86DFAA-7A6A-4D68-8043-116223F302F6}"/>
              </a:ext>
            </a:extLst>
          </p:cNvPr>
          <p:cNvSpPr txBox="1"/>
          <p:nvPr/>
        </p:nvSpPr>
        <p:spPr>
          <a:xfrm>
            <a:off x="6342063" y="1692940"/>
            <a:ext cx="5629514" cy="4431385"/>
          </a:xfrm>
          <a:prstGeom prst="rect">
            <a:avLst/>
          </a:prstGeom>
          <a:solidFill>
            <a:schemeClr val="bg1">
              <a:lumMod val="95000"/>
            </a:schemeClr>
          </a:solidFill>
          <a:ln>
            <a:solidFill>
              <a:schemeClr val="tx1"/>
            </a:solidFill>
          </a:ln>
        </p:spPr>
        <p:txBody>
          <a:bodyPr vert="horz" wrap="none" lIns="0" tIns="0" rIns="0" bIns="0" rtlCol="0" anchor="t">
            <a:noAutofit/>
          </a:bodyPr>
          <a:lstStyle/>
          <a:p>
            <a:r>
              <a:rPr lang="en-US" sz="1400" b="1" dirty="0">
                <a:solidFill>
                  <a:srgbClr val="128CAB"/>
                </a:solidFill>
                <a:ea typeface="Courier New" charset="0"/>
                <a:cs typeface="Courier New" charset="0"/>
              </a:rPr>
              <a:t>rpi-basic-image.bb (fragment)</a:t>
            </a:r>
          </a:p>
          <a:p>
            <a:endParaRPr lang="en-US" sz="1400" b="1" dirty="0">
              <a:solidFill>
                <a:srgbClr val="128CAB"/>
              </a:solidFill>
              <a:ea typeface="Courier New" charset="0"/>
              <a:cs typeface="Courier New" charset="0"/>
            </a:endParaRPr>
          </a:p>
          <a:p>
            <a:r>
              <a:rPr lang="en-US" sz="1400" dirty="0">
                <a:latin typeface="Courier New" charset="0"/>
                <a:ea typeface="Courier New" charset="0"/>
                <a:cs typeface="Courier New" charset="0"/>
              </a:rPr>
              <a:t># Base this image on </a:t>
            </a:r>
            <a:r>
              <a:rPr lang="en-US" sz="1400" dirty="0" err="1">
                <a:latin typeface="Courier New" charset="0"/>
                <a:ea typeface="Courier New" charset="0"/>
                <a:cs typeface="Courier New" charset="0"/>
              </a:rPr>
              <a:t>rpi</a:t>
            </a:r>
            <a:r>
              <a:rPr lang="en-US" sz="1400" dirty="0">
                <a:latin typeface="Courier New" charset="0"/>
                <a:ea typeface="Courier New" charset="0"/>
                <a:cs typeface="Courier New" charset="0"/>
              </a:rPr>
              <a:t>-</a:t>
            </a:r>
            <a:r>
              <a:rPr lang="en-US" sz="1400" dirty="0" err="1">
                <a:latin typeface="Courier New" charset="0"/>
                <a:ea typeface="Courier New" charset="0"/>
                <a:cs typeface="Courier New" charset="0"/>
              </a:rPr>
              <a:t>hwup</a:t>
            </a:r>
            <a:r>
              <a:rPr lang="en-US" sz="1400" dirty="0">
                <a:latin typeface="Courier New" charset="0"/>
                <a:ea typeface="Courier New" charset="0"/>
                <a:cs typeface="Courier New" charset="0"/>
              </a:rPr>
              <a:t>-image</a:t>
            </a:r>
          </a:p>
          <a:p>
            <a:r>
              <a:rPr lang="en-US" sz="1400" dirty="0">
                <a:latin typeface="Courier New" charset="0"/>
                <a:ea typeface="Courier New" charset="0"/>
                <a:cs typeface="Courier New" charset="0"/>
              </a:rPr>
              <a:t>include rpi-hwup-image.bb</a:t>
            </a:r>
          </a:p>
          <a:p>
            <a:endParaRPr lang="en-US" sz="1400" dirty="0">
              <a:latin typeface="Courier New" charset="0"/>
              <a:ea typeface="Courier New" charset="0"/>
              <a:cs typeface="Courier New" charset="0"/>
            </a:endParaRPr>
          </a:p>
          <a:p>
            <a:r>
              <a:rPr lang="en-US" sz="1400" dirty="0">
                <a:latin typeface="Courier New" charset="0"/>
                <a:ea typeface="Courier New" charset="0"/>
                <a:cs typeface="Courier New" charset="0"/>
              </a:rPr>
              <a:t>SPLASH = "</a:t>
            </a:r>
            <a:r>
              <a:rPr lang="en-US" sz="1400" dirty="0" err="1">
                <a:latin typeface="Courier New" charset="0"/>
                <a:ea typeface="Courier New" charset="0"/>
                <a:cs typeface="Courier New" charset="0"/>
              </a:rPr>
              <a:t>psplash-raspberrypi</a:t>
            </a:r>
            <a:r>
              <a:rPr lang="en-US" sz="1400" dirty="0">
                <a:latin typeface="Courier New" charset="0"/>
                <a:ea typeface="Courier New" charset="0"/>
                <a:cs typeface="Courier New" charset="0"/>
              </a:rPr>
              <a:t>"</a:t>
            </a:r>
          </a:p>
          <a:p>
            <a:endParaRPr lang="en-US" sz="1400" dirty="0">
              <a:latin typeface="Courier New" charset="0"/>
              <a:ea typeface="Courier New" charset="0"/>
              <a:cs typeface="Courier New" charset="0"/>
            </a:endParaRPr>
          </a:p>
          <a:p>
            <a:r>
              <a:rPr lang="en-US" sz="1400" dirty="0">
                <a:latin typeface="Courier New" charset="0"/>
                <a:ea typeface="Courier New" charset="0"/>
                <a:cs typeface="Courier New" charset="0"/>
              </a:rPr>
              <a:t>IMAGE_FEATURES += "</a:t>
            </a:r>
            <a:r>
              <a:rPr lang="en-US" sz="1400" dirty="0" err="1">
                <a:latin typeface="Courier New" charset="0"/>
                <a:ea typeface="Courier New" charset="0"/>
                <a:cs typeface="Courier New" charset="0"/>
              </a:rPr>
              <a:t>ssh</a:t>
            </a:r>
            <a:r>
              <a:rPr lang="en-US" sz="1400" dirty="0">
                <a:latin typeface="Courier New" charset="0"/>
                <a:ea typeface="Courier New" charset="0"/>
                <a:cs typeface="Courier New" charset="0"/>
              </a:rPr>
              <a:t>-server-</a:t>
            </a:r>
            <a:r>
              <a:rPr lang="en-US" sz="1400" dirty="0" err="1">
                <a:latin typeface="Courier New" charset="0"/>
                <a:ea typeface="Courier New" charset="0"/>
                <a:cs typeface="Courier New" charset="0"/>
              </a:rPr>
              <a:t>dropbear</a:t>
            </a:r>
            <a:r>
              <a:rPr lang="en-US" sz="1400" dirty="0">
                <a:latin typeface="Courier New" charset="0"/>
                <a:ea typeface="Courier New" charset="0"/>
                <a:cs typeface="Courier New" charset="0"/>
              </a:rPr>
              <a:t> splash"</a:t>
            </a:r>
            <a:endParaRPr lang="en-US" sz="1600" dirty="0">
              <a:latin typeface="Courier New" charset="0"/>
              <a:ea typeface="Courier New" charset="0"/>
              <a:cs typeface="Courier New" charset="0"/>
            </a:endParaRPr>
          </a:p>
          <a:p>
            <a:endParaRPr lang="en-US" sz="1600" dirty="0">
              <a:latin typeface="Courier New" charset="0"/>
              <a:ea typeface="Courier New" charset="0"/>
              <a:cs typeface="Courier New" charset="0"/>
            </a:endParaRPr>
          </a:p>
        </p:txBody>
      </p:sp>
      <p:cxnSp>
        <p:nvCxnSpPr>
          <p:cNvPr id="12" name="Straight Arrow Connector 11">
            <a:extLst>
              <a:ext uri="{FF2B5EF4-FFF2-40B4-BE49-F238E27FC236}">
                <a16:creationId xmlns:a16="http://schemas.microsoft.com/office/drawing/2014/main" id="{00BA6492-B26A-425D-A5EB-5BC7FC3F35D2}"/>
              </a:ext>
            </a:extLst>
          </p:cNvPr>
          <p:cNvCxnSpPr/>
          <p:nvPr/>
        </p:nvCxnSpPr>
        <p:spPr>
          <a:xfrm>
            <a:off x="10853977" y="522255"/>
            <a:ext cx="6219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3" name="Picture 2">
            <a:extLst>
              <a:ext uri="{FF2B5EF4-FFF2-40B4-BE49-F238E27FC236}">
                <a16:creationId xmlns:a16="http://schemas.microsoft.com/office/drawing/2014/main" id="{580A95FD-FD09-498D-8F0A-DAD316C4AC3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90949" y="0"/>
            <a:ext cx="713513" cy="139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3931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The Build System Workflow: Machine (</a:t>
            </a:r>
            <a:r>
              <a:rPr lang="en-US" dirty="0" err="1"/>
              <a:t>BSP</a:t>
            </a:r>
            <a:r>
              <a:rPr lang="en-US" dirty="0"/>
              <a:t>) Configuration</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169194"/>
            <a:ext cx="5019675" cy="3605212"/>
          </a:xfrm>
        </p:spPr>
        <p:txBody>
          <a:bodyPr wrap="square" numCol="1" anchor="t" anchorCtr="0" compatLnSpc="1">
            <a:prstTxWarp prst="textNoShape">
              <a:avLst/>
            </a:prstTxWarp>
          </a:bodyPr>
          <a:lstStyle/>
          <a:p>
            <a:r>
              <a:rPr lang="en-US" sz="2000" dirty="0"/>
              <a:t>Configuration files that describe a machine</a:t>
            </a:r>
          </a:p>
          <a:p>
            <a:pPr lvl="1"/>
            <a:r>
              <a:rPr lang="en-US" dirty="0"/>
              <a:t>Define board specific kernel configuration </a:t>
            </a:r>
          </a:p>
          <a:p>
            <a:pPr lvl="1"/>
            <a:r>
              <a:rPr lang="en-US" dirty="0"/>
              <a:t>Processor/SOC Tuning files </a:t>
            </a:r>
          </a:p>
          <a:p>
            <a:r>
              <a:rPr lang="en-US" dirty="0"/>
              <a:t>Machine configuration refers to kernel sources.</a:t>
            </a:r>
          </a:p>
          <a:p>
            <a:r>
              <a:rPr lang="en-US" dirty="0"/>
              <a:t>Compatible with </a:t>
            </a:r>
            <a:r>
              <a:rPr lang="en-US" dirty="0" err="1"/>
              <a:t>OpenEmbedded</a:t>
            </a:r>
            <a:endParaRPr lang="en-US" dirty="0"/>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180306"/>
            <a:ext cx="5330825" cy="3605212"/>
          </a:xfrm>
        </p:spPr>
        <p:txBody>
          <a:bodyPr wrap="square" numCol="1" anchor="t" anchorCtr="0" compatLnSpc="1">
            <a:prstTxWarp prst="textNoShape">
              <a:avLst/>
            </a:prstTxWarp>
          </a:bodyPr>
          <a:lstStyle/>
          <a:p>
            <a:r>
              <a:rPr lang="en-US" dirty="0"/>
              <a:t>Example for the Raspberry Pi 5</a:t>
            </a:r>
            <a:endParaRPr lang="en-US" altLang="en-US" dirty="0">
              <a:ea typeface="ＭＳ Ｐゴシック" panose="020B0600070205080204" pitchFamily="34" charset="-128"/>
            </a:endParaRPr>
          </a:p>
        </p:txBody>
      </p:sp>
      <p:sp>
        <p:nvSpPr>
          <p:cNvPr id="8" name="TextBox 7">
            <a:extLst>
              <a:ext uri="{FF2B5EF4-FFF2-40B4-BE49-F238E27FC236}">
                <a16:creationId xmlns:a16="http://schemas.microsoft.com/office/drawing/2014/main" id="{1E578957-28AC-4552-94D5-059428A60154}"/>
              </a:ext>
            </a:extLst>
          </p:cNvPr>
          <p:cNvSpPr txBox="1"/>
          <p:nvPr/>
        </p:nvSpPr>
        <p:spPr>
          <a:xfrm>
            <a:off x="6342063" y="1692940"/>
            <a:ext cx="5664200" cy="3429393"/>
          </a:xfrm>
          <a:prstGeom prst="rect">
            <a:avLst/>
          </a:prstGeom>
          <a:solidFill>
            <a:schemeClr val="bg1">
              <a:lumMod val="95000"/>
            </a:schemeClr>
          </a:solidFill>
          <a:ln>
            <a:solidFill>
              <a:schemeClr val="tx1"/>
            </a:solidFill>
          </a:ln>
        </p:spPr>
        <p:txBody>
          <a:bodyPr vert="horz" wrap="none" lIns="0" tIns="0" rIns="0" bIns="0" rtlCol="0" anchor="t">
            <a:noAutofit/>
          </a:bodyPr>
          <a:lstStyle/>
          <a:p>
            <a:r>
              <a:rPr lang="en-US" sz="1200" b="1" dirty="0">
                <a:solidFill>
                  <a:srgbClr val="128CAB"/>
                </a:solidFill>
                <a:ea typeface="Courier New" charset="0"/>
                <a:cs typeface="Courier New" charset="0"/>
              </a:rPr>
              <a:t>raspberrypi5.conf (fragment)</a:t>
            </a:r>
          </a:p>
          <a:p>
            <a:endParaRPr lang="en-US" sz="1200" b="1" dirty="0">
              <a:solidFill>
                <a:srgbClr val="128CAB"/>
              </a:solidFill>
              <a:ea typeface="Courier New" charset="0"/>
              <a:cs typeface="Courier New" charset="0"/>
            </a:endParaRPr>
          </a:p>
          <a:p>
            <a:r>
              <a:rPr lang="en-US" sz="1200" dirty="0">
                <a:latin typeface="Courier New" charset="0"/>
                <a:ea typeface="Courier New" charset="0"/>
                <a:cs typeface="Courier New" charset="0"/>
              </a:rPr>
              <a:t>#@TYPE: Machine</a:t>
            </a:r>
          </a:p>
          <a:p>
            <a:r>
              <a:rPr lang="en-US" sz="1200" dirty="0">
                <a:latin typeface="Courier New" charset="0"/>
                <a:ea typeface="Courier New" charset="0"/>
                <a:cs typeface="Courier New" charset="0"/>
              </a:rPr>
              <a:t>#@NAME: </a:t>
            </a:r>
            <a:r>
              <a:rPr lang="en-US" sz="1200" dirty="0" err="1">
                <a:latin typeface="Courier New" charset="0"/>
                <a:ea typeface="Courier New" charset="0"/>
                <a:cs typeface="Courier New" charset="0"/>
              </a:rPr>
              <a:t>RaspberryPi</a:t>
            </a:r>
            <a:r>
              <a:rPr lang="en-US" sz="1200" dirty="0">
                <a:latin typeface="Courier New" charset="0"/>
                <a:ea typeface="Courier New" charset="0"/>
                <a:cs typeface="Courier New" charset="0"/>
              </a:rPr>
              <a:t> 5 Development Board</a:t>
            </a:r>
          </a:p>
          <a:p>
            <a:r>
              <a:rPr lang="en-US" sz="1200" dirty="0">
                <a:latin typeface="Courier New" charset="0"/>
                <a:ea typeface="Courier New" charset="0"/>
                <a:cs typeface="Courier New" charset="0"/>
              </a:rPr>
              <a:t>#@DESCRIPTION: Machine configuration for the </a:t>
            </a:r>
            <a:r>
              <a:rPr lang="en-US" sz="1200" dirty="0" err="1">
                <a:latin typeface="Courier New" charset="0"/>
                <a:ea typeface="Courier New" charset="0"/>
                <a:cs typeface="Courier New" charset="0"/>
              </a:rPr>
              <a:t>RaspberryPi</a:t>
            </a:r>
            <a:r>
              <a:rPr lang="en-US" sz="1200" dirty="0">
                <a:latin typeface="Courier New" charset="0"/>
                <a:ea typeface="Courier New" charset="0"/>
                <a:cs typeface="Courier New" charset="0"/>
              </a:rPr>
              <a:t> 5</a:t>
            </a:r>
          </a:p>
          <a:p>
            <a:endParaRPr lang="en-US" sz="1200" dirty="0">
              <a:latin typeface="Courier New" charset="0"/>
              <a:ea typeface="Courier New" charset="0"/>
              <a:cs typeface="Courier New" charset="0"/>
            </a:endParaRPr>
          </a:p>
          <a:p>
            <a:r>
              <a:rPr lang="en-US" sz="1200" dirty="0">
                <a:latin typeface="Courier New" charset="0"/>
                <a:ea typeface="Courier New" charset="0"/>
                <a:cs typeface="Courier New" charset="0"/>
              </a:rPr>
              <a:t>MACHINEOVERRIDES = "raspberrypi5:${MACHINE}"</a:t>
            </a:r>
          </a:p>
          <a:p>
            <a:endParaRPr lang="en-US" sz="1200" dirty="0">
              <a:latin typeface="Courier New" charset="0"/>
              <a:ea typeface="Courier New" charset="0"/>
              <a:cs typeface="Courier New" charset="0"/>
            </a:endParaRPr>
          </a:p>
          <a:p>
            <a:r>
              <a:rPr lang="en-US" sz="1200" dirty="0">
                <a:latin typeface="Courier New" charset="0"/>
                <a:ea typeface="Courier New" charset="0"/>
                <a:cs typeface="Courier New" charset="0"/>
              </a:rPr>
              <a:t>MACHINE_EXTRA_RRECOMMENDS += " kernel-modules wl18xx-conf </a:t>
            </a:r>
          </a:p>
          <a:p>
            <a:r>
              <a:rPr lang="en-US" sz="1200" dirty="0">
                <a:latin typeface="Courier New" charset="0"/>
                <a:ea typeface="Courier New" charset="0"/>
                <a:cs typeface="Courier New" charset="0"/>
              </a:rPr>
              <a:t>	</a:t>
            </a:r>
            <a:r>
              <a:rPr lang="en-US" sz="1200" dirty="0" err="1">
                <a:latin typeface="Courier New" charset="0"/>
                <a:ea typeface="Courier New" charset="0"/>
                <a:cs typeface="Courier New" charset="0"/>
              </a:rPr>
              <a:t>uim-sysfs</a:t>
            </a:r>
            <a:r>
              <a:rPr lang="en-US" sz="1200" dirty="0">
                <a:latin typeface="Courier New" charset="0"/>
                <a:ea typeface="Courier New" charset="0"/>
                <a:cs typeface="Courier New" charset="0"/>
              </a:rPr>
              <a:t> </a:t>
            </a:r>
            <a:r>
              <a:rPr lang="en-US" sz="1200" dirty="0" err="1">
                <a:latin typeface="Courier New" charset="0"/>
                <a:ea typeface="Courier New" charset="0"/>
                <a:cs typeface="Courier New" charset="0"/>
              </a:rPr>
              <a:t>bt</a:t>
            </a:r>
            <a:r>
              <a:rPr lang="en-US" sz="1200" dirty="0">
                <a:latin typeface="Courier New" charset="0"/>
                <a:ea typeface="Courier New" charset="0"/>
                <a:cs typeface="Courier New" charset="0"/>
              </a:rPr>
              <a:t>-firmware gator"</a:t>
            </a:r>
          </a:p>
          <a:p>
            <a:endParaRPr lang="en-US" sz="1200" dirty="0">
              <a:latin typeface="Courier New" charset="0"/>
              <a:ea typeface="Courier New" charset="0"/>
              <a:cs typeface="Courier New" charset="0"/>
            </a:endParaRPr>
          </a:p>
          <a:p>
            <a:r>
              <a:rPr lang="en-US" sz="1200" dirty="0">
                <a:latin typeface="Courier New" charset="0"/>
                <a:ea typeface="Courier New" charset="0"/>
                <a:cs typeface="Courier New" charset="0"/>
              </a:rPr>
              <a:t>include conf/machine</a:t>
            </a:r>
            <a:r>
              <a:rPr lang="en-US" sz="1200">
                <a:latin typeface="Courier New" charset="0"/>
                <a:ea typeface="Courier New" charset="0"/>
                <a:cs typeface="Courier New" charset="0"/>
              </a:rPr>
              <a:t>/raspberrypi5.</a:t>
            </a:r>
            <a:r>
              <a:rPr lang="en-US" sz="1200" dirty="0">
                <a:latin typeface="Courier New" charset="0"/>
                <a:ea typeface="Courier New" charset="0"/>
                <a:cs typeface="Courier New" charset="0"/>
              </a:rPr>
              <a:t>conf</a:t>
            </a:r>
          </a:p>
          <a:p>
            <a:endParaRPr lang="en-US" sz="1200" dirty="0">
              <a:latin typeface="Courier New" charset="0"/>
              <a:ea typeface="Courier New" charset="0"/>
              <a:cs typeface="Courier New" charset="0"/>
            </a:endParaRPr>
          </a:p>
          <a:p>
            <a:r>
              <a:rPr lang="en-US" sz="1200" dirty="0">
                <a:latin typeface="Courier New" charset="0"/>
                <a:ea typeface="Courier New" charset="0"/>
                <a:cs typeface="Courier New" charset="0"/>
              </a:rPr>
              <a:t>SERIAL_CONSOLE = "115200 ttyS0"</a:t>
            </a:r>
          </a:p>
          <a:p>
            <a:endParaRPr lang="en-US" sz="1200" dirty="0">
              <a:latin typeface="Courier New" charset="0"/>
              <a:ea typeface="Courier New" charset="0"/>
              <a:cs typeface="Courier New" charset="0"/>
            </a:endParaRPr>
          </a:p>
          <a:p>
            <a:r>
              <a:rPr lang="en-US" sz="1200" dirty="0">
                <a:latin typeface="Courier New" charset="0"/>
                <a:ea typeface="Courier New" charset="0"/>
                <a:cs typeface="Courier New" charset="0"/>
              </a:rPr>
              <a:t>KERNEL_MODULE_AUTOLOAD += "</a:t>
            </a:r>
            <a:r>
              <a:rPr lang="en-US" sz="1200" dirty="0" err="1">
                <a:latin typeface="Courier New" charset="0"/>
                <a:ea typeface="Courier New" charset="0"/>
                <a:cs typeface="Courier New" charset="0"/>
              </a:rPr>
              <a:t>g_serial</a:t>
            </a:r>
            <a:r>
              <a:rPr lang="en-US" sz="1200" dirty="0">
                <a:latin typeface="Courier New" charset="0"/>
                <a:ea typeface="Courier New" charset="0"/>
                <a:cs typeface="Courier New" charset="0"/>
              </a:rPr>
              <a:t> hello"</a:t>
            </a:r>
          </a:p>
          <a:p>
            <a:endParaRPr lang="en-US" sz="1200" dirty="0">
              <a:latin typeface="Courier New" charset="0"/>
              <a:ea typeface="Courier New" charset="0"/>
              <a:cs typeface="Courier New" charset="0"/>
            </a:endParaRPr>
          </a:p>
          <a:p>
            <a:r>
              <a:rPr lang="en-US" sz="1200" dirty="0">
                <a:latin typeface="Courier New" charset="0"/>
                <a:ea typeface="Courier New" charset="0"/>
                <a:cs typeface="Courier New" charset="0"/>
              </a:rPr>
              <a:t>MACHINE_ESSENTIAL_EXTRA_RRECOMMENDS += "kernel-module-gator"</a:t>
            </a:r>
            <a:endParaRPr lang="en-US" sz="1600" dirty="0">
              <a:latin typeface="Courier New" charset="0"/>
              <a:ea typeface="Courier New" charset="0"/>
              <a:cs typeface="Courier New" charset="0"/>
            </a:endParaRPr>
          </a:p>
          <a:p>
            <a:endParaRPr lang="en-US" sz="1600" dirty="0">
              <a:latin typeface="Courier New" charset="0"/>
              <a:ea typeface="Courier New" charset="0"/>
              <a:cs typeface="Courier New" charset="0"/>
            </a:endParaRPr>
          </a:p>
          <a:p>
            <a:endParaRPr lang="en-US" sz="1600" dirty="0">
              <a:latin typeface="Courier New" charset="0"/>
              <a:ea typeface="Courier New" charset="0"/>
              <a:cs typeface="Courier New" charset="0"/>
            </a:endParaRPr>
          </a:p>
          <a:p>
            <a:endParaRPr lang="en-US" sz="1600" dirty="0">
              <a:latin typeface="Courier New" charset="0"/>
              <a:ea typeface="Courier New" charset="0"/>
              <a:cs typeface="Courier New" charset="0"/>
            </a:endParaRPr>
          </a:p>
          <a:p>
            <a:endParaRPr lang="en-US" sz="1600" dirty="0">
              <a:latin typeface="Courier New" charset="0"/>
              <a:ea typeface="Courier New" charset="0"/>
              <a:cs typeface="Courier New" charset="0"/>
            </a:endParaRPr>
          </a:p>
        </p:txBody>
      </p:sp>
      <p:cxnSp>
        <p:nvCxnSpPr>
          <p:cNvPr id="9" name="Straight Arrow Connector 8">
            <a:extLst>
              <a:ext uri="{FF2B5EF4-FFF2-40B4-BE49-F238E27FC236}">
                <a16:creationId xmlns:a16="http://schemas.microsoft.com/office/drawing/2014/main" id="{57451B94-C573-4736-B93E-5F7EC8AF8C82}"/>
              </a:ext>
            </a:extLst>
          </p:cNvPr>
          <p:cNvCxnSpPr/>
          <p:nvPr/>
        </p:nvCxnSpPr>
        <p:spPr>
          <a:xfrm>
            <a:off x="10820400" y="918665"/>
            <a:ext cx="6219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 name="Picture 2">
            <a:extLst>
              <a:ext uri="{FF2B5EF4-FFF2-40B4-BE49-F238E27FC236}">
                <a16:creationId xmlns:a16="http://schemas.microsoft.com/office/drawing/2014/main" id="{B2DE7063-BB8F-4E22-AF64-918D12391D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57372" y="42335"/>
            <a:ext cx="713513" cy="139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741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Distribution Policy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Defines distribution policies that affect the way individual recipes are built</a:t>
            </a:r>
            <a:endParaRPr lang="en-US" altLang="en-US" dirty="0">
              <a:ea typeface="ＭＳ Ｐゴシック" panose="020B0600070205080204" pitchFamily="34" charset="-128"/>
            </a:endParaRPr>
          </a:p>
          <a:p>
            <a:pPr marL="398145" lvl="1" indent="-166370"/>
            <a:r>
              <a:rPr lang="en-US" dirty="0"/>
              <a:t>May set alternative preferred versions of recipes</a:t>
            </a:r>
            <a:endParaRPr lang="en-US" dirty="0">
              <a:cs typeface="Calibri"/>
            </a:endParaRPr>
          </a:p>
          <a:p>
            <a:pPr marL="398145" lvl="1" indent="-166370"/>
            <a:r>
              <a:rPr lang="en-US" dirty="0"/>
              <a:t>May enable/disable features</a:t>
            </a:r>
            <a:endParaRPr lang="en-US" dirty="0">
              <a:cs typeface="Calibri"/>
            </a:endParaRPr>
          </a:p>
          <a:p>
            <a:pPr marL="398145" lvl="1" indent="-166370"/>
            <a:r>
              <a:rPr lang="en-US" dirty="0"/>
              <a:t>May configure specific package rules</a:t>
            </a:r>
            <a:endParaRPr lang="en-US" dirty="0">
              <a:cs typeface="Calibri"/>
            </a:endParaRPr>
          </a:p>
          <a:p>
            <a:pPr marL="398145" lvl="1" indent="-166370"/>
            <a:r>
              <a:rPr lang="en-US" dirty="0"/>
              <a:t>May adjust image deployment settings</a:t>
            </a:r>
            <a:endParaRPr lang="en-US" altLang="en-US" dirty="0">
              <a:ea typeface="ＭＳ Ｐゴシック" panose="020B0600070205080204" pitchFamily="34" charset="-128"/>
              <a:cs typeface="Calibri"/>
            </a:endParaRPr>
          </a:p>
          <a:p>
            <a:r>
              <a:rPr lang="en-US" dirty="0"/>
              <a:t>Enabled via the DISTRO setting</a:t>
            </a:r>
          </a:p>
          <a:p>
            <a:r>
              <a:rPr lang="en-US" dirty="0"/>
              <a:t>Four predefined settings:</a:t>
            </a:r>
            <a:endParaRPr lang="en-US" altLang="en-US" dirty="0">
              <a:ea typeface="ＭＳ Ｐゴシック" panose="020B0600070205080204" pitchFamily="34" charset="-128"/>
            </a:endParaRPr>
          </a:p>
          <a:p>
            <a:pPr marL="398145" lvl="1" indent="-166370"/>
            <a:r>
              <a:rPr lang="en-US" dirty="0">
                <a:solidFill>
                  <a:srgbClr val="128CAB"/>
                </a:solidFill>
                <a:ea typeface="ＭＳ Ｐゴシック"/>
              </a:rPr>
              <a:t>poky-bleeding</a:t>
            </a:r>
            <a:r>
              <a:rPr lang="en-US" dirty="0">
                <a:ea typeface="ＭＳ Ｐゴシック"/>
              </a:rPr>
              <a:t>: enables bleeding edge packages</a:t>
            </a:r>
            <a:endParaRPr lang="en-US" dirty="0">
              <a:ea typeface="ＭＳ Ｐゴシック"/>
              <a:cs typeface="Calibri"/>
            </a:endParaRPr>
          </a:p>
          <a:p>
            <a:pPr marL="398145" lvl="1" indent="-166370"/>
            <a:r>
              <a:rPr lang="en-US" dirty="0">
                <a:solidFill>
                  <a:srgbClr val="128CAB"/>
                </a:solidFill>
              </a:rPr>
              <a:t>poky</a:t>
            </a:r>
            <a:r>
              <a:rPr lang="en-US" dirty="0"/>
              <a:t>: core distribution definition, defines the base</a:t>
            </a:r>
            <a:endParaRPr lang="en-US" dirty="0">
              <a:cs typeface="Calibri"/>
            </a:endParaRPr>
          </a:p>
          <a:p>
            <a:pPr marL="398145" lvl="1" indent="-166370"/>
            <a:r>
              <a:rPr lang="en-US" dirty="0">
                <a:solidFill>
                  <a:srgbClr val="128CAB"/>
                </a:solidFill>
                <a:ea typeface="ＭＳ Ｐゴシック"/>
              </a:rPr>
              <a:t>poky-</a:t>
            </a:r>
            <a:r>
              <a:rPr lang="en-US" dirty="0" err="1">
                <a:solidFill>
                  <a:srgbClr val="128CAB"/>
                </a:solidFill>
                <a:ea typeface="ＭＳ Ｐゴシック"/>
              </a:rPr>
              <a:t>lsb</a:t>
            </a:r>
            <a:r>
              <a:rPr lang="en-US" dirty="0">
                <a:ea typeface="ＭＳ Ｐゴシック"/>
              </a:rPr>
              <a:t>: enable items required for Linux Standard Base support</a:t>
            </a:r>
            <a:endParaRPr lang="en-US" dirty="0">
              <a:ea typeface="ＭＳ Ｐゴシック"/>
              <a:cs typeface="Calibri"/>
            </a:endParaRPr>
          </a:p>
          <a:p>
            <a:pPr marL="398145" lvl="1" indent="-166370"/>
            <a:r>
              <a:rPr lang="en-US" dirty="0">
                <a:solidFill>
                  <a:srgbClr val="128CAB"/>
                </a:solidFill>
              </a:rPr>
              <a:t>poky-tiny</a:t>
            </a:r>
            <a:r>
              <a:rPr lang="en-US" dirty="0"/>
              <a:t>: construct a smaller than normal system</a:t>
            </a:r>
            <a:endParaRPr lang="en-US" dirty="0">
              <a:cs typeface="Calibri"/>
            </a:endParaRPr>
          </a:p>
          <a:p>
            <a:pPr marL="398145" lvl="1" indent="-166370"/>
            <a:endParaRPr lang="en-US" dirty="0">
              <a:cs typeface="Calibri"/>
            </a:endParaRPr>
          </a:p>
        </p:txBody>
      </p:sp>
      <p:cxnSp>
        <p:nvCxnSpPr>
          <p:cNvPr id="5" name="Straight Arrow Connector 4">
            <a:extLst>
              <a:ext uri="{FF2B5EF4-FFF2-40B4-BE49-F238E27FC236}">
                <a16:creationId xmlns:a16="http://schemas.microsoft.com/office/drawing/2014/main" id="{362ED798-CAED-41A2-8AE2-8DDB14DA455D}"/>
              </a:ext>
            </a:extLst>
          </p:cNvPr>
          <p:cNvCxnSpPr/>
          <p:nvPr/>
        </p:nvCxnSpPr>
        <p:spPr>
          <a:xfrm>
            <a:off x="10820400" y="1269285"/>
            <a:ext cx="6219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6" name="Picture 2">
            <a:extLst>
              <a:ext uri="{FF2B5EF4-FFF2-40B4-BE49-F238E27FC236}">
                <a16:creationId xmlns:a16="http://schemas.microsoft.com/office/drawing/2014/main" id="{F7C7D307-4D2F-47BC-8DCD-4E460BA20B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57372" y="42335"/>
            <a:ext cx="713513" cy="139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5273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Source Fetching</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7762875" cy="4086225"/>
          </a:xfrm>
        </p:spPr>
        <p:txBody>
          <a:bodyPr wrap="square" numCol="1" anchor="t" anchorCtr="0" compatLnSpc="1">
            <a:prstTxWarp prst="textNoShape">
              <a:avLst/>
            </a:prstTxWarp>
          </a:bodyPr>
          <a:lstStyle/>
          <a:p>
            <a:r>
              <a:rPr lang="en-US" dirty="0"/>
              <a:t>Recipes tell the location of all sources, patches, and files.</a:t>
            </a:r>
            <a:endParaRPr lang="en-US" altLang="en-US" dirty="0">
              <a:ea typeface="ＭＳ Ｐゴシック" panose="020B0600070205080204" pitchFamily="34" charset="-128"/>
            </a:endParaRPr>
          </a:p>
          <a:p>
            <a:pPr lvl="1"/>
            <a:r>
              <a:rPr lang="en-US" dirty="0"/>
              <a:t>These may exist on the internet or be local (See </a:t>
            </a:r>
            <a:r>
              <a:rPr lang="en-US" sz="1400" dirty="0" err="1">
                <a:latin typeface="Courier New" charset="0"/>
                <a:ea typeface="Courier New" charset="0"/>
                <a:cs typeface="Courier New" charset="0"/>
              </a:rPr>
              <a:t>SRC_URI</a:t>
            </a:r>
            <a:r>
              <a:rPr lang="en-US" sz="1400" dirty="0"/>
              <a:t> </a:t>
            </a:r>
            <a:r>
              <a:rPr lang="en-US" dirty="0"/>
              <a:t>in the </a:t>
            </a:r>
            <a:r>
              <a:rPr lang="en-US" sz="1400" dirty="0">
                <a:latin typeface="Courier New" charset="0"/>
                <a:ea typeface="Courier New" charset="0"/>
                <a:cs typeface="Courier New" charset="0"/>
              </a:rPr>
              <a:t>*.bb </a:t>
            </a:r>
            <a:r>
              <a:rPr lang="en-US" dirty="0"/>
              <a:t>files).</a:t>
            </a:r>
            <a:endParaRPr lang="en-US" altLang="en-US" dirty="0">
              <a:ea typeface="ＭＳ Ｐゴシック" panose="020B0600070205080204" pitchFamily="34" charset="-128"/>
            </a:endParaRPr>
          </a:p>
          <a:p>
            <a:r>
              <a:rPr lang="en-US" dirty="0" err="1"/>
              <a:t>Bitbake</a:t>
            </a:r>
            <a:r>
              <a:rPr lang="en-US" dirty="0"/>
              <a:t> can get the sources from git, </a:t>
            </a:r>
            <a:r>
              <a:rPr lang="en-US" dirty="0" err="1"/>
              <a:t>svn</a:t>
            </a:r>
            <a:r>
              <a:rPr lang="en-US" dirty="0"/>
              <a:t>, </a:t>
            </a:r>
            <a:r>
              <a:rPr lang="en-US" dirty="0" err="1"/>
              <a:t>bzr</a:t>
            </a:r>
            <a:r>
              <a:rPr lang="en-US" dirty="0"/>
              <a:t>, or </a:t>
            </a:r>
            <a:r>
              <a:rPr lang="en-US" dirty="0" err="1"/>
              <a:t>tarballs</a:t>
            </a:r>
            <a:r>
              <a:rPr lang="en-US" dirty="0"/>
              <a:t>.</a:t>
            </a:r>
          </a:p>
          <a:p>
            <a:r>
              <a:rPr lang="en-US" dirty="0"/>
              <a:t>Versions of packages can be fixed or updated automatically (Add </a:t>
            </a:r>
            <a:r>
              <a:rPr lang="en-US" sz="1800" dirty="0" err="1">
                <a:latin typeface="Courier New" charset="0"/>
                <a:ea typeface="Courier New" charset="0"/>
                <a:cs typeface="Courier New" charset="0"/>
              </a:rPr>
              <a:t>SRCREV_pn</a:t>
            </a:r>
            <a:r>
              <a:rPr lang="en-US" sz="1800" dirty="0">
                <a:latin typeface="Courier New" charset="0"/>
                <a:ea typeface="Courier New" charset="0"/>
                <a:cs typeface="Courier New" charset="0"/>
              </a:rPr>
              <a:t>-PN = "${AUTOREV}" </a:t>
            </a:r>
            <a:r>
              <a:rPr lang="en-US" dirty="0"/>
              <a:t>to </a:t>
            </a:r>
            <a:r>
              <a:rPr lang="en-US" sz="1800" dirty="0" err="1">
                <a:latin typeface="Courier New" panose="02070309020205020404" pitchFamily="49" charset="0"/>
                <a:cs typeface="Courier New" panose="02070309020205020404" pitchFamily="49" charset="0"/>
              </a:rPr>
              <a:t>l</a:t>
            </a:r>
            <a:r>
              <a:rPr lang="en-US" sz="1800" dirty="0" err="1">
                <a:latin typeface="Courier New" charset="0"/>
                <a:ea typeface="Courier New" charset="0"/>
                <a:cs typeface="Courier New" charset="0"/>
              </a:rPr>
              <a:t>ocal.conf</a:t>
            </a:r>
            <a:r>
              <a:rPr lang="en-US" dirty="0"/>
              <a:t>).</a:t>
            </a:r>
          </a:p>
          <a:p>
            <a:r>
              <a:rPr lang="en-US" dirty="0"/>
              <a:t>The </a:t>
            </a:r>
            <a:r>
              <a:rPr lang="en-US" dirty="0" err="1"/>
              <a:t>Yocto</a:t>
            </a:r>
            <a:r>
              <a:rPr lang="en-US" dirty="0"/>
              <a:t> Project mirrors sources to ensure source reliability.</a:t>
            </a:r>
            <a:endParaRPr lang="en-US" altLang="en-US" dirty="0">
              <a:ea typeface="ＭＳ Ｐゴシック" panose="020B0600070205080204" pitchFamily="34" charset="-128"/>
            </a:endParaRPr>
          </a:p>
        </p:txBody>
      </p:sp>
      <p:pic>
        <p:nvPicPr>
          <p:cNvPr id="5" name="Picture 4">
            <a:extLst>
              <a:ext uri="{FF2B5EF4-FFF2-40B4-BE49-F238E27FC236}">
                <a16:creationId xmlns:a16="http://schemas.microsoft.com/office/drawing/2014/main" id="{CEFB70EB-1907-42DE-8BA1-231AFC0ED383}"/>
              </a:ext>
            </a:extLst>
          </p:cNvPr>
          <p:cNvPicPr>
            <a:picLocks noChangeAspect="1"/>
          </p:cNvPicPr>
          <p:nvPr/>
        </p:nvPicPr>
        <p:blipFill rotWithShape="1">
          <a:blip r:embed="rId3"/>
          <a:srcRect t="27978" r="70641"/>
          <a:stretch/>
        </p:blipFill>
        <p:spPr>
          <a:xfrm>
            <a:off x="8692379" y="2057400"/>
            <a:ext cx="2747918" cy="3302000"/>
          </a:xfrm>
          <a:prstGeom prst="rect">
            <a:avLst/>
          </a:prstGeom>
        </p:spPr>
      </p:pic>
    </p:spTree>
    <p:extLst>
      <p:ext uri="{BB962C8B-B14F-4D97-AF65-F5344CB8AC3E}">
        <p14:creationId xmlns:p14="http://schemas.microsoft.com/office/powerpoint/2010/main" val="3235889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Patching</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7267575" cy="4086225"/>
          </a:xfrm>
        </p:spPr>
        <p:txBody>
          <a:bodyPr wrap="square" numCol="1" anchor="t" anchorCtr="0" compatLnSpc="1">
            <a:prstTxWarp prst="textNoShape">
              <a:avLst/>
            </a:prstTxWarp>
          </a:bodyPr>
          <a:lstStyle/>
          <a:p>
            <a:r>
              <a:rPr lang="en-US" dirty="0"/>
              <a:t>Once sources are obtained, they are extracted.</a:t>
            </a:r>
          </a:p>
          <a:p>
            <a:r>
              <a:rPr lang="en-US" dirty="0"/>
              <a:t>Patches are applied in the order they appear in </a:t>
            </a:r>
            <a:r>
              <a:rPr lang="en-US" sz="2000" dirty="0" err="1">
                <a:latin typeface="Courier New" charset="0"/>
                <a:ea typeface="Courier New" charset="0"/>
                <a:cs typeface="Courier New" charset="0"/>
              </a:rPr>
              <a:t>SRC_URI</a:t>
            </a:r>
            <a:r>
              <a:rPr lang="en-US" sz="2000" dirty="0">
                <a:latin typeface="Courier New" charset="0"/>
                <a:ea typeface="Courier New" charset="0"/>
                <a:cs typeface="Courier New" charset="0"/>
              </a:rPr>
              <a:t>.</a:t>
            </a:r>
            <a:endParaRPr lang="en-US" dirty="0">
              <a:latin typeface="Courier New" charset="0"/>
              <a:ea typeface="Courier New" charset="0"/>
              <a:cs typeface="Courier New" charset="0"/>
            </a:endParaRPr>
          </a:p>
          <a:p>
            <a:r>
              <a:rPr lang="en-US" dirty="0"/>
              <a:t>In this stage, application-specific patches are applied.</a:t>
            </a:r>
            <a:endParaRPr lang="en-US" altLang="en-US" dirty="0">
              <a:ea typeface="ＭＳ Ｐゴシック" panose="020B0600070205080204" pitchFamily="34" charset="-128"/>
            </a:endParaRPr>
          </a:p>
          <a:p>
            <a:pPr lvl="1"/>
            <a:r>
              <a:rPr lang="en-US" dirty="0"/>
              <a:t>Custom modifications to the open-source code that are mandated by the specific application for which the embedded system is intended for</a:t>
            </a:r>
            <a:endParaRPr lang="en-US" altLang="en-US" dirty="0">
              <a:ea typeface="ＭＳ Ｐゴシック" panose="020B0600070205080204" pitchFamily="34" charset="-128"/>
            </a:endParaRPr>
          </a:p>
        </p:txBody>
      </p:sp>
      <p:pic>
        <p:nvPicPr>
          <p:cNvPr id="5" name="Picture 4">
            <a:extLst>
              <a:ext uri="{FF2B5EF4-FFF2-40B4-BE49-F238E27FC236}">
                <a16:creationId xmlns:a16="http://schemas.microsoft.com/office/drawing/2014/main" id="{8D8E7BC8-6C86-4AFA-8533-9BA34AB87333}"/>
              </a:ext>
            </a:extLst>
          </p:cNvPr>
          <p:cNvPicPr>
            <a:picLocks noChangeAspect="1"/>
          </p:cNvPicPr>
          <p:nvPr/>
        </p:nvPicPr>
        <p:blipFill rotWithShape="1">
          <a:blip r:embed="rId3"/>
          <a:srcRect t="27978" r="70641"/>
          <a:stretch/>
        </p:blipFill>
        <p:spPr>
          <a:xfrm>
            <a:off x="8692379" y="2057400"/>
            <a:ext cx="2747918" cy="3302000"/>
          </a:xfrm>
          <a:prstGeom prst="rect">
            <a:avLst/>
          </a:prstGeom>
        </p:spPr>
      </p:pic>
    </p:spTree>
    <p:extLst>
      <p:ext uri="{BB962C8B-B14F-4D97-AF65-F5344CB8AC3E}">
        <p14:creationId xmlns:p14="http://schemas.microsoft.com/office/powerpoint/2010/main" val="685475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Configure/Compile/Install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8042275" cy="4086225"/>
          </a:xfrm>
        </p:spPr>
        <p:txBody>
          <a:bodyPr wrap="square" numCol="1" anchor="t" anchorCtr="0" compatLnSpc="1">
            <a:prstTxWarp prst="textNoShape">
              <a:avLst/>
            </a:prstTxWarp>
          </a:bodyPr>
          <a:lstStyle/>
          <a:p>
            <a:r>
              <a:rPr lang="en-US" dirty="0"/>
              <a:t>The recipe specifies configuration and compilation rules.</a:t>
            </a:r>
            <a:endParaRPr lang="en-US" altLang="en-US" dirty="0">
              <a:ea typeface="ＭＳ Ｐゴシック" panose="020B0600070205080204" pitchFamily="34" charset="-128"/>
            </a:endParaRPr>
          </a:p>
          <a:p>
            <a:pPr lvl="1"/>
            <a:r>
              <a:rPr lang="en-US" dirty="0"/>
              <a:t>Various standard build rules are available, such as </a:t>
            </a:r>
            <a:r>
              <a:rPr lang="en-US" dirty="0" err="1"/>
              <a:t>autotools</a:t>
            </a:r>
            <a:r>
              <a:rPr lang="en-US" dirty="0"/>
              <a:t> and </a:t>
            </a:r>
            <a:r>
              <a:rPr lang="en-US" dirty="0" err="1"/>
              <a:t>gettext</a:t>
            </a:r>
            <a:r>
              <a:rPr lang="en-US" dirty="0"/>
              <a:t>.</a:t>
            </a:r>
          </a:p>
          <a:p>
            <a:pPr lvl="1"/>
            <a:r>
              <a:rPr lang="en-US" dirty="0"/>
              <a:t>Standard ways to specify custom environment flags</a:t>
            </a:r>
          </a:p>
          <a:p>
            <a:pPr lvl="1"/>
            <a:r>
              <a:rPr lang="en-US" dirty="0"/>
              <a:t>Install step runs under “</a:t>
            </a:r>
            <a:r>
              <a:rPr lang="en-US" dirty="0" err="1"/>
              <a:t>sudo</a:t>
            </a:r>
            <a:r>
              <a:rPr lang="en-US" dirty="0"/>
              <a:t>”, which allows special files, permissions, and owners/ groups to be set.</a:t>
            </a:r>
            <a:endParaRPr lang="en-US" altLang="en-US" dirty="0">
              <a:ea typeface="ＭＳ Ｐゴシック" panose="020B0600070205080204" pitchFamily="34" charset="-128"/>
            </a:endParaRPr>
          </a:p>
        </p:txBody>
      </p:sp>
      <p:pic>
        <p:nvPicPr>
          <p:cNvPr id="5" name="Picture 4">
            <a:extLst>
              <a:ext uri="{FF2B5EF4-FFF2-40B4-BE49-F238E27FC236}">
                <a16:creationId xmlns:a16="http://schemas.microsoft.com/office/drawing/2014/main" id="{72F9F6AC-F7EF-4E92-9E3A-BF63A1EEB663}"/>
              </a:ext>
            </a:extLst>
          </p:cNvPr>
          <p:cNvPicPr>
            <a:picLocks noChangeAspect="1"/>
          </p:cNvPicPr>
          <p:nvPr/>
        </p:nvPicPr>
        <p:blipFill rotWithShape="1">
          <a:blip r:embed="rId3"/>
          <a:srcRect t="27978" r="70641"/>
          <a:stretch/>
        </p:blipFill>
        <p:spPr>
          <a:xfrm>
            <a:off x="8692379" y="2057400"/>
            <a:ext cx="2747918" cy="3302000"/>
          </a:xfrm>
          <a:prstGeom prst="rect">
            <a:avLst/>
          </a:prstGeom>
        </p:spPr>
      </p:pic>
    </p:spTree>
    <p:extLst>
      <p:ext uri="{BB962C8B-B14F-4D97-AF65-F5344CB8AC3E}">
        <p14:creationId xmlns:p14="http://schemas.microsoft.com/office/powerpoint/2010/main" val="27192571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Output Analysis/Packaging</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692775" cy="4086225"/>
          </a:xfrm>
        </p:spPr>
        <p:txBody>
          <a:bodyPr wrap="square" numCol="1" anchor="t" anchorCtr="0" compatLnSpc="1">
            <a:prstTxWarp prst="textNoShape">
              <a:avLst/>
            </a:prstTxWarp>
          </a:bodyPr>
          <a:lstStyle/>
          <a:p>
            <a:r>
              <a:rPr lang="en-US" dirty="0"/>
              <a:t>Output Analysis</a:t>
            </a:r>
            <a:endParaRPr lang="en-US" altLang="en-US" dirty="0">
              <a:ea typeface="ＭＳ Ｐゴシック" panose="020B0600070205080204" pitchFamily="34" charset="-128"/>
            </a:endParaRPr>
          </a:p>
          <a:p>
            <a:pPr lvl="1"/>
            <a:r>
              <a:rPr lang="en-US" dirty="0"/>
              <a:t>Categorize generated software (debug, dev, docs, and locales) </a:t>
            </a:r>
          </a:p>
          <a:p>
            <a:pPr lvl="1"/>
            <a:r>
              <a:rPr lang="en-US" dirty="0"/>
              <a:t>Split runtime and debug information</a:t>
            </a:r>
            <a:endParaRPr lang="en-US" altLang="en-US" dirty="0">
              <a:ea typeface="ＭＳ Ｐゴシック" panose="020B0600070205080204" pitchFamily="34" charset="-128"/>
            </a:endParaRPr>
          </a:p>
          <a:p>
            <a:r>
              <a:rPr lang="en-US" dirty="0"/>
              <a:t>Perform QA tests (sanity checks)</a:t>
            </a:r>
          </a:p>
          <a:p>
            <a:r>
              <a:rPr lang="en-US" dirty="0"/>
              <a:t>Package Generation</a:t>
            </a:r>
            <a:endParaRPr lang="en-US" altLang="en-US" dirty="0">
              <a:ea typeface="ＭＳ Ｐゴシック" panose="020B0600070205080204" pitchFamily="34" charset="-128"/>
            </a:endParaRPr>
          </a:p>
          <a:p>
            <a:pPr lvl="1"/>
            <a:r>
              <a:rPr lang="en-US" dirty="0"/>
              <a:t>Support the popular formats: RPM, Debian, and </a:t>
            </a:r>
            <a:r>
              <a:rPr lang="en-US" dirty="0" err="1"/>
              <a:t>ipk</a:t>
            </a:r>
            <a:endParaRPr lang="en-US" dirty="0"/>
          </a:p>
          <a:p>
            <a:pPr lvl="1"/>
            <a:r>
              <a:rPr lang="en-US" dirty="0"/>
              <a:t>Set preferred format using </a:t>
            </a:r>
            <a:r>
              <a:rPr lang="en-US" sz="1600" dirty="0" err="1">
                <a:latin typeface="Courier New" charset="0"/>
                <a:ea typeface="Courier New" charset="0"/>
                <a:cs typeface="Courier New" charset="0"/>
              </a:rPr>
              <a:t>PACKAGE_CLASSES</a:t>
            </a:r>
            <a:r>
              <a:rPr lang="en-US" dirty="0"/>
              <a:t> in </a:t>
            </a:r>
            <a:r>
              <a:rPr lang="en-US" sz="1600" dirty="0" err="1">
                <a:latin typeface="Courier New" charset="0"/>
                <a:ea typeface="Courier New" charset="0"/>
                <a:cs typeface="Courier New" charset="0"/>
              </a:rPr>
              <a:t>local.conf</a:t>
            </a:r>
            <a:r>
              <a:rPr lang="en-US" sz="1600" dirty="0">
                <a:latin typeface="Courier New" charset="0"/>
                <a:ea typeface="Courier New" charset="0"/>
                <a:cs typeface="Courier New" charset="0"/>
              </a:rPr>
              <a:t> </a:t>
            </a:r>
          </a:p>
          <a:p>
            <a:pPr lvl="1"/>
            <a:r>
              <a:rPr lang="en-US" dirty="0"/>
              <a:t>Package files can be manually defined to override automatic settings.</a:t>
            </a:r>
          </a:p>
          <a:p>
            <a:pPr lvl="1"/>
            <a:endParaRPr lang="en-US" dirty="0"/>
          </a:p>
        </p:txBody>
      </p:sp>
      <p:pic>
        <p:nvPicPr>
          <p:cNvPr id="5" name="Content Placeholder 6">
            <a:extLst>
              <a:ext uri="{FF2B5EF4-FFF2-40B4-BE49-F238E27FC236}">
                <a16:creationId xmlns:a16="http://schemas.microsoft.com/office/drawing/2014/main" id="{DD4359A9-6C7E-4149-9E42-86C5D86E34D9}"/>
              </a:ext>
            </a:extLst>
          </p:cNvPr>
          <p:cNvPicPr>
            <a:picLocks noChangeAspect="1"/>
          </p:cNvPicPr>
          <p:nvPr/>
        </p:nvPicPr>
        <p:blipFill>
          <a:blip r:embed="rId3"/>
          <a:stretch>
            <a:fillRect/>
          </a:stretch>
        </p:blipFill>
        <p:spPr>
          <a:xfrm>
            <a:off x="6075363" y="2417842"/>
            <a:ext cx="5561012" cy="2723991"/>
          </a:xfrm>
          <a:prstGeom prst="rect">
            <a:avLst/>
          </a:prstGeom>
        </p:spPr>
      </p:pic>
    </p:spTree>
    <p:extLst>
      <p:ext uri="{BB962C8B-B14F-4D97-AF65-F5344CB8AC3E}">
        <p14:creationId xmlns:p14="http://schemas.microsoft.com/office/powerpoint/2010/main" val="3761468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Image Generation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349875" cy="4086225"/>
          </a:xfrm>
        </p:spPr>
        <p:txBody>
          <a:bodyPr wrap="square" numCol="1" anchor="t" anchorCtr="0" compatLnSpc="1">
            <a:prstTxWarp prst="textNoShape">
              <a:avLst/>
            </a:prstTxWarp>
          </a:bodyPr>
          <a:lstStyle/>
          <a:p>
            <a:r>
              <a:rPr lang="en-US" dirty="0"/>
              <a:t>Images are constructed using the packages built earlier and put into the Package Feeds.</a:t>
            </a:r>
          </a:p>
          <a:p>
            <a:r>
              <a:rPr lang="en-US" dirty="0"/>
              <a:t>Decisions of what to install on the image is based on the minimum defined set of required components in an image recipe. This minimum set is then expanded based on dependencies to produce a package solution.</a:t>
            </a:r>
          </a:p>
          <a:p>
            <a:r>
              <a:rPr lang="en-US" dirty="0"/>
              <a:t>Images may be generated in a variety of formats (</a:t>
            </a:r>
            <a:r>
              <a:rPr lang="en-US" dirty="0" err="1"/>
              <a:t>tar.bz2</a:t>
            </a:r>
            <a:r>
              <a:rPr lang="en-US" dirty="0"/>
              <a:t>, </a:t>
            </a:r>
            <a:r>
              <a:rPr lang="en-US" dirty="0" err="1"/>
              <a:t>ext2</a:t>
            </a:r>
            <a:r>
              <a:rPr lang="en-US" dirty="0"/>
              <a:t>, </a:t>
            </a:r>
            <a:r>
              <a:rPr lang="en-US" dirty="0" err="1"/>
              <a:t>ext3</a:t>
            </a:r>
            <a:r>
              <a:rPr lang="en-US" dirty="0"/>
              <a:t>, </a:t>
            </a:r>
            <a:r>
              <a:rPr lang="en-US" dirty="0" err="1"/>
              <a:t>jffs</a:t>
            </a:r>
            <a:r>
              <a:rPr lang="en-US" dirty="0"/>
              <a:t>, etc.).</a:t>
            </a:r>
            <a:endParaRPr lang="en-US" altLang="en-US" dirty="0">
              <a:ea typeface="ＭＳ Ｐゴシック" panose="020B0600070205080204" pitchFamily="34" charset="-128"/>
            </a:endParaRPr>
          </a:p>
        </p:txBody>
      </p:sp>
      <p:pic>
        <p:nvPicPr>
          <p:cNvPr id="5" name="Content Placeholder 6">
            <a:extLst>
              <a:ext uri="{FF2B5EF4-FFF2-40B4-BE49-F238E27FC236}">
                <a16:creationId xmlns:a16="http://schemas.microsoft.com/office/drawing/2014/main" id="{520FD5CE-5EB4-4ED7-914A-3770CFBAAF14}"/>
              </a:ext>
            </a:extLst>
          </p:cNvPr>
          <p:cNvPicPr>
            <a:picLocks noChangeAspect="1"/>
          </p:cNvPicPr>
          <p:nvPr/>
        </p:nvPicPr>
        <p:blipFill>
          <a:blip r:embed="rId3"/>
          <a:stretch>
            <a:fillRect/>
          </a:stretch>
        </p:blipFill>
        <p:spPr>
          <a:xfrm>
            <a:off x="6075363" y="2417842"/>
            <a:ext cx="5561012" cy="2723991"/>
          </a:xfrm>
          <a:prstGeom prst="rect">
            <a:avLst/>
          </a:prstGeom>
        </p:spPr>
      </p:pic>
    </p:spTree>
    <p:extLst>
      <p:ext uri="{BB962C8B-B14F-4D97-AF65-F5344CB8AC3E}">
        <p14:creationId xmlns:p14="http://schemas.microsoft.com/office/powerpoint/2010/main" val="3238185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SDK Generation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561013" cy="4086225"/>
          </a:xfrm>
        </p:spPr>
        <p:txBody>
          <a:bodyPr wrap="square" numCol="1" anchor="t" anchorCtr="0" compatLnSpc="1">
            <a:prstTxWarp prst="textNoShape">
              <a:avLst/>
            </a:prstTxWarp>
          </a:bodyPr>
          <a:lstStyle/>
          <a:p>
            <a:r>
              <a:rPr lang="en-US" dirty="0"/>
              <a:t>A specific SDK recipe may be created .</a:t>
            </a:r>
          </a:p>
          <a:p>
            <a:r>
              <a:rPr lang="en-US" dirty="0"/>
              <a:t>SDK may be based on the contents of the image generation.</a:t>
            </a:r>
          </a:p>
          <a:p>
            <a:r>
              <a:rPr lang="en-US" dirty="0"/>
              <a:t>SDK contains native applications, cross toolchain, and installation scripts.</a:t>
            </a:r>
          </a:p>
          <a:p>
            <a:r>
              <a:rPr lang="en-US" dirty="0"/>
              <a:t>May be used by the Eclipse Application Developer Tool to enable App Developers</a:t>
            </a:r>
            <a:endParaRPr lang="en-US" altLang="en-US" dirty="0">
              <a:ea typeface="ＭＳ Ｐゴシック" panose="020B0600070205080204" pitchFamily="34" charset="-128"/>
            </a:endParaRPr>
          </a:p>
        </p:txBody>
      </p:sp>
      <p:pic>
        <p:nvPicPr>
          <p:cNvPr id="5" name="Content Placeholder 6">
            <a:extLst>
              <a:ext uri="{FF2B5EF4-FFF2-40B4-BE49-F238E27FC236}">
                <a16:creationId xmlns:a16="http://schemas.microsoft.com/office/drawing/2014/main" id="{EA98910A-387C-4211-BF1F-C7CCEC5844D2}"/>
              </a:ext>
            </a:extLst>
          </p:cNvPr>
          <p:cNvPicPr>
            <a:picLocks noChangeAspect="1"/>
          </p:cNvPicPr>
          <p:nvPr/>
        </p:nvPicPr>
        <p:blipFill>
          <a:blip r:embed="rId3"/>
          <a:stretch>
            <a:fillRect/>
          </a:stretch>
        </p:blipFill>
        <p:spPr>
          <a:xfrm>
            <a:off x="6075363" y="2417842"/>
            <a:ext cx="5561012" cy="2723991"/>
          </a:xfrm>
          <a:prstGeom prst="rect">
            <a:avLst/>
          </a:prstGeom>
        </p:spPr>
      </p:pic>
    </p:spTree>
    <p:extLst>
      <p:ext uri="{BB962C8B-B14F-4D97-AF65-F5344CB8AC3E}">
        <p14:creationId xmlns:p14="http://schemas.microsoft.com/office/powerpoint/2010/main" val="1312489128"/>
      </p:ext>
    </p:extLst>
  </p:cSld>
  <p:clrMapOvr>
    <a:masterClrMapping/>
  </p:clrMapOvr>
</p:sld>
</file>

<file path=ppt/theme/theme1.xml><?xml version="1.0" encoding="utf-8"?>
<a:theme xmlns:a="http://schemas.openxmlformats.org/drawingml/2006/main" name="ARM PPT template 2017_Confidential">
  <a:themeElements>
    <a:clrScheme name="arm">
      <a:dk1>
        <a:sysClr val="windowText" lastClr="000000"/>
      </a:dk1>
      <a:lt1>
        <a:sysClr val="window" lastClr="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2017_public.potx" id="{A3B643CE-0F79-4823-AA66-0CA4DE5EE3C5}" vid="{ED53B60E-37BF-4A33-8397-68515E403F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AB4C7B3E1FC394489A73CF7D7E3C9BF" ma:contentTypeVersion="0" ma:contentTypeDescription="Create a new document." ma:contentTypeScope="" ma:versionID="45cafcb85e4a634abde564ce1863f081">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6A7FD9-EB25-40DB-BD4D-0724701A0C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546F3D9-27DD-4F07-9983-380B33535F9E}">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A2F4DB20-F02C-4139-BE14-4D908EF1BA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Arm_PPT_2017_public (1)</Template>
  <TotalTime>0</TotalTime>
  <Words>5095</Words>
  <Application>Microsoft Office PowerPoint</Application>
  <PresentationFormat>Widescreen</PresentationFormat>
  <Paragraphs>539</Paragraphs>
  <Slides>32</Slides>
  <Notes>32</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ARM PPT template 2017_Confidential</vt:lpstr>
      <vt:lpstr>Embedded Linux</vt:lpstr>
      <vt:lpstr>Goal</vt:lpstr>
      <vt:lpstr>Summary</vt:lpstr>
      <vt:lpstr>Summary</vt:lpstr>
      <vt:lpstr>Introduction</vt:lpstr>
      <vt:lpstr>Summary</vt:lpstr>
      <vt:lpstr>The Workflow</vt:lpstr>
      <vt:lpstr>The Workflow</vt:lpstr>
      <vt:lpstr>The Workflow</vt:lpstr>
      <vt:lpstr>The Workflow</vt:lpstr>
      <vt:lpstr>The Workflow</vt:lpstr>
      <vt:lpstr>Summary</vt:lpstr>
      <vt:lpstr>Build Systems</vt:lpstr>
      <vt:lpstr>Build Systems</vt:lpstr>
      <vt:lpstr>Buildroot vs Yocto: General Aspects</vt:lpstr>
      <vt:lpstr>Buildroot vs Yocto: Configuration</vt:lpstr>
      <vt:lpstr>Buildroot vs Yocto: Purpose</vt:lpstr>
      <vt:lpstr>Summary</vt:lpstr>
      <vt:lpstr>The Yocto Project </vt:lpstr>
      <vt:lpstr>The Yocto Build System</vt:lpstr>
      <vt:lpstr>The Build System Workflow</vt:lpstr>
      <vt:lpstr>The Build System Workflow: Configuration Files</vt:lpstr>
      <vt:lpstr>The Build System Workflow: User Configuration</vt:lpstr>
      <vt:lpstr>The Build System Workflow: Metadata</vt:lpstr>
      <vt:lpstr>The Build System Workflow: Machine (BSP) Configuration</vt:lpstr>
      <vt:lpstr>The Build System Workflow: Distribution Policy</vt:lpstr>
      <vt:lpstr>The Build System Workflow: Source Fetching</vt:lpstr>
      <vt:lpstr>The Build System Workflow: Patching</vt:lpstr>
      <vt:lpstr>The Build System Workflow: Configure/Compile/Install</vt:lpstr>
      <vt:lpstr>The Build System Workflow: Output Analysis/Packaging</vt:lpstr>
      <vt:lpstr>The Build System Workflow: Image Generation</vt:lpstr>
      <vt:lpstr>The Build System Workflow: SDK Generation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169</cp:revision>
  <dcterms:created xsi:type="dcterms:W3CDTF">2017-09-28T16:46:04Z</dcterms:created>
  <dcterms:modified xsi:type="dcterms:W3CDTF">2026-02-10T15:46:19Z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vti_description">
    <vt:lpwstr/>
  </property>
  <property fmtid="{D5CDD505-2E9C-101B-9397-08002B2CF9AE}" pid="6" name="WorkflowChangePath">
    <vt:lpwstr>1069b4ef-e6f3-4ad7-8c8e-772136578697,10;</vt:lpwstr>
  </property>
  <property fmtid="{D5CDD505-2E9C-101B-9397-08002B2CF9AE}" pid="7" name="Confidentiality">
    <vt:lpwstr>1;#Confidential|28d1025d-1415-4984-b35e-5b79e7d32b5c</vt:lpwstr>
  </property>
  <property fmtid="{D5CDD505-2E9C-101B-9397-08002B2CF9AE}" pid="8" name="ContentTypeId">
    <vt:lpwstr>0x0101001AB4C7B3E1FC394489A73CF7D7E3C9BF</vt:lpwstr>
  </property>
  <property fmtid="{D5CDD505-2E9C-101B-9397-08002B2CF9AE}" pid="9" name="Calendar Year">
    <vt:lpwstr>7;#2017|58467e81-5d99-44a5-abb5-12a016b65e9e</vt:lpwstr>
  </property>
  <property fmtid="{D5CDD505-2E9C-101B-9397-08002B2CF9AE}" pid="10" name="TaxCatchAll">
    <vt:lpwstr/>
  </property>
  <property fmtid="{D5CDD505-2E9C-101B-9397-08002B2CF9AE}" pid="11" name="TaxKeywordTaxHTField">
    <vt:lpwstr/>
  </property>
  <property fmtid="{D5CDD505-2E9C-101B-9397-08002B2CF9AE}" pid="12" name="ItemRetentionFormula">
    <vt:lpwstr/>
  </property>
  <property fmtid="{D5CDD505-2E9C-101B-9397-08002B2CF9AE}" pid="13" name="_dlc_LastRun">
    <vt:lpwstr>08/15/2015 23:02:11</vt:lpwstr>
  </property>
  <property fmtid="{D5CDD505-2E9C-101B-9397-08002B2CF9AE}" pid="14" name="_dlc_DocIdItemGuid">
    <vt:lpwstr>4ff7fb8e-c1c6-4ffa-a6e2-9443f43164b5</vt:lpwstr>
  </property>
  <property fmtid="{D5CDD505-2E9C-101B-9397-08002B2CF9AE}" pid="15" name="_dlc_ItemStageId">
    <vt:lpwstr>1</vt:lpwstr>
  </property>
  <property fmtid="{D5CDD505-2E9C-101B-9397-08002B2CF9AE}" pid="16" name="j60c3ced31bb40378c6254d49035d966">
    <vt:lpwstr>2015|ee47c3e7-6a69-4f36-9adf-1007c8d399a4</vt:lpwstr>
  </property>
</Properties>
</file>
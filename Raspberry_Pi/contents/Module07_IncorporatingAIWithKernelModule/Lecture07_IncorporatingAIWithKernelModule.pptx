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36"/>
  </p:notesMasterIdLst>
  <p:handoutMasterIdLst>
    <p:handoutMasterId r:id="rId37"/>
  </p:handoutMasterIdLst>
  <p:sldIdLst>
    <p:sldId id="329" r:id="rId5"/>
    <p:sldId id="302"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65" r:id="rId19"/>
    <p:sldId id="368" r:id="rId20"/>
    <p:sldId id="369" r:id="rId21"/>
    <p:sldId id="366" r:id="rId22"/>
    <p:sldId id="367" r:id="rId23"/>
    <p:sldId id="370" r:id="rId24"/>
    <p:sldId id="374" r:id="rId25"/>
    <p:sldId id="350" r:id="rId26"/>
    <p:sldId id="351" r:id="rId27"/>
    <p:sldId id="352" r:id="rId28"/>
    <p:sldId id="354" r:id="rId29"/>
    <p:sldId id="375" r:id="rId30"/>
    <p:sldId id="376" r:id="rId31"/>
    <p:sldId id="358" r:id="rId32"/>
    <p:sldId id="362" r:id="rId33"/>
    <p:sldId id="371" r:id="rId34"/>
    <p:sldId id="372" r:id="rId3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CEB"/>
    <a:srgbClr val="95D600"/>
    <a:srgbClr val="FF6B00"/>
    <a:srgbClr val="00C1DE"/>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00" autoAdjust="0"/>
    <p:restoredTop sz="85714" autoAdjust="0"/>
  </p:normalViewPr>
  <p:slideViewPr>
    <p:cSldViewPr snapToGrid="0">
      <p:cViewPr varScale="1">
        <p:scale>
          <a:sx n="109" d="100"/>
          <a:sy n="109" d="100"/>
        </p:scale>
        <p:origin x="1192" y="1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73" d="100"/>
          <a:sy n="73" d="100"/>
        </p:scale>
        <p:origin x="3560"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0836F7-A38A-461C-9E01-FBB0AD11CEEA}"/>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6EFF89DB-0163-4563-9377-E6085C326570}"/>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408166A3-E862-4E45-91F7-3D96E6F6C54F}" type="datetimeFigureOut">
              <a:rPr lang="en-US" altLang="en-US"/>
              <a:pPr>
                <a:defRPr/>
              </a:pPr>
              <a:t>11/7/25</a:t>
            </a:fld>
            <a:endParaRPr lang="en-US" altLang="en-US"/>
          </a:p>
        </p:txBody>
      </p:sp>
      <p:sp>
        <p:nvSpPr>
          <p:cNvPr id="4" name="Footer Placeholder 3">
            <a:extLst>
              <a:ext uri="{FF2B5EF4-FFF2-40B4-BE49-F238E27FC236}">
                <a16:creationId xmlns:a16="http://schemas.microsoft.com/office/drawing/2014/main" id="{B1576F87-20DA-468D-B340-09EA2263E84B}"/>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9C925CE1-DD78-4BE9-8679-5EA4FF45E7DC}"/>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AE52C29F-6E8B-4FCF-B05C-39095F06748E}"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80DD0D-9D32-4C0D-AA04-3265FC750FA6}"/>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0FDB6EE8-DCB8-41BD-A3C8-E3A12231608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7BB49F74-3831-4782-9926-36A1F1DC6259}" type="datetimeFigureOut">
              <a:rPr lang="en-US" altLang="en-US"/>
              <a:pPr>
                <a:defRPr/>
              </a:pPr>
              <a:t>11/7/25</a:t>
            </a:fld>
            <a:endParaRPr lang="en-US" altLang="en-US"/>
          </a:p>
        </p:txBody>
      </p:sp>
      <p:sp>
        <p:nvSpPr>
          <p:cNvPr id="4" name="Slide Image Placeholder 3">
            <a:extLst>
              <a:ext uri="{FF2B5EF4-FFF2-40B4-BE49-F238E27FC236}">
                <a16:creationId xmlns:a16="http://schemas.microsoft.com/office/drawing/2014/main" id="{25744739-3539-48B5-A096-4DFD5EA77A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58A2211-D7FD-4E67-A6D9-583B439384C0}"/>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292F51B-BF74-49BC-83A1-C16F26379DFC}"/>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37DEDC91-3AC4-4F8D-BED3-4ED56913FA6D}"/>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4ED05C12-C9C4-4501-9C72-D2E25191FC3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Hello and welcome to the Linux for Embedded Systems lecture. This is the seventh lecture of the course.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a:t>
            </a:fld>
            <a:endParaRPr lang="en-US" altLang="en-US"/>
          </a:p>
        </p:txBody>
      </p:sp>
    </p:spTree>
    <p:extLst>
      <p:ext uri="{BB962C8B-B14F-4D97-AF65-F5344CB8AC3E}">
        <p14:creationId xmlns:p14="http://schemas.microsoft.com/office/powerpoint/2010/main" val="1935921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aim of this lecture is to:</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Discuss user-level communication with kernel modules</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Present an example to support an AI model integrated with a kernel module</a:t>
            </a:r>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a:p>
        </p:txBody>
      </p:sp>
    </p:spTree>
    <p:extLst>
      <p:ext uri="{BB962C8B-B14F-4D97-AF65-F5344CB8AC3E}">
        <p14:creationId xmlns:p14="http://schemas.microsoft.com/office/powerpoint/2010/main" val="2619456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First, we will quickly outline how user and module level communication can be implemented.</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a:t>
            </a:fld>
            <a:endParaRPr lang="en-US" altLang="en-US"/>
          </a:p>
        </p:txBody>
      </p:sp>
    </p:spTree>
    <p:extLst>
      <p:ext uri="{BB962C8B-B14F-4D97-AF65-F5344CB8AC3E}">
        <p14:creationId xmlns:p14="http://schemas.microsoft.com/office/powerpoint/2010/main" val="3418991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First, we will quickly outline how user and module level communication can be implemented.</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4</a:t>
            </a:fld>
            <a:endParaRPr lang="en-US" altLang="en-US"/>
          </a:p>
        </p:txBody>
      </p:sp>
    </p:spTree>
    <p:extLst>
      <p:ext uri="{BB962C8B-B14F-4D97-AF65-F5344CB8AC3E}">
        <p14:creationId xmlns:p14="http://schemas.microsoft.com/office/powerpoint/2010/main" val="31965581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communication between user-level and module-level can be implemented using two methods:</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virtual filesystem (VFS) interface, where the user-level application invokes the virtual filesystem application programming interface (API) to access the device file</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Or through a RAM-based filesystem known as “sys fs” that allows exporting kernel data structures to the user-level</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5</a:t>
            </a:fld>
            <a:endParaRPr lang="en-US" altLang="en-US"/>
          </a:p>
        </p:txBody>
      </p:sp>
    </p:spTree>
    <p:extLst>
      <p:ext uri="{BB962C8B-B14F-4D97-AF65-F5344CB8AC3E}">
        <p14:creationId xmlns:p14="http://schemas.microsoft.com/office/powerpoint/2010/main" val="2976507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Now, let’s take a look at the “sys fs” filesystem.</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6</a:t>
            </a:fld>
            <a:endParaRPr lang="en-US" altLang="en-US"/>
          </a:p>
        </p:txBody>
      </p:sp>
    </p:spTree>
    <p:extLst>
      <p:ext uri="{BB962C8B-B14F-4D97-AF65-F5344CB8AC3E}">
        <p14:creationId xmlns:p14="http://schemas.microsoft.com/office/powerpoint/2010/main" val="10282096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“sys fs” is a RAM-based filesystem containing directories and files that are created by the Linux kernel. Each directory and file contain information about portions of the kernel that are set visible to the user. The content is not defined by any specific API and kernel developers can export any information that is needed.</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We can see the information held about the “</a:t>
            </a:r>
            <a:r>
              <a:rPr lang="en-US" sz="1200" kern="1200" dirty="0" err="1">
                <a:solidFill>
                  <a:schemeClr val="tx1"/>
                </a:solidFill>
                <a:effectLst/>
                <a:latin typeface="+mn-lt"/>
                <a:ea typeface="ＭＳ Ｐゴシック" charset="0"/>
                <a:cs typeface="ＭＳ Ｐゴシック" charset="0"/>
              </a:rPr>
              <a:t>gpio</a:t>
            </a:r>
            <a:r>
              <a:rPr lang="en-US" sz="1200" kern="1200" dirty="0">
                <a:solidFill>
                  <a:schemeClr val="tx1"/>
                </a:solidFill>
                <a:effectLst/>
                <a:latin typeface="+mn-lt"/>
                <a:ea typeface="ＭＳ Ｐゴシック" charset="0"/>
                <a:cs typeface="ＭＳ Ｐゴシック" charset="0"/>
              </a:rPr>
              <a:t>” file in this example.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7</a:t>
            </a:fld>
            <a:endParaRPr lang="en-US" altLang="en-US"/>
          </a:p>
        </p:txBody>
      </p:sp>
    </p:spTree>
    <p:extLst>
      <p:ext uri="{BB962C8B-B14F-4D97-AF65-F5344CB8AC3E}">
        <p14:creationId xmlns:p14="http://schemas.microsoft.com/office/powerpoint/2010/main" val="2944603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Users are able to read and write the kernel objects exported through “sys fs”. </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Depending on the specific purpose of the kernel object, the read and write operations correspond to object-specific behaviors.</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For example, “sys / class /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gpio</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It provides user-level access to general purpose I/</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Os</a:t>
            </a:r>
            <a:r>
              <a:rPr lang="en-US" sz="12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It contains two control files called “export” and “un-export”. These files decide which GPIO is accessible by the user.</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It also contains one directory for each user-accessible GPIO. This directory stores the direction file, whose content defines if the GPIO is an input or an output, and the value file, whose content is the value to be written to the output GPIO or the value read from an input GPIO.</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8</a:t>
            </a:fld>
            <a:endParaRPr lang="en-US" altLang="en-US"/>
          </a:p>
        </p:txBody>
      </p:sp>
    </p:spTree>
    <p:extLst>
      <p:ext uri="{BB962C8B-B14F-4D97-AF65-F5344CB8AC3E}">
        <p14:creationId xmlns:p14="http://schemas.microsoft.com/office/powerpoint/2010/main" val="3077253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There are a few ways in which the GPIO can be controlled.</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user can write to GPIOs by:</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Exporting the GPIO: For example, “pipe echo 105 into sys / class /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gpio</a:t>
            </a:r>
            <a:r>
              <a:rPr lang="en-US" sz="1200" dirty="0">
                <a:effectLst/>
                <a:latin typeface="Calibri" panose="020F0502020204030204" pitchFamily="34" charset="0"/>
                <a:ea typeface="Calibri" panose="020F0502020204030204" pitchFamily="34" charset="0"/>
                <a:cs typeface="Times New Roman" panose="02020603050405020304" pitchFamily="18" charset="0"/>
              </a:rPr>
              <a:t> / export”</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Setting the direction: For example, “pipe echo out into sys / class /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gpio</a:t>
            </a:r>
            <a:r>
              <a:rPr lang="en-US" sz="1200" dirty="0">
                <a:effectLst/>
                <a:latin typeface="Calibri" panose="020F0502020204030204" pitchFamily="34" charset="0"/>
                <a:ea typeface="Calibri" panose="020F0502020204030204" pitchFamily="34" charset="0"/>
                <a:cs typeface="Times New Roman" panose="02020603050405020304" pitchFamily="18" charset="0"/>
              </a:rPr>
              <a:t> / gpio105 / direction”</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Writing the desired value: For example, “pipe echo one into sys / class /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gpio</a:t>
            </a:r>
            <a:r>
              <a:rPr lang="en-US" sz="1200" dirty="0">
                <a:effectLst/>
                <a:latin typeface="Calibri" panose="020F0502020204030204" pitchFamily="34" charset="0"/>
                <a:ea typeface="Calibri" panose="020F0502020204030204" pitchFamily="34" charset="0"/>
                <a:cs typeface="Times New Roman" panose="02020603050405020304" pitchFamily="18" charset="0"/>
              </a:rPr>
              <a:t> / gpio105 / value”</a:t>
            </a:r>
          </a:p>
          <a:p>
            <a:pPr marL="342900" marR="0" lvl="0" indent="-342900">
              <a:lnSpc>
                <a:spcPct val="107000"/>
              </a:lnSpc>
              <a:spcBef>
                <a:spcPts val="0"/>
              </a:spcBef>
              <a:spcAft>
                <a:spcPts val="800"/>
              </a:spcAft>
              <a:buFont typeface="Symbol" panose="05050102010706020507" pitchFamily="18" charset="2"/>
              <a:buChar char=""/>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user can also read from the GPIOs by:</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Exporting the GPIO: This would be the same as the previous example.</a:t>
            </a:r>
          </a:p>
          <a:p>
            <a:pPr marL="342900" marR="0" lvl="0" indent="-342900">
              <a:lnSpc>
                <a:spcPct val="107000"/>
              </a:lnSpc>
              <a:spcBef>
                <a:spcPts val="0"/>
              </a:spcBef>
              <a:spcAft>
                <a:spcPts val="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Setting the direction: For example, “pipe echo in into sys / class /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gpio</a:t>
            </a:r>
            <a:r>
              <a:rPr lang="en-US" sz="1200" dirty="0">
                <a:effectLst/>
                <a:latin typeface="Calibri" panose="020F0502020204030204" pitchFamily="34" charset="0"/>
                <a:ea typeface="Calibri" panose="020F0502020204030204" pitchFamily="34" charset="0"/>
                <a:cs typeface="Times New Roman" panose="02020603050405020304" pitchFamily="18" charset="0"/>
              </a:rPr>
              <a:t> / gpio105 / direction”</a:t>
            </a:r>
          </a:p>
          <a:p>
            <a:pPr marL="342900" marR="0" lvl="0" indent="-342900">
              <a:lnSpc>
                <a:spcPct val="107000"/>
              </a:lnSpc>
              <a:spcBef>
                <a:spcPts val="0"/>
              </a:spcBef>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Times New Roman" panose="02020603050405020304" pitchFamily="18" charset="0"/>
              </a:rPr>
              <a:t>Reading the GPIO value: For example, “cat sys / class / </a:t>
            </a:r>
            <a:r>
              <a:rPr lang="en-US" sz="1200" dirty="0" err="1">
                <a:effectLst/>
                <a:latin typeface="Calibri" panose="020F0502020204030204" pitchFamily="34" charset="0"/>
                <a:ea typeface="Calibri" panose="020F0502020204030204" pitchFamily="34" charset="0"/>
                <a:cs typeface="Times New Roman" panose="02020603050405020304" pitchFamily="18" charset="0"/>
              </a:rPr>
              <a:t>gpio</a:t>
            </a:r>
            <a:r>
              <a:rPr lang="en-US" sz="1200" dirty="0">
                <a:effectLst/>
                <a:latin typeface="Calibri" panose="020F0502020204030204" pitchFamily="34" charset="0"/>
                <a:ea typeface="Calibri" panose="020F0502020204030204" pitchFamily="34" charset="0"/>
                <a:cs typeface="Times New Roman" panose="02020603050405020304" pitchFamily="18" charset="0"/>
              </a:rPr>
              <a:t> / gpio105 / value”</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9</a:t>
            </a:fld>
            <a:endParaRPr lang="en-US" altLang="en-US"/>
          </a:p>
        </p:txBody>
      </p:sp>
    </p:spTree>
    <p:extLst>
      <p:ext uri="{BB962C8B-B14F-4D97-AF65-F5344CB8AC3E}">
        <p14:creationId xmlns:p14="http://schemas.microsoft.com/office/powerpoint/2010/main" val="3119685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Entries that can be added to the “sys fs” are directories and files.</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In order to add a new directory to the “sys fs”, a new kernel object needs to be defined using the “k object” data structure, as shown here.</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object shall be added to the filesystem using the “k object create and add” function.</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When it is no longer required, the above shall be destroyed using the “k object put” function.</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10</a:t>
            </a:fld>
            <a:endParaRPr lang="en-US" altLang="en-US"/>
          </a:p>
        </p:txBody>
      </p:sp>
    </p:spTree>
    <p:extLst>
      <p:ext uri="{BB962C8B-B14F-4D97-AF65-F5344CB8AC3E}">
        <p14:creationId xmlns:p14="http://schemas.microsoft.com/office/powerpoint/2010/main" val="3841188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In order to add a new file to the “sys fs” within a directory corresponding to a kernel object, a new kernel object attribute needs to be defined using the “k object attribute” function, as shown in this example. It also illustrates which parts of the code are run when the file is read or written to.</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new file is added using the “sys fs create file” function.</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11</a:t>
            </a:fld>
            <a:endParaRPr lang="en-US" altLang="en-US"/>
          </a:p>
        </p:txBody>
      </p:sp>
    </p:spTree>
    <p:extLst>
      <p:ext uri="{BB962C8B-B14F-4D97-AF65-F5344CB8AC3E}">
        <p14:creationId xmlns:p14="http://schemas.microsoft.com/office/powerpoint/2010/main" val="36489366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The usage of the “sys fs” and the virtual filesystem API depends on the intentions of the designer.</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“sys fs” can be used to provide device-specific or sub-system specific functionalities that cannot be mapped easily into the virtual filesystem API. For example, to select and program a desired GPIO, or to select the clock frequency scaling behavior.</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“sys fs” and the virtual filesystem API can be used concurrently, to satisfy different purposes. For example, the virtual filesystem API is used to communicate with a specific device modeled as a file, while the “sys fs” is used to provide debug information.</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In the following slides, these concepts will be put at work to support a specific hardware device: the “on-board CPU temperature sensor”.</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12</a:t>
            </a:fld>
            <a:endParaRPr lang="en-US" altLang="en-US"/>
          </a:p>
        </p:txBody>
      </p:sp>
    </p:spTree>
    <p:extLst>
      <p:ext uri="{BB962C8B-B14F-4D97-AF65-F5344CB8AC3E}">
        <p14:creationId xmlns:p14="http://schemas.microsoft.com/office/powerpoint/2010/main" val="38310774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Now, let’s take a look at the AI model we are going to use.</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13</a:t>
            </a:fld>
            <a:endParaRPr lang="en-US" altLang="en-US"/>
          </a:p>
        </p:txBody>
      </p:sp>
    </p:spTree>
    <p:extLst>
      <p:ext uri="{BB962C8B-B14F-4D97-AF65-F5344CB8AC3E}">
        <p14:creationId xmlns:p14="http://schemas.microsoft.com/office/powerpoint/2010/main" val="4050348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 Is a family of open-source large language models, developed by Meta.</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14</a:t>
            </a:fld>
            <a:endParaRPr lang="en-US" altLang="en-US"/>
          </a:p>
        </p:txBody>
      </p:sp>
    </p:spTree>
    <p:extLst>
      <p:ext uri="{BB962C8B-B14F-4D97-AF65-F5344CB8AC3E}">
        <p14:creationId xmlns:p14="http://schemas.microsoft.com/office/powerpoint/2010/main" val="38414605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models predictively generate human readable text, based on a model of a large corpus of textual data.</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15</a:t>
            </a:fld>
            <a:endParaRPr lang="en-US" altLang="en-US"/>
          </a:p>
        </p:txBody>
      </p:sp>
    </p:spTree>
    <p:extLst>
      <p:ext uri="{BB962C8B-B14F-4D97-AF65-F5344CB8AC3E}">
        <p14:creationId xmlns:p14="http://schemas.microsoft.com/office/powerpoint/2010/main" val="1032141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16</a:t>
            </a:fld>
            <a:endParaRPr lang="en-US" altLang="en-US"/>
          </a:p>
        </p:txBody>
      </p:sp>
    </p:spTree>
    <p:extLst>
      <p:ext uri="{BB962C8B-B14F-4D97-AF65-F5344CB8AC3E}">
        <p14:creationId xmlns:p14="http://schemas.microsoft.com/office/powerpoint/2010/main" val="1586048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always tradeoffs, when considering whether to deploy AI on-device (locally) or in the cloud (remotely).</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17</a:t>
            </a:fld>
            <a:endParaRPr lang="en-US" altLang="en-US"/>
          </a:p>
        </p:txBody>
      </p:sp>
    </p:spTree>
    <p:extLst>
      <p:ext uri="{BB962C8B-B14F-4D97-AF65-F5344CB8AC3E}">
        <p14:creationId xmlns:p14="http://schemas.microsoft.com/office/powerpoint/2010/main" val="15775508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consider various use case scenarios for integrating an AI model into an embedded system.</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18</a:t>
            </a:fld>
            <a:endParaRPr lang="en-US" altLang="en-US"/>
          </a:p>
        </p:txBody>
      </p:sp>
    </p:spTree>
    <p:extLst>
      <p:ext uri="{BB962C8B-B14F-4D97-AF65-F5344CB8AC3E}">
        <p14:creationId xmlns:p14="http://schemas.microsoft.com/office/powerpoint/2010/main" val="2866160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there are tradeoffs when considering whether AI is appropriate.</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19</a:t>
            </a:fld>
            <a:endParaRPr lang="en-US" altLang="en-US"/>
          </a:p>
        </p:txBody>
      </p:sp>
    </p:spTree>
    <p:extLst>
      <p:ext uri="{BB962C8B-B14F-4D97-AF65-F5344CB8AC3E}">
        <p14:creationId xmlns:p14="http://schemas.microsoft.com/office/powerpoint/2010/main" val="17709894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various components involved in the system we will set up in the associated practical lab.</a:t>
            </a:r>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21</a:t>
            </a:fld>
            <a:endParaRPr lang="en-US" altLang="en-US"/>
          </a:p>
        </p:txBody>
      </p:sp>
    </p:spTree>
    <p:extLst>
      <p:ext uri="{BB962C8B-B14F-4D97-AF65-F5344CB8AC3E}">
        <p14:creationId xmlns:p14="http://schemas.microsoft.com/office/powerpoint/2010/main" val="1206243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Now, we will take a look at how we can build Linux support for the “on-board temperature” sensor, along with AI integration.</a:t>
            </a:r>
          </a:p>
          <a:p>
            <a:endParaRPr lang="en-IN"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22</a:t>
            </a:fld>
            <a:endParaRPr lang="en-US" altLang="en-US"/>
          </a:p>
        </p:txBody>
      </p:sp>
    </p:spTree>
    <p:extLst>
      <p:ext uri="{BB962C8B-B14F-4D97-AF65-F5344CB8AC3E}">
        <p14:creationId xmlns:p14="http://schemas.microsoft.com/office/powerpoint/2010/main" val="39912245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We are going to develop Linux support for the “on-board temperature” sensor which will make use of both the thermal system API and “sys fs”.</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23</a:t>
            </a:fld>
            <a:endParaRPr lang="en-US" altLang="en-US"/>
          </a:p>
        </p:txBody>
      </p:sp>
    </p:spTree>
    <p:extLst>
      <p:ext uri="{BB962C8B-B14F-4D97-AF65-F5344CB8AC3E}">
        <p14:creationId xmlns:p14="http://schemas.microsoft.com/office/powerpoint/2010/main" val="32673426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This is an example definition of a module data structure.</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This code declares a kernel object for adding a directory entry to “sys fs”.</a:t>
            </a:r>
          </a:p>
          <a:p>
            <a:pPr marL="0" marR="0">
              <a:lnSpc>
                <a:spcPct val="107000"/>
              </a:lnSpc>
              <a:spcBef>
                <a:spcPts val="0"/>
              </a:spcBef>
              <a:spcAft>
                <a:spcPts val="80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final line assigns the kernel object attribute, called `value’. The arguments for this are the name of the file, the file access rights, and the functions invoked when the file is read or written to.</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24</a:t>
            </a:fld>
            <a:endParaRPr lang="en-US" altLang="en-US"/>
          </a:p>
        </p:txBody>
      </p:sp>
    </p:spTree>
    <p:extLst>
      <p:ext uri="{BB962C8B-B14F-4D97-AF65-F5344CB8AC3E}">
        <p14:creationId xmlns:p14="http://schemas.microsoft.com/office/powerpoint/2010/main" val="483459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Now we will look at the module initialization function.</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25</a:t>
            </a:fld>
            <a:endParaRPr lang="en-US" altLang="en-US"/>
          </a:p>
        </p:txBody>
      </p:sp>
    </p:spTree>
    <p:extLst>
      <p:ext uri="{BB962C8B-B14F-4D97-AF65-F5344CB8AC3E}">
        <p14:creationId xmlns:p14="http://schemas.microsoft.com/office/powerpoint/2010/main" val="28838031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DDBB3-68B7-4C56-B1B5-AE9D0474C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CAC45-9638-92F4-E1D8-85E9E1614A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7F196-FB99-E32E-8567-B8E6C93F3C37}"/>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Now we will look at the module initialization function.</a:t>
            </a:r>
          </a:p>
          <a:p>
            <a:endParaRPr lang="en-US" dirty="0"/>
          </a:p>
        </p:txBody>
      </p:sp>
      <p:sp>
        <p:nvSpPr>
          <p:cNvPr id="4" name="Slide Number Placeholder 3">
            <a:extLst>
              <a:ext uri="{FF2B5EF4-FFF2-40B4-BE49-F238E27FC236}">
                <a16:creationId xmlns:a16="http://schemas.microsoft.com/office/drawing/2014/main" id="{70B51204-6974-71D8-7508-718FF657DC85}"/>
              </a:ext>
            </a:extLst>
          </p:cNvPr>
          <p:cNvSpPr>
            <a:spLocks noGrp="1"/>
          </p:cNvSpPr>
          <p:nvPr>
            <p:ph type="sldNum" sz="quarter" idx="5"/>
          </p:nvPr>
        </p:nvSpPr>
        <p:spPr/>
        <p:txBody>
          <a:bodyPr/>
          <a:lstStyle/>
          <a:p>
            <a:pPr>
              <a:defRPr/>
            </a:pPr>
            <a:fld id="{4ED05C12-C9C4-4501-9C72-D2E25191FC36}" type="slidenum">
              <a:rPr lang="en-US" altLang="en-US" smtClean="0"/>
              <a:pPr>
                <a:defRPr/>
              </a:pPr>
              <a:t>26</a:t>
            </a:fld>
            <a:endParaRPr lang="en-US" altLang="en-US"/>
          </a:p>
        </p:txBody>
      </p:sp>
    </p:spTree>
    <p:extLst>
      <p:ext uri="{BB962C8B-B14F-4D97-AF65-F5344CB8AC3E}">
        <p14:creationId xmlns:p14="http://schemas.microsoft.com/office/powerpoint/2010/main" val="20523735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91A2F-241A-91E6-9620-8D103BCE8F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24A2B0-7F23-14E8-BCD5-3356472ADE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66E3C-55D5-552C-C63E-077F958D961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Now we will look at the module initialization function.</a:t>
            </a:r>
          </a:p>
          <a:p>
            <a:endParaRPr lang="en-US" dirty="0"/>
          </a:p>
        </p:txBody>
      </p:sp>
      <p:sp>
        <p:nvSpPr>
          <p:cNvPr id="4" name="Slide Number Placeholder 3">
            <a:extLst>
              <a:ext uri="{FF2B5EF4-FFF2-40B4-BE49-F238E27FC236}">
                <a16:creationId xmlns:a16="http://schemas.microsoft.com/office/drawing/2014/main" id="{07AA1C26-880F-9D11-92C8-9606861DBC48}"/>
              </a:ext>
            </a:extLst>
          </p:cNvPr>
          <p:cNvSpPr>
            <a:spLocks noGrp="1"/>
          </p:cNvSpPr>
          <p:nvPr>
            <p:ph type="sldNum" sz="quarter" idx="5"/>
          </p:nvPr>
        </p:nvSpPr>
        <p:spPr/>
        <p:txBody>
          <a:bodyPr/>
          <a:lstStyle/>
          <a:p>
            <a:pPr>
              <a:defRPr/>
            </a:pPr>
            <a:fld id="{4ED05C12-C9C4-4501-9C72-D2E25191FC36}" type="slidenum">
              <a:rPr lang="en-US" altLang="en-US" smtClean="0"/>
              <a:pPr>
                <a:defRPr/>
              </a:pPr>
              <a:t>27</a:t>
            </a:fld>
            <a:endParaRPr lang="en-US" altLang="en-US"/>
          </a:p>
        </p:txBody>
      </p:sp>
    </p:spTree>
    <p:extLst>
      <p:ext uri="{BB962C8B-B14F-4D97-AF65-F5344CB8AC3E}">
        <p14:creationId xmlns:p14="http://schemas.microsoft.com/office/powerpoint/2010/main" val="23227946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This is how the module “clean up” function is implemented.</a:t>
            </a:r>
          </a:p>
          <a:p>
            <a:endParaRPr lang="en-US" sz="1200" kern="1200" dirty="0">
              <a:solidFill>
                <a:schemeClr val="tx1"/>
              </a:solidFill>
              <a:effectLst/>
              <a:latin typeface="+mn-lt"/>
              <a:ea typeface="ＭＳ Ｐゴシック" charset="0"/>
              <a:cs typeface="ＭＳ Ｐゴシック" charset="0"/>
            </a:endParaRPr>
          </a:p>
          <a:p>
            <a:r>
              <a:rPr lang="en-US" sz="1200" kern="1200" dirty="0">
                <a:solidFill>
                  <a:schemeClr val="tx1"/>
                </a:solidFill>
                <a:effectLst/>
                <a:latin typeface="+mn-lt"/>
                <a:ea typeface="ＭＳ Ｐゴシック" charset="0"/>
                <a:cs typeface="ＭＳ Ｐゴシック" charset="0"/>
              </a:rPr>
              <a:t>The module is marked as free. The character device is then removed from the kernel. Finally, the “temp” directory is removed from “sys fs”.</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28</a:t>
            </a:fld>
            <a:endParaRPr lang="en-US" altLang="en-US"/>
          </a:p>
        </p:txBody>
      </p:sp>
    </p:spTree>
    <p:extLst>
      <p:ext uri="{BB962C8B-B14F-4D97-AF65-F5344CB8AC3E}">
        <p14:creationId xmlns:p14="http://schemas.microsoft.com/office/powerpoint/2010/main" val="37071834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ＭＳ Ｐゴシック" charset="0"/>
                <a:cs typeface="ＭＳ Ｐゴシック" charset="0"/>
              </a:rPr>
              <a:t>In the module “read” function, the temperature is read as an integer, converted to a string and sent to </a:t>
            </a:r>
            <a:r>
              <a:rPr lang="en-US" sz="1200" kern="1200" dirty="0" err="1">
                <a:solidFill>
                  <a:schemeClr val="tx1"/>
                </a:solidFill>
                <a:effectLst/>
                <a:latin typeface="+mn-lt"/>
                <a:ea typeface="ＭＳ Ｐゴシック" charset="0"/>
                <a:cs typeface="ＭＳ Ｐゴシック" charset="0"/>
              </a:rPr>
              <a:t>sysfs</a:t>
            </a:r>
            <a:endParaRPr lang="en-US" sz="1200" kern="1200" dirty="0">
              <a:solidFill>
                <a:schemeClr val="tx1"/>
              </a:solidFill>
              <a:effectLst/>
              <a:latin typeface="+mn-lt"/>
              <a:ea typeface="ＭＳ Ｐゴシック" charset="0"/>
              <a:cs typeface="ＭＳ Ｐゴシック" charset="0"/>
            </a:endParaRP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29</a:t>
            </a:fld>
            <a:endParaRPr lang="en-US" altLang="en-US"/>
          </a:p>
        </p:txBody>
      </p:sp>
    </p:spTree>
    <p:extLst>
      <p:ext uri="{BB962C8B-B14F-4D97-AF65-F5344CB8AC3E}">
        <p14:creationId xmlns:p14="http://schemas.microsoft.com/office/powerpoint/2010/main" val="1868164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mn-lt"/>
                <a:ea typeface="ＭＳ Ｐゴシック" charset="0"/>
                <a:cs typeface="ＭＳ Ｐゴシック" charset="0"/>
              </a:rPr>
              <a:t>This concludes the seventh and final lecture on Linux for Embedded Systems. </a:t>
            </a:r>
          </a:p>
          <a:p>
            <a:endParaRPr lang="en-US" dirty="0"/>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31</a:t>
            </a:fld>
            <a:endParaRPr lang="en-US" altLang="en-US"/>
          </a:p>
        </p:txBody>
      </p:sp>
    </p:spTree>
    <p:extLst>
      <p:ext uri="{BB962C8B-B14F-4D97-AF65-F5344CB8AC3E}">
        <p14:creationId xmlns:p14="http://schemas.microsoft.com/office/powerpoint/2010/main" val="1155356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3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F0F991D-FCA4-4B63-990A-F6816AD19558}"/>
              </a:ext>
            </a:extLst>
          </p:cNvPr>
          <p:cNvPicPr>
            <a:picLocks noChangeAspect="1"/>
          </p:cNvPicPr>
          <p:nvPr userDrawn="1"/>
        </p:nvPicPr>
        <p:blipFill>
          <a:blip r:embed="rId2">
            <a:extLst>
              <a:ext uri="{28A0092B-C50C-407E-A947-70E740481C1C}">
                <a14:useLocalDpi xmlns:a14="http://schemas.microsoft.com/office/drawing/2010/main" val="0"/>
              </a:ext>
            </a:extLst>
          </a:blip>
          <a:srcRect r="-367"/>
          <a:stretch>
            <a:fillRect/>
          </a:stretch>
        </p:blipFill>
        <p:spPr bwMode="auto">
          <a:xfrm>
            <a:off x="0" y="0"/>
            <a:ext cx="122523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A156D165-7270-40C4-88D8-90852D96F7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1588"/>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8AD9B17F-0E30-4ADC-88D4-20A157463F8E}"/>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CD4279F1-F98A-4D42-BE2C-F6824E400D1C}"/>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FBDD11B8-AE29-46D7-AA16-FC0782F0224C}"/>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2152EDD9-932E-446C-B0D1-08200969EF9A}"/>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0A8448B8-61E4-4D23-9334-33FE7B6C6659}"/>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F4378299-CD03-4252-AFFD-BC205B792D81}"/>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011A3030-FB66-4CA3-A565-EB5EEB758B3F}"/>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16" name="Picture 16">
            <a:extLst>
              <a:ext uri="{FF2B5EF4-FFF2-40B4-BE49-F238E27FC236}">
                <a16:creationId xmlns:a16="http://schemas.microsoft.com/office/drawing/2014/main" id="{853C1CC1-ADAC-4345-8FD5-7780D35BE3C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145957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5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9191A9FE-449B-4D65-A314-B50D80F2247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1384F5AA-5239-4357-B200-8BEED4FBA13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97E2E261-7BED-4DD4-B009-2B25A53A4EBF}"/>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853851FE-FFF1-472C-AEC9-BE3EC0DF692A}"/>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07133448-B5CA-4850-92E8-804B482259E3}"/>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EA04FC3D-FE02-4FF4-BA44-4FA201FDC89D}"/>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41B1EEB9-F737-43CE-9DAF-FD651FCF17F4}"/>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DB146E33-F9AB-4720-97B5-DC431CB6E5F2}"/>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B1371B1D-E5D0-498C-9B3E-67F1875CD52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16" name="Picture 16">
            <a:extLst>
              <a:ext uri="{FF2B5EF4-FFF2-40B4-BE49-F238E27FC236}">
                <a16:creationId xmlns:a16="http://schemas.microsoft.com/office/drawing/2014/main" id="{48B9274A-2385-4BAC-AD9B-101FD86C1BD2}"/>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8050" y="1209675"/>
            <a:ext cx="22447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17"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259293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6_Title Slide">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881F7329-72E1-410D-B159-CAFFC8A65DAC}"/>
              </a:ext>
            </a:extLst>
          </p:cNvPr>
          <p:cNvPicPr>
            <a:picLocks noChangeAspect="1"/>
          </p:cNvPicPr>
          <p:nvPr userDrawn="1"/>
        </p:nvPicPr>
        <p:blipFill>
          <a:blip r:embed="rId2">
            <a:extLst>
              <a:ext uri="{28A0092B-C50C-407E-A947-70E740481C1C}">
                <a14:useLocalDpi xmlns:a14="http://schemas.microsoft.com/office/drawing/2010/main" val="0"/>
              </a:ext>
            </a:extLst>
          </a:blip>
          <a:srcRect t="-2"/>
          <a:stretch>
            <a:fillRect/>
          </a:stretch>
        </p:blipFill>
        <p:spPr bwMode="auto">
          <a:xfrm>
            <a:off x="0" y="0"/>
            <a:ext cx="122253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a:extLst>
              <a:ext uri="{FF2B5EF4-FFF2-40B4-BE49-F238E27FC236}">
                <a16:creationId xmlns:a16="http://schemas.microsoft.com/office/drawing/2014/main" id="{6671FFD2-62DD-44F2-B7FC-C1C9E1E92FA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ubtitle 2">
            <a:extLst>
              <a:ext uri="{FF2B5EF4-FFF2-40B4-BE49-F238E27FC236}">
                <a16:creationId xmlns:a16="http://schemas.microsoft.com/office/drawing/2014/main" id="{32E4E07A-6819-4C29-BF28-4F83F8BD2D4B}"/>
              </a:ext>
            </a:extLst>
          </p:cNvPr>
          <p:cNvSpPr txBox="1">
            <a:spLocks/>
          </p:cNvSpPr>
          <p:nvPr userDrawn="1"/>
        </p:nvSpPr>
        <p:spPr bwMode="auto">
          <a:xfrm>
            <a:off x="5016500" y="137477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rgbClr val="7F7F7F"/>
              </a:solidFill>
              <a:cs typeface="ＭＳ Ｐゴシック" charset="0"/>
            </a:endParaRPr>
          </a:p>
        </p:txBody>
      </p:sp>
      <p:sp>
        <p:nvSpPr>
          <p:cNvPr id="10" name="Subtitle 2">
            <a:extLst>
              <a:ext uri="{FF2B5EF4-FFF2-40B4-BE49-F238E27FC236}">
                <a16:creationId xmlns:a16="http://schemas.microsoft.com/office/drawing/2014/main" id="{3D57E3AF-04F8-4E7D-9BA5-B48233D16A5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1" name="Rectangle 10">
            <a:extLst>
              <a:ext uri="{FF2B5EF4-FFF2-40B4-BE49-F238E27FC236}">
                <a16:creationId xmlns:a16="http://schemas.microsoft.com/office/drawing/2014/main" id="{497630BA-F687-4796-8386-5F084C22C874}"/>
              </a:ext>
            </a:extLst>
          </p:cNvPr>
          <p:cNvSpPr/>
          <p:nvPr userDrawn="1"/>
        </p:nvSpPr>
        <p:spPr>
          <a:xfrm>
            <a:off x="3413125" y="4835525"/>
            <a:ext cx="4778375" cy="952500"/>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Rectangle 11">
            <a:extLst>
              <a:ext uri="{FF2B5EF4-FFF2-40B4-BE49-F238E27FC236}">
                <a16:creationId xmlns:a16="http://schemas.microsoft.com/office/drawing/2014/main" id="{684A0690-E005-4537-A292-DD859965222C}"/>
              </a:ext>
            </a:extLst>
          </p:cNvPr>
          <p:cNvSpPr/>
          <p:nvPr userDrawn="1"/>
        </p:nvSpPr>
        <p:spPr>
          <a:xfrm rot="5400000">
            <a:off x="9608344" y="4369594"/>
            <a:ext cx="955675" cy="3798887"/>
          </a:xfrm>
          <a:prstGeom prst="rect">
            <a:avLst/>
          </a:prstGeom>
          <a:solidFill>
            <a:schemeClr val="accent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3" name="Rectangle 12">
            <a:extLst>
              <a:ext uri="{FF2B5EF4-FFF2-40B4-BE49-F238E27FC236}">
                <a16:creationId xmlns:a16="http://schemas.microsoft.com/office/drawing/2014/main" id="{389C8DAB-6E80-43C8-B1D5-92781A9333B3}"/>
              </a:ext>
            </a:extLst>
          </p:cNvPr>
          <p:cNvSpPr/>
          <p:nvPr userDrawn="1"/>
        </p:nvSpPr>
        <p:spPr>
          <a:xfrm rot="5400000">
            <a:off x="7239000" y="73026"/>
            <a:ext cx="3798887" cy="5726112"/>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4" name="TextBox 13">
            <a:extLst>
              <a:ext uri="{FF2B5EF4-FFF2-40B4-BE49-F238E27FC236}">
                <a16:creationId xmlns:a16="http://schemas.microsoft.com/office/drawing/2014/main" id="{A06BBFBC-AD83-46C6-8A92-1A6C7DF2B428}"/>
              </a:ext>
            </a:extLst>
          </p:cNvPr>
          <p:cNvSpPr txBox="1">
            <a:spLocks noChangeArrowheads="1"/>
          </p:cNvSpPr>
          <p:nvPr userDrawn="1"/>
        </p:nvSpPr>
        <p:spPr bwMode="auto">
          <a:xfrm>
            <a:off x="12874625" y="2667000"/>
            <a:ext cx="0" cy="296863"/>
          </a:xfrm>
          <a:prstGeom prst="rect">
            <a:avLst/>
          </a:prstGeom>
          <a:noFill/>
          <a:ln>
            <a:noFill/>
          </a:ln>
          <a:extLst>
            <a:ext uri="{909E8E84-426E-40dd-AFC4-6F175D3DCCD1}"/>
            <a:ext uri="{91240B29-F687-4f45-9708-019B960494DF}"/>
          </a:extLst>
        </p:spPr>
        <p:txBody>
          <a:bodyPr wrap="none" lIns="0" tIns="0" rIns="0" bIns="0">
            <a:spAutoFit/>
          </a:bodyP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eaLnBrk="1" hangingPunct="1">
              <a:lnSpc>
                <a:spcPct val="90000"/>
              </a:lnSpc>
              <a:spcAft>
                <a:spcPts val="600"/>
              </a:spcAft>
              <a:buFont typeface="Arial" charset="0"/>
              <a:buNone/>
              <a:defRPr/>
            </a:pPr>
            <a:endParaRPr lang="en-US" sz="2100">
              <a:solidFill>
                <a:schemeClr val="tx2"/>
              </a:solidFill>
            </a:endParaRPr>
          </a:p>
        </p:txBody>
      </p:sp>
      <p:sp>
        <p:nvSpPr>
          <p:cNvPr id="15" name="TextBox 20">
            <a:extLst>
              <a:ext uri="{FF2B5EF4-FFF2-40B4-BE49-F238E27FC236}">
                <a16:creationId xmlns:a16="http://schemas.microsoft.com/office/drawing/2014/main" id="{6B75FFE4-11B1-46BA-8330-0110FEFE81FB}"/>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16" name="Picture 16">
            <a:extLst>
              <a:ext uri="{FF2B5EF4-FFF2-40B4-BE49-F238E27FC236}">
                <a16:creationId xmlns:a16="http://schemas.microsoft.com/office/drawing/2014/main" id="{225A10BD-84F3-4666-BF7A-4853183B66F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Text Placeholder 28"/>
          <p:cNvSpPr>
            <a:spLocks noGrp="1"/>
          </p:cNvSpPr>
          <p:nvPr>
            <p:ph type="body" sz="quarter" idx="12"/>
          </p:nvPr>
        </p:nvSpPr>
        <p:spPr>
          <a:xfrm>
            <a:off x="6649606" y="595808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649606" y="6267966"/>
            <a:ext cx="5041572" cy="239159"/>
          </a:xfrm>
        </p:spPr>
        <p:txBody>
          <a:bodyPr/>
          <a:lstStyle>
            <a:lvl1pPr algn="r">
              <a:spcAft>
                <a:spcPts val="600"/>
              </a:spcAft>
              <a:defRPr sz="1800">
                <a:solidFill>
                  <a:schemeClr val="bg1"/>
                </a:solidFill>
              </a:defRPr>
            </a:lvl1pPr>
          </a:lstStyle>
          <a:p>
            <a:pPr lvl="0"/>
            <a:r>
              <a:rPr lang="en-US"/>
              <a:t>Edit Master text styles</a:t>
            </a:r>
          </a:p>
        </p:txBody>
      </p:sp>
      <p:sp>
        <p:nvSpPr>
          <p:cNvPr id="26" name="Title 1"/>
          <p:cNvSpPr>
            <a:spLocks noGrp="1"/>
          </p:cNvSpPr>
          <p:nvPr>
            <p:ph type="title"/>
          </p:nvPr>
        </p:nvSpPr>
        <p:spPr>
          <a:xfrm>
            <a:off x="6649606" y="2071010"/>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8" name="Text Placeholder 3"/>
          <p:cNvSpPr>
            <a:spLocks noGrp="1"/>
          </p:cNvSpPr>
          <p:nvPr>
            <p:ph type="body" sz="quarter" idx="14"/>
          </p:nvPr>
        </p:nvSpPr>
        <p:spPr>
          <a:xfrm>
            <a:off x="7426906" y="1652709"/>
            <a:ext cx="4268207" cy="289871"/>
          </a:xfrm>
        </p:spPr>
        <p:txBody>
          <a:bodyPr/>
          <a:lstStyle>
            <a:lvl1pPr algn="r">
              <a:defRPr sz="2400" baseline="0">
                <a:solidFill>
                  <a:schemeClr val="bg1"/>
                </a:solidFill>
              </a:defRPr>
            </a:lvl1pPr>
          </a:lstStyle>
          <a:p>
            <a:pPr lvl="0"/>
            <a:r>
              <a:rPr lang="en-US"/>
              <a:t>Edit Master text styles</a:t>
            </a:r>
          </a:p>
        </p:txBody>
      </p:sp>
      <p:sp>
        <p:nvSpPr>
          <p:cNvPr id="20" name="Subtitle 2"/>
          <p:cNvSpPr>
            <a:spLocks noGrp="1"/>
          </p:cNvSpPr>
          <p:nvPr>
            <p:ph type="subTitle" idx="1"/>
          </p:nvPr>
        </p:nvSpPr>
        <p:spPr>
          <a:xfrm>
            <a:off x="6654335" y="3590524"/>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Tree>
    <p:extLst>
      <p:ext uri="{BB962C8B-B14F-4D97-AF65-F5344CB8AC3E}">
        <p14:creationId xmlns:p14="http://schemas.microsoft.com/office/powerpoint/2010/main" val="3954915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Pr>
        <a:solidFill>
          <a:schemeClr val="accent1"/>
        </a:solidFill>
        <a:effectLst/>
      </p:bgPr>
    </p:bg>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D86ACCD9-F471-43BC-B77A-0C37A0363EE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tx2"/>
              </a:solidFill>
              <a:cs typeface="ＭＳ Ｐゴシック" charset="0"/>
            </a:endParaRPr>
          </a:p>
        </p:txBody>
      </p:sp>
      <p:sp>
        <p:nvSpPr>
          <p:cNvPr id="8" name="TextBox 20">
            <a:extLst>
              <a:ext uri="{FF2B5EF4-FFF2-40B4-BE49-F238E27FC236}">
                <a16:creationId xmlns:a16="http://schemas.microsoft.com/office/drawing/2014/main" id="{5B1BEE8E-C9DD-4507-ABC1-BE5E4AA64E0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pic>
        <p:nvPicPr>
          <p:cNvPr id="9" name="Picture 9">
            <a:extLst>
              <a:ext uri="{FF2B5EF4-FFF2-40B4-BE49-F238E27FC236}">
                <a16:creationId xmlns:a16="http://schemas.microsoft.com/office/drawing/2014/main" id="{ED085226-B7FC-4237-9307-87DDA9C6ACC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4875" y="1206500"/>
            <a:ext cx="223996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itle 1"/>
          <p:cNvSpPr>
            <a:spLocks noGrp="1"/>
          </p:cNvSpPr>
          <p:nvPr>
            <p:ph type="title"/>
          </p:nvPr>
        </p:nvSpPr>
        <p:spPr>
          <a:xfrm>
            <a:off x="6294006" y="2057639"/>
            <a:ext cx="5045507" cy="1556425"/>
          </a:xfrm>
        </p:spPr>
        <p:txBody>
          <a:bodyPr anchor="ctr" anchorCtr="0"/>
          <a:lstStyle>
            <a:lvl1pPr algn="r">
              <a:lnSpc>
                <a:spcPct val="85000"/>
              </a:lnSpc>
              <a:defRPr sz="5500" b="0" spc="-100" baseline="0">
                <a:solidFill>
                  <a:schemeClr val="bg1"/>
                </a:solidFill>
              </a:defRPr>
            </a:lvl1pPr>
          </a:lstStyle>
          <a:p>
            <a:r>
              <a:rPr lang="en-US"/>
              <a:t>Click to edit Master title style</a:t>
            </a:r>
            <a:endParaRPr lang="en-US" dirty="0"/>
          </a:p>
        </p:txBody>
      </p:sp>
      <p:sp>
        <p:nvSpPr>
          <p:cNvPr id="20" name="Subtitle 2"/>
          <p:cNvSpPr>
            <a:spLocks noGrp="1"/>
          </p:cNvSpPr>
          <p:nvPr>
            <p:ph type="subTitle" idx="1"/>
          </p:nvPr>
        </p:nvSpPr>
        <p:spPr>
          <a:xfrm>
            <a:off x="6298735" y="3671282"/>
            <a:ext cx="5040778" cy="739253"/>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dirty="0"/>
          </a:p>
        </p:txBody>
      </p:sp>
      <p:sp>
        <p:nvSpPr>
          <p:cNvPr id="21" name="Text Placeholder 28"/>
          <p:cNvSpPr>
            <a:spLocks noGrp="1"/>
          </p:cNvSpPr>
          <p:nvPr>
            <p:ph type="body" sz="quarter" idx="12"/>
          </p:nvPr>
        </p:nvSpPr>
        <p:spPr>
          <a:xfrm>
            <a:off x="6294006" y="556248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2" name="Text Placeholder 28"/>
          <p:cNvSpPr>
            <a:spLocks noGrp="1"/>
          </p:cNvSpPr>
          <p:nvPr>
            <p:ph type="body" sz="quarter" idx="13"/>
          </p:nvPr>
        </p:nvSpPr>
        <p:spPr>
          <a:xfrm>
            <a:off x="6294006" y="5872361"/>
            <a:ext cx="5041572" cy="239159"/>
          </a:xfrm>
        </p:spPr>
        <p:txBody>
          <a:bodyPr/>
          <a:lstStyle>
            <a:lvl1pPr algn="r">
              <a:spcAft>
                <a:spcPts val="600"/>
              </a:spcAft>
              <a:defRPr sz="1600">
                <a:solidFill>
                  <a:schemeClr val="bg1"/>
                </a:solidFill>
              </a:defRPr>
            </a:lvl1pPr>
          </a:lstStyle>
          <a:p>
            <a:pPr lvl="0"/>
            <a:r>
              <a:rPr lang="en-US"/>
              <a:t>Edit Master text styles</a:t>
            </a:r>
          </a:p>
        </p:txBody>
      </p:sp>
      <p:sp>
        <p:nvSpPr>
          <p:cNvPr id="23" name="Text Placeholder 3"/>
          <p:cNvSpPr>
            <a:spLocks noGrp="1"/>
          </p:cNvSpPr>
          <p:nvPr>
            <p:ph type="body" sz="quarter" idx="14"/>
          </p:nvPr>
        </p:nvSpPr>
        <p:spPr>
          <a:xfrm>
            <a:off x="7071306" y="1639338"/>
            <a:ext cx="4268207" cy="289871"/>
          </a:xfrm>
        </p:spPr>
        <p:txBody>
          <a:bodyPr/>
          <a:lstStyle>
            <a:lvl1pPr algn="r">
              <a:defRPr sz="2400" baseline="0">
                <a:solidFill>
                  <a:schemeClr val="bg1"/>
                </a:solidFill>
              </a:defRPr>
            </a:lvl1pPr>
          </a:lstStyle>
          <a:p>
            <a:pPr lvl="0"/>
            <a:r>
              <a:rPr lang="en-US"/>
              <a:t>Edit Master text styles</a:t>
            </a:r>
          </a:p>
        </p:txBody>
      </p:sp>
    </p:spTree>
    <p:extLst>
      <p:ext uri="{BB962C8B-B14F-4D97-AF65-F5344CB8AC3E}">
        <p14:creationId xmlns:p14="http://schemas.microsoft.com/office/powerpoint/2010/main" val="3146543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EF15EA80-6A97-4306-A565-A598BFCD4C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25508CEF-5483-4725-B847-F2F3C9C3A99C}"/>
              </a:ext>
            </a:extLst>
          </p:cNvPr>
          <p:cNvSpPr/>
          <p:nvPr userDrawn="1"/>
        </p:nvSpPr>
        <p:spPr>
          <a:xfrm>
            <a:off x="9145588" y="0"/>
            <a:ext cx="944562" cy="6858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F4D455E4-5A73-4DDA-B182-EC48A76868CF}"/>
              </a:ext>
            </a:extLst>
          </p:cNvPr>
          <p:cNvSpPr/>
          <p:nvPr userDrawn="1"/>
        </p:nvSpPr>
        <p:spPr>
          <a:xfrm rot="5400000">
            <a:off x="5618956" y="-781843"/>
            <a:ext cx="954087" cy="12192000"/>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pic>
        <p:nvPicPr>
          <p:cNvPr id="6" name="Picture 10">
            <a:extLst>
              <a:ext uri="{FF2B5EF4-FFF2-40B4-BE49-F238E27FC236}">
                <a16:creationId xmlns:a16="http://schemas.microsoft.com/office/drawing/2014/main" id="{40586515-A17C-43AB-93C1-E92185BB050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20">
            <a:extLst>
              <a:ext uri="{FF2B5EF4-FFF2-40B4-BE49-F238E27FC236}">
                <a16:creationId xmlns:a16="http://schemas.microsoft.com/office/drawing/2014/main" id="{6972167F-6CB3-4785-B2B2-AD65609A7955}"/>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sp>
        <p:nvSpPr>
          <p:cNvPr id="10"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109520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D4D25FBE-48A0-4F3D-AC55-357CA1A98B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6EB17126-C2D4-4E6B-B84A-8123291ABB4F}"/>
              </a:ext>
            </a:extLst>
          </p:cNvPr>
          <p:cNvSpPr/>
          <p:nvPr userDrawn="1"/>
        </p:nvSpPr>
        <p:spPr>
          <a:xfrm>
            <a:off x="2473325" y="5788025"/>
            <a:ext cx="5715000" cy="957263"/>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CD47F78D-5AB3-4ADE-9638-2185B4841924}"/>
              </a:ext>
            </a:extLst>
          </p:cNvPr>
          <p:cNvSpPr/>
          <p:nvPr userDrawn="1"/>
        </p:nvSpPr>
        <p:spPr>
          <a:xfrm rot="5400000">
            <a:off x="8668545" y="3399631"/>
            <a:ext cx="950912" cy="3825875"/>
          </a:xfrm>
          <a:prstGeom prst="rect">
            <a:avLst/>
          </a:prstGeom>
          <a:solidFill>
            <a:schemeClr val="accent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5D40661-F4D5-46CD-9CB3-AAB36DEEFA2B}"/>
              </a:ext>
            </a:extLst>
          </p:cNvPr>
          <p:cNvSpPr/>
          <p:nvPr userDrawn="1"/>
        </p:nvSpPr>
        <p:spPr>
          <a:xfrm rot="5400000">
            <a:off x="8661400" y="-395287"/>
            <a:ext cx="2852737" cy="3798888"/>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8B1EE9D2-8B68-4D93-9C86-8338D46F4C46}"/>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8" name="Picture 12">
            <a:extLst>
              <a:ext uri="{FF2B5EF4-FFF2-40B4-BE49-F238E27FC236}">
                <a16:creationId xmlns:a16="http://schemas.microsoft.com/office/drawing/2014/main" id="{60A4E36D-CD54-4848-8DD7-B57EE5F009C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96890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8_Title Slide">
    <p:bg>
      <p:bgPr>
        <a:solidFill>
          <a:schemeClr val="tx2">
            <a:alpha val="79999"/>
          </a:schemeClr>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20AFDBE9-218D-49BD-8C6F-6D0C0A98EA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641F8C5-D368-475A-AD71-1C5D28182145}"/>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5" name="Rectangle 4">
            <a:extLst>
              <a:ext uri="{FF2B5EF4-FFF2-40B4-BE49-F238E27FC236}">
                <a16:creationId xmlns:a16="http://schemas.microsoft.com/office/drawing/2014/main" id="{DEC8AC68-A10F-478C-9423-982B686F3608}"/>
              </a:ext>
            </a:extLst>
          </p:cNvPr>
          <p:cNvSpPr/>
          <p:nvPr userDrawn="1"/>
        </p:nvSpPr>
        <p:spPr>
          <a:xfrm rot="5400000">
            <a:off x="7238207" y="70644"/>
            <a:ext cx="952500" cy="2865437"/>
          </a:xfrm>
          <a:prstGeom prst="rect">
            <a:avLst/>
          </a:prstGeom>
          <a:solidFill>
            <a:schemeClr val="accent5">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6" name="TextBox 20">
            <a:extLst>
              <a:ext uri="{FF2B5EF4-FFF2-40B4-BE49-F238E27FC236}">
                <a16:creationId xmlns:a16="http://schemas.microsoft.com/office/drawing/2014/main" id="{88B94D0A-8607-4811-8C63-2236031788C2}"/>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7" name="Picture 11">
            <a:extLst>
              <a:ext uri="{FF2B5EF4-FFF2-40B4-BE49-F238E27FC236}">
                <a16:creationId xmlns:a16="http://schemas.microsoft.com/office/drawing/2014/main" id="{6EE9950B-2E11-47E8-A70E-654A0376F71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E0F46732-360C-400A-BCD8-30F9E9884440}"/>
              </a:ext>
            </a:extLst>
          </p:cNvPr>
          <p:cNvSpPr/>
          <p:nvPr userDrawn="1"/>
        </p:nvSpPr>
        <p:spPr>
          <a:xfrm>
            <a:off x="2473325" y="4838700"/>
            <a:ext cx="5715000" cy="955675"/>
          </a:xfrm>
          <a:prstGeom prst="rect">
            <a:avLst/>
          </a:prstGeom>
          <a:solidFill>
            <a:schemeClr val="accent3">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2" name="Text Placeholder 3"/>
          <p:cNvSpPr>
            <a:spLocks noGrp="1"/>
          </p:cNvSpPr>
          <p:nvPr>
            <p:ph type="body" sz="quarter" idx="10"/>
          </p:nvPr>
        </p:nvSpPr>
        <p:spPr>
          <a:xfrm>
            <a:off x="884817" y="219191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3204883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7_Title Slide">
    <p:bg>
      <p:bgPr>
        <a:solidFill>
          <a:schemeClr val="accent1"/>
        </a:solidFill>
        <a:effectLst/>
      </p:bgPr>
    </p:bg>
    <p:spTree>
      <p:nvGrpSpPr>
        <p:cNvPr id="1" name=""/>
        <p:cNvGrpSpPr/>
        <p:nvPr/>
      </p:nvGrpSpPr>
      <p:grpSpPr>
        <a:xfrm>
          <a:off x="0" y="0"/>
          <a:ext cx="0" cy="0"/>
          <a:chOff x="0" y="0"/>
          <a:chExt cx="0" cy="0"/>
        </a:xfrm>
      </p:grpSpPr>
      <p:pic>
        <p:nvPicPr>
          <p:cNvPr id="3" name="Picture 14">
            <a:extLst>
              <a:ext uri="{FF2B5EF4-FFF2-40B4-BE49-F238E27FC236}">
                <a16:creationId xmlns:a16="http://schemas.microsoft.com/office/drawing/2014/main" id="{5E581C57-84E7-44DE-8059-2BC02B5652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61838" cy="6950075"/>
          </a:xfrm>
          <a:prstGeom prst="rect">
            <a:avLst/>
          </a:prstGeom>
          <a:noFill/>
          <a:ln>
            <a:noFill/>
          </a:ln>
          <a:extLst>
            <a:ext uri="{909E8E84-426E-40DD-AFC4-6F175D3DCCD1}">
              <a14:hiddenFill xmlns:a14="http://schemas.microsoft.com/office/drawing/2010/main">
                <a:solidFill>
                  <a:srgbClr val="FFFFFF">
                    <a:alpha val="56862"/>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20">
            <a:extLst>
              <a:ext uri="{FF2B5EF4-FFF2-40B4-BE49-F238E27FC236}">
                <a16:creationId xmlns:a16="http://schemas.microsoft.com/office/drawing/2014/main" id="{92152423-4E66-421D-8D42-F851512FB599}"/>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2024 Arm Limited </a:t>
            </a:r>
          </a:p>
        </p:txBody>
      </p:sp>
      <p:pic>
        <p:nvPicPr>
          <p:cNvPr id="5" name="Picture 9">
            <a:extLst>
              <a:ext uri="{FF2B5EF4-FFF2-40B4-BE49-F238E27FC236}">
                <a16:creationId xmlns:a16="http://schemas.microsoft.com/office/drawing/2014/main" id="{68A167BD-2209-47A0-A85D-8C9A549C4D4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80685B97-5328-4BD9-8E71-18F45D97C243}"/>
              </a:ext>
            </a:extLst>
          </p:cNvPr>
          <p:cNvSpPr/>
          <p:nvPr userDrawn="1"/>
        </p:nvSpPr>
        <p:spPr>
          <a:xfrm>
            <a:off x="2473325" y="4838700"/>
            <a:ext cx="5715000" cy="955675"/>
          </a:xfrm>
          <a:prstGeom prst="rect">
            <a:avLst/>
          </a:prstGeom>
          <a:solidFill>
            <a:srgbClr val="FFC600">
              <a:alpha val="78039"/>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7" name="Rectangle 6">
            <a:extLst>
              <a:ext uri="{FF2B5EF4-FFF2-40B4-BE49-F238E27FC236}">
                <a16:creationId xmlns:a16="http://schemas.microsoft.com/office/drawing/2014/main" id="{06961C66-0202-411F-8BB2-4D63F421739C}"/>
              </a:ext>
            </a:extLst>
          </p:cNvPr>
          <p:cNvSpPr/>
          <p:nvPr userDrawn="1"/>
        </p:nvSpPr>
        <p:spPr>
          <a:xfrm rot="5400000">
            <a:off x="8189913" y="1981200"/>
            <a:ext cx="2865438" cy="2859087"/>
          </a:xfrm>
          <a:prstGeom prst="rect">
            <a:avLst/>
          </a:prstGeom>
          <a:solidFill>
            <a:schemeClr val="accent4">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8" name="Rectangle 7">
            <a:extLst>
              <a:ext uri="{FF2B5EF4-FFF2-40B4-BE49-F238E27FC236}">
                <a16:creationId xmlns:a16="http://schemas.microsoft.com/office/drawing/2014/main" id="{4B481E86-DD33-48E9-B034-4769BB1BF208}"/>
              </a:ext>
            </a:extLst>
          </p:cNvPr>
          <p:cNvSpPr/>
          <p:nvPr userDrawn="1"/>
        </p:nvSpPr>
        <p:spPr>
          <a:xfrm rot="5400000">
            <a:off x="7238207" y="70644"/>
            <a:ext cx="952500" cy="2865437"/>
          </a:xfrm>
          <a:prstGeom prst="rect">
            <a:avLst/>
          </a:prstGeom>
          <a:solidFill>
            <a:srgbClr val="FF6900">
              <a:alpha val="7607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srgbClr val="FFFFFF"/>
              </a:solidFill>
              <a:ea typeface="ＭＳ Ｐゴシック" charset="0"/>
              <a:cs typeface="ＭＳ Ｐゴシック" charset="0"/>
            </a:endParaRPr>
          </a:p>
        </p:txBody>
      </p:sp>
      <p:sp>
        <p:nvSpPr>
          <p:cNvPr id="11" name="Text Placeholder 3"/>
          <p:cNvSpPr>
            <a:spLocks noGrp="1"/>
          </p:cNvSpPr>
          <p:nvPr>
            <p:ph type="body" sz="quarter" idx="10"/>
          </p:nvPr>
        </p:nvSpPr>
        <p:spPr>
          <a:xfrm>
            <a:off x="697312" y="2093521"/>
            <a:ext cx="6831012" cy="794604"/>
          </a:xfrm>
        </p:spPr>
        <p:txBody>
          <a:bodyPr/>
          <a:lstStyle>
            <a:lvl1pPr marL="0" indent="0" algn="l">
              <a:buNone/>
              <a:defRPr sz="5400" b="1">
                <a:solidFill>
                  <a:schemeClr val="bg1"/>
                </a:solidFill>
              </a:defRPr>
            </a:lvl1pPr>
          </a:lstStyle>
          <a:p>
            <a:pPr lvl="0"/>
            <a:r>
              <a:rPr lang="en-US"/>
              <a:t>Edit Master text styles</a:t>
            </a:r>
          </a:p>
        </p:txBody>
      </p:sp>
    </p:spTree>
    <p:extLst>
      <p:ext uri="{BB962C8B-B14F-4D97-AF65-F5344CB8AC3E}">
        <p14:creationId xmlns:p14="http://schemas.microsoft.com/office/powerpoint/2010/main" val="2109158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2"/>
          <p:cNvSpPr>
            <a:spLocks noGrp="1"/>
          </p:cNvSpPr>
          <p:nvPr>
            <p:ph idx="1"/>
          </p:nvPr>
        </p:nvSpPr>
        <p:spPr>
          <a:xfrm>
            <a:off x="492125" y="1479468"/>
            <a:ext cx="11180762" cy="4086225"/>
          </a:xfrm>
          <a:prstGeom prst="rect">
            <a:avLst/>
          </a:prstGeo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64211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6CEC54C1-485F-40D2-B042-79849DAFE15A}"/>
              </a:ext>
            </a:extLst>
          </p:cNvPr>
          <p:cNvCxnSpPr>
            <a:cxnSpLocks/>
          </p:cNvCxnSpPr>
          <p:nvPr userDrawn="1"/>
        </p:nvCxnSpPr>
        <p:spPr>
          <a:xfrm>
            <a:off x="6096000" y="1662113"/>
            <a:ext cx="0" cy="447357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spcAft>
                <a:spcPts val="0"/>
              </a:spcAft>
              <a:buNone/>
              <a:defRPr sz="2400">
                <a:solidFill>
                  <a:schemeClr val="tx2">
                    <a:lumMod val="60000"/>
                    <a:lumOff val="40000"/>
                  </a:schemeClr>
                </a:solidFill>
              </a:defRPr>
            </a:lvl1pPr>
          </a:lstStyle>
          <a:p>
            <a:pPr lvl="0"/>
            <a:r>
              <a:rPr lang="en-US"/>
              <a:t>Edit Master text styles</a:t>
            </a:r>
          </a:p>
        </p:txBody>
      </p:sp>
      <p:sp>
        <p:nvSpPr>
          <p:cNvPr id="9" name="Text Placeholder 131"/>
          <p:cNvSpPr>
            <a:spLocks noGrp="1"/>
          </p:cNvSpPr>
          <p:nvPr>
            <p:ph type="body" sz="quarter" idx="16"/>
          </p:nvPr>
        </p:nvSpPr>
        <p:spPr>
          <a:xfrm>
            <a:off x="492125"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4" name="Content Placeholder 3"/>
          <p:cNvSpPr>
            <a:spLocks noGrp="1"/>
          </p:cNvSpPr>
          <p:nvPr>
            <p:ph sz="quarter" idx="19"/>
          </p:nvPr>
        </p:nvSpPr>
        <p:spPr>
          <a:xfrm>
            <a:off x="492125" y="2361952"/>
            <a:ext cx="5332941" cy="3605743"/>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31"/>
          <p:cNvSpPr>
            <a:spLocks noGrp="1"/>
          </p:cNvSpPr>
          <p:nvPr>
            <p:ph type="body" sz="quarter" idx="18"/>
          </p:nvPr>
        </p:nvSpPr>
        <p:spPr>
          <a:xfrm>
            <a:off x="6341534" y="1620481"/>
            <a:ext cx="5332942"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8" name="Content Placeholder 7"/>
          <p:cNvSpPr>
            <a:spLocks noGrp="1"/>
          </p:cNvSpPr>
          <p:nvPr>
            <p:ph sz="quarter" idx="20"/>
          </p:nvPr>
        </p:nvSpPr>
        <p:spPr>
          <a:xfrm>
            <a:off x="6341534" y="2362483"/>
            <a:ext cx="5331354" cy="3605212"/>
          </a:xfrm>
        </p:spPr>
        <p:txBody>
          <a:bodyPr/>
          <a:lstStyle>
            <a:lvl1pPr marL="0" indent="0">
              <a:buNone/>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59526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ECD41E8-8F7A-4802-BD8A-6CACEC985F17}"/>
              </a:ext>
            </a:extLst>
          </p:cNvPr>
          <p:cNvGrpSpPr>
            <a:grpSpLocks/>
          </p:cNvGrpSpPr>
          <p:nvPr userDrawn="1"/>
        </p:nvGrpSpPr>
        <p:grpSpPr bwMode="auto">
          <a:xfrm>
            <a:off x="4148138" y="1754188"/>
            <a:ext cx="3903662" cy="4305300"/>
            <a:chOff x="3706307" y="1883391"/>
            <a:chExt cx="3803176" cy="4472959"/>
          </a:xfrm>
        </p:grpSpPr>
        <p:cxnSp>
          <p:nvCxnSpPr>
            <p:cNvPr id="11" name="Straight Connector 10">
              <a:extLst>
                <a:ext uri="{FF2B5EF4-FFF2-40B4-BE49-F238E27FC236}">
                  <a16:creationId xmlns:a16="http://schemas.microsoft.com/office/drawing/2014/main" id="{AC4DA0A3-5394-4DD3-8DBF-449419EB9BEC}"/>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F2575E8-95EA-447D-9561-5F51443D866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2373786"/>
            <a:ext cx="3359281" cy="3605945"/>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p:txBody>
      </p:sp>
      <p:sp>
        <p:nvSpPr>
          <p:cNvPr id="100" name="Text Placeholder 131"/>
          <p:cNvSpPr>
            <a:spLocks noGrp="1"/>
          </p:cNvSpPr>
          <p:nvPr>
            <p:ph type="body" sz="quarter" idx="16"/>
          </p:nvPr>
        </p:nvSpPr>
        <p:spPr>
          <a:xfrm>
            <a:off x="492125"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3" name="Text Placeholder 2"/>
          <p:cNvSpPr>
            <a:spLocks noGrp="1"/>
          </p:cNvSpPr>
          <p:nvPr>
            <p:ph idx="17"/>
          </p:nvPr>
        </p:nvSpPr>
        <p:spPr>
          <a:xfrm>
            <a:off x="4444207" y="2373786"/>
            <a:ext cx="3359281" cy="3605945"/>
          </a:xfrm>
          <a:prstGeom prst="rect">
            <a:avLst/>
          </a:prstGeom>
        </p:spPr>
        <p:txBody>
          <a:bodyPr/>
          <a:lstStyle>
            <a:lvl1pPr marL="0" indent="0">
              <a:buNone/>
              <a:defRPr/>
            </a:lvl1pPr>
          </a:lstStyle>
          <a:p>
            <a:pPr lvl="0"/>
            <a:r>
              <a:rPr lang="en-US"/>
              <a:t>Edit Master text styles</a:t>
            </a:r>
          </a:p>
          <a:p>
            <a:pPr lvl="1"/>
            <a:r>
              <a:rPr lang="en-US"/>
              <a:t>Second level</a:t>
            </a:r>
          </a:p>
        </p:txBody>
      </p:sp>
      <p:sp>
        <p:nvSpPr>
          <p:cNvPr id="14" name="Text Placeholder 2"/>
          <p:cNvSpPr>
            <a:spLocks noGrp="1"/>
          </p:cNvSpPr>
          <p:nvPr>
            <p:ph idx="18"/>
          </p:nvPr>
        </p:nvSpPr>
        <p:spPr>
          <a:xfrm>
            <a:off x="8300113" y="2373786"/>
            <a:ext cx="3359281" cy="3605945"/>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
        <p:nvSpPr>
          <p:cNvPr id="15" name="Text Placeholder 131"/>
          <p:cNvSpPr>
            <a:spLocks noGrp="1"/>
          </p:cNvSpPr>
          <p:nvPr>
            <p:ph type="body" sz="quarter" idx="19"/>
          </p:nvPr>
        </p:nvSpPr>
        <p:spPr>
          <a:xfrm>
            <a:off x="4419997"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6" name="Text Placeholder 131"/>
          <p:cNvSpPr>
            <a:spLocks noGrp="1"/>
          </p:cNvSpPr>
          <p:nvPr>
            <p:ph type="body" sz="quarter" idx="20"/>
          </p:nvPr>
        </p:nvSpPr>
        <p:spPr>
          <a:xfrm>
            <a:off x="8299449" y="1611050"/>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Tree>
    <p:extLst>
      <p:ext uri="{BB962C8B-B14F-4D97-AF65-F5344CB8AC3E}">
        <p14:creationId xmlns:p14="http://schemas.microsoft.com/office/powerpoint/2010/main" val="2949384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1F5E88F4-34BF-4FB5-900D-00FBACE9F35D}"/>
              </a:ext>
            </a:extLst>
          </p:cNvPr>
          <p:cNvCxnSpPr>
            <a:cxnSpLocks/>
          </p:cNvCxnSpPr>
          <p:nvPr userDrawn="1"/>
        </p:nvCxnSpPr>
        <p:spPr>
          <a:xfrm>
            <a:off x="3233738" y="16319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dirty="0">
                <a:solidFill>
                  <a:schemeClr val="tx2">
                    <a:lumMod val="60000"/>
                    <a:lumOff val="40000"/>
                  </a:schemeClr>
                </a:solidFill>
              </a:defRPr>
            </a:lvl1pPr>
          </a:lstStyle>
          <a:p>
            <a:pPr lvl="0"/>
            <a:r>
              <a:rPr lang="en-US"/>
              <a:t>Edit Master text styles</a:t>
            </a:r>
          </a:p>
        </p:txBody>
      </p:sp>
      <p:sp>
        <p:nvSpPr>
          <p:cNvPr id="47" name="Text Placeholder 2"/>
          <p:cNvSpPr>
            <a:spLocks noGrp="1"/>
          </p:cNvSpPr>
          <p:nvPr>
            <p:ph idx="14"/>
          </p:nvPr>
        </p:nvSpPr>
        <p:spPr>
          <a:xfrm>
            <a:off x="3369738" y="1631112"/>
            <a:ext cx="8303150"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p:cNvSpPr>
            <a:spLocks noGrp="1"/>
          </p:cNvSpPr>
          <p:nvPr>
            <p:ph idx="1"/>
          </p:nvPr>
        </p:nvSpPr>
        <p:spPr>
          <a:xfrm>
            <a:off x="492789" y="1631112"/>
            <a:ext cx="2606011" cy="4086426"/>
          </a:xfrm>
          <a:prstGeom prst="rect">
            <a:avLst/>
          </a:prstGeo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671634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CCBF85B-6B38-418B-B229-63FD770EDEA7}"/>
              </a:ext>
            </a:extLst>
          </p:cNvPr>
          <p:cNvCxnSpPr>
            <a:cxnSpLocks/>
          </p:cNvCxnSpPr>
          <p:nvPr userDrawn="1"/>
        </p:nvCxnSpPr>
        <p:spPr>
          <a:xfrm>
            <a:off x="8932863" y="1746250"/>
            <a:ext cx="0" cy="4086225"/>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4" name="Content Placeholder 3"/>
          <p:cNvSpPr>
            <a:spLocks noGrp="1"/>
          </p:cNvSpPr>
          <p:nvPr>
            <p:ph sz="quarter" idx="14"/>
          </p:nvPr>
        </p:nvSpPr>
        <p:spPr>
          <a:xfrm>
            <a:off x="492125" y="1746560"/>
            <a:ext cx="8305669" cy="4086428"/>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15"/>
          </p:nvPr>
        </p:nvSpPr>
        <p:spPr>
          <a:xfrm>
            <a:off x="9037638" y="1746560"/>
            <a:ext cx="2635250" cy="4086428"/>
          </a:xfrm>
        </p:spPr>
        <p:txBody>
          <a:bodyPr/>
          <a:lstStyle>
            <a:lvl1pPr marL="0" indent="0">
              <a:buNone/>
              <a:defRPr/>
            </a:lvl1pPr>
            <a:lvl2pPr>
              <a:defRPr>
                <a:solidFill>
                  <a:srgbClr val="383838"/>
                </a:solidFill>
              </a:defRPr>
            </a:lvl2pPr>
          </a:lstStyle>
          <a:p>
            <a:pPr lvl="0"/>
            <a:r>
              <a:rPr lang="en-US"/>
              <a:t>Edit Master text styles</a:t>
            </a:r>
          </a:p>
          <a:p>
            <a:pPr lvl="1"/>
            <a:r>
              <a:rPr lang="en-US"/>
              <a:t>Second level</a:t>
            </a:r>
          </a:p>
        </p:txBody>
      </p:sp>
    </p:spTree>
    <p:extLst>
      <p:ext uri="{BB962C8B-B14F-4D97-AF65-F5344CB8AC3E}">
        <p14:creationId xmlns:p14="http://schemas.microsoft.com/office/powerpoint/2010/main" val="1811968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grpSp>
        <p:nvGrpSpPr>
          <p:cNvPr id="10" name="Group 6">
            <a:extLst>
              <a:ext uri="{FF2B5EF4-FFF2-40B4-BE49-F238E27FC236}">
                <a16:creationId xmlns:a16="http://schemas.microsoft.com/office/drawing/2014/main" id="{114A2708-7A8B-4D20-8225-CD1C8C761ACF}"/>
              </a:ext>
            </a:extLst>
          </p:cNvPr>
          <p:cNvGrpSpPr>
            <a:grpSpLocks/>
          </p:cNvGrpSpPr>
          <p:nvPr userDrawn="1"/>
        </p:nvGrpSpPr>
        <p:grpSpPr bwMode="auto">
          <a:xfrm>
            <a:off x="4148138" y="1625600"/>
            <a:ext cx="3903662" cy="4305300"/>
            <a:chOff x="3706307" y="1883391"/>
            <a:chExt cx="3803176" cy="4472959"/>
          </a:xfrm>
        </p:grpSpPr>
        <p:cxnSp>
          <p:nvCxnSpPr>
            <p:cNvPr id="11" name="Straight Connector 10">
              <a:extLst>
                <a:ext uri="{FF2B5EF4-FFF2-40B4-BE49-F238E27FC236}">
                  <a16:creationId xmlns:a16="http://schemas.microsoft.com/office/drawing/2014/main" id="{EB25F9CF-0B60-43CC-9056-F30880901E51}"/>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EA81E11-C818-456E-B39B-0D107A2FB43F}"/>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18" name="Text Placeholder 131"/>
          <p:cNvSpPr>
            <a:spLocks noGrp="1"/>
          </p:cNvSpPr>
          <p:nvPr>
            <p:ph type="body" sz="quarter" idx="16"/>
          </p:nvPr>
        </p:nvSpPr>
        <p:spPr>
          <a:xfrm>
            <a:off x="492125" y="1562924"/>
            <a:ext cx="3359945" cy="560696"/>
          </a:xfrm>
        </p:spPr>
        <p:txBody>
          <a:bodyPr anchor="b" anchorCtr="0"/>
          <a:lstStyle>
            <a:lvl1pPr marL="0" marR="0" indent="0" algn="l" defTabSz="914400" rtl="0" eaLnBrk="1" fontAlgn="auto" latinLnBrk="0" hangingPunct="1">
              <a:lnSpc>
                <a:spcPct val="90000"/>
              </a:lnSpc>
              <a:spcBef>
                <a:spcPts val="0"/>
              </a:spcBef>
              <a:spcAft>
                <a:spcPts val="600"/>
              </a:spcAft>
              <a:buClrTx/>
              <a:buSzTx/>
              <a:buFont typeface="Arial" panose="020B0604020202020204" pitchFamily="34" charset="0"/>
              <a:buNone/>
              <a:tabLst/>
              <a:defRPr b="1">
                <a:solidFill>
                  <a:schemeClr val="accent1"/>
                </a:solidFill>
              </a:defRPr>
            </a:lvl1pPr>
          </a:lstStyle>
          <a:p>
            <a:pPr lvl="0"/>
            <a:r>
              <a:rPr lang="en-US"/>
              <a:t>Edit Master text styles</a:t>
            </a:r>
          </a:p>
        </p:txBody>
      </p:sp>
      <p:sp>
        <p:nvSpPr>
          <p:cNvPr id="19" name="Text Placeholder 131"/>
          <p:cNvSpPr>
            <a:spLocks noGrp="1"/>
          </p:cNvSpPr>
          <p:nvPr>
            <p:ph type="body" sz="quarter" idx="17"/>
          </p:nvPr>
        </p:nvSpPr>
        <p:spPr>
          <a:xfrm>
            <a:off x="4416027"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20" name="Text Placeholder 131"/>
          <p:cNvSpPr>
            <a:spLocks noGrp="1"/>
          </p:cNvSpPr>
          <p:nvPr>
            <p:ph type="body" sz="quarter" idx="18"/>
          </p:nvPr>
        </p:nvSpPr>
        <p:spPr>
          <a:xfrm>
            <a:off x="8306264" y="1569937"/>
            <a:ext cx="3359945" cy="560696"/>
          </a:xfrm>
        </p:spPr>
        <p:txBody>
          <a:bodyPr anchor="b" anchorCtr="0"/>
          <a:lstStyle>
            <a:lvl1pPr marL="0" indent="0">
              <a:buNone/>
              <a:defRPr lang="en-US" sz="2400" b="1" kern="1200" dirty="0" smtClean="0">
                <a:solidFill>
                  <a:schemeClr val="accent1"/>
                </a:solidFill>
                <a:latin typeface="+mn-lt"/>
                <a:ea typeface="ＭＳ Ｐゴシック" charset="0"/>
                <a:cs typeface="ＭＳ Ｐゴシック" charset="0"/>
              </a:defRPr>
            </a:lvl1pPr>
          </a:lstStyle>
          <a:p>
            <a:pPr lvl="0"/>
            <a:r>
              <a:rPr lang="en-US"/>
              <a:t>Edit Master text styles</a:t>
            </a:r>
          </a:p>
        </p:txBody>
      </p:sp>
      <p:sp>
        <p:nvSpPr>
          <p:cNvPr id="4" name="Content Placeholder 3"/>
          <p:cNvSpPr>
            <a:spLocks noGrp="1"/>
          </p:cNvSpPr>
          <p:nvPr>
            <p:ph sz="quarter" idx="19"/>
          </p:nvPr>
        </p:nvSpPr>
        <p:spPr>
          <a:xfrm>
            <a:off x="492125" y="2323016"/>
            <a:ext cx="3359945" cy="3608590"/>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20"/>
          </p:nvPr>
        </p:nvSpPr>
        <p:spPr>
          <a:xfrm>
            <a:off x="4416027" y="2323016"/>
            <a:ext cx="3359548"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9" name="Content Placeholder 8"/>
          <p:cNvSpPr>
            <a:spLocks noGrp="1"/>
          </p:cNvSpPr>
          <p:nvPr>
            <p:ph sz="quarter" idx="21"/>
          </p:nvPr>
        </p:nvSpPr>
        <p:spPr>
          <a:xfrm>
            <a:off x="8306264" y="2323016"/>
            <a:ext cx="3360274" cy="3608387"/>
          </a:xfr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84970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6" name="Picture Placeholder 5"/>
          <p:cNvSpPr>
            <a:spLocks noGrp="1"/>
          </p:cNvSpPr>
          <p:nvPr>
            <p:ph type="pic" sz="quarter" idx="17"/>
          </p:nvPr>
        </p:nvSpPr>
        <p:spPr>
          <a:xfrm>
            <a:off x="3354388" y="1671610"/>
            <a:ext cx="2606675" cy="1953683"/>
          </a:xfrm>
        </p:spPr>
        <p:txBody>
          <a:bodyPr/>
          <a:lstStyle>
            <a:lvl1pPr marL="0" indent="0">
              <a:buNone/>
              <a:defRPr/>
            </a:lvl1pPr>
          </a:lstStyle>
          <a:p>
            <a:pPr lvl="0"/>
            <a:r>
              <a:rPr lang="en-US" noProof="0"/>
              <a:t>Click icon to add picture</a:t>
            </a:r>
            <a:endParaRPr lang="en-US" noProof="0" dirty="0"/>
          </a:p>
        </p:txBody>
      </p:sp>
      <p:sp>
        <p:nvSpPr>
          <p:cNvPr id="104" name="Picture Placeholder 5"/>
          <p:cNvSpPr>
            <a:spLocks noGrp="1"/>
          </p:cNvSpPr>
          <p:nvPr>
            <p:ph type="pic" sz="quarter" idx="18"/>
          </p:nvPr>
        </p:nvSpPr>
        <p:spPr>
          <a:xfrm>
            <a:off x="3354388" y="3809037"/>
            <a:ext cx="2606675" cy="1953683"/>
          </a:xfrm>
        </p:spPr>
        <p:txBody>
          <a:bodyPr/>
          <a:lstStyle>
            <a:lvl1pPr marL="0" indent="0">
              <a:buNone/>
              <a:defRPr/>
            </a:lvl1pPr>
          </a:lstStyle>
          <a:p>
            <a:pPr lvl="0"/>
            <a:r>
              <a:rPr lang="en-US" noProof="0"/>
              <a:t>Click icon to add picture</a:t>
            </a:r>
            <a:endParaRPr lang="en-US" noProof="0" dirty="0"/>
          </a:p>
        </p:txBody>
      </p:sp>
      <p:sp>
        <p:nvSpPr>
          <p:cNvPr id="105" name="Picture Placeholder 5"/>
          <p:cNvSpPr>
            <a:spLocks noGrp="1"/>
          </p:cNvSpPr>
          <p:nvPr>
            <p:ph type="pic" sz="quarter" idx="19"/>
          </p:nvPr>
        </p:nvSpPr>
        <p:spPr>
          <a:xfrm>
            <a:off x="9066213" y="1671610"/>
            <a:ext cx="2606675" cy="1953683"/>
          </a:xfrm>
        </p:spPr>
        <p:txBody>
          <a:bodyPr/>
          <a:lstStyle>
            <a:lvl1pPr marL="0" indent="0">
              <a:buNone/>
              <a:defRPr/>
            </a:lvl1pPr>
          </a:lstStyle>
          <a:p>
            <a:pPr lvl="0"/>
            <a:r>
              <a:rPr lang="en-US" noProof="0"/>
              <a:t>Click icon to add picture</a:t>
            </a:r>
            <a:endParaRPr lang="en-US" noProof="0" dirty="0"/>
          </a:p>
        </p:txBody>
      </p:sp>
      <p:sp>
        <p:nvSpPr>
          <p:cNvPr id="106" name="Picture Placeholder 5"/>
          <p:cNvSpPr>
            <a:spLocks noGrp="1"/>
          </p:cNvSpPr>
          <p:nvPr>
            <p:ph type="pic" sz="quarter" idx="20"/>
          </p:nvPr>
        </p:nvSpPr>
        <p:spPr>
          <a:xfrm>
            <a:off x="9066213" y="3809037"/>
            <a:ext cx="2606675" cy="1953683"/>
          </a:xfrm>
        </p:spPr>
        <p:txBody>
          <a:bodyPr/>
          <a:lstStyle>
            <a:lvl1pPr marL="0" indent="0">
              <a:buNone/>
              <a:defRPr/>
            </a:lvl1pPr>
          </a:lstStyle>
          <a:p>
            <a:pPr lvl="0"/>
            <a:r>
              <a:rPr lang="en-US" noProof="0"/>
              <a:t>Click icon to add picture</a:t>
            </a:r>
            <a:endParaRPr lang="en-US" noProof="0" dirty="0"/>
          </a:p>
        </p:txBody>
      </p:sp>
      <p:sp>
        <p:nvSpPr>
          <p:cNvPr id="14" name="Text Placeholder 7"/>
          <p:cNvSpPr>
            <a:spLocks noGrp="1"/>
          </p:cNvSpPr>
          <p:nvPr>
            <p:ph type="body" sz="quarter" idx="21"/>
          </p:nvPr>
        </p:nvSpPr>
        <p:spPr>
          <a:xfrm>
            <a:off x="492125" y="1671610"/>
            <a:ext cx="2606675" cy="4086225"/>
          </a:xfr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7"/>
          <p:cNvSpPr>
            <a:spLocks noGrp="1"/>
          </p:cNvSpPr>
          <p:nvPr>
            <p:ph type="body" sz="quarter" idx="22"/>
          </p:nvPr>
        </p:nvSpPr>
        <p:spPr>
          <a:xfrm>
            <a:off x="6220216" y="1671610"/>
            <a:ext cx="2606675" cy="4086225"/>
          </a:xfrm>
        </p:spPr>
        <p:txBody>
          <a:bodyPr/>
          <a:lstStyle>
            <a:lvl1pPr marL="0" indent="0">
              <a:buNone/>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7667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789" y="1671612"/>
            <a:ext cx="5467744" cy="4086426"/>
          </a:xfrm>
          <a:prstGeom prst="rect">
            <a:avLst/>
          </a:prstGeom>
        </p:spPr>
        <p:txBody>
          <a:bodyPr/>
          <a:lstStyle>
            <a:lvl1pPr marL="0" indent="0">
              <a:buNone/>
              <a:defRPr/>
            </a:lvl1pPr>
            <a:lvl2pPr>
              <a:defRPr>
                <a:solidFill>
                  <a:srgbClr val="383838"/>
                </a:solidFill>
              </a:defRPr>
            </a:lvl2pPr>
            <a:lvl3pPr>
              <a:defRPr>
                <a:solidFill>
                  <a:srgbClr val="383838"/>
                </a:solidFill>
              </a:defRPr>
            </a:lvl3pPr>
          </a:lstStyle>
          <a:p>
            <a:pPr lvl="0"/>
            <a:r>
              <a:rPr lang="en-US"/>
              <a:t>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11237" y="1671610"/>
            <a:ext cx="5461651" cy="4086427"/>
          </a:xfrm>
        </p:spPr>
        <p:txBody>
          <a:bodyPr/>
          <a:lstStyle>
            <a:lvl1pPr marL="0" indent="0">
              <a:buNone/>
              <a:defRPr/>
            </a:lvl1pPr>
          </a:lstStyle>
          <a:p>
            <a:pPr lvl="0"/>
            <a:r>
              <a:rPr lang="en-US" noProof="0"/>
              <a:t>Click icon to add picture</a:t>
            </a:r>
            <a:endParaRPr lang="en-US" noProof="0" dirty="0"/>
          </a:p>
        </p:txBody>
      </p:sp>
    </p:spTree>
    <p:extLst>
      <p:ext uri="{BB962C8B-B14F-4D97-AF65-F5344CB8AC3E}">
        <p14:creationId xmlns:p14="http://schemas.microsoft.com/office/powerpoint/2010/main" val="39170604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n-lt"/>
              </a:defRPr>
            </a:lvl1pPr>
          </a:lstStyle>
          <a:p>
            <a:r>
              <a:rPr lang="en-US"/>
              <a:t>Click to edit Master title style</a:t>
            </a:r>
            <a:endParaRPr lang="en-US" dirty="0"/>
          </a:p>
        </p:txBody>
      </p:sp>
      <p:sp>
        <p:nvSpPr>
          <p:cNvPr id="10" name="Table Placeholder 3"/>
          <p:cNvSpPr>
            <a:spLocks noGrp="1"/>
          </p:cNvSpPr>
          <p:nvPr>
            <p:ph type="tbl" sz="quarter" idx="13"/>
          </p:nvPr>
        </p:nvSpPr>
        <p:spPr>
          <a:xfrm>
            <a:off x="492789" y="1536022"/>
            <a:ext cx="11180867" cy="4087104"/>
          </a:xfrm>
        </p:spPr>
        <p:txBody>
          <a:bodyPr/>
          <a:lstStyle>
            <a:lvl1pPr marL="0" indent="0">
              <a:buNone/>
              <a:defRPr/>
            </a:lvl1pPr>
          </a:lstStyle>
          <a:p>
            <a:pPr lvl="0"/>
            <a:r>
              <a:rPr lang="en-US" noProof="0"/>
              <a:t>Click icon to add table</a:t>
            </a:r>
            <a:endParaRPr lang="en-US" noProof="0" dirty="0"/>
          </a:p>
        </p:txBody>
      </p:sp>
    </p:spTree>
    <p:extLst>
      <p:ext uri="{BB962C8B-B14F-4D97-AF65-F5344CB8AC3E}">
        <p14:creationId xmlns:p14="http://schemas.microsoft.com/office/powerpoint/2010/main" val="1677621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4"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tx2">
                    <a:lumMod val="60000"/>
                    <a:lumOff val="40000"/>
                  </a:schemeClr>
                </a:solidFill>
              </a:defRPr>
            </a:lvl1pPr>
          </a:lstStyle>
          <a:p>
            <a:pPr lvl="0"/>
            <a:r>
              <a:rPr lang="en-US"/>
              <a:t>Edit Master text styles</a:t>
            </a:r>
          </a:p>
        </p:txBody>
      </p:sp>
      <p:sp>
        <p:nvSpPr>
          <p:cNvPr id="7" name="Text Placeholder 2"/>
          <p:cNvSpPr>
            <a:spLocks noGrp="1"/>
          </p:cNvSpPr>
          <p:nvPr>
            <p:ph idx="1"/>
          </p:nvPr>
        </p:nvSpPr>
        <p:spPr>
          <a:xfrm>
            <a:off x="492125" y="1745884"/>
            <a:ext cx="11180867" cy="4087104"/>
          </a:xfrm>
          <a:prstGeom prst="rect">
            <a:avLst/>
          </a:prstGeom>
        </p:spPr>
        <p:txBody>
          <a:bodyPr/>
          <a:lstStyle>
            <a:lvl1pPr marL="0" indent="0">
              <a:buNone/>
              <a:defRPr>
                <a:solidFill>
                  <a:srgbClr val="383838"/>
                </a:solidFill>
              </a:defRPr>
            </a:lvl1pPr>
            <a:lvl2pPr>
              <a:defRPr>
                <a:solidFill>
                  <a:srgbClr val="38383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57317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570007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A2A34492-F104-49D9-B2A8-5887D4BE4189}"/>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70E07034-B01E-4995-A0AB-E9D06DC28C30}"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3" name="Picture 8">
            <a:extLst>
              <a:ext uri="{FF2B5EF4-FFF2-40B4-BE49-F238E27FC236}">
                <a16:creationId xmlns:a16="http://schemas.microsoft.com/office/drawing/2014/main" id="{ECC54FFF-040E-4293-A78C-D12026DB661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274C27F2-5006-428E-B404-DFA19F59A57A}"/>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3D584DE2-3A9D-4119-8B84-79386FA94C59}"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5" name="Rectangle 4">
            <a:extLst>
              <a:ext uri="{FF2B5EF4-FFF2-40B4-BE49-F238E27FC236}">
                <a16:creationId xmlns:a16="http://schemas.microsoft.com/office/drawing/2014/main" id="{45EF4A43-763A-4A78-98FA-A857C8AEB631}"/>
              </a:ext>
            </a:extLst>
          </p:cNvPr>
          <p:cNvSpPr>
            <a:spLocks noChangeArrowheads="1"/>
          </p:cNvSpPr>
          <p:nvPr userDrawn="1"/>
        </p:nvSpPr>
        <p:spPr bwMode="auto">
          <a:xfrm>
            <a:off x="1344613" y="944563"/>
            <a:ext cx="4403725"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defRPr/>
            </a:pPr>
            <a:r>
              <a:rPr lang="en-US" altLang="en-US" sz="3700" dirty="0">
                <a:solidFill>
                  <a:schemeClr val="bg1"/>
                </a:solidFill>
              </a:rPr>
              <a:t>Thank You!</a:t>
            </a:r>
          </a:p>
          <a:p>
            <a:pPr>
              <a:defRPr/>
            </a:pPr>
            <a:r>
              <a:rPr lang="en-US" altLang="en-US" sz="3700" dirty="0" err="1">
                <a:solidFill>
                  <a:schemeClr val="bg1"/>
                </a:solidFill>
              </a:rPr>
              <a:t>Danke</a:t>
            </a:r>
            <a:r>
              <a:rPr lang="en-US" altLang="en-US" sz="3700" dirty="0">
                <a:solidFill>
                  <a:schemeClr val="bg1"/>
                </a:solidFill>
              </a:rPr>
              <a:t>!</a:t>
            </a:r>
          </a:p>
          <a:p>
            <a:pPr>
              <a:defRPr/>
            </a:pPr>
            <a:r>
              <a:rPr lang="en-US" altLang="en-US" sz="3700" dirty="0">
                <a:solidFill>
                  <a:schemeClr val="bg1"/>
                </a:solidFill>
              </a:rPr>
              <a:t>Merci!</a:t>
            </a:r>
          </a:p>
          <a:p>
            <a:pPr>
              <a:defRPr/>
            </a:pPr>
            <a:r>
              <a:rPr lang="en-US" altLang="en-US" sz="3700" dirty="0" err="1">
                <a:solidFill>
                  <a:schemeClr val="bg1"/>
                </a:solidFill>
              </a:rPr>
              <a:t>谢谢</a:t>
            </a:r>
            <a:r>
              <a:rPr lang="en-US" altLang="en-US" sz="3700" dirty="0">
                <a:solidFill>
                  <a:schemeClr val="bg1"/>
                </a:solidFill>
              </a:rPr>
              <a:t>!</a:t>
            </a:r>
          </a:p>
          <a:p>
            <a:pPr>
              <a:defRPr/>
            </a:pPr>
            <a:r>
              <a:rPr lang="en-US" altLang="en-US" sz="3700" dirty="0" err="1">
                <a:solidFill>
                  <a:schemeClr val="bg1"/>
                </a:solidFill>
              </a:rPr>
              <a:t>ありがとう</a:t>
            </a:r>
            <a:r>
              <a:rPr lang="en-US" altLang="en-US" sz="3700" dirty="0">
                <a:solidFill>
                  <a:schemeClr val="bg1"/>
                </a:solidFill>
              </a:rPr>
              <a:t>!</a:t>
            </a:r>
          </a:p>
          <a:p>
            <a:pPr>
              <a:defRPr/>
            </a:pPr>
            <a:r>
              <a:rPr lang="en-US" altLang="en-US" sz="3700" dirty="0">
                <a:solidFill>
                  <a:schemeClr val="bg1"/>
                </a:solidFill>
              </a:rPr>
              <a:t>Gracias!</a:t>
            </a:r>
          </a:p>
          <a:p>
            <a:pPr>
              <a:defRPr/>
            </a:pPr>
            <a:r>
              <a:rPr lang="en-US" altLang="en-US" sz="3700" dirty="0" err="1">
                <a:solidFill>
                  <a:schemeClr val="bg1"/>
                </a:solidFill>
              </a:rPr>
              <a:t>Kiitos</a:t>
            </a:r>
            <a:r>
              <a:rPr lang="en-US" altLang="en-US" sz="3700" dirty="0">
                <a:solidFill>
                  <a:schemeClr val="bg1"/>
                </a:solidFill>
              </a:rPr>
              <a:t>!</a:t>
            </a:r>
          </a:p>
          <a:p>
            <a:pPr>
              <a:defRPr/>
            </a:pPr>
            <a:r>
              <a:rPr lang="ko-KR" altLang="en-US" b="1" dirty="0">
                <a:solidFill>
                  <a:schemeClr val="bg1"/>
                </a:solidFill>
              </a:rPr>
              <a:t>감사합니다</a:t>
            </a:r>
            <a:endParaRPr lang="ko-KR" altLang="en-US" dirty="0">
              <a:solidFill>
                <a:schemeClr val="bg1"/>
              </a:solidFill>
            </a:endParaRPr>
          </a:p>
          <a:p>
            <a:pPr>
              <a:defRPr/>
            </a:pPr>
            <a:r>
              <a:rPr lang="hi-IN" dirty="0">
                <a:solidFill>
                  <a:schemeClr val="bg1"/>
                </a:solidFill>
              </a:rPr>
              <a:t>धन्यवाद</a:t>
            </a:r>
          </a:p>
        </p:txBody>
      </p:sp>
      <p:sp>
        <p:nvSpPr>
          <p:cNvPr id="6" name="Rectangle 5">
            <a:extLst>
              <a:ext uri="{FF2B5EF4-FFF2-40B4-BE49-F238E27FC236}">
                <a16:creationId xmlns:a16="http://schemas.microsoft.com/office/drawing/2014/main" id="{9EE0DEA7-43E8-4E8B-BF3B-ECDD1789EFD8}"/>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7" name="TextBox 20">
            <a:extLst>
              <a:ext uri="{FF2B5EF4-FFF2-40B4-BE49-F238E27FC236}">
                <a16:creationId xmlns:a16="http://schemas.microsoft.com/office/drawing/2014/main" id="{EDCEC421-DC18-4F4D-908C-1BDA875A15E8}"/>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spTree>
    <p:extLst>
      <p:ext uri="{BB962C8B-B14F-4D97-AF65-F5344CB8AC3E}">
        <p14:creationId xmlns:p14="http://schemas.microsoft.com/office/powerpoint/2010/main" val="28983985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sp>
        <p:nvSpPr>
          <p:cNvPr id="2" name="TextBox 26">
            <a:extLst>
              <a:ext uri="{FF2B5EF4-FFF2-40B4-BE49-F238E27FC236}">
                <a16:creationId xmlns:a16="http://schemas.microsoft.com/office/drawing/2014/main" id="{60469B51-4F41-474D-899C-9101B8E89B06}"/>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D3C19EB0-1FB8-4B0E-97A7-851B376C9AFB}"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sp>
        <p:nvSpPr>
          <p:cNvPr id="3" name="TextBox 2">
            <a:extLst>
              <a:ext uri="{FF2B5EF4-FFF2-40B4-BE49-F238E27FC236}">
                <a16:creationId xmlns:a16="http://schemas.microsoft.com/office/drawing/2014/main" id="{310E89F6-8B1D-440B-A606-D6472285A2D4}"/>
              </a:ext>
            </a:extLst>
          </p:cNvPr>
          <p:cNvSpPr txBox="1">
            <a:spLocks noChangeArrowheads="1"/>
          </p:cNvSpPr>
          <p:nvPr userDrawn="1"/>
        </p:nvSpPr>
        <p:spPr bwMode="auto">
          <a:xfrm>
            <a:off x="492125" y="6430963"/>
            <a:ext cx="917575"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94E6D76A-D4FF-448C-95E1-0684FC86836B}" type="slidenum">
              <a:rPr lang="en-US" altLang="en-US" sz="1000" smtClean="0">
                <a:solidFill>
                  <a:schemeClr val="bg1"/>
                </a:solidFill>
              </a:rPr>
              <a:pPr eaLnBrk="1" hangingPunct="1">
                <a:lnSpc>
                  <a:spcPct val="90000"/>
                </a:lnSpc>
                <a:spcAft>
                  <a:spcPts val="600"/>
                </a:spcAft>
                <a:buFont typeface="Arial" charset="0"/>
                <a:buNone/>
                <a:defRPr/>
              </a:pPr>
              <a:t>‹#›</a:t>
            </a:fld>
            <a:endParaRPr lang="en-US" altLang="en-US" sz="1000">
              <a:solidFill>
                <a:schemeClr val="bg1"/>
              </a:solidFill>
            </a:endParaRPr>
          </a:p>
        </p:txBody>
      </p:sp>
      <p:sp>
        <p:nvSpPr>
          <p:cNvPr id="4" name="Rectangle 3">
            <a:extLst>
              <a:ext uri="{FF2B5EF4-FFF2-40B4-BE49-F238E27FC236}">
                <a16:creationId xmlns:a16="http://schemas.microsoft.com/office/drawing/2014/main" id="{5AAB441B-C53F-49CC-9D00-D557A10A485D}"/>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5" name="TextBox 20">
            <a:extLst>
              <a:ext uri="{FF2B5EF4-FFF2-40B4-BE49-F238E27FC236}">
                <a16:creationId xmlns:a16="http://schemas.microsoft.com/office/drawing/2014/main" id="{A67728C3-36B0-449B-A0E3-6FDE16164B47}"/>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chemeClr val="bg1"/>
                </a:solidFill>
              </a:rPr>
              <a:t>© 2025 Arm Limited </a:t>
            </a:r>
          </a:p>
        </p:txBody>
      </p:sp>
      <p:sp>
        <p:nvSpPr>
          <p:cNvPr id="6" name="Rectangle 5">
            <a:extLst>
              <a:ext uri="{FF2B5EF4-FFF2-40B4-BE49-F238E27FC236}">
                <a16:creationId xmlns:a16="http://schemas.microsoft.com/office/drawing/2014/main" id="{0B3A1922-DC94-4C4E-B0EB-A17F59FA8DB3}"/>
              </a:ext>
            </a:extLst>
          </p:cNvPr>
          <p:cNvSpPr>
            <a:spLocks noChangeArrowheads="1"/>
          </p:cNvSpPr>
          <p:nvPr userDrawn="1"/>
        </p:nvSpPr>
        <p:spPr bwMode="auto">
          <a:xfrm>
            <a:off x="728663" y="4800600"/>
            <a:ext cx="54324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defRPr/>
            </a:pPr>
            <a:r>
              <a:rPr lang="en-US" altLang="x-none" sz="1200" dirty="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defRPr/>
            </a:pPr>
            <a:br>
              <a:rPr lang="en-US" altLang="x-none" sz="1200" dirty="0">
                <a:solidFill>
                  <a:schemeClr val="bg1"/>
                </a:solidFill>
              </a:rPr>
            </a:br>
            <a:r>
              <a:rPr lang="en-US" altLang="x-none" sz="1200" dirty="0" err="1">
                <a:solidFill>
                  <a:schemeClr val="bg1"/>
                </a:solidFill>
              </a:rPr>
              <a:t>www.arm.com</a:t>
            </a:r>
            <a:r>
              <a:rPr lang="en-US" altLang="x-none" sz="1200" dirty="0">
                <a:solidFill>
                  <a:schemeClr val="bg1"/>
                </a:solidFill>
              </a:rPr>
              <a:t>/company/policies/trademarks</a:t>
            </a:r>
          </a:p>
        </p:txBody>
      </p:sp>
      <p:pic>
        <p:nvPicPr>
          <p:cNvPr id="7" name="Picture 12">
            <a:extLst>
              <a:ext uri="{FF2B5EF4-FFF2-40B4-BE49-F238E27FC236}">
                <a16:creationId xmlns:a16="http://schemas.microsoft.com/office/drawing/2014/main" id="{4CAEB61F-5C5B-402E-A3C9-0F328A3DB5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569325" y="2768600"/>
            <a:ext cx="1911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7429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ubtitle and Content alterna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71E09E-E80A-4DB6-BC16-53731D379FC7}"/>
              </a:ext>
            </a:extLst>
          </p:cNvPr>
          <p:cNvSpPr/>
          <p:nvPr userDrawn="1"/>
        </p:nvSpPr>
        <p:spPr>
          <a:xfrm>
            <a:off x="0"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sp>
        <p:nvSpPr>
          <p:cNvPr id="6" name="Rectangle 5">
            <a:extLst>
              <a:ext uri="{FF2B5EF4-FFF2-40B4-BE49-F238E27FC236}">
                <a16:creationId xmlns:a16="http://schemas.microsoft.com/office/drawing/2014/main" id="{BA9D7E58-0873-4139-BEC0-EB7B3BB161D2}"/>
              </a:ext>
            </a:extLst>
          </p:cNvPr>
          <p:cNvSpPr/>
          <p:nvPr userDrawn="1"/>
        </p:nvSpPr>
        <p:spPr>
          <a:xfrm>
            <a:off x="-15875" y="0"/>
            <a:ext cx="12192000" cy="59674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pic>
        <p:nvPicPr>
          <p:cNvPr id="9" name="Picture 8">
            <a:extLst>
              <a:ext uri="{FF2B5EF4-FFF2-40B4-BE49-F238E27FC236}">
                <a16:creationId xmlns:a16="http://schemas.microsoft.com/office/drawing/2014/main" id="{4A591610-CC17-4969-8433-050E55D9449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182461" y="5720754"/>
            <a:ext cx="5800089" cy="1137247"/>
          </a:xfrm>
          <a:custGeom>
            <a:avLst/>
            <a:gdLst>
              <a:gd name="connsiteX0" fmla="*/ 1969769 w 5800089"/>
              <a:gd name="connsiteY0" fmla="*/ 0 h 1137247"/>
              <a:gd name="connsiteX1" fmla="*/ 5800089 w 5800089"/>
              <a:gd name="connsiteY1" fmla="*/ 0 h 1137247"/>
              <a:gd name="connsiteX2" fmla="*/ 3830319 w 5800089"/>
              <a:gd name="connsiteY2" fmla="*/ 1137247 h 1137247"/>
              <a:gd name="connsiteX3" fmla="*/ 0 w 5800089"/>
              <a:gd name="connsiteY3" fmla="*/ 1137247 h 1137247"/>
            </a:gdLst>
            <a:ahLst/>
            <a:cxnLst>
              <a:cxn ang="0">
                <a:pos x="connsiteX0" y="connsiteY0"/>
              </a:cxn>
              <a:cxn ang="0">
                <a:pos x="connsiteX1" y="connsiteY1"/>
              </a:cxn>
              <a:cxn ang="0">
                <a:pos x="connsiteX2" y="connsiteY2"/>
              </a:cxn>
              <a:cxn ang="0">
                <a:pos x="connsiteX3" y="connsiteY3"/>
              </a:cxn>
            </a:cxnLst>
            <a:rect l="l" t="t" r="r" b="b"/>
            <a:pathLst>
              <a:path w="5800089" h="1137247">
                <a:moveTo>
                  <a:pt x="1969769" y="0"/>
                </a:moveTo>
                <a:lnTo>
                  <a:pt x="5800089" y="0"/>
                </a:lnTo>
                <a:lnTo>
                  <a:pt x="3830319" y="1137247"/>
                </a:lnTo>
                <a:lnTo>
                  <a:pt x="0" y="1137247"/>
                </a:lnTo>
                <a:close/>
              </a:path>
            </a:pathLst>
          </a:custGeom>
        </p:spPr>
      </p:pic>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7" name="Text Placeholder 43"/>
          <p:cNvSpPr>
            <a:spLocks noGrp="1"/>
          </p:cNvSpPr>
          <p:nvPr>
            <p:ph type="body" sz="quarter" idx="13"/>
          </p:nvPr>
        </p:nvSpPr>
        <p:spPr>
          <a:xfrm>
            <a:off x="492125" y="1040826"/>
            <a:ext cx="11180763" cy="344488"/>
          </a:xfrm>
        </p:spPr>
        <p:txBody>
          <a:bodyPr/>
          <a:lstStyle>
            <a:lvl1pPr marL="0" indent="0">
              <a:buNone/>
              <a:defRPr lang="en-US" sz="2400">
                <a:solidFill>
                  <a:schemeClr val="bg1"/>
                </a:solidFill>
              </a:defRPr>
            </a:lvl1pPr>
          </a:lstStyle>
          <a:p>
            <a:pPr lvl="0"/>
            <a:r>
              <a:rPr lang="en-US"/>
              <a:t>Edit Master text styles</a:t>
            </a:r>
          </a:p>
        </p:txBody>
      </p:sp>
      <p:sp>
        <p:nvSpPr>
          <p:cNvPr id="8" name="Text Placeholder 2"/>
          <p:cNvSpPr>
            <a:spLocks noGrp="1"/>
          </p:cNvSpPr>
          <p:nvPr>
            <p:ph idx="1"/>
          </p:nvPr>
        </p:nvSpPr>
        <p:spPr>
          <a:xfrm>
            <a:off x="490435" y="1666160"/>
            <a:ext cx="11180867" cy="3619578"/>
          </a:xfrm>
          <a:prstGeom prst="rect">
            <a:avLst/>
          </a:prstGeom>
        </p:spPr>
        <p:txBody>
          <a:bodyPr/>
          <a:lstStyle>
            <a:lvl1pPr marL="0" indent="0">
              <a:buNone/>
              <a:defRPr>
                <a:solidFill>
                  <a:srgbClr val="93E5FF"/>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25885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63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9B0FB7-70CB-4D4F-9BFF-1D8341004D47}"/>
              </a:ext>
            </a:extLst>
          </p:cNvPr>
          <p:cNvSpPr>
            <a:spLocks noGrp="1"/>
          </p:cNvSpPr>
          <p:nvPr>
            <p:ph type="title"/>
          </p:nvPr>
        </p:nvSpPr>
        <p:spPr>
          <a:xfrm>
            <a:off x="492125" y="295275"/>
            <a:ext cx="11180763" cy="666750"/>
          </a:xfrm>
          <a:prstGeom prst="rect">
            <a:avLst/>
          </a:prstGeom>
        </p:spPr>
        <p:txBody>
          <a:bodyPr vert="horz" lIns="0" tIns="0" rIns="0" bIns="0" rtlCol="0"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8C3B0A-FB0C-4FFC-A4A5-FC52A896386E}"/>
              </a:ext>
            </a:extLst>
          </p:cNvPr>
          <p:cNvSpPr>
            <a:spLocks noGrp="1"/>
          </p:cNvSpPr>
          <p:nvPr>
            <p:ph type="body" idx="1"/>
          </p:nvPr>
        </p:nvSpPr>
        <p:spPr>
          <a:xfrm>
            <a:off x="492125" y="1479550"/>
            <a:ext cx="11180763" cy="4086225"/>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28" name="TextBox 20">
            <a:extLst>
              <a:ext uri="{FF2B5EF4-FFF2-40B4-BE49-F238E27FC236}">
                <a16:creationId xmlns:a16="http://schemas.microsoft.com/office/drawing/2014/main" id="{8E97ECFD-1DCA-4409-BCAA-67793DDCA550}"/>
              </a:ext>
            </a:extLst>
          </p:cNvPr>
          <p:cNvSpPr txBox="1">
            <a:spLocks noChangeArrowheads="1"/>
          </p:cNvSpPr>
          <p:nvPr userDrawn="1"/>
        </p:nvSpPr>
        <p:spPr bwMode="auto">
          <a:xfrm>
            <a:off x="804863" y="6430963"/>
            <a:ext cx="8350250"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r>
              <a:rPr lang="en-US" altLang="en-US" sz="1000" dirty="0">
                <a:solidFill>
                  <a:srgbClr val="7F7F7F"/>
                </a:solidFill>
              </a:rPr>
              <a:t>© 2025 Arm Limited </a:t>
            </a:r>
          </a:p>
        </p:txBody>
      </p:sp>
      <p:sp>
        <p:nvSpPr>
          <p:cNvPr id="1029" name="TextBox 26">
            <a:extLst>
              <a:ext uri="{FF2B5EF4-FFF2-40B4-BE49-F238E27FC236}">
                <a16:creationId xmlns:a16="http://schemas.microsoft.com/office/drawing/2014/main" id="{BF72FE98-121C-4E05-9B4E-5A9C4E4C705B}"/>
              </a:ext>
            </a:extLst>
          </p:cNvPr>
          <p:cNvSpPr txBox="1">
            <a:spLocks noChangeArrowheads="1"/>
          </p:cNvSpPr>
          <p:nvPr userDrawn="1"/>
        </p:nvSpPr>
        <p:spPr bwMode="auto">
          <a:xfrm>
            <a:off x="492125" y="643096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89A935BB-B359-4CD8-988A-690185F8A591}"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pic>
        <p:nvPicPr>
          <p:cNvPr id="1030" name="Picture 6">
            <a:extLst>
              <a:ext uri="{FF2B5EF4-FFF2-40B4-BE49-F238E27FC236}">
                <a16:creationId xmlns:a16="http://schemas.microsoft.com/office/drawing/2014/main" id="{3DCABB85-C4DD-4C7F-92ED-6C057E9F5511}"/>
              </a:ext>
            </a:extLst>
          </p:cNvPr>
          <p:cNvPicPr>
            <a:picLocks noChangeAspect="1" noChangeArrowheads="1"/>
          </p:cNvPicPr>
          <p:nvPr userDrawn="1"/>
        </p:nvPicPr>
        <p:blipFill>
          <a:blip r:embed="rId25">
            <a:extLst>
              <a:ext uri="{28A0092B-C50C-407E-A947-70E740481C1C}">
                <a14:useLocalDpi xmlns:a14="http://schemas.microsoft.com/office/drawing/2010/main" val="0"/>
              </a:ext>
            </a:extLst>
          </a:blip>
          <a:srcRect/>
          <a:stretch>
            <a:fillRect/>
          </a:stretch>
        </p:blipFill>
        <p:spPr bwMode="auto">
          <a:xfrm>
            <a:off x="10823575" y="6386513"/>
            <a:ext cx="779463" cy="236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5340" r:id="rId1"/>
    <p:sldLayoutId id="2147485341" r:id="rId2"/>
    <p:sldLayoutId id="2147485342" r:id="rId3"/>
    <p:sldLayoutId id="2147485343" r:id="rId4"/>
    <p:sldLayoutId id="2147485344" r:id="rId5"/>
    <p:sldLayoutId id="2147485345" r:id="rId6"/>
    <p:sldLayoutId id="2147485346" r:id="rId7"/>
    <p:sldLayoutId id="2147485347" r:id="rId8"/>
    <p:sldLayoutId id="2147485333" r:id="rId9"/>
    <p:sldLayoutId id="2147485348" r:id="rId10"/>
    <p:sldLayoutId id="2147485349" r:id="rId11"/>
    <p:sldLayoutId id="2147485350" r:id="rId12"/>
    <p:sldLayoutId id="2147485351" r:id="rId13"/>
    <p:sldLayoutId id="2147485352" r:id="rId14"/>
    <p:sldLayoutId id="2147485334" r:id="rId15"/>
    <p:sldLayoutId id="2147485335" r:id="rId16"/>
    <p:sldLayoutId id="2147485336" r:id="rId17"/>
    <p:sldLayoutId id="2147485337" r:id="rId18"/>
    <p:sldLayoutId id="2147485338" r:id="rId19"/>
    <p:sldLayoutId id="2147485353" r:id="rId20"/>
    <p:sldLayoutId id="2147485354" r:id="rId21"/>
    <p:sldLayoutId id="2147485355" r:id="rId22"/>
    <p:sldLayoutId id="2147485339" r:id="rId23"/>
  </p:sldLayoutIdLst>
  <p:hf hdr="0" ftr="0" dt="0"/>
  <p:txStyles>
    <p:titleStyle>
      <a:lvl1pPr algn="l" rtl="0" eaLnBrk="1" fontAlgn="base" hangingPunct="1">
        <a:lnSpc>
          <a:spcPct val="85000"/>
        </a:lnSpc>
        <a:spcBef>
          <a:spcPct val="0"/>
        </a:spcBef>
        <a:spcAft>
          <a:spcPct val="0"/>
        </a:spcAft>
        <a:defRPr sz="3600" b="1"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algn="l" rtl="0" eaLnBrk="1" fontAlgn="base" hangingPunct="1">
        <a:lnSpc>
          <a:spcPct val="90000"/>
        </a:lnSpc>
        <a:spcBef>
          <a:spcPct val="0"/>
        </a:spcBef>
        <a:spcAft>
          <a:spcPts val="1600"/>
        </a:spcAft>
        <a:buFont typeface="Calibri" panose="020F0502020204030204" pitchFamily="34" charset="0"/>
        <a:defRPr sz="2400" kern="1200">
          <a:solidFill>
            <a:schemeClr val="tx2"/>
          </a:solidFill>
          <a:latin typeface="+mn-lt"/>
          <a:ea typeface="ＭＳ Ｐゴシック" charset="0"/>
          <a:cs typeface="ＭＳ Ｐゴシック" charset="0"/>
        </a:defRPr>
      </a:lvl1pPr>
      <a:lvl2pPr marL="398463" indent="-166688" algn="l" rtl="0" eaLnBrk="1" fontAlgn="base" hangingPunct="1">
        <a:lnSpc>
          <a:spcPct val="90000"/>
        </a:lnSpc>
        <a:spcBef>
          <a:spcPct val="0"/>
        </a:spcBef>
        <a:spcAft>
          <a:spcPts val="1200"/>
        </a:spcAft>
        <a:buClr>
          <a:schemeClr val="accent1"/>
        </a:buClr>
        <a:buSzPct val="80000"/>
        <a:buFont typeface="Arial" panose="020B0604020202020204" pitchFamily="34" charset="0"/>
        <a:buChar char="•"/>
        <a:defRPr kern="1200">
          <a:solidFill>
            <a:srgbClr val="383838"/>
          </a:solidFill>
          <a:latin typeface="+mn-lt"/>
          <a:ea typeface="ＭＳ Ｐゴシック" charset="0"/>
          <a:cs typeface="+mn-cs"/>
        </a:defRPr>
      </a:lvl2pPr>
      <a:lvl3pPr marL="855663" indent="-166688" algn="l" rtl="0" eaLnBrk="1" fontAlgn="base" hangingPunct="1">
        <a:lnSpc>
          <a:spcPct val="90000"/>
        </a:lnSpc>
        <a:spcBef>
          <a:spcPct val="0"/>
        </a:spcBef>
        <a:spcAft>
          <a:spcPts val="12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3pPr>
      <a:lvl4pPr marL="1201738" indent="-173038" algn="l" rtl="0" eaLnBrk="1" fontAlgn="base" hangingPunct="1">
        <a:lnSpc>
          <a:spcPct val="90000"/>
        </a:lnSpc>
        <a:spcBef>
          <a:spcPct val="0"/>
        </a:spcBef>
        <a:spcAft>
          <a:spcPts val="800"/>
        </a:spcAft>
        <a:buClr>
          <a:schemeClr val="accent1"/>
        </a:buClr>
        <a:buSzPct val="80000"/>
        <a:buFont typeface="Wingdings" panose="05000000000000000000" pitchFamily="2" charset="2"/>
        <a:buChar char="§"/>
        <a:defRPr kern="1200">
          <a:solidFill>
            <a:srgbClr val="383838"/>
          </a:solidFill>
          <a:latin typeface="+mn-lt"/>
          <a:ea typeface="ＭＳ Ｐゴシック" charset="0"/>
          <a:cs typeface="+mn-cs"/>
        </a:defRPr>
      </a:lvl4pPr>
      <a:lvl5pPr marL="1427163" indent="-168275" algn="l" rtl="0" eaLnBrk="1" fontAlgn="base" hangingPunct="1">
        <a:lnSpc>
          <a:spcPct val="90000"/>
        </a:lnSpc>
        <a:spcBef>
          <a:spcPct val="0"/>
        </a:spcBef>
        <a:spcAft>
          <a:spcPts val="800"/>
        </a:spcAft>
        <a:buClr>
          <a:schemeClr val="accent1"/>
        </a:buClr>
        <a:buSzPct val="80000"/>
        <a:buFont typeface="Calibri" panose="020F0502020204030204" pitchFamily="34"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6pPr>
      <a:lvl7pPr marL="18836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7pPr>
      <a:lvl8pPr marL="2112264" indent="-164592" algn="l" defTabSz="914400" rtl="0" eaLnBrk="1" latinLnBrk="0" hangingPunct="1">
        <a:lnSpc>
          <a:spcPct val="90000"/>
        </a:lnSpc>
        <a:spcBef>
          <a:spcPts val="0"/>
        </a:spcBef>
        <a:spcAft>
          <a:spcPts val="800"/>
        </a:spcAft>
        <a:buClr>
          <a:schemeClr val="accent1"/>
        </a:buClr>
        <a:buSzPct val="80000"/>
        <a:buFont typeface="Wingdings" panose="05000000000000000000" pitchFamily="2" charset="2"/>
        <a:buChar char="§"/>
        <a:defRPr lang="en-US" sz="1800" kern="1200" dirty="0" smtClean="0">
          <a:solidFill>
            <a:srgbClr val="383838"/>
          </a:solidFill>
          <a:latin typeface="+mn-lt"/>
          <a:ea typeface="+mn-ea"/>
          <a:cs typeface="+mn-cs"/>
        </a:defRPr>
      </a:lvl8pPr>
      <a:lvl9pPr marL="2340864" indent="-164592" algn="l" defTabSz="914400" rtl="0" eaLnBrk="1" latinLnBrk="0" hangingPunct="1">
        <a:lnSpc>
          <a:spcPct val="90000"/>
        </a:lnSpc>
        <a:spcBef>
          <a:spcPts val="0"/>
        </a:spcBef>
        <a:spcAft>
          <a:spcPts val="800"/>
        </a:spcAft>
        <a:buClr>
          <a:schemeClr val="accent1"/>
        </a:buClr>
        <a:buSzPct val="80000"/>
        <a:buFont typeface="Calibri" panose="020F0502020204030204" pitchFamily="34" charset="0"/>
        <a:buChar char="–"/>
        <a:defRPr lang="en-US" sz="18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D69F7-95CB-48D6-AF90-353C0C79A9D9}"/>
              </a:ext>
            </a:extLst>
          </p:cNvPr>
          <p:cNvSpPr>
            <a:spLocks noGrp="1"/>
          </p:cNvSpPr>
          <p:nvPr>
            <p:ph type="title"/>
          </p:nvPr>
        </p:nvSpPr>
        <p:spPr>
          <a:xfrm>
            <a:off x="4283902" y="1563688"/>
            <a:ext cx="7055612" cy="1555750"/>
          </a:xfrm>
        </p:spPr>
        <p:txBody>
          <a:bodyPr wrap="square" numCol="1" compatLnSpc="1">
            <a:prstTxWarp prst="textNoShape">
              <a:avLst/>
            </a:prstTxWarp>
          </a:bodyPr>
          <a:lstStyle/>
          <a:p>
            <a:pPr>
              <a:defRPr/>
            </a:pPr>
            <a:r>
              <a:rPr lang="en-US"/>
              <a:t>Embedded Linux</a:t>
            </a:r>
            <a:endParaRPr lang="en-US" dirty="0"/>
          </a:p>
        </p:txBody>
      </p:sp>
      <p:sp>
        <p:nvSpPr>
          <p:cNvPr id="23555" name="Subtitle 2">
            <a:extLst>
              <a:ext uri="{FF2B5EF4-FFF2-40B4-BE49-F238E27FC236}">
                <a16:creationId xmlns:a16="http://schemas.microsoft.com/office/drawing/2014/main" id="{BA26D659-3551-45F0-9606-6E59BEA59060}"/>
              </a:ext>
            </a:extLst>
          </p:cNvPr>
          <p:cNvSpPr>
            <a:spLocks noGrp="1" noChangeArrowheads="1"/>
          </p:cNvSpPr>
          <p:nvPr>
            <p:ph type="subTitle" idx="1"/>
          </p:nvPr>
        </p:nvSpPr>
        <p:spPr bwMode="auto">
          <a:xfrm>
            <a:off x="4997886" y="3176588"/>
            <a:ext cx="6341628" cy="739775"/>
          </a:xfrm>
        </p:spPr>
        <p:txBody>
          <a:bodyPr wrap="square" numCol="1" anchor="t" anchorCtr="0" compatLnSpc="1">
            <a:prstTxWarp prst="textNoShape">
              <a:avLst/>
            </a:prstTxWarp>
          </a:bodyPr>
          <a:lstStyle/>
          <a:p>
            <a:pPr fontAlgn="base">
              <a:spcBef>
                <a:spcPct val="0"/>
              </a:spcBef>
            </a:pPr>
            <a:r>
              <a:rPr lang="en-GB" dirty="0"/>
              <a:t> Incorporating AI Models with Kernel Modules</a:t>
            </a:r>
            <a:endParaRPr lang="en-US" dirty="0"/>
          </a:p>
          <a:p>
            <a:pPr fontAlgn="base">
              <a:spcBef>
                <a:spcPct val="0"/>
              </a:spcBef>
            </a:pPr>
            <a:endParaRPr lang="en-US" altLang="en-US" dirty="0">
              <a:ea typeface="ＭＳ Ｐゴシック"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Goal</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To discuss user-level communication with kernel modules and to present an example of an AI model integration with a kernel module.</a:t>
            </a:r>
            <a:endParaRPr lang="en-US" altLang="en-US" dirty="0">
              <a:ea typeface="ＭＳ Ｐゴシック" panose="020B0600070205080204"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t>The </a:t>
            </a:r>
            <a:r>
              <a:rPr lang="en-US" dirty="0" err="1"/>
              <a:t>sysfs</a:t>
            </a:r>
            <a:r>
              <a:rPr lang="en-US" dirty="0"/>
              <a:t> file system</a:t>
            </a:r>
          </a:p>
          <a:p>
            <a:r>
              <a:rPr lang="en-US" dirty="0"/>
              <a:t>The Llama AI model</a:t>
            </a:r>
          </a:p>
          <a:p>
            <a:r>
              <a:rPr lang="en-US" dirty="0"/>
              <a:t>Building Linux support for integrating AI models with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12840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solidFill>
                  <a:srgbClr val="118CAB"/>
                </a:solidFill>
              </a:rPr>
              <a:t>Introduction</a:t>
            </a:r>
            <a:endParaRPr lang="en-US" dirty="0"/>
          </a:p>
          <a:p>
            <a:r>
              <a:rPr lang="en-US" dirty="0"/>
              <a:t>The </a:t>
            </a:r>
            <a:r>
              <a:rPr lang="en-US" dirty="0" err="1"/>
              <a:t>sysfs</a:t>
            </a:r>
            <a:r>
              <a:rPr lang="en-US" dirty="0"/>
              <a:t> file system</a:t>
            </a:r>
          </a:p>
          <a:p>
            <a:r>
              <a:rPr lang="en-US" dirty="0"/>
              <a:t>The Llama AI model</a:t>
            </a:r>
          </a:p>
          <a:p>
            <a:r>
              <a:rPr lang="en-US" dirty="0"/>
              <a:t>Building Linux support for integrating AI models with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210451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Introduction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The communication between user level and module level can be implemented through</a:t>
            </a:r>
            <a:endParaRPr lang="en-US" altLang="en-US" dirty="0">
              <a:ea typeface="ＭＳ Ｐゴシック" panose="020B0600070205080204" pitchFamily="34" charset="-128"/>
            </a:endParaRPr>
          </a:p>
          <a:p>
            <a:pPr lvl="1"/>
            <a:r>
              <a:rPr lang="en-US" dirty="0"/>
              <a:t>The </a:t>
            </a:r>
            <a:r>
              <a:rPr lang="en-US" dirty="0">
                <a:solidFill>
                  <a:srgbClr val="118CAB"/>
                </a:solidFill>
              </a:rPr>
              <a:t>virtual file system</a:t>
            </a:r>
            <a:r>
              <a:rPr lang="en-US" dirty="0"/>
              <a:t> (VFS) interface, where the user-level application invokes VFS API to access the device file</a:t>
            </a:r>
          </a:p>
          <a:p>
            <a:pPr lvl="1"/>
            <a:r>
              <a:rPr lang="en-US" dirty="0"/>
              <a:t>Through a RAM-based filesystem known as </a:t>
            </a:r>
            <a:r>
              <a:rPr lang="en-US" sz="1600" dirty="0" err="1">
                <a:solidFill>
                  <a:srgbClr val="118CAB"/>
                </a:solidFill>
                <a:latin typeface="Courier" charset="0"/>
                <a:ea typeface="Courier" charset="0"/>
                <a:cs typeface="Courier" charset="0"/>
              </a:rPr>
              <a:t>sysfs</a:t>
            </a:r>
            <a:r>
              <a:rPr lang="en-US" dirty="0"/>
              <a:t> that allows exporting kernel data structures to the user level</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195719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solidFill>
                  <a:srgbClr val="118CAB"/>
                </a:solidFill>
              </a:rPr>
              <a:t>The </a:t>
            </a:r>
            <a:r>
              <a:rPr lang="en-US" dirty="0" err="1">
                <a:solidFill>
                  <a:srgbClr val="118CAB"/>
                </a:solidFill>
              </a:rPr>
              <a:t>sysfs</a:t>
            </a:r>
            <a:r>
              <a:rPr lang="en-US" dirty="0">
                <a:solidFill>
                  <a:srgbClr val="118CAB"/>
                </a:solidFill>
              </a:rPr>
              <a:t> file system</a:t>
            </a:r>
          </a:p>
          <a:p>
            <a:r>
              <a:rPr lang="en-US" dirty="0"/>
              <a:t>The Llama AI model</a:t>
            </a:r>
          </a:p>
          <a:p>
            <a:r>
              <a:rPr lang="en-US" dirty="0"/>
              <a:t>Building Linux support for integrating AI models with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087223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a:t>
            </a:r>
            <a:r>
              <a:rPr lang="en-US" dirty="0" err="1"/>
              <a:t>sysfs</a:t>
            </a:r>
            <a:r>
              <a:rPr lang="en-US" dirty="0"/>
              <a:t> File System</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6" y="1639888"/>
            <a:ext cx="3848893" cy="4086225"/>
          </a:xfrm>
        </p:spPr>
        <p:txBody>
          <a:bodyPr wrap="square" numCol="1" anchor="t" anchorCtr="0" compatLnSpc="1">
            <a:prstTxWarp prst="textNoShape">
              <a:avLst/>
            </a:prstTxWarp>
          </a:bodyPr>
          <a:lstStyle/>
          <a:p>
            <a:r>
              <a:rPr lang="en-US" dirty="0"/>
              <a:t>RAM-based file system containing directories/files that are created by the Linux Kernel</a:t>
            </a:r>
          </a:p>
          <a:p>
            <a:r>
              <a:rPr lang="en-US" dirty="0"/>
              <a:t>Each directory/file contains information about portions of the Kernel that are set visible to the user.</a:t>
            </a:r>
            <a:endParaRPr lang="en-US" altLang="en-US" dirty="0">
              <a:ea typeface="ＭＳ Ｐゴシック" panose="020B0600070205080204" pitchFamily="34" charset="-128"/>
            </a:endParaRPr>
          </a:p>
          <a:p>
            <a:pPr lvl="1"/>
            <a:r>
              <a:rPr lang="en-US" dirty="0"/>
              <a:t>The content is not defined by any specific APIs.</a:t>
            </a:r>
          </a:p>
          <a:p>
            <a:pPr lvl="1"/>
            <a:r>
              <a:rPr lang="en-US" dirty="0"/>
              <a:t>Kernel developers can export any information that is needed.</a:t>
            </a:r>
            <a:endParaRPr lang="en-US" altLang="en-US" dirty="0">
              <a:ea typeface="ＭＳ Ｐゴシック" panose="020B0600070205080204" pitchFamily="34" charset="-128"/>
            </a:endParaRPr>
          </a:p>
        </p:txBody>
      </p:sp>
      <p:sp>
        <p:nvSpPr>
          <p:cNvPr id="5" name="TextBox 4">
            <a:extLst>
              <a:ext uri="{FF2B5EF4-FFF2-40B4-BE49-F238E27FC236}">
                <a16:creationId xmlns:a16="http://schemas.microsoft.com/office/drawing/2014/main" id="{0C5801AA-C580-47B0-BDDB-05CBE23CFCF6}"/>
              </a:ext>
            </a:extLst>
          </p:cNvPr>
          <p:cNvSpPr txBox="1"/>
          <p:nvPr/>
        </p:nvSpPr>
        <p:spPr>
          <a:xfrm>
            <a:off x="45034200" y="3243263"/>
            <a:ext cx="914400" cy="914400"/>
          </a:xfrm>
          <a:prstGeom prst="rect">
            <a:avLst/>
          </a:prstGeom>
        </p:spPr>
        <p:txBody>
          <a:bodyPr vert="horz" wrap="none" lIns="0" tIns="0" rIns="0" bIns="0" rtlCol="0" anchor="t">
            <a:normAutofit/>
          </a:bodyPr>
          <a:lstStyle/>
          <a:p>
            <a:endParaRPr lang="en-US" dirty="0"/>
          </a:p>
        </p:txBody>
      </p:sp>
      <p:sp>
        <p:nvSpPr>
          <p:cNvPr id="6" name="TextBox 5">
            <a:extLst>
              <a:ext uri="{FF2B5EF4-FFF2-40B4-BE49-F238E27FC236}">
                <a16:creationId xmlns:a16="http://schemas.microsoft.com/office/drawing/2014/main" id="{93EEF21C-03BE-4FD0-8FDA-9F30B681E236}"/>
              </a:ext>
            </a:extLst>
          </p:cNvPr>
          <p:cNvSpPr txBox="1"/>
          <p:nvPr/>
        </p:nvSpPr>
        <p:spPr>
          <a:xfrm>
            <a:off x="4493419" y="1430662"/>
            <a:ext cx="2209800" cy="4419600"/>
          </a:xfrm>
          <a:prstGeom prst="rect">
            <a:avLst/>
          </a:prstGeom>
        </p:spPr>
        <p:txBody>
          <a:bodyPr vert="horz" wrap="none" lIns="0" tIns="0" rIns="0" bIns="0" rtlCol="0" anchor="t">
            <a:normAutofit/>
          </a:bodyPr>
          <a:lstStyle/>
          <a:p>
            <a:r>
              <a:rPr lang="en-US" sz="1400" dirty="0">
                <a:latin typeface="Courier" charset="0"/>
                <a:ea typeface="Courier" charset="0"/>
                <a:cs typeface="Courier" charset="0"/>
              </a:rPr>
              <a:t>/</a:t>
            </a:r>
            <a:r>
              <a:rPr lang="en-US" sz="1400" dirty="0" err="1">
                <a:latin typeface="Courier" charset="0"/>
                <a:ea typeface="Courier" charset="0"/>
                <a:cs typeface="Courier" charset="0"/>
              </a:rPr>
              <a:t>sysfs</a:t>
            </a:r>
            <a:endParaRPr lang="en-US" sz="1400" dirty="0">
              <a:latin typeface="Courier" charset="0"/>
              <a:ea typeface="Courier" charset="0"/>
              <a:cs typeface="Courier" charset="0"/>
            </a:endParaRPr>
          </a:p>
          <a:p>
            <a:r>
              <a:rPr lang="en-US" sz="1400" dirty="0">
                <a:latin typeface="Courier" charset="0"/>
                <a:ea typeface="Courier" charset="0"/>
                <a:cs typeface="Courier" charset="0"/>
              </a:rPr>
              <a:t>  /block</a:t>
            </a:r>
          </a:p>
          <a:p>
            <a:r>
              <a:rPr lang="en-US" sz="1400" dirty="0">
                <a:latin typeface="Courier" charset="0"/>
                <a:ea typeface="Courier" charset="0"/>
                <a:cs typeface="Courier" charset="0"/>
              </a:rPr>
              <a:t>  /bus</a:t>
            </a:r>
          </a:p>
          <a:p>
            <a:r>
              <a:rPr lang="en-US" sz="1400" dirty="0">
                <a:latin typeface="Courier" charset="0"/>
                <a:ea typeface="Courier" charset="0"/>
                <a:cs typeface="Courier" charset="0"/>
              </a:rPr>
              <a:t>  /class</a:t>
            </a:r>
          </a:p>
          <a:p>
            <a:r>
              <a:rPr lang="en-US" sz="1400" dirty="0">
                <a:latin typeface="Courier" charset="0"/>
                <a:ea typeface="Courier" charset="0"/>
                <a:cs typeface="Courier" charset="0"/>
              </a:rPr>
              <a:t>  /dev</a:t>
            </a:r>
          </a:p>
          <a:p>
            <a:r>
              <a:rPr lang="en-US" sz="1400" dirty="0">
                <a:latin typeface="Courier" charset="0"/>
                <a:ea typeface="Courier" charset="0"/>
                <a:cs typeface="Courier" charset="0"/>
              </a:rPr>
              <a:t>  /devices</a:t>
            </a:r>
          </a:p>
          <a:p>
            <a:r>
              <a:rPr lang="en-US" sz="1400" dirty="0">
                <a:latin typeface="Courier" charset="0"/>
                <a:ea typeface="Courier" charset="0"/>
                <a:cs typeface="Courier" charset="0"/>
              </a:rPr>
              <a:t>  /firmware</a:t>
            </a:r>
          </a:p>
          <a:p>
            <a:r>
              <a:rPr lang="en-US" sz="1400" dirty="0">
                <a:latin typeface="Courier" charset="0"/>
                <a:ea typeface="Courier" charset="0"/>
                <a:cs typeface="Courier" charset="0"/>
              </a:rPr>
              <a:t>  /fs</a:t>
            </a:r>
          </a:p>
          <a:p>
            <a:r>
              <a:rPr lang="en-US" sz="1400" dirty="0">
                <a:latin typeface="Courier" charset="0"/>
                <a:ea typeface="Courier" charset="0"/>
                <a:cs typeface="Courier" charset="0"/>
              </a:rPr>
              <a:t>  /</a:t>
            </a:r>
            <a:r>
              <a:rPr lang="en-US" sz="1400" dirty="0" err="1">
                <a:latin typeface="Courier" charset="0"/>
                <a:ea typeface="Courier" charset="0"/>
                <a:cs typeface="Courier" charset="0"/>
              </a:rPr>
              <a:t>fsl_opt</a:t>
            </a:r>
            <a:endParaRPr lang="en-US" sz="1400" dirty="0">
              <a:latin typeface="Courier" charset="0"/>
              <a:ea typeface="Courier" charset="0"/>
              <a:cs typeface="Courier" charset="0"/>
            </a:endParaRPr>
          </a:p>
          <a:p>
            <a:r>
              <a:rPr lang="en-US" sz="1400" dirty="0">
                <a:latin typeface="Courier" charset="0"/>
                <a:ea typeface="Courier" charset="0"/>
                <a:cs typeface="Courier" charset="0"/>
              </a:rPr>
              <a:t>  /kernel</a:t>
            </a:r>
          </a:p>
          <a:p>
            <a:r>
              <a:rPr lang="en-US" sz="1400" dirty="0">
                <a:latin typeface="Courier" charset="0"/>
                <a:ea typeface="Courier" charset="0"/>
                <a:cs typeface="Courier" charset="0"/>
              </a:rPr>
              <a:t>   /</a:t>
            </a:r>
            <a:r>
              <a:rPr lang="en-US" sz="1400" dirty="0" err="1">
                <a:latin typeface="Courier" charset="0"/>
                <a:ea typeface="Courier" charset="0"/>
                <a:cs typeface="Courier" charset="0"/>
              </a:rPr>
              <a:t>config</a:t>
            </a:r>
            <a:endParaRPr lang="en-US" sz="1400" dirty="0">
              <a:latin typeface="Courier" charset="0"/>
              <a:ea typeface="Courier" charset="0"/>
              <a:cs typeface="Courier" charset="0"/>
            </a:endParaRPr>
          </a:p>
          <a:p>
            <a:r>
              <a:rPr lang="en-US" sz="1400" dirty="0">
                <a:latin typeface="Courier" charset="0"/>
                <a:ea typeface="Courier" charset="0"/>
                <a:cs typeface="Courier" charset="0"/>
              </a:rPr>
              <a:t>   /debug</a:t>
            </a:r>
          </a:p>
          <a:p>
            <a:r>
              <a:rPr lang="en-US" sz="1400" dirty="0">
                <a:latin typeface="Courier" charset="0"/>
                <a:ea typeface="Courier" charset="0"/>
                <a:cs typeface="Courier" charset="0"/>
              </a:rPr>
              <a:t>      </a:t>
            </a:r>
            <a:r>
              <a:rPr lang="en-US" sz="1400" dirty="0" err="1">
                <a:solidFill>
                  <a:srgbClr val="118CAB"/>
                </a:solidFill>
                <a:latin typeface="Courier" charset="0"/>
                <a:ea typeface="Courier" charset="0"/>
                <a:cs typeface="Courier" charset="0"/>
              </a:rPr>
              <a:t>gpio</a:t>
            </a:r>
            <a:endParaRPr lang="en-US" sz="1400" dirty="0">
              <a:solidFill>
                <a:srgbClr val="118CAB"/>
              </a:solidFill>
              <a:latin typeface="Courier" charset="0"/>
              <a:ea typeface="Courier" charset="0"/>
              <a:cs typeface="Courier" charset="0"/>
            </a:endParaRPr>
          </a:p>
          <a:p>
            <a:r>
              <a:rPr lang="en-US" sz="1400" dirty="0">
                <a:latin typeface="Courier" charset="0"/>
                <a:ea typeface="Courier" charset="0"/>
                <a:cs typeface="Courier" charset="0"/>
              </a:rPr>
              <a:t>      </a:t>
            </a:r>
            <a:r>
              <a:rPr lang="mr-IN" sz="1400" dirty="0">
                <a:latin typeface="Courier" charset="0"/>
                <a:ea typeface="Courier" charset="0"/>
                <a:cs typeface="Courier" charset="0"/>
              </a:rPr>
              <a:t>…</a:t>
            </a:r>
            <a:endParaRPr lang="en-US" sz="1400" dirty="0">
              <a:latin typeface="Courier" charset="0"/>
              <a:ea typeface="Courier" charset="0"/>
              <a:cs typeface="Courier" charset="0"/>
            </a:endParaRPr>
          </a:p>
          <a:p>
            <a:r>
              <a:rPr lang="en-US" sz="1400" dirty="0">
                <a:latin typeface="Courier" charset="0"/>
                <a:ea typeface="Courier" charset="0"/>
                <a:cs typeface="Courier" charset="0"/>
              </a:rPr>
              <a:t>   /</a:t>
            </a:r>
            <a:r>
              <a:rPr lang="en-US" sz="1400" dirty="0" err="1">
                <a:latin typeface="Courier" charset="0"/>
                <a:ea typeface="Courier" charset="0"/>
                <a:cs typeface="Courier" charset="0"/>
              </a:rPr>
              <a:t>fscaps</a:t>
            </a:r>
            <a:endParaRPr lang="en-US" sz="1400" dirty="0">
              <a:latin typeface="Courier" charset="0"/>
              <a:ea typeface="Courier" charset="0"/>
              <a:cs typeface="Courier" charset="0"/>
            </a:endParaRPr>
          </a:p>
          <a:p>
            <a:r>
              <a:rPr lang="en-US" sz="1400" dirty="0">
                <a:latin typeface="Courier" charset="0"/>
                <a:ea typeface="Courier" charset="0"/>
                <a:cs typeface="Courier" charset="0"/>
              </a:rPr>
              <a:t>    </a:t>
            </a:r>
            <a:r>
              <a:rPr lang="mr-IN" sz="1400" dirty="0">
                <a:latin typeface="Courier" charset="0"/>
                <a:ea typeface="Courier" charset="0"/>
                <a:cs typeface="Courier" charset="0"/>
              </a:rPr>
              <a:t>…</a:t>
            </a:r>
            <a:endParaRPr lang="en-US" sz="1400" dirty="0">
              <a:latin typeface="Courier" charset="0"/>
              <a:ea typeface="Courier" charset="0"/>
              <a:cs typeface="Courier" charset="0"/>
            </a:endParaRPr>
          </a:p>
          <a:p>
            <a:r>
              <a:rPr lang="en-US" sz="1400" dirty="0">
                <a:latin typeface="Courier" charset="0"/>
                <a:ea typeface="Courier" charset="0"/>
                <a:cs typeface="Courier" charset="0"/>
              </a:rPr>
              <a:t>  /module</a:t>
            </a:r>
          </a:p>
          <a:p>
            <a:r>
              <a:rPr lang="en-US" sz="1400" dirty="0">
                <a:latin typeface="Courier" charset="0"/>
                <a:ea typeface="Courier" charset="0"/>
                <a:cs typeface="Courier" charset="0"/>
              </a:rPr>
              <a:t>  /power</a:t>
            </a:r>
          </a:p>
          <a:p>
            <a:endParaRPr lang="en-US" sz="1400" dirty="0">
              <a:latin typeface="Courier" charset="0"/>
              <a:ea typeface="Courier" charset="0"/>
              <a:cs typeface="Courier" charset="0"/>
            </a:endParaRPr>
          </a:p>
        </p:txBody>
      </p:sp>
      <p:sp>
        <p:nvSpPr>
          <p:cNvPr id="7" name="TextBox 6">
            <a:extLst>
              <a:ext uri="{FF2B5EF4-FFF2-40B4-BE49-F238E27FC236}">
                <a16:creationId xmlns:a16="http://schemas.microsoft.com/office/drawing/2014/main" id="{9DCC7A1A-5B9A-4F60-BF6B-5EF9174009E6}"/>
              </a:ext>
            </a:extLst>
          </p:cNvPr>
          <p:cNvSpPr txBox="1"/>
          <p:nvPr/>
        </p:nvSpPr>
        <p:spPr>
          <a:xfrm>
            <a:off x="6491288" y="1447800"/>
            <a:ext cx="6400800" cy="4876800"/>
          </a:xfrm>
          <a:prstGeom prst="rect">
            <a:avLst/>
          </a:prstGeom>
        </p:spPr>
        <p:txBody>
          <a:bodyPr vert="horz" wrap="none" lIns="0" tIns="0" rIns="0" bIns="0" rtlCol="0" anchor="t">
            <a:normAutofit/>
          </a:bodyPr>
          <a:lstStyle/>
          <a:p>
            <a:r>
              <a:rPr lang="mr-IN" sz="1400" dirty="0" err="1">
                <a:latin typeface="Courier" charset="0"/>
                <a:ea typeface="Courier" charset="0"/>
                <a:cs typeface="Courier" charset="0"/>
              </a:rPr>
              <a:t>GPIOs</a:t>
            </a:r>
            <a:r>
              <a:rPr lang="mr-IN" sz="1400" dirty="0">
                <a:latin typeface="Courier" charset="0"/>
                <a:ea typeface="Courier" charset="0"/>
                <a:cs typeface="Courier" charset="0"/>
              </a:rPr>
              <a:t> 0-31, </a:t>
            </a:r>
            <a:r>
              <a:rPr lang="mr-IN" sz="1400" dirty="0" err="1">
                <a:latin typeface="Courier" charset="0"/>
                <a:ea typeface="Courier" charset="0"/>
                <a:cs typeface="Courier" charset="0"/>
              </a:rPr>
              <a:t>platform</a:t>
            </a:r>
            <a:r>
              <a:rPr lang="mr-IN" sz="1400" dirty="0">
                <a:latin typeface="Courier" charset="0"/>
                <a:ea typeface="Courier" charset="0"/>
                <a:cs typeface="Courier" charset="0"/>
              </a:rPr>
              <a:t>/209c000.gpio, 209c000.gpio: </a:t>
            </a:r>
            <a:endParaRPr lang="it-IT" sz="1400" dirty="0">
              <a:latin typeface="Courier" charset="0"/>
              <a:ea typeface="Courier" charset="0"/>
              <a:cs typeface="Courier" charset="0"/>
            </a:endParaRPr>
          </a:p>
          <a:p>
            <a:r>
              <a:rPr lang="mr-IN" sz="1400" dirty="0">
                <a:latin typeface="Courier" charset="0"/>
                <a:ea typeface="Courier" charset="0"/>
                <a:cs typeface="Courier" charset="0"/>
              </a:rPr>
              <a:t>gpio-9   (usb_otg1_vbus       ) </a:t>
            </a:r>
            <a:r>
              <a:rPr lang="mr-IN" sz="1400" dirty="0" err="1">
                <a:latin typeface="Courier" charset="0"/>
                <a:ea typeface="Courier" charset="0"/>
                <a:cs typeface="Courier" charset="0"/>
              </a:rPr>
              <a:t>out</a:t>
            </a:r>
            <a:r>
              <a:rPr lang="mr-IN" sz="1400" dirty="0">
                <a:latin typeface="Courier" charset="0"/>
                <a:ea typeface="Courier" charset="0"/>
                <a:cs typeface="Courier" charset="0"/>
              </a:rPr>
              <a:t> </a:t>
            </a:r>
            <a:r>
              <a:rPr lang="mr-IN" sz="1400" dirty="0" err="1">
                <a:latin typeface="Courier" charset="0"/>
                <a:ea typeface="Courier" charset="0"/>
                <a:cs typeface="Courier" charset="0"/>
              </a:rPr>
              <a:t>lo</a:t>
            </a:r>
            <a:r>
              <a:rPr lang="mr-IN" sz="1400" dirty="0">
                <a:latin typeface="Courier" charset="0"/>
                <a:ea typeface="Courier" charset="0"/>
                <a:cs typeface="Courier" charset="0"/>
              </a:rPr>
              <a:t>     </a:t>
            </a:r>
            <a:endParaRPr lang="it-IT" sz="1400" dirty="0">
              <a:latin typeface="Courier" charset="0"/>
              <a:ea typeface="Courier" charset="0"/>
              <a:cs typeface="Courier" charset="0"/>
            </a:endParaRPr>
          </a:p>
          <a:p>
            <a:endParaRPr lang="it-IT" sz="1400" dirty="0">
              <a:latin typeface="Courier" charset="0"/>
              <a:ea typeface="Courier" charset="0"/>
              <a:cs typeface="Courier" charset="0"/>
            </a:endParaRPr>
          </a:p>
          <a:p>
            <a:r>
              <a:rPr lang="mr-IN" sz="1400" dirty="0" err="1">
                <a:latin typeface="Courier" charset="0"/>
                <a:ea typeface="Courier" charset="0"/>
                <a:cs typeface="Courier" charset="0"/>
              </a:rPr>
              <a:t>GPIOs</a:t>
            </a:r>
            <a:r>
              <a:rPr lang="mr-IN" sz="1400" dirty="0">
                <a:latin typeface="Courier" charset="0"/>
                <a:ea typeface="Courier" charset="0"/>
                <a:cs typeface="Courier" charset="0"/>
              </a:rPr>
              <a:t> 32-63, </a:t>
            </a:r>
            <a:r>
              <a:rPr lang="mr-IN" sz="1400" dirty="0" err="1">
                <a:latin typeface="Courier" charset="0"/>
                <a:ea typeface="Courier" charset="0"/>
                <a:cs typeface="Courier" charset="0"/>
              </a:rPr>
              <a:t>platform</a:t>
            </a:r>
            <a:r>
              <a:rPr lang="mr-IN" sz="1400" dirty="0">
                <a:latin typeface="Courier" charset="0"/>
                <a:ea typeface="Courier" charset="0"/>
                <a:cs typeface="Courier" charset="0"/>
              </a:rPr>
              <a:t>/20a0000.gpio, 20a0000.gpio: </a:t>
            </a:r>
            <a:endParaRPr lang="it-IT" sz="1400" dirty="0">
              <a:latin typeface="Courier" charset="0"/>
              <a:ea typeface="Courier" charset="0"/>
              <a:cs typeface="Courier" charset="0"/>
            </a:endParaRPr>
          </a:p>
          <a:p>
            <a:r>
              <a:rPr lang="mr-IN" sz="1400" dirty="0">
                <a:latin typeface="Courier" charset="0"/>
                <a:ea typeface="Courier" charset="0"/>
                <a:cs typeface="Courier" charset="0"/>
              </a:rPr>
              <a:t>gpio-44  (</a:t>
            </a:r>
            <a:r>
              <a:rPr lang="mr-IN" sz="1400" dirty="0" err="1">
                <a:latin typeface="Courier" charset="0"/>
                <a:ea typeface="Courier" charset="0"/>
                <a:cs typeface="Courier" charset="0"/>
              </a:rPr>
              <a:t>wlan-en-regulator</a:t>
            </a:r>
            <a:r>
              <a:rPr lang="mr-IN" sz="1400" dirty="0">
                <a:latin typeface="Courier" charset="0"/>
                <a:ea typeface="Courier" charset="0"/>
                <a:cs typeface="Courier" charset="0"/>
              </a:rPr>
              <a:t>   ) </a:t>
            </a:r>
            <a:r>
              <a:rPr lang="mr-IN" sz="1400" dirty="0" err="1">
                <a:latin typeface="Courier" charset="0"/>
                <a:ea typeface="Courier" charset="0"/>
                <a:cs typeface="Courier" charset="0"/>
              </a:rPr>
              <a:t>out</a:t>
            </a:r>
            <a:r>
              <a:rPr lang="mr-IN" sz="1400" dirty="0">
                <a:latin typeface="Courier" charset="0"/>
                <a:ea typeface="Courier" charset="0"/>
                <a:cs typeface="Courier" charset="0"/>
              </a:rPr>
              <a:t> </a:t>
            </a:r>
            <a:r>
              <a:rPr lang="mr-IN" sz="1400" dirty="0" err="1">
                <a:latin typeface="Courier" charset="0"/>
                <a:ea typeface="Courier" charset="0"/>
                <a:cs typeface="Courier" charset="0"/>
              </a:rPr>
              <a:t>lo</a:t>
            </a:r>
            <a:r>
              <a:rPr lang="mr-IN" sz="1400" dirty="0">
                <a:latin typeface="Courier" charset="0"/>
                <a:ea typeface="Courier" charset="0"/>
                <a:cs typeface="Courier" charset="0"/>
              </a:rPr>
              <a:t>     </a:t>
            </a:r>
            <a:endParaRPr lang="it-IT" sz="1400" dirty="0">
              <a:latin typeface="Courier" charset="0"/>
              <a:ea typeface="Courier" charset="0"/>
              <a:cs typeface="Courier" charset="0"/>
            </a:endParaRPr>
          </a:p>
          <a:p>
            <a:r>
              <a:rPr lang="mr-IN" sz="1400" dirty="0">
                <a:latin typeface="Courier" charset="0"/>
                <a:ea typeface="Courier" charset="0"/>
                <a:cs typeface="Courier" charset="0"/>
              </a:rPr>
              <a:t>gpio-49  (</a:t>
            </a:r>
            <a:r>
              <a:rPr lang="mr-IN" sz="1400" dirty="0" err="1">
                <a:latin typeface="Courier" charset="0"/>
                <a:ea typeface="Courier" charset="0"/>
                <a:cs typeface="Courier" charset="0"/>
              </a:rPr>
              <a:t>kim</a:t>
            </a:r>
            <a:r>
              <a:rPr lang="mr-IN" sz="1400" dirty="0">
                <a:latin typeface="Courier" charset="0"/>
                <a:ea typeface="Courier" charset="0"/>
                <a:cs typeface="Courier" charset="0"/>
              </a:rPr>
              <a:t>                 ) </a:t>
            </a:r>
            <a:r>
              <a:rPr lang="mr-IN" sz="1400" dirty="0" err="1">
                <a:latin typeface="Courier" charset="0"/>
                <a:ea typeface="Courier" charset="0"/>
                <a:cs typeface="Courier" charset="0"/>
              </a:rPr>
              <a:t>out</a:t>
            </a:r>
            <a:r>
              <a:rPr lang="mr-IN" sz="1400" dirty="0">
                <a:latin typeface="Courier" charset="0"/>
                <a:ea typeface="Courier" charset="0"/>
                <a:cs typeface="Courier" charset="0"/>
              </a:rPr>
              <a:t> </a:t>
            </a:r>
            <a:r>
              <a:rPr lang="mr-IN" sz="1400" dirty="0" err="1">
                <a:latin typeface="Courier" charset="0"/>
                <a:ea typeface="Courier" charset="0"/>
                <a:cs typeface="Courier" charset="0"/>
              </a:rPr>
              <a:t>lo</a:t>
            </a:r>
            <a:r>
              <a:rPr lang="mr-IN" sz="1400" dirty="0">
                <a:latin typeface="Courier" charset="0"/>
                <a:ea typeface="Courier" charset="0"/>
                <a:cs typeface="Courier" charset="0"/>
              </a:rPr>
              <a:t>     </a:t>
            </a:r>
            <a:endParaRPr lang="it-IT" sz="1400" dirty="0">
              <a:latin typeface="Courier" charset="0"/>
              <a:ea typeface="Courier" charset="0"/>
              <a:cs typeface="Courier" charset="0"/>
            </a:endParaRPr>
          </a:p>
          <a:p>
            <a:endParaRPr lang="it-IT" sz="1400" dirty="0">
              <a:latin typeface="Courier" charset="0"/>
              <a:ea typeface="Courier" charset="0"/>
              <a:cs typeface="Courier" charset="0"/>
            </a:endParaRPr>
          </a:p>
          <a:p>
            <a:r>
              <a:rPr lang="mr-IN" sz="1400" dirty="0" err="1">
                <a:latin typeface="Courier" charset="0"/>
                <a:ea typeface="Courier" charset="0"/>
                <a:cs typeface="Courier" charset="0"/>
              </a:rPr>
              <a:t>GPIOs</a:t>
            </a:r>
            <a:r>
              <a:rPr lang="mr-IN" sz="1400" dirty="0">
                <a:latin typeface="Courier" charset="0"/>
                <a:ea typeface="Courier" charset="0"/>
                <a:cs typeface="Courier" charset="0"/>
              </a:rPr>
              <a:t> 64-95, </a:t>
            </a:r>
            <a:r>
              <a:rPr lang="mr-IN" sz="1400" dirty="0" err="1">
                <a:latin typeface="Courier" charset="0"/>
                <a:ea typeface="Courier" charset="0"/>
                <a:cs typeface="Courier" charset="0"/>
              </a:rPr>
              <a:t>platform</a:t>
            </a:r>
            <a:r>
              <a:rPr lang="mr-IN" sz="1400" dirty="0">
                <a:latin typeface="Courier" charset="0"/>
                <a:ea typeface="Courier" charset="0"/>
                <a:cs typeface="Courier" charset="0"/>
              </a:rPr>
              <a:t>/20a4000.gpio, 20a4000.gpio: </a:t>
            </a:r>
            <a:endParaRPr lang="it-IT" sz="1400" dirty="0">
              <a:latin typeface="Courier" charset="0"/>
              <a:ea typeface="Courier" charset="0"/>
              <a:cs typeface="Courier" charset="0"/>
            </a:endParaRPr>
          </a:p>
          <a:p>
            <a:r>
              <a:rPr lang="mr-IN" sz="1400" dirty="0">
                <a:latin typeface="Courier" charset="0"/>
                <a:ea typeface="Courier" charset="0"/>
                <a:cs typeface="Courier" charset="0"/>
              </a:rPr>
              <a:t>gpio-66  (</a:t>
            </a:r>
            <a:r>
              <a:rPr lang="mr-IN" sz="1400" dirty="0" err="1">
                <a:latin typeface="Courier" charset="0"/>
                <a:ea typeface="Courier" charset="0"/>
                <a:cs typeface="Courier" charset="0"/>
              </a:rPr>
              <a:t>time_sync</a:t>
            </a:r>
            <a:r>
              <a:rPr lang="mr-IN" sz="1400" dirty="0">
                <a:latin typeface="Courier" charset="0"/>
                <a:ea typeface="Courier" charset="0"/>
                <a:cs typeface="Courier" charset="0"/>
              </a:rPr>
              <a:t>           ) </a:t>
            </a:r>
            <a:r>
              <a:rPr lang="mr-IN" sz="1400" dirty="0" err="1">
                <a:latin typeface="Courier" charset="0"/>
                <a:ea typeface="Courier" charset="0"/>
                <a:cs typeface="Courier" charset="0"/>
              </a:rPr>
              <a:t>out</a:t>
            </a:r>
            <a:r>
              <a:rPr lang="mr-IN" sz="1400" dirty="0">
                <a:latin typeface="Courier" charset="0"/>
                <a:ea typeface="Courier" charset="0"/>
                <a:cs typeface="Courier" charset="0"/>
              </a:rPr>
              <a:t> </a:t>
            </a:r>
            <a:r>
              <a:rPr lang="mr-IN" sz="1400" dirty="0" err="1">
                <a:latin typeface="Courier" charset="0"/>
                <a:ea typeface="Courier" charset="0"/>
                <a:cs typeface="Courier" charset="0"/>
              </a:rPr>
              <a:t>lo</a:t>
            </a:r>
            <a:r>
              <a:rPr lang="mr-IN" sz="1400" dirty="0">
                <a:latin typeface="Courier" charset="0"/>
                <a:ea typeface="Courier" charset="0"/>
                <a:cs typeface="Courier" charset="0"/>
              </a:rPr>
              <a:t>     </a:t>
            </a:r>
            <a:endParaRPr lang="it-IT" sz="1400" dirty="0">
              <a:latin typeface="Courier" charset="0"/>
              <a:ea typeface="Courier" charset="0"/>
              <a:cs typeface="Courier" charset="0"/>
            </a:endParaRPr>
          </a:p>
          <a:p>
            <a:endParaRPr lang="it-IT" sz="1400" dirty="0">
              <a:latin typeface="Courier" charset="0"/>
              <a:ea typeface="Courier" charset="0"/>
              <a:cs typeface="Courier" charset="0"/>
            </a:endParaRPr>
          </a:p>
          <a:p>
            <a:r>
              <a:rPr lang="mr-IN" sz="1400" dirty="0" err="1">
                <a:latin typeface="Courier" charset="0"/>
                <a:ea typeface="Courier" charset="0"/>
                <a:cs typeface="Courier" charset="0"/>
              </a:rPr>
              <a:t>GPIOs</a:t>
            </a:r>
            <a:r>
              <a:rPr lang="mr-IN" sz="1400" dirty="0">
                <a:latin typeface="Courier" charset="0"/>
                <a:ea typeface="Courier" charset="0"/>
                <a:cs typeface="Courier" charset="0"/>
              </a:rPr>
              <a:t> 96-127, </a:t>
            </a:r>
            <a:r>
              <a:rPr lang="mr-IN" sz="1400" dirty="0" err="1">
                <a:latin typeface="Courier" charset="0"/>
                <a:ea typeface="Courier" charset="0"/>
                <a:cs typeface="Courier" charset="0"/>
              </a:rPr>
              <a:t>platform</a:t>
            </a:r>
            <a:r>
              <a:rPr lang="mr-IN" sz="1400" dirty="0">
                <a:latin typeface="Courier" charset="0"/>
                <a:ea typeface="Courier" charset="0"/>
                <a:cs typeface="Courier" charset="0"/>
              </a:rPr>
              <a:t>/20a8000.gpio, 20a8000.gpio: </a:t>
            </a:r>
            <a:endParaRPr lang="it-IT" sz="1400" dirty="0">
              <a:latin typeface="Courier" charset="0"/>
              <a:ea typeface="Courier" charset="0"/>
              <a:cs typeface="Courier" charset="0"/>
            </a:endParaRPr>
          </a:p>
          <a:p>
            <a:r>
              <a:rPr lang="mr-IN" sz="1400" dirty="0">
                <a:latin typeface="Courier" charset="0"/>
                <a:ea typeface="Courier" charset="0"/>
                <a:cs typeface="Courier" charset="0"/>
              </a:rPr>
              <a:t>gpio-108 (usb_otg2_vbus       ) </a:t>
            </a:r>
            <a:r>
              <a:rPr lang="mr-IN" sz="1400" dirty="0" err="1">
                <a:latin typeface="Courier" charset="0"/>
                <a:ea typeface="Courier" charset="0"/>
                <a:cs typeface="Courier" charset="0"/>
              </a:rPr>
              <a:t>out</a:t>
            </a:r>
            <a:r>
              <a:rPr lang="mr-IN" sz="1400" dirty="0">
                <a:latin typeface="Courier" charset="0"/>
                <a:ea typeface="Courier" charset="0"/>
                <a:cs typeface="Courier" charset="0"/>
              </a:rPr>
              <a:t> </a:t>
            </a:r>
            <a:r>
              <a:rPr lang="mr-IN" sz="1400" dirty="0" err="1">
                <a:latin typeface="Courier" charset="0"/>
                <a:ea typeface="Courier" charset="0"/>
                <a:cs typeface="Courier" charset="0"/>
              </a:rPr>
              <a:t>lo</a:t>
            </a:r>
            <a:r>
              <a:rPr lang="mr-IN" sz="1400" dirty="0">
                <a:latin typeface="Courier" charset="0"/>
                <a:ea typeface="Courier" charset="0"/>
                <a:cs typeface="Courier" charset="0"/>
              </a:rPr>
              <a:t>     </a:t>
            </a:r>
            <a:endParaRPr lang="it-IT" sz="1400" dirty="0">
              <a:latin typeface="Courier" charset="0"/>
              <a:ea typeface="Courier" charset="0"/>
              <a:cs typeface="Courier" charset="0"/>
            </a:endParaRPr>
          </a:p>
          <a:p>
            <a:endParaRPr lang="it-IT" sz="1400" dirty="0">
              <a:latin typeface="Courier" charset="0"/>
              <a:ea typeface="Courier" charset="0"/>
              <a:cs typeface="Courier" charset="0"/>
            </a:endParaRPr>
          </a:p>
          <a:p>
            <a:r>
              <a:rPr lang="mr-IN" sz="1400" dirty="0" err="1">
                <a:latin typeface="Courier" charset="0"/>
                <a:ea typeface="Courier" charset="0"/>
                <a:cs typeface="Courier" charset="0"/>
              </a:rPr>
              <a:t>GPIOs</a:t>
            </a:r>
            <a:r>
              <a:rPr lang="mr-IN" sz="1400" dirty="0">
                <a:latin typeface="Courier" charset="0"/>
                <a:ea typeface="Courier" charset="0"/>
                <a:cs typeface="Courier" charset="0"/>
              </a:rPr>
              <a:t> 128-159, </a:t>
            </a:r>
            <a:r>
              <a:rPr lang="mr-IN" sz="1400" dirty="0" err="1">
                <a:latin typeface="Courier" charset="0"/>
                <a:ea typeface="Courier" charset="0"/>
                <a:cs typeface="Courier" charset="0"/>
              </a:rPr>
              <a:t>platform</a:t>
            </a:r>
            <a:r>
              <a:rPr lang="mr-IN" sz="1400" dirty="0">
                <a:latin typeface="Courier" charset="0"/>
                <a:ea typeface="Courier" charset="0"/>
                <a:cs typeface="Courier" charset="0"/>
              </a:rPr>
              <a:t>/20ac000.gpio, 20ac000.gpio: </a:t>
            </a:r>
            <a:endParaRPr lang="it-IT" sz="1400" dirty="0">
              <a:latin typeface="Courier" charset="0"/>
              <a:ea typeface="Courier" charset="0"/>
              <a:cs typeface="Courier" charset="0"/>
            </a:endParaRPr>
          </a:p>
          <a:p>
            <a:r>
              <a:rPr lang="mr-IN" sz="1400" dirty="0">
                <a:latin typeface="Courier" charset="0"/>
                <a:ea typeface="Courier" charset="0"/>
                <a:cs typeface="Courier" charset="0"/>
              </a:rPr>
              <a:t>gpio-132 (</a:t>
            </a:r>
            <a:r>
              <a:rPr lang="mr-IN" sz="1400" dirty="0" err="1">
                <a:latin typeface="Courier" charset="0"/>
                <a:ea typeface="Courier" charset="0"/>
                <a:cs typeface="Courier" charset="0"/>
              </a:rPr>
              <a:t>phy-reset</a:t>
            </a:r>
            <a:r>
              <a:rPr lang="mr-IN" sz="1400" dirty="0">
                <a:latin typeface="Courier" charset="0"/>
                <a:ea typeface="Courier" charset="0"/>
                <a:cs typeface="Courier" charset="0"/>
              </a:rPr>
              <a:t>           ) </a:t>
            </a:r>
            <a:r>
              <a:rPr lang="mr-IN" sz="1400" dirty="0" err="1">
                <a:latin typeface="Courier" charset="0"/>
                <a:ea typeface="Courier" charset="0"/>
                <a:cs typeface="Courier" charset="0"/>
              </a:rPr>
              <a:t>out</a:t>
            </a:r>
            <a:r>
              <a:rPr lang="mr-IN" sz="1400" dirty="0">
                <a:latin typeface="Courier" charset="0"/>
                <a:ea typeface="Courier" charset="0"/>
                <a:cs typeface="Courier" charset="0"/>
              </a:rPr>
              <a:t> </a:t>
            </a:r>
            <a:r>
              <a:rPr lang="mr-IN" sz="1400" dirty="0" err="1">
                <a:latin typeface="Courier" charset="0"/>
                <a:ea typeface="Courier" charset="0"/>
                <a:cs typeface="Courier" charset="0"/>
              </a:rPr>
              <a:t>lo</a:t>
            </a:r>
            <a:r>
              <a:rPr lang="mr-IN" sz="1400" dirty="0">
                <a:latin typeface="Courier" charset="0"/>
                <a:ea typeface="Courier" charset="0"/>
                <a:cs typeface="Courier" charset="0"/>
              </a:rPr>
              <a:t>     </a:t>
            </a:r>
            <a:endParaRPr lang="it-IT" sz="1400" dirty="0">
              <a:latin typeface="Courier" charset="0"/>
              <a:ea typeface="Courier" charset="0"/>
              <a:cs typeface="Courier" charset="0"/>
            </a:endParaRPr>
          </a:p>
          <a:p>
            <a:endParaRPr lang="it-IT" sz="1400" dirty="0">
              <a:latin typeface="Courier" charset="0"/>
              <a:ea typeface="Courier" charset="0"/>
              <a:cs typeface="Courier" charset="0"/>
            </a:endParaRPr>
          </a:p>
          <a:p>
            <a:r>
              <a:rPr lang="mr-IN" sz="1400" dirty="0" err="1">
                <a:latin typeface="Courier" charset="0"/>
                <a:ea typeface="Courier" charset="0"/>
                <a:cs typeface="Courier" charset="0"/>
              </a:rPr>
              <a:t>GPIOs</a:t>
            </a:r>
            <a:r>
              <a:rPr lang="mr-IN" sz="1400" dirty="0">
                <a:latin typeface="Courier" charset="0"/>
                <a:ea typeface="Courier" charset="0"/>
                <a:cs typeface="Courier" charset="0"/>
              </a:rPr>
              <a:t> 160-191, </a:t>
            </a:r>
            <a:r>
              <a:rPr lang="mr-IN" sz="1400" dirty="0" err="1">
                <a:latin typeface="Courier" charset="0"/>
                <a:ea typeface="Courier" charset="0"/>
                <a:cs typeface="Courier" charset="0"/>
              </a:rPr>
              <a:t>platform</a:t>
            </a:r>
            <a:r>
              <a:rPr lang="mr-IN" sz="1400" dirty="0">
                <a:latin typeface="Courier" charset="0"/>
                <a:ea typeface="Courier" charset="0"/>
                <a:cs typeface="Courier" charset="0"/>
              </a:rPr>
              <a:t>/20b0000.gpio, 20b0000.gpio: </a:t>
            </a:r>
            <a:endParaRPr lang="it-IT" sz="1400" dirty="0">
              <a:latin typeface="Courier" charset="0"/>
              <a:ea typeface="Courier" charset="0"/>
              <a:cs typeface="Courier" charset="0"/>
            </a:endParaRPr>
          </a:p>
          <a:p>
            <a:r>
              <a:rPr lang="mr-IN" sz="1400" dirty="0">
                <a:latin typeface="Courier" charset="0"/>
                <a:ea typeface="Courier" charset="0"/>
                <a:cs typeface="Courier" charset="0"/>
              </a:rPr>
              <a:t>gpio-160 (led0                ) </a:t>
            </a:r>
            <a:r>
              <a:rPr lang="mr-IN" sz="1400" dirty="0" err="1">
                <a:latin typeface="Courier" charset="0"/>
                <a:ea typeface="Courier" charset="0"/>
                <a:cs typeface="Courier" charset="0"/>
              </a:rPr>
              <a:t>out</a:t>
            </a:r>
            <a:r>
              <a:rPr lang="mr-IN" sz="1400" dirty="0">
                <a:latin typeface="Courier" charset="0"/>
                <a:ea typeface="Courier" charset="0"/>
                <a:cs typeface="Courier" charset="0"/>
              </a:rPr>
              <a:t> </a:t>
            </a:r>
            <a:r>
              <a:rPr lang="mr-IN" sz="1400" dirty="0" err="1">
                <a:latin typeface="Courier" charset="0"/>
                <a:ea typeface="Courier" charset="0"/>
                <a:cs typeface="Courier" charset="0"/>
              </a:rPr>
              <a:t>lo</a:t>
            </a:r>
            <a:r>
              <a:rPr lang="mr-IN" sz="1400" dirty="0">
                <a:latin typeface="Courier" charset="0"/>
                <a:ea typeface="Courier" charset="0"/>
                <a:cs typeface="Courier" charset="0"/>
              </a:rPr>
              <a:t>     </a:t>
            </a:r>
            <a:endParaRPr lang="it-IT" sz="1400" dirty="0">
              <a:latin typeface="Courier" charset="0"/>
              <a:ea typeface="Courier" charset="0"/>
              <a:cs typeface="Courier" charset="0"/>
            </a:endParaRPr>
          </a:p>
          <a:p>
            <a:r>
              <a:rPr lang="mr-IN" sz="1400" dirty="0">
                <a:latin typeface="Courier" charset="0"/>
                <a:ea typeface="Courier" charset="0"/>
                <a:cs typeface="Courier" charset="0"/>
              </a:rPr>
              <a:t>gpio-162 (2194000.usdhc </a:t>
            </a:r>
            <a:r>
              <a:rPr lang="mr-IN" sz="1400" dirty="0" err="1">
                <a:latin typeface="Courier" charset="0"/>
                <a:ea typeface="Courier" charset="0"/>
                <a:cs typeface="Courier" charset="0"/>
              </a:rPr>
              <a:t>cd</a:t>
            </a:r>
            <a:r>
              <a:rPr lang="mr-IN" sz="1400" dirty="0">
                <a:latin typeface="Courier" charset="0"/>
                <a:ea typeface="Courier" charset="0"/>
                <a:cs typeface="Courier" charset="0"/>
              </a:rPr>
              <a:t>    ) </a:t>
            </a:r>
            <a:r>
              <a:rPr lang="mr-IN" sz="1400" dirty="0" err="1">
                <a:latin typeface="Courier" charset="0"/>
                <a:ea typeface="Courier" charset="0"/>
                <a:cs typeface="Courier" charset="0"/>
              </a:rPr>
              <a:t>in</a:t>
            </a:r>
            <a:r>
              <a:rPr lang="mr-IN" sz="1400" dirty="0">
                <a:latin typeface="Courier" charset="0"/>
                <a:ea typeface="Courier" charset="0"/>
                <a:cs typeface="Courier" charset="0"/>
              </a:rPr>
              <a:t>  </a:t>
            </a:r>
            <a:r>
              <a:rPr lang="mr-IN" sz="1400" dirty="0" err="1">
                <a:latin typeface="Courier" charset="0"/>
                <a:ea typeface="Courier" charset="0"/>
                <a:cs typeface="Courier" charset="0"/>
              </a:rPr>
              <a:t>lo</a:t>
            </a:r>
            <a:r>
              <a:rPr lang="mr-IN" sz="1400" dirty="0">
                <a:latin typeface="Courier" charset="0"/>
                <a:ea typeface="Courier" charset="0"/>
                <a:cs typeface="Courier" charset="0"/>
              </a:rPr>
              <a:t>     </a:t>
            </a:r>
            <a:endParaRPr lang="it-IT" sz="1400" dirty="0">
              <a:latin typeface="Courier" charset="0"/>
              <a:ea typeface="Courier" charset="0"/>
              <a:cs typeface="Courier" charset="0"/>
            </a:endParaRPr>
          </a:p>
          <a:p>
            <a:endParaRPr lang="it-IT" sz="1400" dirty="0">
              <a:latin typeface="Courier" charset="0"/>
              <a:ea typeface="Courier" charset="0"/>
              <a:cs typeface="Courier" charset="0"/>
            </a:endParaRPr>
          </a:p>
          <a:p>
            <a:r>
              <a:rPr lang="mr-IN" sz="1400" dirty="0" err="1">
                <a:latin typeface="Courier" charset="0"/>
                <a:ea typeface="Courier" charset="0"/>
                <a:cs typeface="Courier" charset="0"/>
              </a:rPr>
              <a:t>GPIOs</a:t>
            </a:r>
            <a:r>
              <a:rPr lang="mr-IN" sz="1400" dirty="0">
                <a:latin typeface="Courier" charset="0"/>
                <a:ea typeface="Courier" charset="0"/>
                <a:cs typeface="Courier" charset="0"/>
              </a:rPr>
              <a:t> 192-223, </a:t>
            </a:r>
            <a:r>
              <a:rPr lang="mr-IN" sz="1400" dirty="0" err="1">
                <a:latin typeface="Courier" charset="0"/>
                <a:ea typeface="Courier" charset="0"/>
                <a:cs typeface="Courier" charset="0"/>
              </a:rPr>
              <a:t>platform</a:t>
            </a:r>
            <a:r>
              <a:rPr lang="mr-IN" sz="1400" dirty="0">
                <a:latin typeface="Courier" charset="0"/>
                <a:ea typeface="Courier" charset="0"/>
                <a:cs typeface="Courier" charset="0"/>
              </a:rPr>
              <a:t>/20b4000.gpio, 20b4000.gpio:</a:t>
            </a:r>
            <a:endParaRPr lang="en-US" sz="1400" dirty="0">
              <a:latin typeface="Courier" charset="0"/>
              <a:ea typeface="Courier" charset="0"/>
              <a:cs typeface="Courier" charset="0"/>
            </a:endParaRPr>
          </a:p>
        </p:txBody>
      </p:sp>
      <p:sp>
        <p:nvSpPr>
          <p:cNvPr id="8" name="Left Brace 7">
            <a:extLst>
              <a:ext uri="{FF2B5EF4-FFF2-40B4-BE49-F238E27FC236}">
                <a16:creationId xmlns:a16="http://schemas.microsoft.com/office/drawing/2014/main" id="{019830AF-FF50-4591-89A7-ABCF437A6874}"/>
              </a:ext>
            </a:extLst>
          </p:cNvPr>
          <p:cNvSpPr/>
          <p:nvPr/>
        </p:nvSpPr>
        <p:spPr>
          <a:xfrm>
            <a:off x="6110288" y="1447800"/>
            <a:ext cx="152400" cy="441960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F1D0C369-8D79-4B70-B88D-9A58D40FF309}"/>
              </a:ext>
            </a:extLst>
          </p:cNvPr>
          <p:cNvCxnSpPr/>
          <p:nvPr/>
        </p:nvCxnSpPr>
        <p:spPr>
          <a:xfrm flipV="1">
            <a:off x="5598319" y="3700463"/>
            <a:ext cx="511969" cy="45720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1873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a:t>
            </a:r>
            <a:r>
              <a:rPr lang="en-US" dirty="0" err="1"/>
              <a:t>sysfs</a:t>
            </a:r>
            <a:r>
              <a:rPr lang="en-US" dirty="0"/>
              <a:t> File System</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Users can read/write the kernel objects exported through </a:t>
            </a:r>
            <a:r>
              <a:rPr lang="en-US" sz="2000" dirty="0" err="1">
                <a:latin typeface="Courier" charset="0"/>
                <a:ea typeface="Courier" charset="0"/>
                <a:cs typeface="Courier" charset="0"/>
              </a:rPr>
              <a:t>sysfs</a:t>
            </a:r>
            <a:r>
              <a:rPr lang="en-US" sz="2000" dirty="0">
                <a:latin typeface="Courier" charset="0"/>
                <a:ea typeface="Courier" charset="0"/>
                <a:cs typeface="Courier" charset="0"/>
              </a:rPr>
              <a:t>.</a:t>
            </a:r>
            <a:endParaRPr lang="en-US" dirty="0">
              <a:latin typeface="Courier" charset="0"/>
              <a:ea typeface="Courier" charset="0"/>
              <a:cs typeface="Courier" charset="0"/>
            </a:endParaRPr>
          </a:p>
          <a:p>
            <a:r>
              <a:rPr lang="en-US" dirty="0"/>
              <a:t>Depending on the specific purpose of the kernel object, read/write operations corresponds to object-specific behaviors.</a:t>
            </a:r>
          </a:p>
          <a:p>
            <a:r>
              <a:rPr lang="en-US" dirty="0"/>
              <a:t>Example </a:t>
            </a:r>
            <a:r>
              <a:rPr lang="en-US" sz="2000" dirty="0">
                <a:solidFill>
                  <a:srgbClr val="118CAB"/>
                </a:solidFill>
                <a:latin typeface="Courier" charset="0"/>
                <a:ea typeface="Courier" charset="0"/>
                <a:cs typeface="Courier" charset="0"/>
              </a:rPr>
              <a:t>/sys/class/</a:t>
            </a:r>
            <a:r>
              <a:rPr lang="en-US" sz="2000" dirty="0" err="1">
                <a:solidFill>
                  <a:srgbClr val="118CAB"/>
                </a:solidFill>
                <a:latin typeface="Courier" charset="0"/>
                <a:ea typeface="Courier" charset="0"/>
                <a:cs typeface="Courier" charset="0"/>
              </a:rPr>
              <a:t>gpio</a:t>
            </a:r>
            <a:endParaRPr lang="en-US" altLang="en-US" dirty="0">
              <a:ea typeface="ＭＳ Ｐゴシック" panose="020B0600070205080204" pitchFamily="34" charset="-128"/>
            </a:endParaRPr>
          </a:p>
          <a:p>
            <a:pPr lvl="1"/>
            <a:r>
              <a:rPr lang="en-US" dirty="0"/>
              <a:t>It provides user-level access to general purpose I/</a:t>
            </a:r>
            <a:r>
              <a:rPr lang="en-US" dirty="0" err="1"/>
              <a:t>Os</a:t>
            </a:r>
            <a:r>
              <a:rPr lang="en-US" dirty="0"/>
              <a:t> (GPIO).</a:t>
            </a:r>
          </a:p>
          <a:p>
            <a:pPr lvl="1"/>
            <a:r>
              <a:rPr lang="en-US" dirty="0"/>
              <a:t>It contains </a:t>
            </a:r>
          </a:p>
          <a:p>
            <a:pPr lvl="2"/>
            <a:r>
              <a:rPr lang="en-US" dirty="0"/>
              <a:t>Two control files, </a:t>
            </a:r>
            <a:r>
              <a:rPr lang="en-US" sz="1400" dirty="0">
                <a:solidFill>
                  <a:srgbClr val="118CAB"/>
                </a:solidFill>
                <a:latin typeface="Courier" charset="0"/>
                <a:ea typeface="Courier" charset="0"/>
                <a:cs typeface="Courier" charset="0"/>
              </a:rPr>
              <a:t>export</a:t>
            </a:r>
            <a:r>
              <a:rPr lang="en-US" dirty="0"/>
              <a:t> and </a:t>
            </a:r>
            <a:r>
              <a:rPr lang="en-US" sz="1400" dirty="0" err="1">
                <a:solidFill>
                  <a:srgbClr val="118CAB"/>
                </a:solidFill>
                <a:latin typeface="Courier" charset="0"/>
                <a:ea typeface="Courier" charset="0"/>
                <a:cs typeface="Courier" charset="0"/>
              </a:rPr>
              <a:t>unexport</a:t>
            </a:r>
            <a:r>
              <a:rPr lang="en-US" dirty="0"/>
              <a:t>, to decide which GPIO is accessible to the user</a:t>
            </a:r>
          </a:p>
          <a:p>
            <a:pPr lvl="2"/>
            <a:r>
              <a:rPr lang="en-US" dirty="0"/>
              <a:t>One directory for each user-accessible GPIO, storing the </a:t>
            </a:r>
            <a:r>
              <a:rPr lang="en-US" sz="1400" dirty="0">
                <a:solidFill>
                  <a:srgbClr val="118CAB"/>
                </a:solidFill>
                <a:latin typeface="Courier" charset="0"/>
                <a:ea typeface="Courier" charset="0"/>
                <a:cs typeface="Courier" charset="0"/>
              </a:rPr>
              <a:t>direction</a:t>
            </a:r>
            <a:r>
              <a:rPr lang="en-US" dirty="0">
                <a:solidFill>
                  <a:srgbClr val="118CAB"/>
                </a:solidFill>
              </a:rPr>
              <a:t> </a:t>
            </a:r>
            <a:r>
              <a:rPr lang="en-US" dirty="0"/>
              <a:t>file whose content defines whether the GPIO is an input or an output, and a </a:t>
            </a:r>
            <a:r>
              <a:rPr lang="en-US" sz="1400" dirty="0">
                <a:solidFill>
                  <a:srgbClr val="118CAB"/>
                </a:solidFill>
                <a:latin typeface="Courier" charset="0"/>
                <a:ea typeface="Courier" charset="0"/>
                <a:cs typeface="Courier" charset="0"/>
              </a:rPr>
              <a:t>value</a:t>
            </a:r>
            <a:r>
              <a:rPr lang="en-US" dirty="0">
                <a:solidFill>
                  <a:srgbClr val="118CAB"/>
                </a:solidFill>
              </a:rPr>
              <a:t> </a:t>
            </a:r>
            <a:r>
              <a:rPr lang="en-US" dirty="0"/>
              <a:t>file whose content is the value to be written to the output GPIO or the value read from an input GPIO</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62650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The </a:t>
            </a:r>
            <a:r>
              <a:rPr lang="en-US" dirty="0" err="1"/>
              <a:t>sysfs</a:t>
            </a:r>
            <a:r>
              <a:rPr lang="en-US" dirty="0"/>
              <a:t> File System: Controlling GPIOs</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The user can write to GPIOs by</a:t>
            </a:r>
            <a:endParaRPr lang="en-US" altLang="en-US" dirty="0">
              <a:ea typeface="ＭＳ Ｐゴシック" panose="020B0600070205080204" pitchFamily="34" charset="-128"/>
            </a:endParaRPr>
          </a:p>
          <a:p>
            <a:pPr lvl="1"/>
            <a:r>
              <a:rPr lang="en-US" dirty="0"/>
              <a:t>Exporting the GPIO, e.g., 105: </a:t>
            </a:r>
            <a:r>
              <a:rPr lang="en-US" dirty="0">
                <a:solidFill>
                  <a:srgbClr val="118CAB"/>
                </a:solidFill>
                <a:latin typeface="Courier" charset="0"/>
                <a:ea typeface="Courier" charset="0"/>
                <a:cs typeface="Courier" charset="0"/>
              </a:rPr>
              <a:t>echo 105 &gt; /sys/class/</a:t>
            </a:r>
            <a:r>
              <a:rPr lang="en-US" dirty="0" err="1">
                <a:solidFill>
                  <a:srgbClr val="118CAB"/>
                </a:solidFill>
                <a:latin typeface="Courier" charset="0"/>
                <a:ea typeface="Courier" charset="0"/>
                <a:cs typeface="Courier" charset="0"/>
              </a:rPr>
              <a:t>gpio</a:t>
            </a:r>
            <a:r>
              <a:rPr lang="en-US" dirty="0">
                <a:solidFill>
                  <a:srgbClr val="118CAB"/>
                </a:solidFill>
                <a:latin typeface="Courier" charset="0"/>
                <a:ea typeface="Courier" charset="0"/>
                <a:cs typeface="Courier" charset="0"/>
              </a:rPr>
              <a:t>/export</a:t>
            </a:r>
            <a:endParaRPr lang="en-US" dirty="0">
              <a:solidFill>
                <a:srgbClr val="118CAB"/>
              </a:solidFill>
            </a:endParaRPr>
          </a:p>
          <a:p>
            <a:pPr lvl="1"/>
            <a:r>
              <a:rPr lang="en-US" dirty="0"/>
              <a:t>Setting the direction: </a:t>
            </a:r>
            <a:r>
              <a:rPr lang="en-US" dirty="0">
                <a:solidFill>
                  <a:srgbClr val="118CAB"/>
                </a:solidFill>
                <a:latin typeface="Courier" charset="0"/>
                <a:ea typeface="Courier" charset="0"/>
                <a:cs typeface="Courier" charset="0"/>
              </a:rPr>
              <a:t>echo "out" &gt; /sys/class/</a:t>
            </a:r>
            <a:r>
              <a:rPr lang="en-US" dirty="0" err="1">
                <a:solidFill>
                  <a:srgbClr val="118CAB"/>
                </a:solidFill>
                <a:latin typeface="Courier" charset="0"/>
                <a:ea typeface="Courier" charset="0"/>
                <a:cs typeface="Courier" charset="0"/>
              </a:rPr>
              <a:t>gpio</a:t>
            </a:r>
            <a:r>
              <a:rPr lang="en-US" dirty="0">
                <a:solidFill>
                  <a:srgbClr val="118CAB"/>
                </a:solidFill>
                <a:latin typeface="Courier" charset="0"/>
                <a:ea typeface="Courier" charset="0"/>
                <a:cs typeface="Courier" charset="0"/>
              </a:rPr>
              <a:t>/gpio105/direction</a:t>
            </a:r>
            <a:endParaRPr lang="en-US" dirty="0">
              <a:solidFill>
                <a:srgbClr val="118CAB"/>
              </a:solidFill>
            </a:endParaRPr>
          </a:p>
          <a:p>
            <a:pPr lvl="1"/>
            <a:r>
              <a:rPr lang="en-US" dirty="0"/>
              <a:t>Writing the desired value: </a:t>
            </a:r>
            <a:r>
              <a:rPr lang="en-US" dirty="0">
                <a:solidFill>
                  <a:srgbClr val="118CAB"/>
                </a:solidFill>
                <a:latin typeface="Courier" charset="0"/>
                <a:ea typeface="Courier" charset="0"/>
                <a:cs typeface="Courier" charset="0"/>
              </a:rPr>
              <a:t>echo 1 &gt; /sys/class/</a:t>
            </a:r>
            <a:r>
              <a:rPr lang="en-US" dirty="0" err="1">
                <a:solidFill>
                  <a:srgbClr val="118CAB"/>
                </a:solidFill>
                <a:latin typeface="Courier" charset="0"/>
                <a:ea typeface="Courier" charset="0"/>
                <a:cs typeface="Courier" charset="0"/>
              </a:rPr>
              <a:t>gpio</a:t>
            </a:r>
            <a:r>
              <a:rPr lang="en-US" dirty="0">
                <a:solidFill>
                  <a:srgbClr val="118CAB"/>
                </a:solidFill>
                <a:latin typeface="Courier" charset="0"/>
                <a:ea typeface="Courier" charset="0"/>
                <a:cs typeface="Courier" charset="0"/>
              </a:rPr>
              <a:t>/</a:t>
            </a:r>
            <a:r>
              <a:rPr lang="en-US" dirty="0" err="1">
                <a:solidFill>
                  <a:srgbClr val="118CAB"/>
                </a:solidFill>
                <a:latin typeface="Courier" charset="0"/>
                <a:ea typeface="Courier" charset="0"/>
                <a:cs typeface="Courier" charset="0"/>
              </a:rPr>
              <a:t>gpio105</a:t>
            </a:r>
            <a:r>
              <a:rPr lang="en-US" dirty="0">
                <a:solidFill>
                  <a:srgbClr val="118CAB"/>
                </a:solidFill>
                <a:latin typeface="Courier" charset="0"/>
                <a:ea typeface="Courier" charset="0"/>
                <a:cs typeface="Courier" charset="0"/>
              </a:rPr>
              <a:t>/value</a:t>
            </a:r>
            <a:endParaRPr lang="en-US" altLang="en-US" dirty="0">
              <a:ea typeface="ＭＳ Ｐゴシック" panose="020B0600070205080204" pitchFamily="34" charset="-128"/>
            </a:endParaRPr>
          </a:p>
          <a:p>
            <a:r>
              <a:rPr lang="en-US" dirty="0"/>
              <a:t>The user can read from GPIOs by</a:t>
            </a:r>
            <a:endParaRPr lang="en-US" altLang="en-US" dirty="0">
              <a:ea typeface="ＭＳ Ｐゴシック" panose="020B0600070205080204" pitchFamily="34" charset="-128"/>
            </a:endParaRPr>
          </a:p>
          <a:p>
            <a:pPr lvl="1"/>
            <a:r>
              <a:rPr lang="en-US" dirty="0"/>
              <a:t>Exporting the GPIO, e.g., 105: </a:t>
            </a:r>
            <a:r>
              <a:rPr lang="en-US" dirty="0">
                <a:solidFill>
                  <a:srgbClr val="118CAB"/>
                </a:solidFill>
                <a:latin typeface="Courier" charset="0"/>
                <a:ea typeface="Courier" charset="0"/>
                <a:cs typeface="Courier" charset="0"/>
              </a:rPr>
              <a:t>echo 105 &gt; /sys/class/</a:t>
            </a:r>
            <a:r>
              <a:rPr lang="en-US" dirty="0" err="1">
                <a:solidFill>
                  <a:srgbClr val="118CAB"/>
                </a:solidFill>
                <a:latin typeface="Courier" charset="0"/>
                <a:ea typeface="Courier" charset="0"/>
                <a:cs typeface="Courier" charset="0"/>
              </a:rPr>
              <a:t>gpio</a:t>
            </a:r>
            <a:r>
              <a:rPr lang="en-US" dirty="0">
                <a:solidFill>
                  <a:srgbClr val="118CAB"/>
                </a:solidFill>
                <a:latin typeface="Courier" charset="0"/>
                <a:ea typeface="Courier" charset="0"/>
                <a:cs typeface="Courier" charset="0"/>
              </a:rPr>
              <a:t>/export</a:t>
            </a:r>
            <a:endParaRPr lang="en-US" dirty="0">
              <a:solidFill>
                <a:srgbClr val="118CAB"/>
              </a:solidFill>
            </a:endParaRPr>
          </a:p>
          <a:p>
            <a:pPr lvl="1"/>
            <a:r>
              <a:rPr lang="en-US" dirty="0"/>
              <a:t>Setting the direction: </a:t>
            </a:r>
            <a:r>
              <a:rPr lang="en-US" dirty="0">
                <a:solidFill>
                  <a:srgbClr val="118CAB"/>
                </a:solidFill>
                <a:latin typeface="Courier" charset="0"/>
                <a:ea typeface="Courier" charset="0"/>
                <a:cs typeface="Courier" charset="0"/>
              </a:rPr>
              <a:t>echo "in" &gt; /sys/class/</a:t>
            </a:r>
            <a:r>
              <a:rPr lang="en-US" dirty="0" err="1">
                <a:solidFill>
                  <a:srgbClr val="118CAB"/>
                </a:solidFill>
                <a:latin typeface="Courier" charset="0"/>
                <a:ea typeface="Courier" charset="0"/>
                <a:cs typeface="Courier" charset="0"/>
              </a:rPr>
              <a:t>gpio</a:t>
            </a:r>
            <a:r>
              <a:rPr lang="en-US" dirty="0">
                <a:solidFill>
                  <a:srgbClr val="118CAB"/>
                </a:solidFill>
                <a:latin typeface="Courier" charset="0"/>
                <a:ea typeface="Courier" charset="0"/>
                <a:cs typeface="Courier" charset="0"/>
              </a:rPr>
              <a:t>/gpio105/direction</a:t>
            </a:r>
            <a:endParaRPr lang="en-US" dirty="0">
              <a:solidFill>
                <a:srgbClr val="118CAB"/>
              </a:solidFill>
            </a:endParaRPr>
          </a:p>
          <a:p>
            <a:pPr lvl="1"/>
            <a:r>
              <a:rPr lang="en-US" dirty="0"/>
              <a:t>Reading the GPIO value: </a:t>
            </a:r>
            <a:r>
              <a:rPr lang="en-US" dirty="0">
                <a:solidFill>
                  <a:srgbClr val="118CAB"/>
                </a:solidFill>
                <a:latin typeface="Courier" charset="0"/>
                <a:ea typeface="Courier" charset="0"/>
                <a:cs typeface="Courier" charset="0"/>
              </a:rPr>
              <a:t>cat /sys/class/</a:t>
            </a:r>
            <a:r>
              <a:rPr lang="en-US" dirty="0" err="1">
                <a:solidFill>
                  <a:srgbClr val="118CAB"/>
                </a:solidFill>
                <a:latin typeface="Courier" charset="0"/>
                <a:ea typeface="Courier" charset="0"/>
                <a:cs typeface="Courier" charset="0"/>
              </a:rPr>
              <a:t>gpio</a:t>
            </a:r>
            <a:r>
              <a:rPr lang="en-US" dirty="0">
                <a:solidFill>
                  <a:srgbClr val="118CAB"/>
                </a:solidFill>
                <a:latin typeface="Courier" charset="0"/>
                <a:ea typeface="Courier" charset="0"/>
                <a:cs typeface="Courier" charset="0"/>
              </a:rPr>
              <a:t>/</a:t>
            </a:r>
            <a:r>
              <a:rPr lang="en-US" dirty="0" err="1">
                <a:solidFill>
                  <a:srgbClr val="118CAB"/>
                </a:solidFill>
                <a:latin typeface="Courier" charset="0"/>
                <a:ea typeface="Courier" charset="0"/>
                <a:cs typeface="Courier" charset="0"/>
              </a:rPr>
              <a:t>gpio105</a:t>
            </a:r>
            <a:r>
              <a:rPr lang="en-US" dirty="0">
                <a:solidFill>
                  <a:srgbClr val="118CAB"/>
                </a:solidFill>
                <a:latin typeface="Courier" charset="0"/>
                <a:ea typeface="Courier" charset="0"/>
                <a:cs typeface="Courier" charset="0"/>
              </a:rPr>
              <a:t>/value</a:t>
            </a:r>
            <a:endParaRPr lang="en-US" dirty="0">
              <a:solidFill>
                <a:srgbClr val="118CAB"/>
              </a:solidFill>
            </a:endParaRPr>
          </a:p>
        </p:txBody>
      </p:sp>
    </p:spTree>
    <p:extLst>
      <p:ext uri="{BB962C8B-B14F-4D97-AF65-F5344CB8AC3E}">
        <p14:creationId xmlns:p14="http://schemas.microsoft.com/office/powerpoint/2010/main" val="3132118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Adding Entries to the </a:t>
            </a:r>
            <a:r>
              <a:rPr lang="en-US" dirty="0" err="1"/>
              <a:t>sysfs</a:t>
            </a:r>
            <a:r>
              <a:rPr lang="en-US" dirty="0"/>
              <a:t> File System</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Entries that can be added to the </a:t>
            </a:r>
            <a:r>
              <a:rPr lang="en-US" dirty="0" err="1"/>
              <a:t>sysfs</a:t>
            </a:r>
            <a:r>
              <a:rPr lang="en-US" dirty="0"/>
              <a:t> file system are the directory and files.</a:t>
            </a:r>
          </a:p>
          <a:p>
            <a:r>
              <a:rPr lang="en-US" dirty="0"/>
              <a:t>To add a new directory to the </a:t>
            </a:r>
            <a:r>
              <a:rPr lang="en-US" dirty="0" err="1"/>
              <a:t>sysfs</a:t>
            </a:r>
            <a:r>
              <a:rPr lang="en-US" dirty="0"/>
              <a:t> file system:</a:t>
            </a:r>
            <a:endParaRPr lang="en-US" altLang="en-US" dirty="0">
              <a:ea typeface="ＭＳ Ｐゴシック" panose="020B0600070205080204" pitchFamily="34" charset="-128"/>
            </a:endParaRPr>
          </a:p>
          <a:p>
            <a:pPr lvl="1"/>
            <a:r>
              <a:rPr lang="en-US" dirty="0"/>
              <a:t>A new Kernel object may be defined using the </a:t>
            </a:r>
            <a:r>
              <a:rPr lang="en-US" sz="1400" dirty="0" err="1">
                <a:latin typeface="Courier" charset="0"/>
                <a:ea typeface="Courier" charset="0"/>
                <a:cs typeface="Courier" charset="0"/>
              </a:rPr>
              <a:t>kobject</a:t>
            </a:r>
            <a:r>
              <a:rPr lang="en-US" sz="1400" dirty="0"/>
              <a:t> </a:t>
            </a:r>
            <a:r>
              <a:rPr lang="en-US" dirty="0"/>
              <a:t>data structure.</a:t>
            </a: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r>
              <a:rPr lang="en-US" dirty="0"/>
              <a:t>The object may be added to the file system using the </a:t>
            </a:r>
            <a:r>
              <a:rPr lang="en-US" sz="1600" dirty="0" err="1">
                <a:latin typeface="Courier" charset="0"/>
                <a:ea typeface="Courier" charset="0"/>
                <a:cs typeface="Courier" charset="0"/>
              </a:rPr>
              <a:t>kobject_create_and_add</a:t>
            </a:r>
            <a:r>
              <a:rPr lang="en-US" sz="1600" dirty="0">
                <a:latin typeface="Courier" charset="0"/>
                <a:ea typeface="Courier" charset="0"/>
                <a:cs typeface="Courier" charset="0"/>
              </a:rPr>
              <a:t>()</a:t>
            </a:r>
            <a:r>
              <a:rPr lang="en-US" dirty="0"/>
              <a:t> function. </a:t>
            </a:r>
          </a:p>
          <a:p>
            <a:pPr lvl="1"/>
            <a:r>
              <a:rPr lang="en-US" dirty="0"/>
              <a:t>When no longer needed, the above may be destroyed using the </a:t>
            </a:r>
            <a:r>
              <a:rPr lang="en-US" sz="1600" dirty="0" err="1">
                <a:latin typeface="Courier" charset="0"/>
                <a:ea typeface="Courier" charset="0"/>
                <a:cs typeface="Courier" charset="0"/>
              </a:rPr>
              <a:t>kobject_put</a:t>
            </a:r>
            <a:r>
              <a:rPr lang="en-US" sz="1600" dirty="0">
                <a:latin typeface="Courier" charset="0"/>
                <a:ea typeface="Courier" charset="0"/>
                <a:cs typeface="Courier" charset="0"/>
              </a:rPr>
              <a:t>()</a:t>
            </a:r>
            <a:r>
              <a:rPr lang="en-US" dirty="0"/>
              <a:t> function.</a:t>
            </a:r>
            <a:endParaRPr lang="en-US" altLang="en-US" dirty="0">
              <a:ea typeface="ＭＳ Ｐゴシック" panose="020B0600070205080204" pitchFamily="34" charset="-128"/>
            </a:endParaRPr>
          </a:p>
        </p:txBody>
      </p:sp>
      <p:sp>
        <p:nvSpPr>
          <p:cNvPr id="5" name="TextBox 4">
            <a:extLst>
              <a:ext uri="{FF2B5EF4-FFF2-40B4-BE49-F238E27FC236}">
                <a16:creationId xmlns:a16="http://schemas.microsoft.com/office/drawing/2014/main" id="{0E48E720-43D1-46D4-999F-D2DE80B25FBD}"/>
              </a:ext>
            </a:extLst>
          </p:cNvPr>
          <p:cNvSpPr txBox="1"/>
          <p:nvPr/>
        </p:nvSpPr>
        <p:spPr>
          <a:xfrm>
            <a:off x="2131219" y="3008334"/>
            <a:ext cx="5257800" cy="2514600"/>
          </a:xfrm>
          <a:prstGeom prst="rect">
            <a:avLst/>
          </a:prstGeom>
        </p:spPr>
        <p:txBody>
          <a:bodyPr vert="horz" wrap="none" lIns="0" tIns="0" rIns="0" bIns="0" rtlCol="0" anchor="t">
            <a:noAutofit/>
          </a:bodyPr>
          <a:lstStyle/>
          <a:p>
            <a:r>
              <a:rPr lang="is-IS" sz="1600" dirty="0">
                <a:latin typeface="Courier" charset="0"/>
                <a:ea typeface="Courier" charset="0"/>
                <a:cs typeface="Courier" charset="0"/>
              </a:rPr>
              <a:t>struct kobject {</a:t>
            </a:r>
          </a:p>
          <a:p>
            <a:r>
              <a:rPr lang="is-IS" sz="1600" dirty="0">
                <a:latin typeface="Courier" charset="0"/>
                <a:ea typeface="Courier" charset="0"/>
                <a:cs typeface="Courier" charset="0"/>
              </a:rPr>
              <a:t>  char                *k_name;</a:t>
            </a:r>
          </a:p>
          <a:p>
            <a:r>
              <a:rPr lang="is-IS" sz="1600" dirty="0">
                <a:latin typeface="Courier" charset="0"/>
                <a:ea typeface="Courier" charset="0"/>
                <a:cs typeface="Courier" charset="0"/>
              </a:rPr>
              <a:t>  char                name[KOBJ_NAME_LEN];</a:t>
            </a:r>
          </a:p>
          <a:p>
            <a:r>
              <a:rPr lang="is-IS" sz="1600" dirty="0">
                <a:latin typeface="Courier" charset="0"/>
                <a:ea typeface="Courier" charset="0"/>
                <a:cs typeface="Courier" charset="0"/>
              </a:rPr>
              <a:t>  struct kref         kref;</a:t>
            </a:r>
          </a:p>
          <a:p>
            <a:r>
              <a:rPr lang="is-IS" sz="1600" dirty="0">
                <a:latin typeface="Courier" charset="0"/>
                <a:ea typeface="Courier" charset="0"/>
                <a:cs typeface="Courier" charset="0"/>
              </a:rPr>
              <a:t>  struct list_head    entry;</a:t>
            </a:r>
          </a:p>
          <a:p>
            <a:r>
              <a:rPr lang="is-IS" sz="1600" dirty="0">
                <a:latin typeface="Courier" charset="0"/>
                <a:ea typeface="Courier" charset="0"/>
                <a:cs typeface="Courier" charset="0"/>
              </a:rPr>
              <a:t>  struct kobject      *parent;</a:t>
            </a:r>
          </a:p>
          <a:p>
            <a:r>
              <a:rPr lang="is-IS" sz="1600" dirty="0">
                <a:latin typeface="Courier" charset="0"/>
                <a:ea typeface="Courier" charset="0"/>
                <a:cs typeface="Courier" charset="0"/>
              </a:rPr>
              <a:t>  struct kset         *kset;</a:t>
            </a:r>
          </a:p>
          <a:p>
            <a:r>
              <a:rPr lang="is-IS" sz="1600" dirty="0">
                <a:latin typeface="Courier" charset="0"/>
                <a:ea typeface="Courier" charset="0"/>
                <a:cs typeface="Courier" charset="0"/>
              </a:rPr>
              <a:t>  struct kobj_type    *ktype;</a:t>
            </a:r>
          </a:p>
          <a:p>
            <a:r>
              <a:rPr lang="is-IS" sz="1600" dirty="0">
                <a:latin typeface="Courier" charset="0"/>
                <a:ea typeface="Courier" charset="0"/>
                <a:cs typeface="Courier" charset="0"/>
              </a:rPr>
              <a:t>  struct dentry       *dentry;</a:t>
            </a:r>
          </a:p>
          <a:p>
            <a:r>
              <a:rPr lang="is-IS" sz="1600" dirty="0">
                <a:latin typeface="Courier" charset="0"/>
                <a:ea typeface="Courier" charset="0"/>
                <a:cs typeface="Courier" charset="0"/>
              </a:rPr>
              <a:t>};</a:t>
            </a:r>
          </a:p>
          <a:p>
            <a:endParaRPr lang="en-US" sz="1600" dirty="0">
              <a:latin typeface="Courier" charset="0"/>
              <a:ea typeface="Courier" charset="0"/>
              <a:cs typeface="Courier" charset="0"/>
            </a:endParaRPr>
          </a:p>
        </p:txBody>
      </p:sp>
    </p:spTree>
    <p:extLst>
      <p:ext uri="{BB962C8B-B14F-4D97-AF65-F5344CB8AC3E}">
        <p14:creationId xmlns:p14="http://schemas.microsoft.com/office/powerpoint/2010/main" val="3827070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Adding Entries to the </a:t>
            </a:r>
            <a:r>
              <a:rPr lang="en-US" dirty="0" err="1"/>
              <a:t>sysfs</a:t>
            </a:r>
            <a:r>
              <a:rPr lang="en-US" dirty="0"/>
              <a:t> File System</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To add a new file to the </a:t>
            </a:r>
            <a:r>
              <a:rPr lang="en-US" dirty="0" err="1"/>
              <a:t>sysfs</a:t>
            </a:r>
            <a:r>
              <a:rPr lang="en-US" dirty="0"/>
              <a:t> file system within a directory corresponding to a Kernel object</a:t>
            </a:r>
            <a:endParaRPr lang="en-US" altLang="en-US" dirty="0">
              <a:ea typeface="ＭＳ Ｐゴシック" panose="020B0600070205080204" pitchFamily="34" charset="-128"/>
            </a:endParaRPr>
          </a:p>
          <a:p>
            <a:pPr lvl="1"/>
            <a:r>
              <a:rPr lang="en-US" dirty="0"/>
              <a:t>A new Kernel object attribute may be defined using the </a:t>
            </a:r>
            <a:r>
              <a:rPr lang="en-US" sz="1400" dirty="0" err="1">
                <a:latin typeface="Courier" charset="0"/>
                <a:ea typeface="Courier" charset="0"/>
                <a:cs typeface="Courier" charset="0"/>
              </a:rPr>
              <a:t>kobj_attribute</a:t>
            </a:r>
            <a:r>
              <a:rPr lang="en-US" sz="1400" dirty="0"/>
              <a:t> </a:t>
            </a:r>
            <a:r>
              <a:rPr lang="en-US" dirty="0"/>
              <a:t>data structure.</a:t>
            </a: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a:p>
            <a:pPr lvl="1"/>
            <a:r>
              <a:rPr lang="en-US" dirty="0"/>
              <a:t>The new file may be added using the </a:t>
            </a:r>
            <a:r>
              <a:rPr lang="en-US" sz="1400" dirty="0" err="1">
                <a:latin typeface="Courier" charset="0"/>
                <a:ea typeface="Courier" charset="0"/>
                <a:cs typeface="Courier" charset="0"/>
              </a:rPr>
              <a:t>sysfs_create_file</a:t>
            </a:r>
            <a:r>
              <a:rPr lang="en-US" sz="1400" dirty="0">
                <a:latin typeface="Courier" charset="0"/>
                <a:ea typeface="Courier" charset="0"/>
                <a:cs typeface="Courier" charset="0"/>
              </a:rPr>
              <a:t>()</a:t>
            </a:r>
            <a:r>
              <a:rPr lang="en-US" dirty="0"/>
              <a:t> function.</a:t>
            </a:r>
            <a:endParaRPr lang="en-US" altLang="en-US" dirty="0">
              <a:ea typeface="ＭＳ Ｐゴシック" panose="020B0600070205080204" pitchFamily="34" charset="-128"/>
            </a:endParaRPr>
          </a:p>
        </p:txBody>
      </p:sp>
      <p:sp>
        <p:nvSpPr>
          <p:cNvPr id="5" name="TextBox 4">
            <a:extLst>
              <a:ext uri="{FF2B5EF4-FFF2-40B4-BE49-F238E27FC236}">
                <a16:creationId xmlns:a16="http://schemas.microsoft.com/office/drawing/2014/main" id="{F458BF9D-9C2E-4CF4-9E49-25DE8280EADC}"/>
              </a:ext>
            </a:extLst>
          </p:cNvPr>
          <p:cNvSpPr txBox="1"/>
          <p:nvPr/>
        </p:nvSpPr>
        <p:spPr>
          <a:xfrm>
            <a:off x="1280493" y="2967624"/>
            <a:ext cx="6588185" cy="2667000"/>
          </a:xfrm>
          <a:prstGeom prst="rect">
            <a:avLst/>
          </a:prstGeom>
        </p:spPr>
        <p:txBody>
          <a:bodyPr vert="horz" wrap="none" lIns="0" tIns="0" rIns="0" bIns="0" rtlCol="0" anchor="t">
            <a:normAutofit/>
          </a:bodyPr>
          <a:lstStyle/>
          <a:p>
            <a:r>
              <a:rPr lang="en-US" sz="1600" dirty="0" err="1">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kobj_attribute</a:t>
            </a:r>
            <a:r>
              <a:rPr lang="en-US" sz="1600" dirty="0">
                <a:latin typeface="Courier" charset="0"/>
                <a:ea typeface="Courier" charset="0"/>
                <a:cs typeface="Courier" charset="0"/>
              </a:rPr>
              <a:t> {</a:t>
            </a:r>
          </a:p>
          <a:p>
            <a:r>
              <a:rPr lang="en-US" sz="1600" dirty="0">
                <a:latin typeface="Courier" charset="0"/>
                <a:ea typeface="Courier" charset="0"/>
                <a:cs typeface="Courier" charset="0"/>
              </a:rPr>
              <a:t>  </a:t>
            </a:r>
            <a:r>
              <a:rPr lang="en-US" sz="1600" dirty="0" err="1">
                <a:latin typeface="Courier" charset="0"/>
                <a:ea typeface="Courier" charset="0"/>
                <a:cs typeface="Courier" charset="0"/>
              </a:rPr>
              <a:t>struct</a:t>
            </a:r>
            <a:r>
              <a:rPr lang="en-US" sz="1600" dirty="0">
                <a:latin typeface="Courier" charset="0"/>
                <a:ea typeface="Courier" charset="0"/>
                <a:cs typeface="Courier" charset="0"/>
              </a:rPr>
              <a:t> attribute </a:t>
            </a:r>
            <a:r>
              <a:rPr lang="en-US" sz="1600" dirty="0" err="1">
                <a:latin typeface="Courier" charset="0"/>
                <a:ea typeface="Courier" charset="0"/>
                <a:cs typeface="Courier" charset="0"/>
              </a:rPr>
              <a:t>attr</a:t>
            </a:r>
            <a:r>
              <a:rPr lang="en-US" sz="1600" dirty="0">
                <a:latin typeface="Courier" charset="0"/>
                <a:ea typeface="Courier" charset="0"/>
                <a:cs typeface="Courier" charset="0"/>
              </a:rPr>
              <a:t>;</a:t>
            </a:r>
          </a:p>
          <a:p>
            <a:r>
              <a:rPr lang="en-US" sz="1600" dirty="0">
                <a:latin typeface="Courier" charset="0"/>
                <a:ea typeface="Courier" charset="0"/>
                <a:cs typeface="Courier" charset="0"/>
              </a:rPr>
              <a:t>  </a:t>
            </a:r>
            <a:r>
              <a:rPr lang="en-US" sz="1600" dirty="0" err="1">
                <a:latin typeface="Courier" charset="0"/>
                <a:ea typeface="Courier" charset="0"/>
                <a:cs typeface="Courier" charset="0"/>
              </a:rPr>
              <a:t>ssize_t</a:t>
            </a:r>
            <a:r>
              <a:rPr lang="en-US" sz="1600" dirty="0">
                <a:latin typeface="Courier" charset="0"/>
                <a:ea typeface="Courier" charset="0"/>
                <a:cs typeface="Courier" charset="0"/>
              </a:rPr>
              <a:t> (*show)(</a:t>
            </a:r>
            <a:r>
              <a:rPr lang="en-US" sz="1600" dirty="0" err="1">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kobject</a:t>
            </a:r>
            <a:r>
              <a:rPr lang="en-US" sz="1600" dirty="0">
                <a:latin typeface="Courier" charset="0"/>
                <a:ea typeface="Courier" charset="0"/>
                <a:cs typeface="Courier" charset="0"/>
              </a:rPr>
              <a:t> *</a:t>
            </a:r>
            <a:r>
              <a:rPr lang="en-US" sz="1600" dirty="0" err="1">
                <a:latin typeface="Courier" charset="0"/>
                <a:ea typeface="Courier" charset="0"/>
                <a:cs typeface="Courier" charset="0"/>
              </a:rPr>
              <a:t>kobj</a:t>
            </a:r>
            <a:r>
              <a:rPr lang="en-US" sz="1600" dirty="0">
                <a:latin typeface="Courier" charset="0"/>
                <a:ea typeface="Courier" charset="0"/>
                <a:cs typeface="Courier" charset="0"/>
              </a:rPr>
              <a:t>, </a:t>
            </a:r>
          </a:p>
          <a:p>
            <a:r>
              <a:rPr lang="en-US" sz="1600" dirty="0">
                <a:latin typeface="Courier" charset="0"/>
                <a:ea typeface="Courier" charset="0"/>
                <a:cs typeface="Courier" charset="0"/>
              </a:rPr>
              <a:t>                  </a:t>
            </a:r>
            <a:r>
              <a:rPr lang="en-US" sz="1600" dirty="0" err="1">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kobj_attribute</a:t>
            </a:r>
            <a:r>
              <a:rPr lang="en-US" sz="1600" dirty="0">
                <a:latin typeface="Courier" charset="0"/>
                <a:ea typeface="Courier" charset="0"/>
                <a:cs typeface="Courier" charset="0"/>
              </a:rPr>
              <a:t> *</a:t>
            </a:r>
            <a:r>
              <a:rPr lang="en-US" sz="1600" dirty="0" err="1">
                <a:latin typeface="Courier" charset="0"/>
                <a:ea typeface="Courier" charset="0"/>
                <a:cs typeface="Courier" charset="0"/>
              </a:rPr>
              <a:t>attr</a:t>
            </a:r>
            <a:r>
              <a:rPr lang="en-US" sz="1600" dirty="0">
                <a:latin typeface="Courier" charset="0"/>
                <a:ea typeface="Courier" charset="0"/>
                <a:cs typeface="Courier" charset="0"/>
              </a:rPr>
              <a:t>, </a:t>
            </a:r>
          </a:p>
          <a:p>
            <a:r>
              <a:rPr lang="en-US" sz="1600" dirty="0">
                <a:latin typeface="Courier" charset="0"/>
                <a:ea typeface="Courier" charset="0"/>
                <a:cs typeface="Courier" charset="0"/>
              </a:rPr>
              <a:t>                  char *</a:t>
            </a:r>
            <a:r>
              <a:rPr lang="en-US" sz="1600" dirty="0" err="1">
                <a:latin typeface="Courier" charset="0"/>
                <a:ea typeface="Courier" charset="0"/>
                <a:cs typeface="Courier" charset="0"/>
              </a:rPr>
              <a:t>buf</a:t>
            </a:r>
            <a:r>
              <a:rPr lang="en-US" sz="1600" dirty="0">
                <a:latin typeface="Courier" charset="0"/>
                <a:ea typeface="Courier" charset="0"/>
                <a:cs typeface="Courier" charset="0"/>
              </a:rPr>
              <a:t>);</a:t>
            </a:r>
          </a:p>
          <a:p>
            <a:r>
              <a:rPr lang="en-US" sz="1600" dirty="0">
                <a:latin typeface="Courier" charset="0"/>
                <a:ea typeface="Courier" charset="0"/>
                <a:cs typeface="Courier" charset="0"/>
              </a:rPr>
              <a:t>  </a:t>
            </a:r>
            <a:r>
              <a:rPr lang="en-US" sz="1600" dirty="0" err="1">
                <a:latin typeface="Courier" charset="0"/>
                <a:ea typeface="Courier" charset="0"/>
                <a:cs typeface="Courier" charset="0"/>
              </a:rPr>
              <a:t>ssize_t</a:t>
            </a:r>
            <a:r>
              <a:rPr lang="en-US" sz="1600" dirty="0">
                <a:latin typeface="Courier" charset="0"/>
                <a:ea typeface="Courier" charset="0"/>
                <a:cs typeface="Courier" charset="0"/>
              </a:rPr>
              <a:t> (*store)(</a:t>
            </a:r>
            <a:r>
              <a:rPr lang="en-US" sz="1600" dirty="0" err="1">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kobject</a:t>
            </a:r>
            <a:r>
              <a:rPr lang="en-US" sz="1600" dirty="0">
                <a:latin typeface="Courier" charset="0"/>
                <a:ea typeface="Courier" charset="0"/>
                <a:cs typeface="Courier" charset="0"/>
              </a:rPr>
              <a:t> *</a:t>
            </a:r>
            <a:r>
              <a:rPr lang="en-US" sz="1600" dirty="0" err="1">
                <a:latin typeface="Courier" charset="0"/>
                <a:ea typeface="Courier" charset="0"/>
                <a:cs typeface="Courier" charset="0"/>
              </a:rPr>
              <a:t>kobj</a:t>
            </a:r>
            <a:r>
              <a:rPr lang="en-US" sz="1600" dirty="0">
                <a:latin typeface="Courier" charset="0"/>
                <a:ea typeface="Courier" charset="0"/>
                <a:cs typeface="Courier" charset="0"/>
              </a:rPr>
              <a:t>, </a:t>
            </a:r>
          </a:p>
          <a:p>
            <a:r>
              <a:rPr lang="en-US" sz="1600" dirty="0">
                <a:latin typeface="Courier" charset="0"/>
                <a:ea typeface="Courier" charset="0"/>
                <a:cs typeface="Courier" charset="0"/>
              </a:rPr>
              <a:t>                   </a:t>
            </a:r>
            <a:r>
              <a:rPr lang="en-US" sz="1600" dirty="0" err="1">
                <a:latin typeface="Courier" charset="0"/>
                <a:ea typeface="Courier" charset="0"/>
                <a:cs typeface="Courier" charset="0"/>
              </a:rPr>
              <a:t>struct</a:t>
            </a:r>
            <a:r>
              <a:rPr lang="en-US" sz="1600" dirty="0">
                <a:latin typeface="Courier" charset="0"/>
                <a:ea typeface="Courier" charset="0"/>
                <a:cs typeface="Courier" charset="0"/>
              </a:rPr>
              <a:t> </a:t>
            </a:r>
            <a:r>
              <a:rPr lang="en-US" sz="1600" dirty="0" err="1">
                <a:latin typeface="Courier" charset="0"/>
                <a:ea typeface="Courier" charset="0"/>
                <a:cs typeface="Courier" charset="0"/>
              </a:rPr>
              <a:t>kobj_attribute</a:t>
            </a:r>
            <a:r>
              <a:rPr lang="en-US" sz="1600" dirty="0">
                <a:latin typeface="Courier" charset="0"/>
                <a:ea typeface="Courier" charset="0"/>
                <a:cs typeface="Courier" charset="0"/>
              </a:rPr>
              <a:t> *</a:t>
            </a:r>
            <a:r>
              <a:rPr lang="en-US" sz="1600" dirty="0" err="1">
                <a:latin typeface="Courier" charset="0"/>
                <a:ea typeface="Courier" charset="0"/>
                <a:cs typeface="Courier" charset="0"/>
              </a:rPr>
              <a:t>attr</a:t>
            </a:r>
            <a:r>
              <a:rPr lang="en-US" sz="1600" dirty="0">
                <a:latin typeface="Courier" charset="0"/>
                <a:ea typeface="Courier" charset="0"/>
                <a:cs typeface="Courier" charset="0"/>
              </a:rPr>
              <a:t>, </a:t>
            </a:r>
          </a:p>
          <a:p>
            <a:r>
              <a:rPr lang="en-US" sz="1600" dirty="0">
                <a:latin typeface="Courier" charset="0"/>
                <a:ea typeface="Courier" charset="0"/>
                <a:cs typeface="Courier" charset="0"/>
              </a:rPr>
              <a:t>                   </a:t>
            </a:r>
            <a:r>
              <a:rPr lang="en-US" sz="1600" dirty="0" err="1">
                <a:latin typeface="Courier" charset="0"/>
                <a:ea typeface="Courier" charset="0"/>
                <a:cs typeface="Courier" charset="0"/>
              </a:rPr>
              <a:t>const</a:t>
            </a:r>
            <a:r>
              <a:rPr lang="en-US" sz="1600" dirty="0">
                <a:latin typeface="Courier" charset="0"/>
                <a:ea typeface="Courier" charset="0"/>
                <a:cs typeface="Courier" charset="0"/>
              </a:rPr>
              <a:t> char *</a:t>
            </a:r>
            <a:r>
              <a:rPr lang="en-US" sz="1600" dirty="0" err="1">
                <a:latin typeface="Courier" charset="0"/>
                <a:ea typeface="Courier" charset="0"/>
                <a:cs typeface="Courier" charset="0"/>
              </a:rPr>
              <a:t>buf</a:t>
            </a:r>
            <a:r>
              <a:rPr lang="en-US" sz="1600" dirty="0">
                <a:latin typeface="Courier" charset="0"/>
                <a:ea typeface="Courier" charset="0"/>
                <a:cs typeface="Courier" charset="0"/>
              </a:rPr>
              <a:t>, </a:t>
            </a:r>
          </a:p>
          <a:p>
            <a:r>
              <a:rPr lang="en-US" sz="1600" dirty="0">
                <a:latin typeface="Courier" charset="0"/>
                <a:ea typeface="Courier" charset="0"/>
                <a:cs typeface="Courier" charset="0"/>
              </a:rPr>
              <a:t>                   </a:t>
            </a:r>
            <a:r>
              <a:rPr lang="en-US" sz="1600" dirty="0" err="1">
                <a:latin typeface="Courier" charset="0"/>
                <a:ea typeface="Courier" charset="0"/>
                <a:cs typeface="Courier" charset="0"/>
              </a:rPr>
              <a:t>size_t</a:t>
            </a:r>
            <a:r>
              <a:rPr lang="en-US" sz="1600" dirty="0">
                <a:latin typeface="Courier" charset="0"/>
                <a:ea typeface="Courier" charset="0"/>
                <a:cs typeface="Courier" charset="0"/>
              </a:rPr>
              <a:t> count);</a:t>
            </a:r>
          </a:p>
          <a:p>
            <a:r>
              <a:rPr lang="en-US" sz="1600" dirty="0">
                <a:latin typeface="Courier" charset="0"/>
                <a:ea typeface="Courier" charset="0"/>
                <a:cs typeface="Courier" charset="0"/>
              </a:rPr>
              <a:t>};</a:t>
            </a:r>
          </a:p>
          <a:p>
            <a:endParaRPr lang="en-US" sz="1600" dirty="0">
              <a:latin typeface="Courier" charset="0"/>
              <a:ea typeface="Courier" charset="0"/>
              <a:cs typeface="Courier" charset="0"/>
            </a:endParaRPr>
          </a:p>
        </p:txBody>
      </p:sp>
      <p:sp>
        <p:nvSpPr>
          <p:cNvPr id="6" name="TextBox 5">
            <a:extLst>
              <a:ext uri="{FF2B5EF4-FFF2-40B4-BE49-F238E27FC236}">
                <a16:creationId xmlns:a16="http://schemas.microsoft.com/office/drawing/2014/main" id="{C6E25807-B2C5-4A83-8ED6-F89CB93A449B}"/>
              </a:ext>
            </a:extLst>
          </p:cNvPr>
          <p:cNvSpPr txBox="1"/>
          <p:nvPr/>
        </p:nvSpPr>
        <p:spPr>
          <a:xfrm>
            <a:off x="7651769" y="3690736"/>
            <a:ext cx="3851215" cy="381000"/>
          </a:xfrm>
          <a:prstGeom prst="rect">
            <a:avLst/>
          </a:prstGeom>
        </p:spPr>
        <p:txBody>
          <a:bodyPr vert="horz" wrap="none" lIns="0" tIns="0" rIns="0" bIns="0" rtlCol="0" anchor="t">
            <a:normAutofit/>
          </a:bodyPr>
          <a:lstStyle/>
          <a:p>
            <a:r>
              <a:rPr lang="en-US"/>
              <a:t>Function executed when the file is read</a:t>
            </a:r>
            <a:endParaRPr lang="en-US" dirty="0"/>
          </a:p>
        </p:txBody>
      </p:sp>
      <p:sp>
        <p:nvSpPr>
          <p:cNvPr id="7" name="TextBox 6">
            <a:extLst>
              <a:ext uri="{FF2B5EF4-FFF2-40B4-BE49-F238E27FC236}">
                <a16:creationId xmlns:a16="http://schemas.microsoft.com/office/drawing/2014/main" id="{DCA56A22-C59A-43C8-B30D-DDEAB8D92140}"/>
              </a:ext>
            </a:extLst>
          </p:cNvPr>
          <p:cNvSpPr txBox="1"/>
          <p:nvPr/>
        </p:nvSpPr>
        <p:spPr>
          <a:xfrm>
            <a:off x="7651769" y="4491624"/>
            <a:ext cx="3851215" cy="381000"/>
          </a:xfrm>
          <a:prstGeom prst="rect">
            <a:avLst/>
          </a:prstGeom>
        </p:spPr>
        <p:txBody>
          <a:bodyPr vert="horz" wrap="none" lIns="0" tIns="0" rIns="0" bIns="0" rtlCol="0" anchor="t">
            <a:normAutofit/>
          </a:bodyPr>
          <a:lstStyle/>
          <a:p>
            <a:r>
              <a:rPr lang="en-US" dirty="0"/>
              <a:t>Function executed when the file is written</a:t>
            </a:r>
          </a:p>
        </p:txBody>
      </p:sp>
      <p:sp>
        <p:nvSpPr>
          <p:cNvPr id="8" name="Right Brace 7">
            <a:extLst>
              <a:ext uri="{FF2B5EF4-FFF2-40B4-BE49-F238E27FC236}">
                <a16:creationId xmlns:a16="http://schemas.microsoft.com/office/drawing/2014/main" id="{776BF38C-B274-434E-8307-EDD77B9E7025}"/>
              </a:ext>
            </a:extLst>
          </p:cNvPr>
          <p:cNvSpPr/>
          <p:nvPr/>
        </p:nvSpPr>
        <p:spPr>
          <a:xfrm>
            <a:off x="7147893" y="3577224"/>
            <a:ext cx="228600" cy="503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408BC113-6AA0-428D-8158-3DBD2997109A}"/>
              </a:ext>
            </a:extLst>
          </p:cNvPr>
          <p:cNvSpPr/>
          <p:nvPr/>
        </p:nvSpPr>
        <p:spPr>
          <a:xfrm>
            <a:off x="7147893" y="4293024"/>
            <a:ext cx="228600" cy="8082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274796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Using </a:t>
            </a:r>
            <a:r>
              <a:rPr lang="en-US" dirty="0" err="1"/>
              <a:t>sysfs</a:t>
            </a:r>
            <a:r>
              <a:rPr lang="en-US" dirty="0"/>
              <a:t> and VFS API</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The usage of </a:t>
            </a:r>
            <a:r>
              <a:rPr lang="en-US" dirty="0" err="1"/>
              <a:t>sysfs</a:t>
            </a:r>
            <a:r>
              <a:rPr lang="en-US" dirty="0"/>
              <a:t> and the VFS API depends on the designer intentions.</a:t>
            </a:r>
          </a:p>
          <a:p>
            <a:r>
              <a:rPr lang="en-US" dirty="0"/>
              <a:t>The </a:t>
            </a:r>
            <a:r>
              <a:rPr lang="en-US" dirty="0" err="1"/>
              <a:t>sysfs</a:t>
            </a:r>
            <a:r>
              <a:rPr lang="en-US" dirty="0"/>
              <a:t> file system can be used to provide device-specific/or subsystem-specific functionalities that cannot be mapped easily into the VFS API.</a:t>
            </a:r>
          </a:p>
          <a:p>
            <a:pPr lvl="1"/>
            <a:r>
              <a:rPr lang="en-US" dirty="0"/>
              <a:t>For example, to select and program a desired GPIO or to select the clock frequency scaling behavior</a:t>
            </a:r>
          </a:p>
          <a:p>
            <a:r>
              <a:rPr lang="en-US" dirty="0"/>
              <a:t>The </a:t>
            </a:r>
            <a:r>
              <a:rPr lang="en-US" dirty="0" err="1"/>
              <a:t>sysfs</a:t>
            </a:r>
            <a:r>
              <a:rPr lang="en-US" dirty="0"/>
              <a:t> file system and the VFS API can be used concurrently to satisfy different purposes, for example</a:t>
            </a:r>
          </a:p>
          <a:p>
            <a:pPr lvl="1"/>
            <a:r>
              <a:rPr lang="en-US" dirty="0"/>
              <a:t>The VFS API is used to communicate with a specific device modeled as a file.</a:t>
            </a:r>
          </a:p>
          <a:p>
            <a:pPr lvl="1"/>
            <a:r>
              <a:rPr lang="en-US" dirty="0"/>
              <a:t>The </a:t>
            </a:r>
            <a:r>
              <a:rPr lang="en-US" dirty="0" err="1"/>
              <a:t>sysfs</a:t>
            </a:r>
            <a:r>
              <a:rPr lang="en-US" dirty="0"/>
              <a:t> file system is used to provide debug information.</a:t>
            </a:r>
          </a:p>
          <a:p>
            <a:r>
              <a:rPr lang="en-US" dirty="0"/>
              <a:t>In the following slides, the above concepts will be put to work to support a specific hardware device: the on-board CPU temperature sensor.</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23239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solidFill>
                  <a:schemeClr val="tx1">
                    <a:lumMod val="95000"/>
                    <a:lumOff val="5000"/>
                  </a:schemeClr>
                </a:solidFill>
              </a:rPr>
              <a:t>The </a:t>
            </a:r>
            <a:r>
              <a:rPr lang="en-US" dirty="0" err="1">
                <a:solidFill>
                  <a:schemeClr val="tx1">
                    <a:lumMod val="95000"/>
                    <a:lumOff val="5000"/>
                  </a:schemeClr>
                </a:solidFill>
              </a:rPr>
              <a:t>sysfs</a:t>
            </a:r>
            <a:r>
              <a:rPr lang="en-US" dirty="0">
                <a:solidFill>
                  <a:schemeClr val="tx1">
                    <a:lumMod val="95000"/>
                    <a:lumOff val="5000"/>
                  </a:schemeClr>
                </a:solidFill>
              </a:rPr>
              <a:t> file system</a:t>
            </a:r>
          </a:p>
          <a:p>
            <a:r>
              <a:rPr lang="en-US" dirty="0">
                <a:solidFill>
                  <a:srgbClr val="118CAB"/>
                </a:solidFill>
              </a:rPr>
              <a:t>The Llama AI model</a:t>
            </a:r>
          </a:p>
          <a:p>
            <a:r>
              <a:rPr lang="en-US" dirty="0"/>
              <a:t>Building Linux support for integrating AI models with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662514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solidFill>
                  <a:srgbClr val="118CAB"/>
                </a:solidFill>
              </a:rPr>
              <a:t>The Llama AI Model</a:t>
            </a:r>
            <a:endParaRPr lang="en-US" dirty="0"/>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7737475" cy="4086225"/>
          </a:xfrm>
        </p:spPr>
        <p:txBody>
          <a:bodyPr wrap="square" numCol="1" anchor="t" anchorCtr="0" compatLnSpc="1">
            <a:prstTxWarp prst="textNoShape">
              <a:avLst/>
            </a:prstTxWarp>
          </a:bodyPr>
          <a:lstStyle/>
          <a:p>
            <a:r>
              <a:rPr lang="en-US" b="1" dirty="0"/>
              <a:t>Llama</a:t>
            </a:r>
            <a:r>
              <a:rPr lang="en-US" dirty="0"/>
              <a:t> is a set of open-source AI large language models, designed for research and experimentation.</a:t>
            </a:r>
          </a:p>
          <a:p>
            <a:endParaRPr lang="en-US" dirty="0"/>
          </a:p>
          <a:p>
            <a:r>
              <a:rPr lang="en-US" dirty="0"/>
              <a:t>Llama is developed by Meta AI, with the first release in 2023.</a:t>
            </a:r>
          </a:p>
          <a:p>
            <a:endParaRPr lang="en-US" dirty="0"/>
          </a:p>
          <a:p>
            <a:r>
              <a:rPr lang="en-US" dirty="0"/>
              <a:t>Models come in different sizes, based on the number of parameters.</a:t>
            </a:r>
          </a:p>
        </p:txBody>
      </p:sp>
      <p:pic>
        <p:nvPicPr>
          <p:cNvPr id="3" name="Picture 2" descr="A screenshot of a phone&#10;&#10;AI-generated content may be incorrect.">
            <a:extLst>
              <a:ext uri="{FF2B5EF4-FFF2-40B4-BE49-F238E27FC236}">
                <a16:creationId xmlns:a16="http://schemas.microsoft.com/office/drawing/2014/main" id="{C61884B6-6229-66AF-1370-83E0B72B686C}"/>
              </a:ext>
            </a:extLst>
          </p:cNvPr>
          <p:cNvPicPr>
            <a:picLocks noChangeAspect="1"/>
          </p:cNvPicPr>
          <p:nvPr/>
        </p:nvPicPr>
        <p:blipFill>
          <a:blip r:embed="rId3"/>
          <a:stretch>
            <a:fillRect/>
          </a:stretch>
        </p:blipFill>
        <p:spPr>
          <a:xfrm>
            <a:off x="8229600" y="1770516"/>
            <a:ext cx="3759597" cy="2148341"/>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58319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16E4A-5C2F-01E1-6640-F694D3BA971D}"/>
              </a:ext>
            </a:extLst>
          </p:cNvPr>
          <p:cNvSpPr>
            <a:spLocks noGrp="1"/>
          </p:cNvSpPr>
          <p:nvPr>
            <p:ph type="title"/>
          </p:nvPr>
        </p:nvSpPr>
        <p:spPr/>
        <p:txBody>
          <a:bodyPr/>
          <a:lstStyle/>
          <a:p>
            <a:r>
              <a:rPr lang="en-US" dirty="0"/>
              <a:t>What is a Large Language Model (LLM)?</a:t>
            </a:r>
          </a:p>
        </p:txBody>
      </p:sp>
      <p:sp>
        <p:nvSpPr>
          <p:cNvPr id="3" name="Content Placeholder 2">
            <a:extLst>
              <a:ext uri="{FF2B5EF4-FFF2-40B4-BE49-F238E27FC236}">
                <a16:creationId xmlns:a16="http://schemas.microsoft.com/office/drawing/2014/main" id="{02897F5E-D948-ACE8-CC71-458AB0FC6C67}"/>
              </a:ext>
            </a:extLst>
          </p:cNvPr>
          <p:cNvSpPr>
            <a:spLocks noGrp="1"/>
          </p:cNvSpPr>
          <p:nvPr>
            <p:ph idx="1"/>
          </p:nvPr>
        </p:nvSpPr>
        <p:spPr/>
        <p:txBody>
          <a:bodyPr/>
          <a:lstStyle/>
          <a:p>
            <a:r>
              <a:rPr lang="en-US" dirty="0"/>
              <a:t>LLMs are AI models that are trained on a massive corpus of text.</a:t>
            </a:r>
          </a:p>
          <a:p>
            <a:r>
              <a:rPr lang="en-US" dirty="0"/>
              <a:t>LLMs are designed for language processing tasks, such as text generation.</a:t>
            </a:r>
          </a:p>
          <a:p>
            <a:r>
              <a:rPr lang="en-US" dirty="0"/>
              <a:t>An LLM can be fine-tuned for a specific task. It may be guided by a human-provided prompt.</a:t>
            </a:r>
          </a:p>
          <a:p>
            <a:r>
              <a:rPr lang="en-US" i="1" dirty="0"/>
              <a:t>ChatGPT</a:t>
            </a:r>
            <a:r>
              <a:rPr lang="en-US" dirty="0"/>
              <a:t> is probably the most well-known and widely used LLM to date.</a:t>
            </a:r>
          </a:p>
          <a:p>
            <a:endParaRPr lang="en-US" dirty="0"/>
          </a:p>
          <a:p>
            <a:endParaRPr lang="en-US" dirty="0"/>
          </a:p>
        </p:txBody>
      </p:sp>
    </p:spTree>
    <p:extLst>
      <p:ext uri="{BB962C8B-B14F-4D97-AF65-F5344CB8AC3E}">
        <p14:creationId xmlns:p14="http://schemas.microsoft.com/office/powerpoint/2010/main" val="3333686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A23A8-0A06-B58E-D401-C73FD8075EBE}"/>
              </a:ext>
            </a:extLst>
          </p:cNvPr>
          <p:cNvSpPr>
            <a:spLocks noGrp="1"/>
          </p:cNvSpPr>
          <p:nvPr>
            <p:ph type="title"/>
          </p:nvPr>
        </p:nvSpPr>
        <p:spPr/>
        <p:txBody>
          <a:bodyPr/>
          <a:lstStyle/>
          <a:p>
            <a:r>
              <a:rPr lang="en-US" dirty="0"/>
              <a:t>Deployment Model for LLM</a:t>
            </a:r>
          </a:p>
        </p:txBody>
      </p:sp>
      <p:sp>
        <p:nvSpPr>
          <p:cNvPr id="3" name="Content Placeholder 2">
            <a:extLst>
              <a:ext uri="{FF2B5EF4-FFF2-40B4-BE49-F238E27FC236}">
                <a16:creationId xmlns:a16="http://schemas.microsoft.com/office/drawing/2014/main" id="{0220ABC2-C541-CEF8-8127-64B90F7D5D51}"/>
              </a:ext>
            </a:extLst>
          </p:cNvPr>
          <p:cNvSpPr>
            <a:spLocks noGrp="1"/>
          </p:cNvSpPr>
          <p:nvPr>
            <p:ph idx="1"/>
          </p:nvPr>
        </p:nvSpPr>
        <p:spPr/>
        <p:txBody>
          <a:bodyPr/>
          <a:lstStyle/>
          <a:p>
            <a:r>
              <a:rPr lang="en-US" dirty="0"/>
              <a:t>An LLM may be deployed </a:t>
            </a:r>
            <a:r>
              <a:rPr lang="en-US" b="1" dirty="0"/>
              <a:t>locally</a:t>
            </a:r>
            <a:r>
              <a:rPr lang="en-US" dirty="0"/>
              <a:t> (i.e. on-device) or </a:t>
            </a:r>
            <a:r>
              <a:rPr lang="en-US" b="1" dirty="0"/>
              <a:t>remotely</a:t>
            </a:r>
            <a:r>
              <a:rPr lang="en-US" dirty="0"/>
              <a:t> (i.e. on the cloud).</a:t>
            </a:r>
          </a:p>
          <a:p>
            <a:r>
              <a:rPr lang="en-US" dirty="0"/>
              <a:t>There are relative advantages and disadvantages to each approach.</a:t>
            </a:r>
          </a:p>
          <a:p>
            <a:endParaRPr lang="en-US" dirty="0"/>
          </a:p>
          <a:p>
            <a:r>
              <a:rPr lang="en-US" dirty="0"/>
              <a:t>We intend to deploy an LLM locally on a Raspberry Pi device.</a:t>
            </a:r>
          </a:p>
          <a:p>
            <a:endParaRPr lang="en-US" dirty="0"/>
          </a:p>
          <a:p>
            <a:r>
              <a:rPr lang="en-US" dirty="0"/>
              <a:t>We will use the</a:t>
            </a:r>
            <a:r>
              <a:rPr lang="en-US" b="1" dirty="0"/>
              <a:t> </a:t>
            </a:r>
            <a:r>
              <a:rPr lang="en-US" b="1" dirty="0" err="1"/>
              <a:t>llama.cpp</a:t>
            </a:r>
            <a:r>
              <a:rPr lang="en-US" b="1" dirty="0"/>
              <a:t> </a:t>
            </a:r>
            <a:r>
              <a:rPr lang="en-US" dirty="0"/>
              <a:t>project, which is an open-source inference library that runs with Llama models. </a:t>
            </a:r>
            <a:r>
              <a:rPr lang="en-US" dirty="0" err="1"/>
              <a:t>llama.cpp</a:t>
            </a:r>
            <a:r>
              <a:rPr lang="en-US" dirty="0"/>
              <a:t> supports multiple backend targets including Arm.</a:t>
            </a:r>
          </a:p>
        </p:txBody>
      </p:sp>
    </p:spTree>
    <p:extLst>
      <p:ext uri="{BB962C8B-B14F-4D97-AF65-F5344CB8AC3E}">
        <p14:creationId xmlns:p14="http://schemas.microsoft.com/office/powerpoint/2010/main" val="1407275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CE287-E2D5-695C-7975-3A7C97907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8A7B96-B2E7-CA8F-19A3-B3452EF81F83}"/>
              </a:ext>
            </a:extLst>
          </p:cNvPr>
          <p:cNvSpPr>
            <a:spLocks noGrp="1"/>
          </p:cNvSpPr>
          <p:nvPr>
            <p:ph type="title"/>
          </p:nvPr>
        </p:nvSpPr>
        <p:spPr/>
        <p:txBody>
          <a:bodyPr/>
          <a:lstStyle/>
          <a:p>
            <a:r>
              <a:rPr lang="en-US" dirty="0"/>
              <a:t>Comparing Deployment Models for LLM</a:t>
            </a:r>
          </a:p>
        </p:txBody>
      </p:sp>
      <p:sp>
        <p:nvSpPr>
          <p:cNvPr id="3" name="Content Placeholder 2">
            <a:extLst>
              <a:ext uri="{FF2B5EF4-FFF2-40B4-BE49-F238E27FC236}">
                <a16:creationId xmlns:a16="http://schemas.microsoft.com/office/drawing/2014/main" id="{008C9745-6AC7-54C5-9666-979203BBB28E}"/>
              </a:ext>
            </a:extLst>
          </p:cNvPr>
          <p:cNvSpPr>
            <a:spLocks noGrp="1"/>
          </p:cNvSpPr>
          <p:nvPr>
            <p:ph idx="1"/>
          </p:nvPr>
        </p:nvSpPr>
        <p:spPr>
          <a:xfrm>
            <a:off x="492125" y="1479468"/>
            <a:ext cx="11180762" cy="4675147"/>
          </a:xfrm>
        </p:spPr>
        <p:txBody>
          <a:bodyPr/>
          <a:lstStyle/>
          <a:p>
            <a:r>
              <a:rPr lang="en-US" b="1" dirty="0"/>
              <a:t>Advantages</a:t>
            </a:r>
            <a:r>
              <a:rPr lang="en-US" dirty="0"/>
              <a:t> of local deployment:</a:t>
            </a:r>
          </a:p>
          <a:p>
            <a:pPr marL="342900" indent="-342900">
              <a:buFont typeface="Arial" panose="020B0604020202020204" pitchFamily="34" charset="0"/>
              <a:buChar char="•"/>
            </a:pPr>
            <a:r>
              <a:rPr lang="en-GB" dirty="0"/>
              <a:t>✅ </a:t>
            </a:r>
            <a:r>
              <a:rPr lang="en-US" dirty="0"/>
              <a:t>enhances privacy, since all data remains on-device</a:t>
            </a:r>
          </a:p>
          <a:p>
            <a:pPr marL="342900" indent="-342900">
              <a:buFont typeface="Arial" panose="020B0604020202020204" pitchFamily="34" charset="0"/>
              <a:buChar char="•"/>
            </a:pPr>
            <a:r>
              <a:rPr lang="en-GB" dirty="0"/>
              <a:t>✅  appropriate for </a:t>
            </a:r>
            <a:r>
              <a:rPr lang="en-US" dirty="0"/>
              <a:t>low bandwidth or limited connectivity environments</a:t>
            </a:r>
          </a:p>
          <a:p>
            <a:pPr marL="342900" indent="-342900">
              <a:buFont typeface="Arial" panose="020B0604020202020204" pitchFamily="34" charset="0"/>
              <a:buChar char="•"/>
            </a:pPr>
            <a:r>
              <a:rPr lang="en-GB" dirty="0"/>
              <a:t>✅ </a:t>
            </a:r>
            <a:r>
              <a:rPr lang="en-US" dirty="0"/>
              <a:t>no recurring API costs</a:t>
            </a:r>
          </a:p>
          <a:p>
            <a:pPr marL="342900" indent="-342900">
              <a:buFont typeface="Arial" panose="020B0604020202020204" pitchFamily="34" charset="0"/>
              <a:buChar char="•"/>
            </a:pPr>
            <a:r>
              <a:rPr lang="en-GB" dirty="0"/>
              <a:t>✅ </a:t>
            </a:r>
            <a:r>
              <a:rPr lang="en-US" dirty="0"/>
              <a:t>LLM is under our control, no third-party involvement post-deployment</a:t>
            </a:r>
          </a:p>
          <a:p>
            <a:r>
              <a:rPr lang="en-US" b="1" dirty="0"/>
              <a:t>Disadvantages</a:t>
            </a:r>
            <a:r>
              <a:rPr lang="en-US" dirty="0"/>
              <a:t> of local deployment:</a:t>
            </a:r>
          </a:p>
          <a:p>
            <a:pPr marL="342900" indent="-342900">
              <a:buFont typeface="Arial" panose="020B0604020202020204" pitchFamily="34" charset="0"/>
              <a:buChar char="•"/>
            </a:pPr>
            <a:r>
              <a:rPr lang="en-GB" b="1" dirty="0"/>
              <a:t>❌ </a:t>
            </a:r>
            <a:r>
              <a:rPr lang="en-GB" dirty="0"/>
              <a:t>local compute </a:t>
            </a:r>
            <a:r>
              <a:rPr lang="en-US" dirty="0"/>
              <a:t>not as powerful, so smaller models and slower inference times</a:t>
            </a:r>
          </a:p>
          <a:p>
            <a:pPr marL="342900" indent="-342900">
              <a:buFont typeface="Arial" panose="020B0604020202020204" pitchFamily="34" charset="0"/>
              <a:buChar char="•"/>
            </a:pPr>
            <a:r>
              <a:rPr lang="en-GB" b="1" dirty="0"/>
              <a:t>❌ </a:t>
            </a:r>
            <a:r>
              <a:rPr lang="en-GB" dirty="0"/>
              <a:t>LLM </a:t>
            </a:r>
            <a:r>
              <a:rPr lang="en-US" dirty="0"/>
              <a:t>uses limited local resources (CPU/RAM/storage) impacting other services</a:t>
            </a:r>
          </a:p>
          <a:p>
            <a:pPr marL="342900" indent="-342900">
              <a:buFont typeface="Arial" panose="020B0604020202020204" pitchFamily="34" charset="0"/>
              <a:buChar char="•"/>
            </a:pPr>
            <a:r>
              <a:rPr lang="en-GB" b="1" dirty="0"/>
              <a:t>❌ </a:t>
            </a:r>
            <a:r>
              <a:rPr lang="en-GB" dirty="0"/>
              <a:t>model updates would require on-device </a:t>
            </a:r>
            <a:r>
              <a:rPr lang="en-US" dirty="0"/>
              <a:t>reconfiguration</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484116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324D-16AA-3DCF-7A79-81DF5D7CF4F0}"/>
              </a:ext>
            </a:extLst>
          </p:cNvPr>
          <p:cNvSpPr>
            <a:spLocks noGrp="1"/>
          </p:cNvSpPr>
          <p:nvPr>
            <p:ph type="title"/>
          </p:nvPr>
        </p:nvSpPr>
        <p:spPr>
          <a:xfrm>
            <a:off x="492125" y="295275"/>
            <a:ext cx="11180763" cy="736356"/>
          </a:xfrm>
        </p:spPr>
        <p:txBody>
          <a:bodyPr/>
          <a:lstStyle/>
          <a:p>
            <a:r>
              <a:rPr lang="en-US" dirty="0"/>
              <a:t>Why might an AI model be used in an Embedded System?</a:t>
            </a:r>
          </a:p>
        </p:txBody>
      </p:sp>
      <p:sp>
        <p:nvSpPr>
          <p:cNvPr id="3" name="Content Placeholder 2">
            <a:extLst>
              <a:ext uri="{FF2B5EF4-FFF2-40B4-BE49-F238E27FC236}">
                <a16:creationId xmlns:a16="http://schemas.microsoft.com/office/drawing/2014/main" id="{255F0434-CA3D-EC0F-F7E0-613A6DE7EAB7}"/>
              </a:ext>
            </a:extLst>
          </p:cNvPr>
          <p:cNvSpPr>
            <a:spLocks noGrp="1"/>
          </p:cNvSpPr>
          <p:nvPr>
            <p:ph idx="1"/>
          </p:nvPr>
        </p:nvSpPr>
        <p:spPr/>
        <p:txBody>
          <a:bodyPr/>
          <a:lstStyle/>
          <a:p>
            <a:pPr marL="342900" indent="-342900">
              <a:buFont typeface="Arial" panose="020B0604020202020204" pitchFamily="34" charset="0"/>
              <a:buChar char="•"/>
            </a:pPr>
            <a:r>
              <a:rPr lang="en-US" dirty="0"/>
              <a:t>real-time data analysis and response, e.g. </a:t>
            </a:r>
            <a:r>
              <a:rPr lang="en-US" b="1" dirty="0"/>
              <a:t>factory control system</a:t>
            </a:r>
          </a:p>
          <a:p>
            <a:pPr marL="342900" indent="-342900">
              <a:buFont typeface="Arial" panose="020B0604020202020204" pitchFamily="34" charset="0"/>
              <a:buChar char="•"/>
            </a:pPr>
            <a:r>
              <a:rPr lang="en-US" dirty="0"/>
              <a:t>edge processing, avoiding sensitive data transfer across the internet, e.g. </a:t>
            </a:r>
            <a:r>
              <a:rPr lang="en-US" b="1" dirty="0"/>
              <a:t>wearable health tracker</a:t>
            </a:r>
          </a:p>
          <a:p>
            <a:pPr marL="342900" indent="-342900">
              <a:buFont typeface="Arial" panose="020B0604020202020204" pitchFamily="34" charset="0"/>
              <a:buChar char="•"/>
            </a:pPr>
            <a:r>
              <a:rPr lang="en-US" dirty="0"/>
              <a:t>high-level smart features, e.g. </a:t>
            </a:r>
            <a:r>
              <a:rPr lang="en-US" b="1" dirty="0"/>
              <a:t>schedule-learning thermostat</a:t>
            </a:r>
          </a:p>
          <a:p>
            <a:pPr marL="342900" indent="-342900">
              <a:buFont typeface="Arial" panose="020B0604020202020204" pitchFamily="34" charset="0"/>
              <a:buChar char="•"/>
            </a:pPr>
            <a:r>
              <a:rPr lang="en-US" dirty="0"/>
              <a:t>human-friendly textual responses, e.g. </a:t>
            </a:r>
            <a:r>
              <a:rPr lang="en-US" b="1" dirty="0"/>
              <a:t>chatbot user interface</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373705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4AA32-F969-4C19-098B-06BC74C16B7C}"/>
              </a:ext>
            </a:extLst>
          </p:cNvPr>
          <p:cNvSpPr>
            <a:spLocks noGrp="1"/>
          </p:cNvSpPr>
          <p:nvPr>
            <p:ph type="title"/>
          </p:nvPr>
        </p:nvSpPr>
        <p:spPr/>
        <p:txBody>
          <a:bodyPr/>
          <a:lstStyle/>
          <a:p>
            <a:r>
              <a:rPr lang="en-US" dirty="0"/>
              <a:t>Benefits and Drawbacks of AI Integration</a:t>
            </a:r>
          </a:p>
        </p:txBody>
      </p:sp>
      <p:sp>
        <p:nvSpPr>
          <p:cNvPr id="3" name="Content Placeholder 2">
            <a:extLst>
              <a:ext uri="{FF2B5EF4-FFF2-40B4-BE49-F238E27FC236}">
                <a16:creationId xmlns:a16="http://schemas.microsoft.com/office/drawing/2014/main" id="{6101648B-B29F-75B8-4C8A-14FCE16CEC0D}"/>
              </a:ext>
            </a:extLst>
          </p:cNvPr>
          <p:cNvSpPr>
            <a:spLocks noGrp="1"/>
          </p:cNvSpPr>
          <p:nvPr>
            <p:ph idx="1"/>
          </p:nvPr>
        </p:nvSpPr>
        <p:spPr>
          <a:xfrm>
            <a:off x="492125" y="1479468"/>
            <a:ext cx="11180762" cy="4683826"/>
          </a:xfrm>
        </p:spPr>
        <p:txBody>
          <a:bodyPr/>
          <a:lstStyle/>
          <a:p>
            <a:r>
              <a:rPr lang="en-US" dirty="0"/>
              <a:t>Benefits</a:t>
            </a:r>
          </a:p>
          <a:p>
            <a:r>
              <a:rPr lang="en-GB" dirty="0"/>
              <a:t>✅ AI gives flexibility for </a:t>
            </a:r>
            <a:r>
              <a:rPr lang="en-US" dirty="0"/>
              <a:t>adapting to unseen inputs and scenarios.</a:t>
            </a:r>
          </a:p>
          <a:p>
            <a:r>
              <a:rPr lang="en-GB" dirty="0"/>
              <a:t>✅ More cynically, AI is </a:t>
            </a:r>
            <a:r>
              <a:rPr lang="en-US" dirty="0"/>
              <a:t>good for marketing, since AI features are attractive to consumers.</a:t>
            </a:r>
          </a:p>
          <a:p>
            <a:endParaRPr lang="en-US" dirty="0"/>
          </a:p>
          <a:p>
            <a:r>
              <a:rPr lang="en-US" dirty="0"/>
              <a:t>Drawbacks</a:t>
            </a:r>
          </a:p>
          <a:p>
            <a:r>
              <a:rPr lang="en-GB" b="1" dirty="0"/>
              <a:t>❌ </a:t>
            </a:r>
            <a:r>
              <a:rPr lang="en-US" dirty="0"/>
              <a:t>Can we trust AI-generated content and decisions? Are safeguards in place?</a:t>
            </a:r>
          </a:p>
          <a:p>
            <a:r>
              <a:rPr lang="en-GB" b="1" dirty="0"/>
              <a:t>❌ </a:t>
            </a:r>
            <a:r>
              <a:rPr lang="en-US" dirty="0"/>
              <a:t>AI is resource intensive, so may not be viable in the device budget / power envelope.</a:t>
            </a:r>
          </a:p>
          <a:p>
            <a:endParaRPr lang="en-US" dirty="0"/>
          </a:p>
          <a:p>
            <a:r>
              <a:rPr lang="en-US" dirty="0"/>
              <a:t>Can you think of other benefits and/or drawbacks?</a:t>
            </a:r>
          </a:p>
        </p:txBody>
      </p:sp>
    </p:spTree>
    <p:extLst>
      <p:ext uri="{BB962C8B-B14F-4D97-AF65-F5344CB8AC3E}">
        <p14:creationId xmlns:p14="http://schemas.microsoft.com/office/powerpoint/2010/main" val="1238130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04416-E3E9-74CA-6181-70EB31C63144}"/>
              </a:ext>
            </a:extLst>
          </p:cNvPr>
          <p:cNvSpPr>
            <a:spLocks noGrp="1"/>
          </p:cNvSpPr>
          <p:nvPr>
            <p:ph type="title"/>
          </p:nvPr>
        </p:nvSpPr>
        <p:spPr/>
        <p:txBody>
          <a:bodyPr/>
          <a:lstStyle/>
          <a:p>
            <a:r>
              <a:rPr lang="en-US" dirty="0"/>
              <a:t>Llama Deployment on Raspberry Pi</a:t>
            </a:r>
          </a:p>
        </p:txBody>
      </p:sp>
      <p:sp>
        <p:nvSpPr>
          <p:cNvPr id="3" name="Content Placeholder 2">
            <a:extLst>
              <a:ext uri="{FF2B5EF4-FFF2-40B4-BE49-F238E27FC236}">
                <a16:creationId xmlns:a16="http://schemas.microsoft.com/office/drawing/2014/main" id="{EF50C4ED-3F4A-9CEB-8765-B2A21580422C}"/>
              </a:ext>
            </a:extLst>
          </p:cNvPr>
          <p:cNvSpPr>
            <a:spLocks noGrp="1"/>
          </p:cNvSpPr>
          <p:nvPr>
            <p:ph idx="1"/>
          </p:nvPr>
        </p:nvSpPr>
        <p:spPr>
          <a:xfrm>
            <a:off x="492125" y="1479468"/>
            <a:ext cx="11180762" cy="4351316"/>
          </a:xfrm>
        </p:spPr>
        <p:txBody>
          <a:bodyPr/>
          <a:lstStyle/>
          <a:p>
            <a:r>
              <a:rPr lang="en-US" dirty="0"/>
              <a:t>This slide gives an overview of the practical lab associated with this module.</a:t>
            </a:r>
          </a:p>
          <a:p>
            <a:r>
              <a:rPr lang="en-US" dirty="0"/>
              <a:t>Using a custom </a:t>
            </a:r>
            <a:r>
              <a:rPr lang="en-US" dirty="0" err="1"/>
              <a:t>Yocto</a:t>
            </a:r>
            <a:r>
              <a:rPr lang="en-US" dirty="0"/>
              <a:t> layer, we will download, build and install </a:t>
            </a:r>
            <a:r>
              <a:rPr lang="en-US" dirty="0" err="1"/>
              <a:t>llama.cpp</a:t>
            </a:r>
            <a:r>
              <a:rPr lang="en-US" dirty="0"/>
              <a:t> for Raspberry Pi</a:t>
            </a:r>
          </a:p>
          <a:p>
            <a:r>
              <a:rPr lang="en-US" dirty="0"/>
              <a:t>We also need to download a pre-trained Llama model, ensuring this model isn’t too large for our SD-card storage and RAM. Models for </a:t>
            </a:r>
            <a:r>
              <a:rPr lang="en-US" dirty="0" err="1"/>
              <a:t>llama.cpp</a:t>
            </a:r>
            <a:r>
              <a:rPr lang="en-US" dirty="0"/>
              <a:t> are in the </a:t>
            </a:r>
            <a:r>
              <a:rPr lang="en-US" i="1" dirty="0" err="1"/>
              <a:t>gguf</a:t>
            </a:r>
            <a:r>
              <a:rPr lang="en-US" dirty="0"/>
              <a:t> format, which can be obtained from online repositories like </a:t>
            </a:r>
            <a:r>
              <a:rPr lang="en-US" dirty="0" err="1"/>
              <a:t>huggingface</a:t>
            </a:r>
            <a:r>
              <a:rPr lang="en-US" dirty="0"/>
              <a:t>.</a:t>
            </a:r>
          </a:p>
          <a:p>
            <a:r>
              <a:rPr lang="en-US" dirty="0"/>
              <a:t>We want to run our LLM as a background service, in user-mode.</a:t>
            </a:r>
          </a:p>
          <a:p>
            <a:r>
              <a:rPr lang="en-US" dirty="0"/>
              <a:t>We will interact with it via some kind of utility tool, which queries temperature data from a kernel module, then uses this to construct an LLM input prompt.</a:t>
            </a:r>
          </a:p>
          <a:p>
            <a:r>
              <a:rPr lang="en-US" dirty="0"/>
              <a:t>We </a:t>
            </a:r>
            <a:r>
              <a:rPr lang="en-US" i="1" dirty="0"/>
              <a:t>never </a:t>
            </a:r>
            <a:r>
              <a:rPr lang="en-US" dirty="0"/>
              <a:t>run AI models in kernel space – since they are too big, too unpredictable, and too slow.</a:t>
            </a:r>
            <a:endParaRPr lang="en-GB" dirty="0"/>
          </a:p>
        </p:txBody>
      </p:sp>
    </p:spTree>
    <p:extLst>
      <p:ext uri="{BB962C8B-B14F-4D97-AF65-F5344CB8AC3E}">
        <p14:creationId xmlns:p14="http://schemas.microsoft.com/office/powerpoint/2010/main" val="3465884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A26CC-BAED-5609-3449-EE95DDCB3D12}"/>
              </a:ext>
            </a:extLst>
          </p:cNvPr>
          <p:cNvSpPr>
            <a:spLocks noGrp="1"/>
          </p:cNvSpPr>
          <p:nvPr>
            <p:ph type="title"/>
          </p:nvPr>
        </p:nvSpPr>
        <p:spPr/>
        <p:txBody>
          <a:bodyPr/>
          <a:lstStyle/>
          <a:p>
            <a:r>
              <a:rPr lang="en-US" dirty="0"/>
              <a:t>Deployment Component Diagram</a:t>
            </a:r>
          </a:p>
        </p:txBody>
      </p:sp>
      <p:pic>
        <p:nvPicPr>
          <p:cNvPr id="6" name="Content Placeholder 5" descr="Paper with solid fill">
            <a:extLst>
              <a:ext uri="{FF2B5EF4-FFF2-40B4-BE49-F238E27FC236}">
                <a16:creationId xmlns:a16="http://schemas.microsoft.com/office/drawing/2014/main" id="{F9B9C35E-78A9-6859-F393-56008B2D28CB}"/>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8769926" y="1585602"/>
            <a:ext cx="1395103" cy="1395103"/>
          </a:xfrm>
        </p:spPr>
      </p:pic>
      <p:sp>
        <p:nvSpPr>
          <p:cNvPr id="4" name="Rounded Rectangle 3">
            <a:extLst>
              <a:ext uri="{FF2B5EF4-FFF2-40B4-BE49-F238E27FC236}">
                <a16:creationId xmlns:a16="http://schemas.microsoft.com/office/drawing/2014/main" id="{552ED74F-638E-650A-F716-C77D3554BB78}"/>
              </a:ext>
            </a:extLst>
          </p:cNvPr>
          <p:cNvSpPr/>
          <p:nvPr/>
        </p:nvSpPr>
        <p:spPr>
          <a:xfrm>
            <a:off x="8649627" y="4868883"/>
            <a:ext cx="1828800" cy="152004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kernel module</a:t>
            </a:r>
          </a:p>
        </p:txBody>
      </p:sp>
      <p:sp>
        <p:nvSpPr>
          <p:cNvPr id="7" name="TextBox 6">
            <a:extLst>
              <a:ext uri="{FF2B5EF4-FFF2-40B4-BE49-F238E27FC236}">
                <a16:creationId xmlns:a16="http://schemas.microsoft.com/office/drawing/2014/main" id="{4A2881F3-1B3C-2661-8E1B-D003228DD8A2}"/>
              </a:ext>
            </a:extLst>
          </p:cNvPr>
          <p:cNvSpPr txBox="1"/>
          <p:nvPr/>
        </p:nvSpPr>
        <p:spPr>
          <a:xfrm>
            <a:off x="9164657" y="2134589"/>
            <a:ext cx="798741" cy="498598"/>
          </a:xfrm>
          <a:prstGeom prst="rect">
            <a:avLst/>
          </a:prstGeom>
          <a:no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device file</a:t>
            </a:r>
          </a:p>
        </p:txBody>
      </p:sp>
      <p:sp>
        <p:nvSpPr>
          <p:cNvPr id="9" name="Rounded Rectangle 8">
            <a:extLst>
              <a:ext uri="{FF2B5EF4-FFF2-40B4-BE49-F238E27FC236}">
                <a16:creationId xmlns:a16="http://schemas.microsoft.com/office/drawing/2014/main" id="{6653B61C-F335-4BEB-B18D-D067A87D52B4}"/>
              </a:ext>
            </a:extLst>
          </p:cNvPr>
          <p:cNvSpPr/>
          <p:nvPr/>
        </p:nvSpPr>
        <p:spPr>
          <a:xfrm>
            <a:off x="1006672" y="1623867"/>
            <a:ext cx="1828800" cy="152004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llama server</a:t>
            </a:r>
          </a:p>
        </p:txBody>
      </p:sp>
      <p:pic>
        <p:nvPicPr>
          <p:cNvPr id="11" name="Graphic 10" descr="Cmd Terminal with solid fill">
            <a:extLst>
              <a:ext uri="{FF2B5EF4-FFF2-40B4-BE49-F238E27FC236}">
                <a16:creationId xmlns:a16="http://schemas.microsoft.com/office/drawing/2014/main" id="{D0504A71-C76D-590E-85E3-D35065F54B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93746" y="1469488"/>
            <a:ext cx="2014599" cy="1828800"/>
          </a:xfrm>
          <a:prstGeom prst="rect">
            <a:avLst/>
          </a:prstGeom>
        </p:spPr>
      </p:pic>
      <p:sp>
        <p:nvSpPr>
          <p:cNvPr id="12" name="TextBox 11">
            <a:extLst>
              <a:ext uri="{FF2B5EF4-FFF2-40B4-BE49-F238E27FC236}">
                <a16:creationId xmlns:a16="http://schemas.microsoft.com/office/drawing/2014/main" id="{E4E81E04-BAFA-A840-3A75-166DF9FFD491}"/>
              </a:ext>
            </a:extLst>
          </p:cNvPr>
          <p:cNvSpPr txBox="1"/>
          <p:nvPr/>
        </p:nvSpPr>
        <p:spPr>
          <a:xfrm>
            <a:off x="5623760" y="2193964"/>
            <a:ext cx="978922" cy="498598"/>
          </a:xfrm>
          <a:prstGeom prst="rect">
            <a:avLst/>
          </a:prstGeom>
          <a:solidFill>
            <a:schemeClr val="bg1"/>
          </a:solid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command script</a:t>
            </a:r>
          </a:p>
        </p:txBody>
      </p:sp>
      <p:sp>
        <p:nvSpPr>
          <p:cNvPr id="13" name="Right Arrow 12">
            <a:extLst>
              <a:ext uri="{FF2B5EF4-FFF2-40B4-BE49-F238E27FC236}">
                <a16:creationId xmlns:a16="http://schemas.microsoft.com/office/drawing/2014/main" id="{0009BE16-3268-4F67-3F8F-E96596A12BE2}"/>
              </a:ext>
            </a:extLst>
          </p:cNvPr>
          <p:cNvSpPr/>
          <p:nvPr/>
        </p:nvSpPr>
        <p:spPr>
          <a:xfrm>
            <a:off x="6908345" y="2134589"/>
            <a:ext cx="2033774" cy="498598"/>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reads</a:t>
            </a:r>
          </a:p>
        </p:txBody>
      </p:sp>
      <p:sp>
        <p:nvSpPr>
          <p:cNvPr id="14" name="Right Arrow 13">
            <a:extLst>
              <a:ext uri="{FF2B5EF4-FFF2-40B4-BE49-F238E27FC236}">
                <a16:creationId xmlns:a16="http://schemas.microsoft.com/office/drawing/2014/main" id="{18082A1A-151A-568D-63D7-7487EA2EB395}"/>
              </a:ext>
            </a:extLst>
          </p:cNvPr>
          <p:cNvSpPr/>
          <p:nvPr/>
        </p:nvSpPr>
        <p:spPr>
          <a:xfrm>
            <a:off x="2989984" y="2407885"/>
            <a:ext cx="2014599" cy="498598"/>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outputs text to</a:t>
            </a:r>
          </a:p>
        </p:txBody>
      </p:sp>
      <p:sp>
        <p:nvSpPr>
          <p:cNvPr id="15" name="Up Arrow 14">
            <a:extLst>
              <a:ext uri="{FF2B5EF4-FFF2-40B4-BE49-F238E27FC236}">
                <a16:creationId xmlns:a16="http://schemas.microsoft.com/office/drawing/2014/main" id="{30A5E575-C135-BD26-47A0-775072332C33}"/>
              </a:ext>
            </a:extLst>
          </p:cNvPr>
          <p:cNvSpPr/>
          <p:nvPr/>
        </p:nvSpPr>
        <p:spPr>
          <a:xfrm>
            <a:off x="9345881" y="2906483"/>
            <a:ext cx="344384" cy="1879273"/>
          </a:xfrm>
          <a:prstGeom prst="up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2500" lnSpcReduction="10000"/>
          </a:bodyPr>
          <a:lstStyle/>
          <a:p>
            <a:pPr algn="ctr"/>
            <a:r>
              <a:rPr lang="en-US" dirty="0"/>
              <a:t>defines</a:t>
            </a:r>
          </a:p>
        </p:txBody>
      </p:sp>
      <p:sp>
        <p:nvSpPr>
          <p:cNvPr id="16" name="Left Arrow 15">
            <a:extLst>
              <a:ext uri="{FF2B5EF4-FFF2-40B4-BE49-F238E27FC236}">
                <a16:creationId xmlns:a16="http://schemas.microsoft.com/office/drawing/2014/main" id="{2CB48F3B-5AAB-4C9A-8467-16692E9DB6FD}"/>
              </a:ext>
            </a:extLst>
          </p:cNvPr>
          <p:cNvSpPr/>
          <p:nvPr/>
        </p:nvSpPr>
        <p:spPr>
          <a:xfrm>
            <a:off x="2946741" y="1840675"/>
            <a:ext cx="2057842" cy="442478"/>
          </a:xfrm>
          <a:prstGeom prst="lef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sends prompt to</a:t>
            </a:r>
          </a:p>
        </p:txBody>
      </p:sp>
      <p:cxnSp>
        <p:nvCxnSpPr>
          <p:cNvPr id="18" name="Straight Connector 17">
            <a:extLst>
              <a:ext uri="{FF2B5EF4-FFF2-40B4-BE49-F238E27FC236}">
                <a16:creationId xmlns:a16="http://schemas.microsoft.com/office/drawing/2014/main" id="{7471495C-6AD1-F9DF-E4CC-9AE06496C239}"/>
              </a:ext>
            </a:extLst>
          </p:cNvPr>
          <p:cNvCxnSpPr/>
          <p:nvPr/>
        </p:nvCxnSpPr>
        <p:spPr>
          <a:xfrm>
            <a:off x="142504" y="4001984"/>
            <a:ext cx="12049496" cy="0"/>
          </a:xfrm>
          <a:prstGeom prst="line">
            <a:avLst/>
          </a:prstGeom>
          <a:ln w="53975">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FEB6199-1477-5345-4400-7225E1E98E44}"/>
              </a:ext>
            </a:extLst>
          </p:cNvPr>
          <p:cNvSpPr txBox="1"/>
          <p:nvPr/>
        </p:nvSpPr>
        <p:spPr>
          <a:xfrm>
            <a:off x="1151908" y="3639908"/>
            <a:ext cx="2113806" cy="249299"/>
          </a:xfrm>
          <a:prstGeom prst="rect">
            <a:avLst/>
          </a:prstGeom>
          <a:solidFill>
            <a:schemeClr val="bg1"/>
          </a:solid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user space</a:t>
            </a:r>
          </a:p>
        </p:txBody>
      </p:sp>
      <p:sp>
        <p:nvSpPr>
          <p:cNvPr id="20" name="TextBox 19">
            <a:extLst>
              <a:ext uri="{FF2B5EF4-FFF2-40B4-BE49-F238E27FC236}">
                <a16:creationId xmlns:a16="http://schemas.microsoft.com/office/drawing/2014/main" id="{8B15B0A1-7A1E-434C-008F-B4143F6F7A01}"/>
              </a:ext>
            </a:extLst>
          </p:cNvPr>
          <p:cNvSpPr txBox="1"/>
          <p:nvPr/>
        </p:nvSpPr>
        <p:spPr>
          <a:xfrm>
            <a:off x="1151908" y="4162459"/>
            <a:ext cx="2113806" cy="249299"/>
          </a:xfrm>
          <a:prstGeom prst="rect">
            <a:avLst/>
          </a:prstGeom>
          <a:solidFill>
            <a:schemeClr val="bg1"/>
          </a:solidFill>
        </p:spPr>
        <p:txBody>
          <a:bodyPr wrap="square" lIns="0" tIns="0" rIns="0" bIns="0" rtlCol="0">
            <a:spAutoFit/>
          </a:bodyPr>
          <a:lstStyle/>
          <a:p>
            <a:pPr marL="0" indent="0" algn="l" defTabSz="914400" rtl="0" eaLnBrk="1" latinLnBrk="0" hangingPunct="1">
              <a:lnSpc>
                <a:spcPct val="90000"/>
              </a:lnSpc>
              <a:spcBef>
                <a:spcPts val="0"/>
              </a:spcBef>
              <a:spcAft>
                <a:spcPts val="600"/>
              </a:spcAft>
              <a:buFont typeface="Arial" panose="020B0604020202020204" pitchFamily="34" charset="0"/>
              <a:buNone/>
            </a:pPr>
            <a:r>
              <a:rPr lang="en-US" kern="1200" dirty="0">
                <a:solidFill>
                  <a:schemeClr val="tx2"/>
                </a:solidFill>
                <a:latin typeface="+mn-lt"/>
                <a:ea typeface="+mn-ea"/>
                <a:cs typeface="+mn-cs"/>
              </a:rPr>
              <a:t>kernel space</a:t>
            </a:r>
          </a:p>
        </p:txBody>
      </p:sp>
    </p:spTree>
    <p:extLst>
      <p:ext uri="{BB962C8B-B14F-4D97-AF65-F5344CB8AC3E}">
        <p14:creationId xmlns:p14="http://schemas.microsoft.com/office/powerpoint/2010/main" val="8503913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Summary</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Introduction</a:t>
            </a:r>
          </a:p>
          <a:p>
            <a:r>
              <a:rPr lang="en-US" dirty="0">
                <a:solidFill>
                  <a:schemeClr val="tx1">
                    <a:lumMod val="95000"/>
                    <a:lumOff val="5000"/>
                  </a:schemeClr>
                </a:solidFill>
              </a:rPr>
              <a:t>The </a:t>
            </a:r>
            <a:r>
              <a:rPr lang="en-US" dirty="0" err="1">
                <a:solidFill>
                  <a:schemeClr val="tx1">
                    <a:lumMod val="95000"/>
                    <a:lumOff val="5000"/>
                  </a:schemeClr>
                </a:solidFill>
              </a:rPr>
              <a:t>sysfs</a:t>
            </a:r>
            <a:r>
              <a:rPr lang="en-US" dirty="0">
                <a:solidFill>
                  <a:schemeClr val="tx1">
                    <a:lumMod val="95000"/>
                    <a:lumOff val="5000"/>
                  </a:schemeClr>
                </a:solidFill>
              </a:rPr>
              <a:t> file system</a:t>
            </a:r>
          </a:p>
          <a:p>
            <a:r>
              <a:rPr lang="en-US" dirty="0">
                <a:solidFill>
                  <a:schemeClr val="tx1">
                    <a:lumMod val="95000"/>
                    <a:lumOff val="5000"/>
                  </a:schemeClr>
                </a:solidFill>
              </a:rPr>
              <a:t>The Llama AI model</a:t>
            </a:r>
          </a:p>
          <a:p>
            <a:r>
              <a:rPr lang="en-US" dirty="0">
                <a:solidFill>
                  <a:srgbClr val="118CAB"/>
                </a:solidFill>
              </a:rPr>
              <a:t>Building Linux support for integrating AI models with kernel modules</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03853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solidFill>
                  <a:srgbClr val="118CAB"/>
                </a:solidFill>
              </a:rPr>
              <a:t>Building Linux Support for the On-Board Temperature Sensor</a:t>
            </a:r>
            <a:endParaRPr lang="en-US" dirty="0"/>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086225"/>
          </a:xfrm>
        </p:spPr>
        <p:txBody>
          <a:bodyPr wrap="square" numCol="1" anchor="t" anchorCtr="0" compatLnSpc="1">
            <a:prstTxWarp prst="textNoShape">
              <a:avLst/>
            </a:prstTxWarp>
          </a:bodyPr>
          <a:lstStyle/>
          <a:p>
            <a:r>
              <a:rPr lang="en-US" dirty="0"/>
              <a:t>We will develop a simple Linux module for the Raspberry Pi on-board temperature sensor that makes use of the </a:t>
            </a:r>
            <a:r>
              <a:rPr lang="en-US" dirty="0" err="1"/>
              <a:t>sysfs</a:t>
            </a:r>
            <a:r>
              <a:rPr lang="en-US" dirty="0"/>
              <a:t> file system..</a:t>
            </a:r>
          </a:p>
          <a:p>
            <a:r>
              <a:rPr lang="en-US" dirty="0"/>
              <a:t>The same loadable Kernel module will use the thermal component of Linux to read and provide the user the last temperature read from the sensor.</a:t>
            </a:r>
            <a:endParaRPr lang="en-US" altLang="en-US" dirty="0">
              <a:ea typeface="ＭＳ Ｐゴシック" panose="020B0600070205080204" pitchFamily="34" charset="-128"/>
            </a:endParaRPr>
          </a:p>
          <a:p>
            <a:pPr lvl="1"/>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724502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Module Data Structure Definition</a:t>
            </a:r>
          </a:p>
        </p:txBody>
      </p:sp>
      <p:sp>
        <p:nvSpPr>
          <p:cNvPr id="6" name="Content Placeholder 1">
            <a:extLst>
              <a:ext uri="{FF2B5EF4-FFF2-40B4-BE49-F238E27FC236}">
                <a16:creationId xmlns:a16="http://schemas.microsoft.com/office/drawing/2014/main" id="{ABCB9DE2-586F-47AE-91FB-DF098D5A0C46}"/>
              </a:ext>
            </a:extLst>
          </p:cNvPr>
          <p:cNvSpPr>
            <a:spLocks noGrp="1"/>
          </p:cNvSpPr>
          <p:nvPr>
            <p:ph sz="half" idx="1"/>
          </p:nvPr>
        </p:nvSpPr>
        <p:spPr>
          <a:xfrm>
            <a:off x="481484" y="1440000"/>
            <a:ext cx="7745735" cy="4680000"/>
          </a:xfrm>
        </p:spPr>
        <p:txBody>
          <a:bodyPr/>
          <a:lstStyle/>
          <a:p>
            <a:pPr marL="0" indent="0">
              <a:spcAft>
                <a:spcPts val="600"/>
              </a:spcAft>
              <a:buNone/>
            </a:pPr>
            <a:endParaRPr lang="en-US" sz="2000" dirty="0">
              <a:latin typeface="Courier" charset="0"/>
              <a:ea typeface="Courier" charset="0"/>
              <a:cs typeface="Courier" charset="0"/>
            </a:endParaRPr>
          </a:p>
          <a:p>
            <a:pPr marL="0" indent="0">
              <a:spcAft>
                <a:spcPts val="600"/>
              </a:spcAft>
              <a:buNone/>
            </a:pPr>
            <a:endParaRPr lang="en-US" sz="2000" dirty="0">
              <a:latin typeface="Courier" charset="0"/>
              <a:ea typeface="Courier" charset="0"/>
              <a:cs typeface="Courier" charset="0"/>
            </a:endParaRPr>
          </a:p>
          <a:p>
            <a:pPr marL="0" indent="0">
              <a:spcAft>
                <a:spcPts val="600"/>
              </a:spcAft>
              <a:buNone/>
            </a:pPr>
            <a:endParaRPr lang="en-US" sz="2000" dirty="0">
              <a:latin typeface="Courier" charset="0"/>
              <a:ea typeface="Courier" charset="0"/>
              <a:cs typeface="Courier" charset="0"/>
            </a:endParaRPr>
          </a:p>
          <a:p>
            <a:pPr marL="0" indent="0">
              <a:spcAft>
                <a:spcPts val="600"/>
              </a:spcAft>
              <a:buNone/>
            </a:pPr>
            <a:endParaRPr lang="en-US" sz="2000" dirty="0">
              <a:latin typeface="Courier" charset="0"/>
              <a:ea typeface="Courier" charset="0"/>
              <a:cs typeface="Courier" charset="0"/>
            </a:endParaRPr>
          </a:p>
          <a:p>
            <a:pPr marL="0" indent="0">
              <a:spcAft>
                <a:spcPts val="600"/>
              </a:spcAft>
              <a:buNone/>
            </a:pPr>
            <a:endParaRPr lang="en-US" sz="2000" dirty="0">
              <a:latin typeface="Courier" charset="0"/>
              <a:ea typeface="Courier" charset="0"/>
              <a:cs typeface="Courier" charset="0"/>
            </a:endParaRPr>
          </a:p>
          <a:p>
            <a:pPr marL="0" indent="0">
              <a:spcAft>
                <a:spcPts val="600"/>
              </a:spcAft>
              <a:buNone/>
            </a:pPr>
            <a:r>
              <a:rPr lang="en-US" sz="2000" dirty="0">
                <a:latin typeface="Courier" charset="0"/>
                <a:ea typeface="Courier" charset="0"/>
                <a:cs typeface="Courier" charset="0"/>
              </a:rPr>
              <a:t>static struct </a:t>
            </a:r>
            <a:r>
              <a:rPr lang="en-US" sz="2000" dirty="0" err="1">
                <a:latin typeface="Courier" charset="0"/>
                <a:ea typeface="Courier" charset="0"/>
                <a:cs typeface="Courier" charset="0"/>
              </a:rPr>
              <a:t>kobject</a:t>
            </a:r>
            <a:r>
              <a:rPr lang="en-US" sz="2000" dirty="0">
                <a:latin typeface="Courier" charset="0"/>
                <a:ea typeface="Courier" charset="0"/>
                <a:cs typeface="Courier" charset="0"/>
              </a:rPr>
              <a:t> *</a:t>
            </a:r>
            <a:r>
              <a:rPr lang="en-US" sz="2000" dirty="0" err="1">
                <a:latin typeface="Courier" charset="0"/>
                <a:ea typeface="Courier" charset="0"/>
                <a:cs typeface="Courier" charset="0"/>
              </a:rPr>
              <a:t>temp_kobject</a:t>
            </a:r>
            <a:r>
              <a:rPr lang="en-US" sz="2000" dirty="0">
                <a:latin typeface="Courier" charset="0"/>
                <a:ea typeface="Courier" charset="0"/>
                <a:cs typeface="Courier" charset="0"/>
              </a:rPr>
              <a:t>;</a:t>
            </a:r>
          </a:p>
          <a:p>
            <a:pPr marL="0" indent="0">
              <a:spcAft>
                <a:spcPts val="600"/>
              </a:spcAft>
              <a:buNone/>
            </a:pPr>
            <a:endParaRPr lang="en-US" sz="2000" dirty="0">
              <a:latin typeface="Courier" charset="0"/>
              <a:ea typeface="Courier" charset="0"/>
              <a:cs typeface="Courier" charset="0"/>
            </a:endParaRPr>
          </a:p>
          <a:p>
            <a:pPr marL="0" indent="0">
              <a:spcAft>
                <a:spcPts val="600"/>
              </a:spcAft>
              <a:buNone/>
            </a:pPr>
            <a:endParaRPr lang="en-US" sz="2000" dirty="0">
              <a:latin typeface="Courier" charset="0"/>
              <a:ea typeface="Courier" charset="0"/>
              <a:cs typeface="Courier" charset="0"/>
            </a:endParaRPr>
          </a:p>
          <a:p>
            <a:pPr marL="0" indent="0">
              <a:spcAft>
                <a:spcPts val="600"/>
              </a:spcAft>
              <a:buNone/>
            </a:pPr>
            <a:endParaRPr lang="en-US" sz="2000" dirty="0">
              <a:latin typeface="Courier" charset="0"/>
              <a:ea typeface="Courier" charset="0"/>
              <a:cs typeface="Courier" charset="0"/>
            </a:endParaRPr>
          </a:p>
          <a:p>
            <a:pPr marL="0" indent="0">
              <a:spcAft>
                <a:spcPts val="600"/>
              </a:spcAft>
              <a:buNone/>
            </a:pPr>
            <a:endParaRPr lang="en-US" sz="2000" dirty="0">
              <a:latin typeface="Courier" charset="0"/>
              <a:ea typeface="Courier" charset="0"/>
              <a:cs typeface="Courier" charset="0"/>
            </a:endParaRPr>
          </a:p>
          <a:p>
            <a:pPr marL="0" indent="0">
              <a:spcAft>
                <a:spcPts val="600"/>
              </a:spcAft>
              <a:buNone/>
            </a:pPr>
            <a:r>
              <a:rPr lang="en-US" sz="2000" dirty="0">
                <a:latin typeface="Courier" charset="0"/>
                <a:ea typeface="Courier" charset="0"/>
                <a:cs typeface="Courier" charset="0"/>
              </a:rPr>
              <a:t>static struct </a:t>
            </a:r>
            <a:r>
              <a:rPr lang="en-US" sz="2000" dirty="0" err="1">
                <a:latin typeface="Courier" charset="0"/>
                <a:ea typeface="Courier" charset="0"/>
                <a:cs typeface="Courier" charset="0"/>
              </a:rPr>
              <a:t>kobj_attribute</a:t>
            </a:r>
            <a:r>
              <a:rPr lang="en-US" sz="2000" dirty="0">
                <a:latin typeface="Courier" charset="0"/>
                <a:ea typeface="Courier" charset="0"/>
                <a:cs typeface="Courier" charset="0"/>
              </a:rPr>
              <a:t> </a:t>
            </a:r>
            <a:r>
              <a:rPr lang="en-US" sz="2000" dirty="0" err="1">
                <a:latin typeface="Courier" charset="0"/>
                <a:ea typeface="Courier" charset="0"/>
                <a:cs typeface="Courier" charset="0"/>
              </a:rPr>
              <a:t>temp_attribute</a:t>
            </a:r>
            <a:r>
              <a:rPr lang="en-US" sz="2000" dirty="0">
                <a:latin typeface="Courier" charset="0"/>
                <a:ea typeface="Courier" charset="0"/>
                <a:cs typeface="Courier" charset="0"/>
              </a:rPr>
              <a:t> = __ATTR(value, 0444, </a:t>
            </a:r>
            <a:r>
              <a:rPr lang="en-US" sz="2000" dirty="0" err="1">
                <a:latin typeface="Courier" charset="0"/>
                <a:ea typeface="Courier" charset="0"/>
                <a:cs typeface="Courier" charset="0"/>
              </a:rPr>
              <a:t>temp_show</a:t>
            </a:r>
            <a:r>
              <a:rPr lang="en-US" sz="2000" dirty="0">
                <a:latin typeface="Courier" charset="0"/>
                <a:ea typeface="Courier" charset="0"/>
                <a:cs typeface="Courier" charset="0"/>
              </a:rPr>
              <a:t>, NULL);</a:t>
            </a:r>
          </a:p>
        </p:txBody>
      </p:sp>
      <p:sp>
        <p:nvSpPr>
          <p:cNvPr id="11" name="TextBox 10">
            <a:extLst>
              <a:ext uri="{FF2B5EF4-FFF2-40B4-BE49-F238E27FC236}">
                <a16:creationId xmlns:a16="http://schemas.microsoft.com/office/drawing/2014/main" id="{98BA0146-2B60-49A4-BD2E-2305D64A4466}"/>
              </a:ext>
            </a:extLst>
          </p:cNvPr>
          <p:cNvSpPr txBox="1"/>
          <p:nvPr/>
        </p:nvSpPr>
        <p:spPr>
          <a:xfrm>
            <a:off x="6779419" y="3226636"/>
            <a:ext cx="5194692" cy="307777"/>
          </a:xfrm>
          <a:prstGeom prst="rect">
            <a:avLst/>
          </a:prstGeom>
        </p:spPr>
        <p:txBody>
          <a:bodyPr vert="horz" wrap="none" lIns="0" tIns="0" rIns="0" bIns="0" rtlCol="0" anchor="t">
            <a:spAutoFit/>
          </a:bodyPr>
          <a:lstStyle/>
          <a:p>
            <a:r>
              <a:rPr lang="en-US" sz="2000" dirty="0"/>
              <a:t>Kernel object for adding a directory entry to </a:t>
            </a:r>
            <a:r>
              <a:rPr lang="en-US" sz="2000" dirty="0" err="1"/>
              <a:t>sysfs</a:t>
            </a:r>
            <a:endParaRPr lang="en-US" sz="2000" dirty="0"/>
          </a:p>
        </p:txBody>
      </p:sp>
      <p:sp>
        <p:nvSpPr>
          <p:cNvPr id="12" name="Right Brace 11">
            <a:extLst>
              <a:ext uri="{FF2B5EF4-FFF2-40B4-BE49-F238E27FC236}">
                <a16:creationId xmlns:a16="http://schemas.microsoft.com/office/drawing/2014/main" id="{0CC081F2-3821-4F45-AAD7-83E4FE9F4075}"/>
              </a:ext>
            </a:extLst>
          </p:cNvPr>
          <p:cNvSpPr/>
          <p:nvPr/>
        </p:nvSpPr>
        <p:spPr>
          <a:xfrm>
            <a:off x="6398419" y="3200400"/>
            <a:ext cx="228600" cy="38342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Right Brace 14">
            <a:extLst>
              <a:ext uri="{FF2B5EF4-FFF2-40B4-BE49-F238E27FC236}">
                <a16:creationId xmlns:a16="http://schemas.microsoft.com/office/drawing/2014/main" id="{3AE07F7D-DD74-4689-AB17-656BE924A5F0}"/>
              </a:ext>
            </a:extLst>
          </p:cNvPr>
          <p:cNvSpPr/>
          <p:nvPr/>
        </p:nvSpPr>
        <p:spPr>
          <a:xfrm>
            <a:off x="8151019" y="4876800"/>
            <a:ext cx="228600" cy="7620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C0CA558B-187D-4373-9CDA-9395FC94C085}"/>
              </a:ext>
            </a:extLst>
          </p:cNvPr>
          <p:cNvSpPr txBox="1"/>
          <p:nvPr/>
        </p:nvSpPr>
        <p:spPr>
          <a:xfrm>
            <a:off x="8646302" y="5103911"/>
            <a:ext cx="2373086" cy="307777"/>
          </a:xfrm>
          <a:prstGeom prst="rect">
            <a:avLst/>
          </a:prstGeom>
        </p:spPr>
        <p:txBody>
          <a:bodyPr vert="horz" wrap="none" lIns="0" tIns="0" rIns="0" bIns="0" rtlCol="0" anchor="t">
            <a:spAutoFit/>
          </a:bodyPr>
          <a:lstStyle/>
          <a:p>
            <a:r>
              <a:rPr lang="en-US" sz="2000" dirty="0"/>
              <a:t>Kernel object attribute</a:t>
            </a:r>
          </a:p>
        </p:txBody>
      </p:sp>
      <p:sp>
        <p:nvSpPr>
          <p:cNvPr id="17" name="TextBox 16">
            <a:extLst>
              <a:ext uri="{FF2B5EF4-FFF2-40B4-BE49-F238E27FC236}">
                <a16:creationId xmlns:a16="http://schemas.microsoft.com/office/drawing/2014/main" id="{33079F5A-7E85-4A3D-8BBB-ADC0B46400AF}"/>
              </a:ext>
            </a:extLst>
          </p:cNvPr>
          <p:cNvSpPr txBox="1"/>
          <p:nvPr/>
        </p:nvSpPr>
        <p:spPr>
          <a:xfrm>
            <a:off x="683419" y="6013884"/>
            <a:ext cx="1683153" cy="307777"/>
          </a:xfrm>
          <a:prstGeom prst="rect">
            <a:avLst/>
          </a:prstGeom>
        </p:spPr>
        <p:txBody>
          <a:bodyPr vert="horz" wrap="none" lIns="0" tIns="0" rIns="0" bIns="0" rtlCol="0" anchor="t">
            <a:spAutoFit/>
          </a:bodyPr>
          <a:lstStyle/>
          <a:p>
            <a:r>
              <a:rPr lang="en-US" sz="2000" dirty="0"/>
              <a:t>Name of the file</a:t>
            </a:r>
          </a:p>
        </p:txBody>
      </p:sp>
      <p:sp>
        <p:nvSpPr>
          <p:cNvPr id="18" name="TextBox 17">
            <a:extLst>
              <a:ext uri="{FF2B5EF4-FFF2-40B4-BE49-F238E27FC236}">
                <a16:creationId xmlns:a16="http://schemas.microsoft.com/office/drawing/2014/main" id="{66AEA28E-A63E-4EE7-94C5-8867787B4C7D}"/>
              </a:ext>
            </a:extLst>
          </p:cNvPr>
          <p:cNvSpPr txBox="1"/>
          <p:nvPr/>
        </p:nvSpPr>
        <p:spPr>
          <a:xfrm>
            <a:off x="2772166" y="6013884"/>
            <a:ext cx="1631857" cy="307777"/>
          </a:xfrm>
          <a:prstGeom prst="rect">
            <a:avLst/>
          </a:prstGeom>
        </p:spPr>
        <p:txBody>
          <a:bodyPr vert="horz" wrap="none" lIns="0" tIns="0" rIns="0" bIns="0" rtlCol="0" anchor="t">
            <a:spAutoFit/>
          </a:bodyPr>
          <a:lstStyle/>
          <a:p>
            <a:r>
              <a:rPr lang="en-US" sz="2000" dirty="0"/>
              <a:t>File access right</a:t>
            </a:r>
          </a:p>
        </p:txBody>
      </p:sp>
      <p:sp>
        <p:nvSpPr>
          <p:cNvPr id="19" name="TextBox 18">
            <a:extLst>
              <a:ext uri="{FF2B5EF4-FFF2-40B4-BE49-F238E27FC236}">
                <a16:creationId xmlns:a16="http://schemas.microsoft.com/office/drawing/2014/main" id="{03A03B77-DF28-46FD-8113-9DF4B0C56B1E}"/>
              </a:ext>
            </a:extLst>
          </p:cNvPr>
          <p:cNvSpPr txBox="1"/>
          <p:nvPr/>
        </p:nvSpPr>
        <p:spPr>
          <a:xfrm>
            <a:off x="5217507" y="6013884"/>
            <a:ext cx="4872424" cy="307777"/>
          </a:xfrm>
          <a:prstGeom prst="rect">
            <a:avLst/>
          </a:prstGeom>
        </p:spPr>
        <p:txBody>
          <a:bodyPr vert="horz" wrap="none" lIns="0" tIns="0" rIns="0" bIns="0" rtlCol="0" anchor="t">
            <a:spAutoFit/>
          </a:bodyPr>
          <a:lstStyle/>
          <a:p>
            <a:r>
              <a:rPr lang="en-US" sz="2000" dirty="0"/>
              <a:t>Functions invoked when the file is read/written</a:t>
            </a:r>
          </a:p>
        </p:txBody>
      </p:sp>
      <p:cxnSp>
        <p:nvCxnSpPr>
          <p:cNvPr id="20" name="Straight Arrow Connector 19">
            <a:extLst>
              <a:ext uri="{FF2B5EF4-FFF2-40B4-BE49-F238E27FC236}">
                <a16:creationId xmlns:a16="http://schemas.microsoft.com/office/drawing/2014/main" id="{91981365-C269-42D2-A582-30BD775D8B49}"/>
              </a:ext>
            </a:extLst>
          </p:cNvPr>
          <p:cNvCxnSpPr/>
          <p:nvPr/>
        </p:nvCxnSpPr>
        <p:spPr>
          <a:xfrm flipV="1">
            <a:off x="1524995" y="5638800"/>
            <a:ext cx="377624" cy="375084"/>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40C603C-CAA8-463B-A3E4-C4E371CAFF37}"/>
              </a:ext>
            </a:extLst>
          </p:cNvPr>
          <p:cNvCxnSpPr>
            <a:stCxn id="18" idx="0"/>
          </p:cNvCxnSpPr>
          <p:nvPr/>
        </p:nvCxnSpPr>
        <p:spPr>
          <a:xfrm flipH="1" flipV="1">
            <a:off x="3109116" y="5638800"/>
            <a:ext cx="478979" cy="375084"/>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2" name="Right Brace 21">
            <a:extLst>
              <a:ext uri="{FF2B5EF4-FFF2-40B4-BE49-F238E27FC236}">
                <a16:creationId xmlns:a16="http://schemas.microsoft.com/office/drawing/2014/main" id="{186BC770-F42D-45C4-A416-EFB6011F1957}"/>
              </a:ext>
            </a:extLst>
          </p:cNvPr>
          <p:cNvSpPr/>
          <p:nvPr/>
        </p:nvSpPr>
        <p:spPr>
          <a:xfrm rot="5400000">
            <a:off x="4787857" y="4339076"/>
            <a:ext cx="45719" cy="257056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E6C86758-CCCD-415E-B15A-9E89885DD284}"/>
              </a:ext>
            </a:extLst>
          </p:cNvPr>
          <p:cNvCxnSpPr>
            <a:cxnSpLocks/>
            <a:stCxn id="19" idx="0"/>
            <a:endCxn id="22" idx="1"/>
          </p:cNvCxnSpPr>
          <p:nvPr/>
        </p:nvCxnSpPr>
        <p:spPr>
          <a:xfrm flipH="1" flipV="1">
            <a:off x="4810716" y="5647218"/>
            <a:ext cx="2843003" cy="366666"/>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2595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Module Initialization Function</a:t>
            </a:r>
          </a:p>
        </p:txBody>
      </p:sp>
      <p:sp>
        <p:nvSpPr>
          <p:cNvPr id="29699" name="Content Placeholder 18">
            <a:extLst>
              <a:ext uri="{FF2B5EF4-FFF2-40B4-BE49-F238E27FC236}">
                <a16:creationId xmlns:a16="http://schemas.microsoft.com/office/drawing/2014/main" id="{52EB3C3E-30C4-4EFE-A0AE-51FDB62B17F2}"/>
              </a:ext>
            </a:extLst>
          </p:cNvPr>
          <p:cNvSpPr>
            <a:spLocks noGrp="1" noChangeArrowheads="1"/>
          </p:cNvSpPr>
          <p:nvPr>
            <p:ph sz="quarter" idx="1"/>
          </p:nvPr>
        </p:nvSpPr>
        <p:spPr bwMode="auto">
          <a:xfrm>
            <a:off x="492125" y="1639888"/>
            <a:ext cx="11180763" cy="4514727"/>
          </a:xfrm>
        </p:spPr>
        <p:txBody>
          <a:bodyPr wrap="square" numCol="1" anchor="t" anchorCtr="0" compatLnSpc="1">
            <a:prstTxWarp prst="textNoShape">
              <a:avLst/>
            </a:prstTxWarp>
          </a:bodyPr>
          <a:lstStyle/>
          <a:p>
            <a:pPr>
              <a:spcAft>
                <a:spcPts val="600"/>
              </a:spcAft>
            </a:pPr>
            <a:r>
              <a:rPr lang="en-US" sz="1600" dirty="0">
                <a:latin typeface="Courier" charset="0"/>
                <a:ea typeface="Courier" charset="0"/>
                <a:cs typeface="Courier" charset="0"/>
              </a:rPr>
              <a:t>static int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temp_init</a:t>
            </a:r>
            <a:r>
              <a:rPr lang="en-US" sz="1600" dirty="0">
                <a:latin typeface="Courier" charset="0"/>
                <a:ea typeface="Courier" charset="0"/>
                <a:cs typeface="Courier" charset="0"/>
              </a:rPr>
              <a:t>(void)</a:t>
            </a:r>
          </a:p>
          <a:p>
            <a:pPr>
              <a:spcAft>
                <a:spcPts val="600"/>
              </a:spcAft>
            </a:pP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int error = 0;</a:t>
            </a: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temp_kobj</a:t>
            </a:r>
            <a:r>
              <a:rPr lang="en-US" sz="1600" dirty="0">
                <a:latin typeface="Courier" charset="0"/>
                <a:ea typeface="Courier" charset="0"/>
                <a:cs typeface="Courier" charset="0"/>
              </a:rPr>
              <a:t> = </a:t>
            </a:r>
            <a:r>
              <a:rPr lang="en-US" sz="1600" dirty="0" err="1">
                <a:latin typeface="Courier" charset="0"/>
                <a:ea typeface="Courier" charset="0"/>
                <a:cs typeface="Courier" charset="0"/>
              </a:rPr>
              <a:t>kobject_create_and_add</a:t>
            </a:r>
            <a:r>
              <a:rPr lang="en-US" sz="1600" dirty="0">
                <a:latin typeface="Courier" charset="0"/>
                <a:ea typeface="Courier" charset="0"/>
                <a:cs typeface="Courier" charset="0"/>
              </a:rPr>
              <a:t>("temp", </a:t>
            </a:r>
            <a:r>
              <a:rPr lang="en-US" sz="1600" dirty="0" err="1">
                <a:latin typeface="Courier" charset="0"/>
                <a:ea typeface="Courier" charset="0"/>
                <a:cs typeface="Courier" charset="0"/>
              </a:rPr>
              <a:t>kernel_kobj</a:t>
            </a: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if (!</a:t>
            </a:r>
            <a:r>
              <a:rPr lang="en-US" sz="1600" dirty="0" err="1">
                <a:latin typeface="Courier" charset="0"/>
                <a:ea typeface="Courier" charset="0"/>
                <a:cs typeface="Courier" charset="0"/>
              </a:rPr>
              <a:t>temp_kobj</a:t>
            </a: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return -ENOMEM;</a:t>
            </a:r>
          </a:p>
          <a:p>
            <a:pPr>
              <a:spcAft>
                <a:spcPts val="600"/>
              </a:spcAft>
            </a:pPr>
            <a:r>
              <a:rPr lang="en-US" sz="1600" dirty="0">
                <a:latin typeface="Courier" charset="0"/>
                <a:ea typeface="Courier" charset="0"/>
                <a:cs typeface="Courier" charset="0"/>
              </a:rPr>
              <a:t>    error = </a:t>
            </a:r>
            <a:r>
              <a:rPr lang="en-US" sz="1600" dirty="0" err="1">
                <a:latin typeface="Courier" charset="0"/>
                <a:ea typeface="Courier" charset="0"/>
                <a:cs typeface="Courier" charset="0"/>
              </a:rPr>
              <a:t>sysfs_create_file</a:t>
            </a:r>
            <a:r>
              <a:rPr lang="en-US" sz="1600" dirty="0">
                <a:latin typeface="Courier" charset="0"/>
                <a:ea typeface="Courier" charset="0"/>
                <a:cs typeface="Courier" charset="0"/>
              </a:rPr>
              <a:t>(</a:t>
            </a:r>
            <a:r>
              <a:rPr lang="en-US" sz="1600" dirty="0" err="1">
                <a:latin typeface="Courier" charset="0"/>
                <a:ea typeface="Courier" charset="0"/>
                <a:cs typeface="Courier" charset="0"/>
              </a:rPr>
              <a:t>temp_kobj</a:t>
            </a:r>
            <a:r>
              <a:rPr lang="en-US" sz="1600" dirty="0">
                <a:latin typeface="Courier" charset="0"/>
                <a:ea typeface="Courier" charset="0"/>
                <a:cs typeface="Courier" charset="0"/>
              </a:rPr>
              <a:t>, &amp;</a:t>
            </a:r>
            <a:r>
              <a:rPr lang="en-US" sz="1600" dirty="0" err="1">
                <a:latin typeface="Courier" charset="0"/>
                <a:ea typeface="Courier" charset="0"/>
                <a:cs typeface="Courier" charset="0"/>
              </a:rPr>
              <a:t>temp_attribute.attr</a:t>
            </a:r>
            <a:r>
              <a:rPr lang="en-US" sz="1600" dirty="0">
                <a:latin typeface="Courier" charset="0"/>
                <a:ea typeface="Courier" charset="0"/>
                <a:cs typeface="Courier" charset="0"/>
              </a:rPr>
              <a:t>);</a:t>
            </a:r>
          </a:p>
          <a:p>
            <a:pPr>
              <a:spcAft>
                <a:spcPts val="600"/>
              </a:spcAft>
            </a:pPr>
            <a:endParaRPr lang="en-US" sz="1600" dirty="0">
              <a:latin typeface="Courier" charset="0"/>
              <a:ea typeface="Courier" charset="0"/>
              <a:cs typeface="Courier" charset="0"/>
            </a:endParaRPr>
          </a:p>
          <a:p>
            <a:pPr>
              <a:spcAft>
                <a:spcPts val="600"/>
              </a:spcAft>
            </a:pPr>
            <a:r>
              <a:rPr lang="en-US" sz="1600" dirty="0">
                <a:latin typeface="Courier" charset="0"/>
                <a:ea typeface="Courier" charset="0"/>
                <a:cs typeface="Courier" charset="0"/>
              </a:rPr>
              <a:t>    if (error) {</a:t>
            </a: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pr_err</a:t>
            </a:r>
            <a:r>
              <a:rPr lang="en-US" sz="1600" dirty="0">
                <a:latin typeface="Courier" charset="0"/>
                <a:ea typeface="Courier" charset="0"/>
                <a:cs typeface="Courier" charset="0"/>
              </a:rPr>
              <a:t>("temp: failed to create </a:t>
            </a:r>
            <a:r>
              <a:rPr lang="en-US" sz="1600" dirty="0" err="1">
                <a:latin typeface="Courier" charset="0"/>
                <a:ea typeface="Courier" charset="0"/>
                <a:cs typeface="Courier" charset="0"/>
              </a:rPr>
              <a:t>sysfs</a:t>
            </a:r>
            <a:r>
              <a:rPr lang="en-US" sz="1600" dirty="0">
                <a:latin typeface="Courier" charset="0"/>
                <a:ea typeface="Courier" charset="0"/>
                <a:cs typeface="Courier" charset="0"/>
              </a:rPr>
              <a:t> file\n");</a:t>
            </a: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kobject_put</a:t>
            </a:r>
            <a:r>
              <a:rPr lang="en-US" sz="1600" dirty="0">
                <a:latin typeface="Courier" charset="0"/>
                <a:ea typeface="Courier" charset="0"/>
                <a:cs typeface="Courier" charset="0"/>
              </a:rPr>
              <a:t>(</a:t>
            </a:r>
            <a:r>
              <a:rPr lang="en-US" sz="1600" dirty="0" err="1">
                <a:latin typeface="Courier" charset="0"/>
                <a:ea typeface="Courier" charset="0"/>
                <a:cs typeface="Courier" charset="0"/>
              </a:rPr>
              <a:t>temp_kobj</a:t>
            </a: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a:t>
            </a: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pr_info</a:t>
            </a:r>
            <a:r>
              <a:rPr lang="en-US" sz="1600" dirty="0">
                <a:latin typeface="Courier" charset="0"/>
                <a:ea typeface="Courier" charset="0"/>
                <a:cs typeface="Courier" charset="0"/>
              </a:rPr>
              <a:t>("temp module loaded\n");</a:t>
            </a:r>
          </a:p>
          <a:p>
            <a:pPr>
              <a:spcAft>
                <a:spcPts val="600"/>
              </a:spcAft>
            </a:pPr>
            <a:r>
              <a:rPr lang="en-US" sz="1600" dirty="0">
                <a:latin typeface="Courier" charset="0"/>
                <a:ea typeface="Courier" charset="0"/>
                <a:cs typeface="Courier" charset="0"/>
              </a:rPr>
              <a:t>    return error;</a:t>
            </a:r>
          </a:p>
          <a:p>
            <a:pPr>
              <a:spcAft>
                <a:spcPts val="600"/>
              </a:spcAft>
            </a:pPr>
            <a:r>
              <a:rPr lang="en-US" sz="1600" dirty="0">
                <a:latin typeface="Courier" charset="0"/>
                <a:ea typeface="Courier" charset="0"/>
                <a:cs typeface="Courier" charset="0"/>
              </a:rPr>
              <a:t>}</a:t>
            </a:r>
          </a:p>
          <a:p>
            <a:pPr>
              <a:spcAft>
                <a:spcPts val="600"/>
              </a:spcAft>
            </a:pPr>
            <a:endParaRPr lang="en-US" sz="1600" dirty="0">
              <a:latin typeface="Courier" charset="0"/>
              <a:ea typeface="Courier" charset="0"/>
              <a:cs typeface="Courier" charset="0"/>
            </a:endParaRPr>
          </a:p>
          <a:p>
            <a:pPr>
              <a:spcAft>
                <a:spcPts val="600"/>
              </a:spcAft>
            </a:pPr>
            <a:endParaRPr lang="en-US" altLang="en-US" sz="1600" dirty="0">
              <a:ea typeface="ＭＳ Ｐゴシック" panose="020B0600070205080204" pitchFamily="34" charset="-128"/>
            </a:endParaRPr>
          </a:p>
        </p:txBody>
      </p:sp>
    </p:spTree>
    <p:extLst>
      <p:ext uri="{BB962C8B-B14F-4D97-AF65-F5344CB8AC3E}">
        <p14:creationId xmlns:p14="http://schemas.microsoft.com/office/powerpoint/2010/main" val="1967891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C65F3-D6E9-442B-43D9-812499F278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188581C-F301-58E0-727F-9BD380973B15}"/>
              </a:ext>
            </a:extLst>
          </p:cNvPr>
          <p:cNvSpPr>
            <a:spLocks noGrp="1"/>
          </p:cNvSpPr>
          <p:nvPr>
            <p:ph type="title"/>
          </p:nvPr>
        </p:nvSpPr>
        <p:spPr/>
        <p:txBody>
          <a:bodyPr/>
          <a:lstStyle/>
          <a:p>
            <a:pPr>
              <a:defRPr/>
            </a:pPr>
            <a:r>
              <a:rPr lang="en-US" dirty="0"/>
              <a:t>Module Initialization Function</a:t>
            </a:r>
          </a:p>
        </p:txBody>
      </p:sp>
      <p:sp>
        <p:nvSpPr>
          <p:cNvPr id="29699" name="Content Placeholder 18">
            <a:extLst>
              <a:ext uri="{FF2B5EF4-FFF2-40B4-BE49-F238E27FC236}">
                <a16:creationId xmlns:a16="http://schemas.microsoft.com/office/drawing/2014/main" id="{CFF92C72-424F-3078-DA8F-E65BF164528B}"/>
              </a:ext>
            </a:extLst>
          </p:cNvPr>
          <p:cNvSpPr>
            <a:spLocks noGrp="1" noChangeArrowheads="1"/>
          </p:cNvSpPr>
          <p:nvPr>
            <p:ph sz="quarter" idx="1"/>
          </p:nvPr>
        </p:nvSpPr>
        <p:spPr bwMode="auto">
          <a:xfrm>
            <a:off x="492125" y="1639888"/>
            <a:ext cx="11180763" cy="4514727"/>
          </a:xfrm>
        </p:spPr>
        <p:txBody>
          <a:bodyPr wrap="square" numCol="1" anchor="t" anchorCtr="0" compatLnSpc="1">
            <a:prstTxWarp prst="textNoShape">
              <a:avLst/>
            </a:prstTxWarp>
          </a:bodyPr>
          <a:lstStyle/>
          <a:p>
            <a:pPr>
              <a:spcAft>
                <a:spcPts val="600"/>
              </a:spcAft>
            </a:pPr>
            <a:r>
              <a:rPr lang="en-US" sz="1600" dirty="0">
                <a:latin typeface="Courier" charset="0"/>
                <a:ea typeface="Courier" charset="0"/>
                <a:cs typeface="Courier" charset="0"/>
              </a:rPr>
              <a:t>static int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temp_init</a:t>
            </a:r>
            <a:r>
              <a:rPr lang="en-US" sz="1600" dirty="0">
                <a:latin typeface="Courier" charset="0"/>
                <a:ea typeface="Courier" charset="0"/>
                <a:cs typeface="Courier" charset="0"/>
              </a:rPr>
              <a:t>(void)</a:t>
            </a:r>
          </a:p>
          <a:p>
            <a:pPr>
              <a:spcAft>
                <a:spcPts val="600"/>
              </a:spcAft>
            </a:pP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int error = 0;</a:t>
            </a: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temp_kobj</a:t>
            </a:r>
            <a:r>
              <a:rPr lang="en-US" sz="1600" dirty="0">
                <a:latin typeface="Courier" charset="0"/>
                <a:ea typeface="Courier" charset="0"/>
                <a:cs typeface="Courier" charset="0"/>
              </a:rPr>
              <a:t> = </a:t>
            </a:r>
            <a:r>
              <a:rPr lang="en-US" sz="1600" dirty="0" err="1">
                <a:latin typeface="Courier" charset="0"/>
                <a:ea typeface="Courier" charset="0"/>
                <a:cs typeface="Courier" charset="0"/>
              </a:rPr>
              <a:t>kobject_create_and_add</a:t>
            </a:r>
            <a:r>
              <a:rPr lang="en-US" sz="1600" dirty="0">
                <a:latin typeface="Courier" charset="0"/>
                <a:ea typeface="Courier" charset="0"/>
                <a:cs typeface="Courier" charset="0"/>
              </a:rPr>
              <a:t>("temp", </a:t>
            </a:r>
            <a:r>
              <a:rPr lang="en-US" sz="1600" dirty="0" err="1">
                <a:latin typeface="Courier" charset="0"/>
                <a:ea typeface="Courier" charset="0"/>
                <a:cs typeface="Courier" charset="0"/>
              </a:rPr>
              <a:t>kernel_kobj</a:t>
            </a: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if (!</a:t>
            </a:r>
            <a:r>
              <a:rPr lang="en-US" sz="1600" dirty="0" err="1">
                <a:latin typeface="Courier" charset="0"/>
                <a:ea typeface="Courier" charset="0"/>
                <a:cs typeface="Courier" charset="0"/>
              </a:rPr>
              <a:t>temp_kobj</a:t>
            </a: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return -ENOMEM;</a:t>
            </a:r>
          </a:p>
          <a:p>
            <a:pPr>
              <a:spcAft>
                <a:spcPts val="600"/>
              </a:spcAft>
            </a:pPr>
            <a:r>
              <a:rPr lang="en-US" sz="1600" dirty="0">
                <a:latin typeface="Courier" charset="0"/>
                <a:ea typeface="Courier" charset="0"/>
                <a:cs typeface="Courier" charset="0"/>
              </a:rPr>
              <a:t>    error = </a:t>
            </a:r>
            <a:r>
              <a:rPr lang="en-US" sz="1600" dirty="0" err="1">
                <a:latin typeface="Courier" charset="0"/>
                <a:ea typeface="Courier" charset="0"/>
                <a:cs typeface="Courier" charset="0"/>
              </a:rPr>
              <a:t>sysfs_create_file</a:t>
            </a:r>
            <a:r>
              <a:rPr lang="en-US" sz="1600" dirty="0">
                <a:latin typeface="Courier" charset="0"/>
                <a:ea typeface="Courier" charset="0"/>
                <a:cs typeface="Courier" charset="0"/>
              </a:rPr>
              <a:t>(</a:t>
            </a:r>
            <a:r>
              <a:rPr lang="en-US" sz="1600" dirty="0" err="1">
                <a:latin typeface="Courier" charset="0"/>
                <a:ea typeface="Courier" charset="0"/>
                <a:cs typeface="Courier" charset="0"/>
              </a:rPr>
              <a:t>temp_kobj</a:t>
            </a:r>
            <a:r>
              <a:rPr lang="en-US" sz="1600" dirty="0">
                <a:latin typeface="Courier" charset="0"/>
                <a:ea typeface="Courier" charset="0"/>
                <a:cs typeface="Courier" charset="0"/>
              </a:rPr>
              <a:t>, &amp;</a:t>
            </a:r>
            <a:r>
              <a:rPr lang="en-US" sz="1600" dirty="0" err="1">
                <a:latin typeface="Courier" charset="0"/>
                <a:ea typeface="Courier" charset="0"/>
                <a:cs typeface="Courier" charset="0"/>
              </a:rPr>
              <a:t>temp_attribute.attr</a:t>
            </a:r>
            <a:r>
              <a:rPr lang="en-US" sz="1600" dirty="0">
                <a:latin typeface="Courier" charset="0"/>
                <a:ea typeface="Courier" charset="0"/>
                <a:cs typeface="Courier" charset="0"/>
              </a:rPr>
              <a:t>);</a:t>
            </a:r>
          </a:p>
          <a:p>
            <a:pPr>
              <a:spcAft>
                <a:spcPts val="600"/>
              </a:spcAft>
            </a:pPr>
            <a:endParaRPr lang="en-US" sz="1600" dirty="0">
              <a:latin typeface="Courier" charset="0"/>
              <a:ea typeface="Courier" charset="0"/>
              <a:cs typeface="Courier" charset="0"/>
            </a:endParaRPr>
          </a:p>
          <a:p>
            <a:pPr>
              <a:spcAft>
                <a:spcPts val="600"/>
              </a:spcAft>
            </a:pPr>
            <a:r>
              <a:rPr lang="en-US" sz="1600" dirty="0">
                <a:solidFill>
                  <a:schemeClr val="bg1">
                    <a:lumMod val="75000"/>
                  </a:schemeClr>
                </a:solidFill>
                <a:latin typeface="Courier" charset="0"/>
                <a:ea typeface="Courier" charset="0"/>
                <a:cs typeface="Courier" charset="0"/>
              </a:rPr>
              <a:t>    if (error) {</a:t>
            </a:r>
          </a:p>
          <a:p>
            <a:pPr>
              <a:spcAft>
                <a:spcPts val="600"/>
              </a:spcAft>
            </a:pPr>
            <a:r>
              <a:rPr lang="en-US" sz="1600" dirty="0">
                <a:solidFill>
                  <a:schemeClr val="bg1">
                    <a:lumMod val="75000"/>
                  </a:schemeClr>
                </a:solidFill>
                <a:latin typeface="Courier" charset="0"/>
                <a:ea typeface="Courier" charset="0"/>
                <a:cs typeface="Courier" charset="0"/>
              </a:rPr>
              <a:t>        </a:t>
            </a:r>
            <a:r>
              <a:rPr lang="en-US" sz="1600" dirty="0" err="1">
                <a:solidFill>
                  <a:schemeClr val="bg1">
                    <a:lumMod val="75000"/>
                  </a:schemeClr>
                </a:solidFill>
                <a:latin typeface="Courier" charset="0"/>
                <a:ea typeface="Courier" charset="0"/>
                <a:cs typeface="Courier" charset="0"/>
              </a:rPr>
              <a:t>pr_err</a:t>
            </a:r>
            <a:r>
              <a:rPr lang="en-US" sz="1600" dirty="0">
                <a:solidFill>
                  <a:schemeClr val="bg1">
                    <a:lumMod val="75000"/>
                  </a:schemeClr>
                </a:solidFill>
                <a:latin typeface="Courier" charset="0"/>
                <a:ea typeface="Courier" charset="0"/>
                <a:cs typeface="Courier" charset="0"/>
              </a:rPr>
              <a:t>("temp: failed to create </a:t>
            </a:r>
            <a:r>
              <a:rPr lang="en-US" sz="1600" dirty="0" err="1">
                <a:solidFill>
                  <a:schemeClr val="bg1">
                    <a:lumMod val="75000"/>
                  </a:schemeClr>
                </a:solidFill>
                <a:latin typeface="Courier" charset="0"/>
                <a:ea typeface="Courier" charset="0"/>
                <a:cs typeface="Courier" charset="0"/>
              </a:rPr>
              <a:t>sysfs</a:t>
            </a:r>
            <a:r>
              <a:rPr lang="en-US" sz="1600" dirty="0">
                <a:solidFill>
                  <a:schemeClr val="bg1">
                    <a:lumMod val="75000"/>
                  </a:schemeClr>
                </a:solidFill>
                <a:latin typeface="Courier" charset="0"/>
                <a:ea typeface="Courier" charset="0"/>
                <a:cs typeface="Courier" charset="0"/>
              </a:rPr>
              <a:t> file\n");</a:t>
            </a:r>
          </a:p>
          <a:p>
            <a:pPr>
              <a:spcAft>
                <a:spcPts val="600"/>
              </a:spcAft>
            </a:pPr>
            <a:r>
              <a:rPr lang="en-US" sz="1600" dirty="0">
                <a:solidFill>
                  <a:schemeClr val="bg1">
                    <a:lumMod val="75000"/>
                  </a:schemeClr>
                </a:solidFill>
                <a:latin typeface="Courier" charset="0"/>
                <a:ea typeface="Courier" charset="0"/>
                <a:cs typeface="Courier" charset="0"/>
              </a:rPr>
              <a:t>        </a:t>
            </a:r>
            <a:r>
              <a:rPr lang="en-US" sz="1600" dirty="0" err="1">
                <a:solidFill>
                  <a:schemeClr val="bg1">
                    <a:lumMod val="75000"/>
                  </a:schemeClr>
                </a:solidFill>
                <a:latin typeface="Courier" charset="0"/>
                <a:ea typeface="Courier" charset="0"/>
                <a:cs typeface="Courier" charset="0"/>
              </a:rPr>
              <a:t>kobject_put</a:t>
            </a:r>
            <a:r>
              <a:rPr lang="en-US" sz="1600" dirty="0">
                <a:solidFill>
                  <a:schemeClr val="bg1">
                    <a:lumMod val="75000"/>
                  </a:schemeClr>
                </a:solidFill>
                <a:latin typeface="Courier" charset="0"/>
                <a:ea typeface="Courier" charset="0"/>
                <a:cs typeface="Courier" charset="0"/>
              </a:rPr>
              <a:t>(</a:t>
            </a:r>
            <a:r>
              <a:rPr lang="en-US" sz="1600" dirty="0" err="1">
                <a:solidFill>
                  <a:schemeClr val="bg1">
                    <a:lumMod val="75000"/>
                  </a:schemeClr>
                </a:solidFill>
                <a:latin typeface="Courier" charset="0"/>
                <a:ea typeface="Courier" charset="0"/>
                <a:cs typeface="Courier" charset="0"/>
              </a:rPr>
              <a:t>temp_kobj</a:t>
            </a:r>
            <a:r>
              <a:rPr lang="en-US" sz="1600" dirty="0">
                <a:solidFill>
                  <a:schemeClr val="bg1">
                    <a:lumMod val="75000"/>
                  </a:schemeClr>
                </a:solidFill>
                <a:latin typeface="Courier" charset="0"/>
                <a:ea typeface="Courier" charset="0"/>
                <a:cs typeface="Courier" charset="0"/>
              </a:rPr>
              <a:t>);</a:t>
            </a:r>
          </a:p>
          <a:p>
            <a:pPr>
              <a:spcAft>
                <a:spcPts val="600"/>
              </a:spcAft>
            </a:pPr>
            <a:r>
              <a:rPr lang="en-US" sz="1600" dirty="0">
                <a:solidFill>
                  <a:schemeClr val="bg1">
                    <a:lumMod val="75000"/>
                  </a:schemeClr>
                </a:solidFill>
                <a:latin typeface="Courier" charset="0"/>
                <a:ea typeface="Courier" charset="0"/>
                <a:cs typeface="Courier" charset="0"/>
              </a:rPr>
              <a:t>    }</a:t>
            </a:r>
          </a:p>
          <a:p>
            <a:pPr>
              <a:spcAft>
                <a:spcPts val="600"/>
              </a:spcAft>
            </a:pPr>
            <a:r>
              <a:rPr lang="en-US" sz="1600" dirty="0">
                <a:solidFill>
                  <a:schemeClr val="bg1">
                    <a:lumMod val="75000"/>
                  </a:schemeClr>
                </a:solidFill>
                <a:latin typeface="Courier" charset="0"/>
                <a:ea typeface="Courier" charset="0"/>
                <a:cs typeface="Courier" charset="0"/>
              </a:rPr>
              <a:t>    </a:t>
            </a:r>
            <a:r>
              <a:rPr lang="en-US" sz="1600" dirty="0" err="1">
                <a:solidFill>
                  <a:schemeClr val="bg1">
                    <a:lumMod val="75000"/>
                  </a:schemeClr>
                </a:solidFill>
                <a:latin typeface="Courier" charset="0"/>
                <a:ea typeface="Courier" charset="0"/>
                <a:cs typeface="Courier" charset="0"/>
              </a:rPr>
              <a:t>pr_info</a:t>
            </a:r>
            <a:r>
              <a:rPr lang="en-US" sz="1600" dirty="0">
                <a:solidFill>
                  <a:schemeClr val="bg1">
                    <a:lumMod val="75000"/>
                  </a:schemeClr>
                </a:solidFill>
                <a:latin typeface="Courier" charset="0"/>
                <a:ea typeface="Courier" charset="0"/>
                <a:cs typeface="Courier" charset="0"/>
              </a:rPr>
              <a:t>("temp module loaded\n");</a:t>
            </a:r>
          </a:p>
          <a:p>
            <a:pPr>
              <a:spcAft>
                <a:spcPts val="600"/>
              </a:spcAft>
            </a:pPr>
            <a:r>
              <a:rPr lang="en-US" sz="1600" dirty="0">
                <a:solidFill>
                  <a:schemeClr val="bg1">
                    <a:lumMod val="75000"/>
                  </a:schemeClr>
                </a:solidFill>
                <a:latin typeface="Courier" charset="0"/>
                <a:ea typeface="Courier" charset="0"/>
                <a:cs typeface="Courier" charset="0"/>
              </a:rPr>
              <a:t>    return error;</a:t>
            </a:r>
          </a:p>
          <a:p>
            <a:pPr>
              <a:spcAft>
                <a:spcPts val="600"/>
              </a:spcAft>
            </a:pPr>
            <a:r>
              <a:rPr lang="en-US" sz="1600" dirty="0">
                <a:latin typeface="Courier" charset="0"/>
                <a:ea typeface="Courier" charset="0"/>
                <a:cs typeface="Courier" charset="0"/>
              </a:rPr>
              <a:t>}</a:t>
            </a:r>
          </a:p>
          <a:p>
            <a:pPr>
              <a:spcAft>
                <a:spcPts val="600"/>
              </a:spcAft>
            </a:pPr>
            <a:endParaRPr lang="en-US" sz="1600" dirty="0">
              <a:latin typeface="Courier" charset="0"/>
              <a:ea typeface="Courier" charset="0"/>
              <a:cs typeface="Courier" charset="0"/>
            </a:endParaRPr>
          </a:p>
          <a:p>
            <a:pPr>
              <a:spcAft>
                <a:spcPts val="600"/>
              </a:spcAft>
            </a:pPr>
            <a:endParaRPr lang="en-US" altLang="en-US" sz="1600" dirty="0">
              <a:ea typeface="ＭＳ Ｐゴシック" panose="020B0600070205080204" pitchFamily="34" charset="-128"/>
            </a:endParaRPr>
          </a:p>
        </p:txBody>
      </p:sp>
      <p:sp>
        <p:nvSpPr>
          <p:cNvPr id="2" name="TextBox 1">
            <a:extLst>
              <a:ext uri="{FF2B5EF4-FFF2-40B4-BE49-F238E27FC236}">
                <a16:creationId xmlns:a16="http://schemas.microsoft.com/office/drawing/2014/main" id="{70F61B04-448F-F39E-A214-B802C67562F2}"/>
              </a:ext>
            </a:extLst>
          </p:cNvPr>
          <p:cNvSpPr txBox="1"/>
          <p:nvPr/>
        </p:nvSpPr>
        <p:spPr>
          <a:xfrm>
            <a:off x="8379619" y="2895600"/>
            <a:ext cx="3102791" cy="615553"/>
          </a:xfrm>
          <a:prstGeom prst="rect">
            <a:avLst/>
          </a:prstGeom>
        </p:spPr>
        <p:txBody>
          <a:bodyPr vert="horz" wrap="square" lIns="0" tIns="0" rIns="0" bIns="0" rtlCol="0" anchor="t">
            <a:spAutoFit/>
          </a:bodyPr>
          <a:lstStyle/>
          <a:p>
            <a:r>
              <a:rPr lang="en-US" sz="2000" dirty="0"/>
              <a:t>Insert the new file in the Linux </a:t>
            </a:r>
            <a:r>
              <a:rPr lang="en-US" sz="2000" dirty="0" err="1"/>
              <a:t>sysfs</a:t>
            </a:r>
            <a:endParaRPr lang="en-US" sz="2000" dirty="0"/>
          </a:p>
        </p:txBody>
      </p:sp>
      <p:sp>
        <p:nvSpPr>
          <p:cNvPr id="3" name="Right Brace 2">
            <a:extLst>
              <a:ext uri="{FF2B5EF4-FFF2-40B4-BE49-F238E27FC236}">
                <a16:creationId xmlns:a16="http://schemas.microsoft.com/office/drawing/2014/main" id="{121003FD-6BC0-2054-D3E3-B285CCAD8BC3}"/>
              </a:ext>
            </a:extLst>
          </p:cNvPr>
          <p:cNvSpPr/>
          <p:nvPr/>
        </p:nvSpPr>
        <p:spPr>
          <a:xfrm>
            <a:off x="8014145" y="2590801"/>
            <a:ext cx="136874" cy="13716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43817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786F0-E6CE-CBD9-7A45-B6F749D62DE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6B56DEA-F229-37C6-33B5-4583E321D8BA}"/>
              </a:ext>
            </a:extLst>
          </p:cNvPr>
          <p:cNvSpPr>
            <a:spLocks noGrp="1"/>
          </p:cNvSpPr>
          <p:nvPr>
            <p:ph type="title"/>
          </p:nvPr>
        </p:nvSpPr>
        <p:spPr/>
        <p:txBody>
          <a:bodyPr/>
          <a:lstStyle/>
          <a:p>
            <a:pPr>
              <a:defRPr/>
            </a:pPr>
            <a:r>
              <a:rPr lang="en-US" dirty="0"/>
              <a:t>Module Initialization Function</a:t>
            </a:r>
          </a:p>
        </p:txBody>
      </p:sp>
      <p:sp>
        <p:nvSpPr>
          <p:cNvPr id="29699" name="Content Placeholder 18">
            <a:extLst>
              <a:ext uri="{FF2B5EF4-FFF2-40B4-BE49-F238E27FC236}">
                <a16:creationId xmlns:a16="http://schemas.microsoft.com/office/drawing/2014/main" id="{7C21A4A8-D126-11FE-8F44-E77D95F0B640}"/>
              </a:ext>
            </a:extLst>
          </p:cNvPr>
          <p:cNvSpPr>
            <a:spLocks noGrp="1" noChangeArrowheads="1"/>
          </p:cNvSpPr>
          <p:nvPr>
            <p:ph sz="quarter" idx="1"/>
          </p:nvPr>
        </p:nvSpPr>
        <p:spPr bwMode="auto">
          <a:xfrm>
            <a:off x="492125" y="1639888"/>
            <a:ext cx="11180763" cy="4514727"/>
          </a:xfrm>
        </p:spPr>
        <p:txBody>
          <a:bodyPr wrap="square" numCol="1" anchor="t" anchorCtr="0" compatLnSpc="1">
            <a:prstTxWarp prst="textNoShape">
              <a:avLst/>
            </a:prstTxWarp>
          </a:bodyPr>
          <a:lstStyle/>
          <a:p>
            <a:pPr>
              <a:spcAft>
                <a:spcPts val="600"/>
              </a:spcAft>
            </a:pPr>
            <a:r>
              <a:rPr lang="en-US" sz="1600" dirty="0">
                <a:latin typeface="Courier" charset="0"/>
                <a:ea typeface="Courier" charset="0"/>
                <a:cs typeface="Courier" charset="0"/>
              </a:rPr>
              <a:t>static int __</a:t>
            </a:r>
            <a:r>
              <a:rPr lang="en-US" sz="1600" dirty="0" err="1">
                <a:latin typeface="Courier" charset="0"/>
                <a:ea typeface="Courier" charset="0"/>
                <a:cs typeface="Courier" charset="0"/>
              </a:rPr>
              <a:t>init</a:t>
            </a:r>
            <a:r>
              <a:rPr lang="en-US" sz="1600" dirty="0">
                <a:latin typeface="Courier" charset="0"/>
                <a:ea typeface="Courier" charset="0"/>
                <a:cs typeface="Courier" charset="0"/>
              </a:rPr>
              <a:t> </a:t>
            </a:r>
            <a:r>
              <a:rPr lang="en-US" sz="1600" dirty="0" err="1">
                <a:latin typeface="Courier" charset="0"/>
                <a:ea typeface="Courier" charset="0"/>
                <a:cs typeface="Courier" charset="0"/>
              </a:rPr>
              <a:t>temp_init</a:t>
            </a:r>
            <a:r>
              <a:rPr lang="en-US" sz="1600" dirty="0">
                <a:latin typeface="Courier" charset="0"/>
                <a:ea typeface="Courier" charset="0"/>
                <a:cs typeface="Courier" charset="0"/>
              </a:rPr>
              <a:t>(void)</a:t>
            </a:r>
          </a:p>
          <a:p>
            <a:pPr>
              <a:spcAft>
                <a:spcPts val="600"/>
              </a:spcAft>
            </a:pPr>
            <a:r>
              <a:rPr lang="en-US" sz="1600" dirty="0">
                <a:latin typeface="Courier" charset="0"/>
                <a:ea typeface="Courier" charset="0"/>
                <a:cs typeface="Courier" charset="0"/>
              </a:rPr>
              <a:t>{</a:t>
            </a:r>
          </a:p>
          <a:p>
            <a:pPr>
              <a:spcAft>
                <a:spcPts val="600"/>
              </a:spcAft>
            </a:pPr>
            <a:r>
              <a:rPr lang="en-US" sz="1600" dirty="0">
                <a:solidFill>
                  <a:schemeClr val="bg1">
                    <a:lumMod val="75000"/>
                  </a:schemeClr>
                </a:solidFill>
                <a:latin typeface="Courier" charset="0"/>
                <a:ea typeface="Courier" charset="0"/>
                <a:cs typeface="Courier" charset="0"/>
              </a:rPr>
              <a:t>    int error = 0;</a:t>
            </a:r>
          </a:p>
          <a:p>
            <a:pPr>
              <a:spcAft>
                <a:spcPts val="600"/>
              </a:spcAft>
            </a:pPr>
            <a:r>
              <a:rPr lang="en-US" sz="1600" dirty="0">
                <a:solidFill>
                  <a:schemeClr val="bg1">
                    <a:lumMod val="75000"/>
                  </a:schemeClr>
                </a:solidFill>
                <a:latin typeface="Courier" charset="0"/>
                <a:ea typeface="Courier" charset="0"/>
                <a:cs typeface="Courier" charset="0"/>
              </a:rPr>
              <a:t>    </a:t>
            </a:r>
            <a:r>
              <a:rPr lang="en-US" sz="1600" dirty="0" err="1">
                <a:solidFill>
                  <a:schemeClr val="bg1">
                    <a:lumMod val="75000"/>
                  </a:schemeClr>
                </a:solidFill>
                <a:latin typeface="Courier" charset="0"/>
                <a:ea typeface="Courier" charset="0"/>
                <a:cs typeface="Courier" charset="0"/>
              </a:rPr>
              <a:t>temp_kobj</a:t>
            </a:r>
            <a:r>
              <a:rPr lang="en-US" sz="1600" dirty="0">
                <a:solidFill>
                  <a:schemeClr val="bg1">
                    <a:lumMod val="75000"/>
                  </a:schemeClr>
                </a:solidFill>
                <a:latin typeface="Courier" charset="0"/>
                <a:ea typeface="Courier" charset="0"/>
                <a:cs typeface="Courier" charset="0"/>
              </a:rPr>
              <a:t> = </a:t>
            </a:r>
            <a:r>
              <a:rPr lang="en-US" sz="1600" dirty="0" err="1">
                <a:solidFill>
                  <a:schemeClr val="bg1">
                    <a:lumMod val="75000"/>
                  </a:schemeClr>
                </a:solidFill>
                <a:latin typeface="Courier" charset="0"/>
                <a:ea typeface="Courier" charset="0"/>
                <a:cs typeface="Courier" charset="0"/>
              </a:rPr>
              <a:t>kobject_create_and_add</a:t>
            </a:r>
            <a:r>
              <a:rPr lang="en-US" sz="1600" dirty="0">
                <a:solidFill>
                  <a:schemeClr val="bg1">
                    <a:lumMod val="75000"/>
                  </a:schemeClr>
                </a:solidFill>
                <a:latin typeface="Courier" charset="0"/>
                <a:ea typeface="Courier" charset="0"/>
                <a:cs typeface="Courier" charset="0"/>
              </a:rPr>
              <a:t>("temp", </a:t>
            </a:r>
            <a:r>
              <a:rPr lang="en-US" sz="1600" dirty="0" err="1">
                <a:solidFill>
                  <a:schemeClr val="bg1">
                    <a:lumMod val="75000"/>
                  </a:schemeClr>
                </a:solidFill>
                <a:latin typeface="Courier" charset="0"/>
                <a:ea typeface="Courier" charset="0"/>
                <a:cs typeface="Courier" charset="0"/>
              </a:rPr>
              <a:t>kernel_kobj</a:t>
            </a:r>
            <a:r>
              <a:rPr lang="en-US" sz="1600" dirty="0">
                <a:solidFill>
                  <a:schemeClr val="bg1">
                    <a:lumMod val="75000"/>
                  </a:schemeClr>
                </a:solidFill>
                <a:latin typeface="Courier" charset="0"/>
                <a:ea typeface="Courier" charset="0"/>
                <a:cs typeface="Courier" charset="0"/>
              </a:rPr>
              <a:t>);</a:t>
            </a:r>
          </a:p>
          <a:p>
            <a:pPr>
              <a:spcAft>
                <a:spcPts val="600"/>
              </a:spcAft>
            </a:pPr>
            <a:r>
              <a:rPr lang="en-US" sz="1600" dirty="0">
                <a:solidFill>
                  <a:schemeClr val="bg1">
                    <a:lumMod val="75000"/>
                  </a:schemeClr>
                </a:solidFill>
                <a:latin typeface="Courier" charset="0"/>
                <a:ea typeface="Courier" charset="0"/>
                <a:cs typeface="Courier" charset="0"/>
              </a:rPr>
              <a:t>    if (!</a:t>
            </a:r>
            <a:r>
              <a:rPr lang="en-US" sz="1600" dirty="0" err="1">
                <a:solidFill>
                  <a:schemeClr val="bg1">
                    <a:lumMod val="75000"/>
                  </a:schemeClr>
                </a:solidFill>
                <a:latin typeface="Courier" charset="0"/>
                <a:ea typeface="Courier" charset="0"/>
                <a:cs typeface="Courier" charset="0"/>
              </a:rPr>
              <a:t>temp_kobj</a:t>
            </a:r>
            <a:r>
              <a:rPr lang="en-US" sz="1600" dirty="0">
                <a:solidFill>
                  <a:schemeClr val="bg1">
                    <a:lumMod val="75000"/>
                  </a:schemeClr>
                </a:solidFill>
                <a:latin typeface="Courier" charset="0"/>
                <a:ea typeface="Courier" charset="0"/>
                <a:cs typeface="Courier" charset="0"/>
              </a:rPr>
              <a:t>)</a:t>
            </a:r>
          </a:p>
          <a:p>
            <a:pPr>
              <a:spcAft>
                <a:spcPts val="600"/>
              </a:spcAft>
            </a:pPr>
            <a:r>
              <a:rPr lang="en-US" sz="1600" dirty="0">
                <a:solidFill>
                  <a:schemeClr val="bg1">
                    <a:lumMod val="75000"/>
                  </a:schemeClr>
                </a:solidFill>
                <a:latin typeface="Courier" charset="0"/>
                <a:ea typeface="Courier" charset="0"/>
                <a:cs typeface="Courier" charset="0"/>
              </a:rPr>
              <a:t>        return -ENOMEM;</a:t>
            </a:r>
          </a:p>
          <a:p>
            <a:pPr>
              <a:spcAft>
                <a:spcPts val="600"/>
              </a:spcAft>
            </a:pPr>
            <a:r>
              <a:rPr lang="en-US" sz="1600" dirty="0">
                <a:solidFill>
                  <a:schemeClr val="bg1">
                    <a:lumMod val="75000"/>
                  </a:schemeClr>
                </a:solidFill>
                <a:latin typeface="Courier" charset="0"/>
                <a:ea typeface="Courier" charset="0"/>
                <a:cs typeface="Courier" charset="0"/>
              </a:rPr>
              <a:t>    error = </a:t>
            </a:r>
            <a:r>
              <a:rPr lang="en-US" sz="1600" dirty="0" err="1">
                <a:solidFill>
                  <a:schemeClr val="bg1">
                    <a:lumMod val="75000"/>
                  </a:schemeClr>
                </a:solidFill>
                <a:latin typeface="Courier" charset="0"/>
                <a:ea typeface="Courier" charset="0"/>
                <a:cs typeface="Courier" charset="0"/>
              </a:rPr>
              <a:t>sysfs_create_file</a:t>
            </a:r>
            <a:r>
              <a:rPr lang="en-US" sz="1600" dirty="0">
                <a:solidFill>
                  <a:schemeClr val="bg1">
                    <a:lumMod val="75000"/>
                  </a:schemeClr>
                </a:solidFill>
                <a:latin typeface="Courier" charset="0"/>
                <a:ea typeface="Courier" charset="0"/>
                <a:cs typeface="Courier" charset="0"/>
              </a:rPr>
              <a:t>(</a:t>
            </a:r>
            <a:r>
              <a:rPr lang="en-US" sz="1600" dirty="0" err="1">
                <a:solidFill>
                  <a:schemeClr val="bg1">
                    <a:lumMod val="75000"/>
                  </a:schemeClr>
                </a:solidFill>
                <a:latin typeface="Courier" charset="0"/>
                <a:ea typeface="Courier" charset="0"/>
                <a:cs typeface="Courier" charset="0"/>
              </a:rPr>
              <a:t>temp_kobj</a:t>
            </a:r>
            <a:r>
              <a:rPr lang="en-US" sz="1600" dirty="0">
                <a:solidFill>
                  <a:schemeClr val="bg1">
                    <a:lumMod val="75000"/>
                  </a:schemeClr>
                </a:solidFill>
                <a:latin typeface="Courier" charset="0"/>
                <a:ea typeface="Courier" charset="0"/>
                <a:cs typeface="Courier" charset="0"/>
              </a:rPr>
              <a:t>, &amp;</a:t>
            </a:r>
            <a:r>
              <a:rPr lang="en-US" sz="1600" dirty="0" err="1">
                <a:solidFill>
                  <a:schemeClr val="bg1">
                    <a:lumMod val="75000"/>
                  </a:schemeClr>
                </a:solidFill>
                <a:latin typeface="Courier" charset="0"/>
                <a:ea typeface="Courier" charset="0"/>
                <a:cs typeface="Courier" charset="0"/>
              </a:rPr>
              <a:t>temp_attribute.attr</a:t>
            </a:r>
            <a:r>
              <a:rPr lang="en-US" sz="1600" dirty="0">
                <a:solidFill>
                  <a:schemeClr val="bg1">
                    <a:lumMod val="75000"/>
                  </a:schemeClr>
                </a:solidFill>
                <a:latin typeface="Courier" charset="0"/>
                <a:ea typeface="Courier" charset="0"/>
                <a:cs typeface="Courier" charset="0"/>
              </a:rPr>
              <a:t>);</a:t>
            </a:r>
          </a:p>
          <a:p>
            <a:pPr>
              <a:spcAft>
                <a:spcPts val="600"/>
              </a:spcAft>
            </a:pPr>
            <a:endParaRPr lang="en-US" sz="1600" dirty="0">
              <a:latin typeface="Courier" charset="0"/>
              <a:ea typeface="Courier" charset="0"/>
              <a:cs typeface="Courier" charset="0"/>
            </a:endParaRPr>
          </a:p>
          <a:p>
            <a:pPr>
              <a:spcAft>
                <a:spcPts val="600"/>
              </a:spcAft>
            </a:pPr>
            <a:r>
              <a:rPr lang="en-US" sz="1600" dirty="0">
                <a:latin typeface="Courier" charset="0"/>
                <a:ea typeface="Courier" charset="0"/>
                <a:cs typeface="Courier" charset="0"/>
              </a:rPr>
              <a:t>    if (error) {</a:t>
            </a: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pr_err</a:t>
            </a:r>
            <a:r>
              <a:rPr lang="en-US" sz="1600" dirty="0">
                <a:latin typeface="Courier" charset="0"/>
                <a:ea typeface="Courier" charset="0"/>
                <a:cs typeface="Courier" charset="0"/>
              </a:rPr>
              <a:t>("temp: failed to create </a:t>
            </a:r>
            <a:r>
              <a:rPr lang="en-US" sz="1600" dirty="0" err="1">
                <a:latin typeface="Courier" charset="0"/>
                <a:ea typeface="Courier" charset="0"/>
                <a:cs typeface="Courier" charset="0"/>
              </a:rPr>
              <a:t>sysfs</a:t>
            </a:r>
            <a:r>
              <a:rPr lang="en-US" sz="1600" dirty="0">
                <a:latin typeface="Courier" charset="0"/>
                <a:ea typeface="Courier" charset="0"/>
                <a:cs typeface="Courier" charset="0"/>
              </a:rPr>
              <a:t> file\n");</a:t>
            </a: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kobject_put</a:t>
            </a:r>
            <a:r>
              <a:rPr lang="en-US" sz="1600" dirty="0">
                <a:latin typeface="Courier" charset="0"/>
                <a:ea typeface="Courier" charset="0"/>
                <a:cs typeface="Courier" charset="0"/>
              </a:rPr>
              <a:t>(</a:t>
            </a:r>
            <a:r>
              <a:rPr lang="en-US" sz="1600" dirty="0" err="1">
                <a:latin typeface="Courier" charset="0"/>
                <a:ea typeface="Courier" charset="0"/>
                <a:cs typeface="Courier" charset="0"/>
              </a:rPr>
              <a:t>temp_kobj</a:t>
            </a: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a:t>
            </a: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pr_info</a:t>
            </a:r>
            <a:r>
              <a:rPr lang="en-US" sz="1600" dirty="0">
                <a:latin typeface="Courier" charset="0"/>
                <a:ea typeface="Courier" charset="0"/>
                <a:cs typeface="Courier" charset="0"/>
              </a:rPr>
              <a:t>("temp module loaded\n");</a:t>
            </a:r>
          </a:p>
          <a:p>
            <a:pPr>
              <a:spcAft>
                <a:spcPts val="600"/>
              </a:spcAft>
            </a:pPr>
            <a:r>
              <a:rPr lang="en-US" sz="1600" dirty="0">
                <a:latin typeface="Courier" charset="0"/>
                <a:ea typeface="Courier" charset="0"/>
                <a:cs typeface="Courier" charset="0"/>
              </a:rPr>
              <a:t>    return error;</a:t>
            </a:r>
          </a:p>
          <a:p>
            <a:pPr>
              <a:spcAft>
                <a:spcPts val="600"/>
              </a:spcAft>
            </a:pPr>
            <a:r>
              <a:rPr lang="en-US" sz="1600" dirty="0">
                <a:latin typeface="Courier" charset="0"/>
                <a:ea typeface="Courier" charset="0"/>
                <a:cs typeface="Courier" charset="0"/>
              </a:rPr>
              <a:t>}</a:t>
            </a:r>
          </a:p>
          <a:p>
            <a:pPr>
              <a:spcAft>
                <a:spcPts val="600"/>
              </a:spcAft>
            </a:pPr>
            <a:endParaRPr lang="en-US" sz="1600" dirty="0">
              <a:latin typeface="Courier" charset="0"/>
              <a:ea typeface="Courier" charset="0"/>
              <a:cs typeface="Courier" charset="0"/>
            </a:endParaRPr>
          </a:p>
          <a:p>
            <a:pPr>
              <a:spcAft>
                <a:spcPts val="600"/>
              </a:spcAft>
            </a:pPr>
            <a:endParaRPr lang="en-US" altLang="en-US" sz="1600" dirty="0">
              <a:ea typeface="ＭＳ Ｐゴシック" panose="020B0600070205080204" pitchFamily="34" charset="-128"/>
            </a:endParaRPr>
          </a:p>
        </p:txBody>
      </p:sp>
      <p:sp>
        <p:nvSpPr>
          <p:cNvPr id="2" name="TextBox 1">
            <a:extLst>
              <a:ext uri="{FF2B5EF4-FFF2-40B4-BE49-F238E27FC236}">
                <a16:creationId xmlns:a16="http://schemas.microsoft.com/office/drawing/2014/main" id="{0E4FD5D9-C15B-B115-B18D-C4718F27F2BA}"/>
              </a:ext>
            </a:extLst>
          </p:cNvPr>
          <p:cNvSpPr txBox="1"/>
          <p:nvPr/>
        </p:nvSpPr>
        <p:spPr>
          <a:xfrm>
            <a:off x="7588332" y="5050351"/>
            <a:ext cx="4648200" cy="307777"/>
          </a:xfrm>
          <a:prstGeom prst="rect">
            <a:avLst/>
          </a:prstGeom>
        </p:spPr>
        <p:txBody>
          <a:bodyPr vert="horz" wrap="square" lIns="0" tIns="0" rIns="0" bIns="0" rtlCol="0" anchor="t">
            <a:spAutoFit/>
          </a:bodyPr>
          <a:lstStyle/>
          <a:p>
            <a:r>
              <a:rPr lang="en-US" sz="2000" dirty="0"/>
              <a:t>error handling</a:t>
            </a:r>
          </a:p>
        </p:txBody>
      </p:sp>
      <p:cxnSp>
        <p:nvCxnSpPr>
          <p:cNvPr id="3" name="Straight Arrow Connector 2">
            <a:extLst>
              <a:ext uri="{FF2B5EF4-FFF2-40B4-BE49-F238E27FC236}">
                <a16:creationId xmlns:a16="http://schemas.microsoft.com/office/drawing/2014/main" id="{9E2C5A3E-ECFE-486A-B175-29618D8364E7}"/>
              </a:ext>
            </a:extLst>
          </p:cNvPr>
          <p:cNvCxnSpPr>
            <a:cxnSpLocks/>
          </p:cNvCxnSpPr>
          <p:nvPr/>
        </p:nvCxnSpPr>
        <p:spPr>
          <a:xfrm flipH="1" flipV="1">
            <a:off x="4560277" y="4771292"/>
            <a:ext cx="2885552" cy="432947"/>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519A873E-BE54-651C-0967-14219FDB7335}"/>
              </a:ext>
            </a:extLst>
          </p:cNvPr>
          <p:cNvSpPr txBox="1"/>
          <p:nvPr/>
        </p:nvSpPr>
        <p:spPr>
          <a:xfrm>
            <a:off x="6650486" y="5799234"/>
            <a:ext cx="4648200" cy="307777"/>
          </a:xfrm>
          <a:prstGeom prst="rect">
            <a:avLst/>
          </a:prstGeom>
        </p:spPr>
        <p:txBody>
          <a:bodyPr vert="horz" wrap="square" lIns="0" tIns="0" rIns="0" bIns="0" rtlCol="0" anchor="t">
            <a:spAutoFit/>
          </a:bodyPr>
          <a:lstStyle/>
          <a:p>
            <a:r>
              <a:rPr lang="en-US" sz="2000" dirty="0"/>
              <a:t>logging</a:t>
            </a:r>
          </a:p>
        </p:txBody>
      </p:sp>
      <p:cxnSp>
        <p:nvCxnSpPr>
          <p:cNvPr id="7" name="Straight Arrow Connector 6">
            <a:extLst>
              <a:ext uri="{FF2B5EF4-FFF2-40B4-BE49-F238E27FC236}">
                <a16:creationId xmlns:a16="http://schemas.microsoft.com/office/drawing/2014/main" id="{B2742566-9302-2D55-C974-3993B1DD91B2}"/>
              </a:ext>
            </a:extLst>
          </p:cNvPr>
          <p:cNvCxnSpPr>
            <a:cxnSpLocks/>
          </p:cNvCxnSpPr>
          <p:nvPr/>
        </p:nvCxnSpPr>
        <p:spPr>
          <a:xfrm flipH="1" flipV="1">
            <a:off x="3622431" y="5520175"/>
            <a:ext cx="2885552" cy="432947"/>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906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Module Clean-up Function</a:t>
            </a:r>
          </a:p>
        </p:txBody>
      </p:sp>
      <p:sp>
        <p:nvSpPr>
          <p:cNvPr id="6" name="Content Placeholder 1">
            <a:extLst>
              <a:ext uri="{FF2B5EF4-FFF2-40B4-BE49-F238E27FC236}">
                <a16:creationId xmlns:a16="http://schemas.microsoft.com/office/drawing/2014/main" id="{14609C43-7844-4860-8F4B-4C4FE07F4E66}"/>
              </a:ext>
            </a:extLst>
          </p:cNvPr>
          <p:cNvSpPr>
            <a:spLocks noGrp="1"/>
          </p:cNvSpPr>
          <p:nvPr>
            <p:ph sz="half" idx="1"/>
          </p:nvPr>
        </p:nvSpPr>
        <p:spPr>
          <a:xfrm>
            <a:off x="481484" y="1440000"/>
            <a:ext cx="11154300" cy="4680000"/>
          </a:xfrm>
        </p:spPr>
        <p:txBody>
          <a:bodyPr/>
          <a:lstStyle/>
          <a:p>
            <a:pPr>
              <a:spcAft>
                <a:spcPts val="600"/>
              </a:spcAft>
            </a:pPr>
            <a:r>
              <a:rPr lang="en-US" sz="1600" dirty="0">
                <a:latin typeface="Courier" charset="0"/>
                <a:ea typeface="Courier" charset="0"/>
                <a:cs typeface="Courier" charset="0"/>
              </a:rPr>
              <a:t>static void __exit </a:t>
            </a:r>
            <a:r>
              <a:rPr lang="en-US" sz="1600" dirty="0" err="1">
                <a:latin typeface="Courier" charset="0"/>
                <a:ea typeface="Courier" charset="0"/>
                <a:cs typeface="Courier" charset="0"/>
              </a:rPr>
              <a:t>temp_exit</a:t>
            </a:r>
            <a:r>
              <a:rPr lang="en-US" sz="1600" dirty="0">
                <a:latin typeface="Courier" charset="0"/>
                <a:ea typeface="Courier" charset="0"/>
                <a:cs typeface="Courier" charset="0"/>
              </a:rPr>
              <a:t>(void)</a:t>
            </a:r>
          </a:p>
          <a:p>
            <a:pPr>
              <a:spcAft>
                <a:spcPts val="600"/>
              </a:spcAft>
            </a:pPr>
            <a:endParaRPr lang="en-US" sz="1600" dirty="0">
              <a:latin typeface="Courier" charset="0"/>
              <a:ea typeface="Courier" charset="0"/>
              <a:cs typeface="Courier" charset="0"/>
            </a:endParaRPr>
          </a:p>
          <a:p>
            <a:pPr>
              <a:spcAft>
                <a:spcPts val="600"/>
              </a:spcAft>
            </a:pPr>
            <a:r>
              <a:rPr lang="en-US" sz="1600" dirty="0">
                <a:latin typeface="Courier" charset="0"/>
                <a:ea typeface="Courier" charset="0"/>
                <a:cs typeface="Courier" charset="0"/>
              </a:rPr>
              <a:t>{</a:t>
            </a:r>
          </a:p>
          <a:p>
            <a:pPr>
              <a:spcAft>
                <a:spcPts val="600"/>
              </a:spcAft>
            </a:pPr>
            <a:endParaRPr lang="en-US" sz="1600" dirty="0">
              <a:latin typeface="Courier" charset="0"/>
              <a:ea typeface="Courier" charset="0"/>
              <a:cs typeface="Courier" charset="0"/>
            </a:endParaRP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kobject_put</a:t>
            </a:r>
            <a:r>
              <a:rPr lang="en-US" sz="1600" dirty="0">
                <a:latin typeface="Courier" charset="0"/>
                <a:ea typeface="Courier" charset="0"/>
                <a:cs typeface="Courier" charset="0"/>
              </a:rPr>
              <a:t>(</a:t>
            </a:r>
            <a:r>
              <a:rPr lang="en-US" sz="1600" dirty="0" err="1">
                <a:latin typeface="Courier" charset="0"/>
                <a:ea typeface="Courier" charset="0"/>
                <a:cs typeface="Courier" charset="0"/>
              </a:rPr>
              <a:t>temp_kobj</a:t>
            </a:r>
            <a:r>
              <a:rPr lang="en-US" sz="1600" dirty="0">
                <a:latin typeface="Courier" charset="0"/>
                <a:ea typeface="Courier" charset="0"/>
                <a:cs typeface="Courier" charset="0"/>
              </a:rPr>
              <a:t>);</a:t>
            </a:r>
          </a:p>
          <a:p>
            <a:pPr>
              <a:spcAft>
                <a:spcPts val="600"/>
              </a:spcAft>
            </a:pPr>
            <a:endParaRPr lang="en-US" sz="1600" dirty="0">
              <a:latin typeface="Courier" charset="0"/>
              <a:ea typeface="Courier" charset="0"/>
              <a:cs typeface="Courier" charset="0"/>
            </a:endParaRP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pr_info</a:t>
            </a:r>
            <a:r>
              <a:rPr lang="en-US" sz="1600" dirty="0">
                <a:latin typeface="Courier" charset="0"/>
                <a:ea typeface="Courier" charset="0"/>
                <a:cs typeface="Courier" charset="0"/>
              </a:rPr>
              <a:t>("temp module unloaded\n");</a:t>
            </a:r>
          </a:p>
          <a:p>
            <a:pPr>
              <a:spcAft>
                <a:spcPts val="600"/>
              </a:spcAft>
            </a:pPr>
            <a:endParaRPr lang="en-US" sz="1600" dirty="0">
              <a:latin typeface="Courier" charset="0"/>
              <a:ea typeface="Courier" charset="0"/>
              <a:cs typeface="Courier" charset="0"/>
            </a:endParaRPr>
          </a:p>
          <a:p>
            <a:pPr>
              <a:spcAft>
                <a:spcPts val="600"/>
              </a:spcAft>
            </a:pPr>
            <a:r>
              <a:rPr lang="en-US" sz="1600" dirty="0">
                <a:latin typeface="Courier" charset="0"/>
                <a:ea typeface="Courier" charset="0"/>
                <a:cs typeface="Courier" charset="0"/>
              </a:rPr>
              <a:t>}</a:t>
            </a:r>
          </a:p>
        </p:txBody>
      </p:sp>
      <p:sp>
        <p:nvSpPr>
          <p:cNvPr id="11" name="Right Brace 10">
            <a:extLst>
              <a:ext uri="{FF2B5EF4-FFF2-40B4-BE49-F238E27FC236}">
                <a16:creationId xmlns:a16="http://schemas.microsoft.com/office/drawing/2014/main" id="{A1C8D74E-B538-4777-818C-7A8354923A30}"/>
              </a:ext>
            </a:extLst>
          </p:cNvPr>
          <p:cNvSpPr/>
          <p:nvPr/>
        </p:nvSpPr>
        <p:spPr>
          <a:xfrm>
            <a:off x="3898159" y="2417742"/>
            <a:ext cx="76200" cy="5334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72EF6041-5B79-4FB7-BE1F-022D011A8695}"/>
              </a:ext>
            </a:extLst>
          </p:cNvPr>
          <p:cNvSpPr txBox="1"/>
          <p:nvPr/>
        </p:nvSpPr>
        <p:spPr>
          <a:xfrm>
            <a:off x="4309888" y="2487938"/>
            <a:ext cx="5311770" cy="307777"/>
          </a:xfrm>
          <a:prstGeom prst="rect">
            <a:avLst/>
          </a:prstGeom>
        </p:spPr>
        <p:txBody>
          <a:bodyPr vert="horz" wrap="square" lIns="0" tIns="0" rIns="0" bIns="0" rtlCol="0" anchor="t">
            <a:spAutoFit/>
          </a:bodyPr>
          <a:lstStyle/>
          <a:p>
            <a:r>
              <a:rPr lang="en-US" sz="2000" dirty="0"/>
              <a:t>Remove the temp directory from </a:t>
            </a:r>
            <a:r>
              <a:rPr lang="en-US" sz="2000" dirty="0" err="1"/>
              <a:t>sysfs</a:t>
            </a:r>
            <a:r>
              <a:rPr lang="en-US" sz="2000" dirty="0"/>
              <a:t>.</a:t>
            </a:r>
          </a:p>
        </p:txBody>
      </p:sp>
    </p:spTree>
    <p:extLst>
      <p:ext uri="{BB962C8B-B14F-4D97-AF65-F5344CB8AC3E}">
        <p14:creationId xmlns:p14="http://schemas.microsoft.com/office/powerpoint/2010/main" val="1557653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284387-B7BA-49E2-B7AB-B33A68B3D43D}"/>
              </a:ext>
            </a:extLst>
          </p:cNvPr>
          <p:cNvSpPr>
            <a:spLocks noGrp="1"/>
          </p:cNvSpPr>
          <p:nvPr>
            <p:ph type="title"/>
          </p:nvPr>
        </p:nvSpPr>
        <p:spPr/>
        <p:txBody>
          <a:bodyPr/>
          <a:lstStyle/>
          <a:p>
            <a:pPr>
              <a:defRPr/>
            </a:pPr>
            <a:r>
              <a:rPr lang="en-US" dirty="0"/>
              <a:t>Module Read Function</a:t>
            </a:r>
          </a:p>
        </p:txBody>
      </p:sp>
      <p:sp>
        <p:nvSpPr>
          <p:cNvPr id="6" name="Content Placeholder 1">
            <a:extLst>
              <a:ext uri="{FF2B5EF4-FFF2-40B4-BE49-F238E27FC236}">
                <a16:creationId xmlns:a16="http://schemas.microsoft.com/office/drawing/2014/main" id="{C5ADFFF4-2161-425E-8FC4-9B3918774B22}"/>
              </a:ext>
            </a:extLst>
          </p:cNvPr>
          <p:cNvSpPr>
            <a:spLocks noGrp="1"/>
          </p:cNvSpPr>
          <p:nvPr>
            <p:ph sz="half" idx="1"/>
          </p:nvPr>
        </p:nvSpPr>
        <p:spPr>
          <a:xfrm>
            <a:off x="481484" y="1440000"/>
            <a:ext cx="11154300" cy="4680000"/>
          </a:xfrm>
        </p:spPr>
        <p:txBody>
          <a:bodyPr/>
          <a:lstStyle/>
          <a:p>
            <a:pPr>
              <a:spcAft>
                <a:spcPts val="600"/>
              </a:spcAft>
            </a:pPr>
            <a:r>
              <a:rPr lang="en-US" sz="1600" dirty="0">
                <a:latin typeface="Courier" charset="0"/>
                <a:ea typeface="Courier" charset="0"/>
                <a:cs typeface="Courier" charset="0"/>
              </a:rPr>
              <a:t>static </a:t>
            </a:r>
            <a:r>
              <a:rPr lang="en-US" sz="1600" dirty="0" err="1">
                <a:latin typeface="Courier" charset="0"/>
                <a:ea typeface="Courier" charset="0"/>
                <a:cs typeface="Courier" charset="0"/>
              </a:rPr>
              <a:t>ssize_t</a:t>
            </a:r>
            <a:r>
              <a:rPr lang="en-US" sz="1600" dirty="0">
                <a:latin typeface="Courier" charset="0"/>
                <a:ea typeface="Courier" charset="0"/>
                <a:cs typeface="Courier" charset="0"/>
              </a:rPr>
              <a:t> </a:t>
            </a:r>
            <a:r>
              <a:rPr lang="en-US" sz="1600" dirty="0" err="1">
                <a:latin typeface="Courier" charset="0"/>
                <a:ea typeface="Courier" charset="0"/>
                <a:cs typeface="Courier" charset="0"/>
              </a:rPr>
              <a:t>temp_show</a:t>
            </a:r>
            <a:r>
              <a:rPr lang="en-US" sz="1600" dirty="0">
                <a:latin typeface="Courier" charset="0"/>
                <a:ea typeface="Courier" charset="0"/>
                <a:cs typeface="Courier" charset="0"/>
              </a:rPr>
              <a:t>(struct </a:t>
            </a:r>
            <a:r>
              <a:rPr lang="en-US" sz="1600" dirty="0" err="1">
                <a:latin typeface="Courier" charset="0"/>
                <a:ea typeface="Courier" charset="0"/>
                <a:cs typeface="Courier" charset="0"/>
              </a:rPr>
              <a:t>kobject</a:t>
            </a:r>
            <a:r>
              <a:rPr lang="en-US" sz="1600" dirty="0">
                <a:latin typeface="Courier" charset="0"/>
                <a:ea typeface="Courier" charset="0"/>
                <a:cs typeface="Courier" charset="0"/>
              </a:rPr>
              <a:t> *</a:t>
            </a:r>
            <a:r>
              <a:rPr lang="en-US" sz="1600" dirty="0" err="1">
                <a:latin typeface="Courier" charset="0"/>
                <a:ea typeface="Courier" charset="0"/>
                <a:cs typeface="Courier" charset="0"/>
              </a:rPr>
              <a:t>kobj</a:t>
            </a:r>
            <a:r>
              <a:rPr lang="en-US" sz="1600" dirty="0">
                <a:latin typeface="Courier" charset="0"/>
                <a:ea typeface="Courier" charset="0"/>
                <a:cs typeface="Courier" charset="0"/>
              </a:rPr>
              <a:t>, struct </a:t>
            </a:r>
            <a:r>
              <a:rPr lang="en-US" sz="1600" dirty="0" err="1">
                <a:latin typeface="Courier" charset="0"/>
                <a:ea typeface="Courier" charset="0"/>
                <a:cs typeface="Courier" charset="0"/>
              </a:rPr>
              <a:t>kobj_attribute</a:t>
            </a:r>
            <a:r>
              <a:rPr lang="en-US" sz="1600" dirty="0">
                <a:latin typeface="Courier" charset="0"/>
                <a:ea typeface="Courier" charset="0"/>
                <a:cs typeface="Courier" charset="0"/>
              </a:rPr>
              <a:t> *</a:t>
            </a:r>
            <a:r>
              <a:rPr lang="en-US" sz="1600" dirty="0" err="1">
                <a:latin typeface="Courier" charset="0"/>
                <a:ea typeface="Courier" charset="0"/>
                <a:cs typeface="Courier" charset="0"/>
              </a:rPr>
              <a:t>attr</a:t>
            </a:r>
            <a:r>
              <a:rPr lang="en-US" sz="1600" dirty="0">
                <a:latin typeface="Courier" charset="0"/>
                <a:ea typeface="Courier" charset="0"/>
                <a:cs typeface="Courier" charset="0"/>
              </a:rPr>
              <a:t>, char *</a:t>
            </a:r>
            <a:r>
              <a:rPr lang="en-US" sz="1600" dirty="0" err="1">
                <a:latin typeface="Courier" charset="0"/>
                <a:ea typeface="Courier" charset="0"/>
                <a:cs typeface="Courier" charset="0"/>
              </a:rPr>
              <a:t>buf</a:t>
            </a: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struct </a:t>
            </a:r>
            <a:r>
              <a:rPr lang="en-US" sz="1600" dirty="0" err="1">
                <a:latin typeface="Courier" charset="0"/>
                <a:ea typeface="Courier" charset="0"/>
                <a:cs typeface="Courier" charset="0"/>
              </a:rPr>
              <a:t>thermal_zone_device</a:t>
            </a:r>
            <a:r>
              <a:rPr lang="en-US" sz="1600" dirty="0">
                <a:latin typeface="Courier" charset="0"/>
                <a:ea typeface="Courier" charset="0"/>
                <a:cs typeface="Courier" charset="0"/>
              </a:rPr>
              <a:t> *</a:t>
            </a:r>
            <a:r>
              <a:rPr lang="en-US" sz="1600" dirty="0" err="1">
                <a:latin typeface="Courier" charset="0"/>
                <a:ea typeface="Courier" charset="0"/>
                <a:cs typeface="Courier" charset="0"/>
              </a:rPr>
              <a:t>tz</a:t>
            </a: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int </a:t>
            </a:r>
            <a:r>
              <a:rPr lang="en-US" sz="1600" dirty="0" err="1">
                <a:latin typeface="Courier" charset="0"/>
                <a:ea typeface="Courier" charset="0"/>
                <a:cs typeface="Courier" charset="0"/>
              </a:rPr>
              <a:t>temp_millic</a:t>
            </a:r>
            <a:r>
              <a:rPr lang="en-US" sz="1600" dirty="0">
                <a:latin typeface="Courier" charset="0"/>
                <a:ea typeface="Courier" charset="0"/>
                <a:cs typeface="Courier" charset="0"/>
              </a:rPr>
              <a:t>, ret;</a:t>
            </a:r>
          </a:p>
          <a:p>
            <a:pPr>
              <a:spcAft>
                <a:spcPts val="600"/>
              </a:spcAft>
            </a:pPr>
            <a:r>
              <a:rPr lang="en-US" sz="1600" dirty="0">
                <a:latin typeface="Courier" charset="0"/>
                <a:ea typeface="Courier" charset="0"/>
                <a:cs typeface="Courier" charset="0"/>
              </a:rPr>
              <a:t>    </a:t>
            </a:r>
            <a:r>
              <a:rPr lang="en-US" sz="1600" dirty="0" err="1">
                <a:latin typeface="Courier" charset="0"/>
                <a:ea typeface="Courier" charset="0"/>
                <a:cs typeface="Courier" charset="0"/>
              </a:rPr>
              <a:t>tz</a:t>
            </a:r>
            <a:r>
              <a:rPr lang="en-US" sz="1600" dirty="0">
                <a:latin typeface="Courier" charset="0"/>
                <a:ea typeface="Courier" charset="0"/>
                <a:cs typeface="Courier" charset="0"/>
              </a:rPr>
              <a:t> = </a:t>
            </a:r>
            <a:r>
              <a:rPr lang="en-US" sz="1600" dirty="0" err="1">
                <a:latin typeface="Courier" charset="0"/>
                <a:ea typeface="Courier" charset="0"/>
                <a:cs typeface="Courier" charset="0"/>
              </a:rPr>
              <a:t>thermal_zone_get_zone_by_name</a:t>
            </a:r>
            <a:r>
              <a:rPr lang="en-US" sz="1600" dirty="0">
                <a:latin typeface="Courier" charset="0"/>
                <a:ea typeface="Courier" charset="0"/>
                <a:cs typeface="Courier" charset="0"/>
              </a:rPr>
              <a:t>("</a:t>
            </a:r>
            <a:r>
              <a:rPr lang="en-US" sz="1600" dirty="0" err="1">
                <a:latin typeface="Courier" charset="0"/>
                <a:ea typeface="Courier" charset="0"/>
                <a:cs typeface="Courier" charset="0"/>
              </a:rPr>
              <a:t>cpu</a:t>
            </a:r>
            <a:r>
              <a:rPr lang="en-US" sz="1600" dirty="0">
                <a:latin typeface="Courier" charset="0"/>
                <a:ea typeface="Courier" charset="0"/>
                <a:cs typeface="Courier" charset="0"/>
              </a:rPr>
              <a:t>-thermal");</a:t>
            </a:r>
          </a:p>
          <a:p>
            <a:pPr>
              <a:spcAft>
                <a:spcPts val="600"/>
              </a:spcAft>
            </a:pPr>
            <a:r>
              <a:rPr lang="en-US" sz="1600" dirty="0">
                <a:latin typeface="Courier" charset="0"/>
                <a:ea typeface="Courier" charset="0"/>
                <a:cs typeface="Courier" charset="0"/>
              </a:rPr>
              <a:t>    if (IS_ERR(</a:t>
            </a:r>
            <a:r>
              <a:rPr lang="en-US" sz="1600" dirty="0" err="1">
                <a:latin typeface="Courier" charset="0"/>
                <a:ea typeface="Courier" charset="0"/>
                <a:cs typeface="Courier" charset="0"/>
              </a:rPr>
              <a:t>tz</a:t>
            </a: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return </a:t>
            </a:r>
            <a:r>
              <a:rPr lang="en-US" sz="1600" dirty="0" err="1">
                <a:latin typeface="Courier" charset="0"/>
                <a:ea typeface="Courier" charset="0"/>
                <a:cs typeface="Courier" charset="0"/>
              </a:rPr>
              <a:t>sysfs_emit</a:t>
            </a:r>
            <a:r>
              <a:rPr lang="en-US" sz="1600" dirty="0">
                <a:latin typeface="Courier" charset="0"/>
                <a:ea typeface="Courier" charset="0"/>
                <a:cs typeface="Courier" charset="0"/>
              </a:rPr>
              <a:t>(</a:t>
            </a:r>
            <a:r>
              <a:rPr lang="en-US" sz="1600" dirty="0" err="1">
                <a:latin typeface="Courier" charset="0"/>
                <a:ea typeface="Courier" charset="0"/>
                <a:cs typeface="Courier" charset="0"/>
              </a:rPr>
              <a:t>buf</a:t>
            </a:r>
            <a:r>
              <a:rPr lang="en-US" sz="1600" dirty="0">
                <a:latin typeface="Courier" charset="0"/>
                <a:ea typeface="Courier" charset="0"/>
                <a:cs typeface="Courier" charset="0"/>
              </a:rPr>
              <a:t>, "Error: cannot find default thermal zone\n");</a:t>
            </a:r>
          </a:p>
          <a:p>
            <a:pPr>
              <a:spcAft>
                <a:spcPts val="600"/>
              </a:spcAft>
            </a:pPr>
            <a:r>
              <a:rPr lang="en-US" sz="1600" dirty="0">
                <a:latin typeface="Courier" charset="0"/>
                <a:ea typeface="Courier" charset="0"/>
                <a:cs typeface="Courier" charset="0"/>
              </a:rPr>
              <a:t>    ret = </a:t>
            </a:r>
            <a:r>
              <a:rPr lang="en-US" sz="1600" dirty="0" err="1">
                <a:latin typeface="Courier" charset="0"/>
                <a:ea typeface="Courier" charset="0"/>
                <a:cs typeface="Courier" charset="0"/>
              </a:rPr>
              <a:t>thermal_zone_get_temp</a:t>
            </a:r>
            <a:r>
              <a:rPr lang="en-US" sz="1600" dirty="0">
                <a:latin typeface="Courier" charset="0"/>
                <a:ea typeface="Courier" charset="0"/>
                <a:cs typeface="Courier" charset="0"/>
              </a:rPr>
              <a:t>(</a:t>
            </a:r>
            <a:r>
              <a:rPr lang="en-US" sz="1600" dirty="0" err="1">
                <a:latin typeface="Courier" charset="0"/>
                <a:ea typeface="Courier" charset="0"/>
                <a:cs typeface="Courier" charset="0"/>
              </a:rPr>
              <a:t>tz</a:t>
            </a:r>
            <a:r>
              <a:rPr lang="en-US" sz="1600" dirty="0">
                <a:latin typeface="Courier" charset="0"/>
                <a:ea typeface="Courier" charset="0"/>
                <a:cs typeface="Courier" charset="0"/>
              </a:rPr>
              <a:t>, &amp;</a:t>
            </a:r>
            <a:r>
              <a:rPr lang="en-US" sz="1600" dirty="0" err="1">
                <a:latin typeface="Courier" charset="0"/>
                <a:ea typeface="Courier" charset="0"/>
                <a:cs typeface="Courier" charset="0"/>
              </a:rPr>
              <a:t>temp_millic</a:t>
            </a:r>
            <a:r>
              <a:rPr lang="en-US" sz="1600" dirty="0">
                <a:latin typeface="Courier" charset="0"/>
                <a:ea typeface="Courier" charset="0"/>
                <a:cs typeface="Courier" charset="0"/>
              </a:rPr>
              <a:t>);</a:t>
            </a:r>
          </a:p>
          <a:p>
            <a:pPr>
              <a:spcAft>
                <a:spcPts val="600"/>
              </a:spcAft>
            </a:pPr>
            <a:r>
              <a:rPr lang="en-US" sz="1600" dirty="0">
                <a:latin typeface="Courier" charset="0"/>
                <a:ea typeface="Courier" charset="0"/>
                <a:cs typeface="Courier" charset="0"/>
              </a:rPr>
              <a:t>    if (ret)</a:t>
            </a:r>
          </a:p>
          <a:p>
            <a:pPr>
              <a:spcAft>
                <a:spcPts val="600"/>
              </a:spcAft>
            </a:pPr>
            <a:r>
              <a:rPr lang="en-US" sz="1600" dirty="0">
                <a:latin typeface="Courier" charset="0"/>
                <a:ea typeface="Courier" charset="0"/>
                <a:cs typeface="Courier" charset="0"/>
              </a:rPr>
              <a:t>        return </a:t>
            </a:r>
            <a:r>
              <a:rPr lang="en-US" sz="1600" dirty="0" err="1">
                <a:latin typeface="Courier" charset="0"/>
                <a:ea typeface="Courier" charset="0"/>
                <a:cs typeface="Courier" charset="0"/>
              </a:rPr>
              <a:t>sysfs_emit</a:t>
            </a:r>
            <a:r>
              <a:rPr lang="en-US" sz="1600" dirty="0">
                <a:latin typeface="Courier" charset="0"/>
                <a:ea typeface="Courier" charset="0"/>
                <a:cs typeface="Courier" charset="0"/>
              </a:rPr>
              <a:t>(</a:t>
            </a:r>
            <a:r>
              <a:rPr lang="en-US" sz="1600" dirty="0" err="1">
                <a:latin typeface="Courier" charset="0"/>
                <a:ea typeface="Courier" charset="0"/>
                <a:cs typeface="Courier" charset="0"/>
              </a:rPr>
              <a:t>buf</a:t>
            </a:r>
            <a:r>
              <a:rPr lang="en-US" sz="1600" dirty="0">
                <a:latin typeface="Courier" charset="0"/>
                <a:ea typeface="Courier" charset="0"/>
                <a:cs typeface="Courier" charset="0"/>
              </a:rPr>
              <a:t>, "Error: cannot read temp\n");</a:t>
            </a:r>
          </a:p>
          <a:p>
            <a:pPr>
              <a:spcAft>
                <a:spcPts val="600"/>
              </a:spcAft>
            </a:pPr>
            <a:r>
              <a:rPr lang="en-US" sz="1600" dirty="0">
                <a:latin typeface="Courier" charset="0"/>
                <a:ea typeface="Courier" charset="0"/>
                <a:cs typeface="Courier" charset="0"/>
              </a:rPr>
              <a:t>    return </a:t>
            </a:r>
            <a:r>
              <a:rPr lang="en-US" sz="1600" dirty="0" err="1">
                <a:latin typeface="Courier" charset="0"/>
                <a:ea typeface="Courier" charset="0"/>
                <a:cs typeface="Courier" charset="0"/>
              </a:rPr>
              <a:t>sysfs_emit</a:t>
            </a:r>
            <a:r>
              <a:rPr lang="en-US" sz="1600" dirty="0">
                <a:latin typeface="Courier" charset="0"/>
                <a:ea typeface="Courier" charset="0"/>
                <a:cs typeface="Courier" charset="0"/>
              </a:rPr>
              <a:t>(</a:t>
            </a:r>
            <a:r>
              <a:rPr lang="en-US" sz="1600" dirty="0" err="1">
                <a:latin typeface="Courier" charset="0"/>
                <a:ea typeface="Courier" charset="0"/>
                <a:cs typeface="Courier" charset="0"/>
              </a:rPr>
              <a:t>buf</a:t>
            </a:r>
            <a:r>
              <a:rPr lang="en-US" sz="1600" dirty="0">
                <a:latin typeface="Courier" charset="0"/>
                <a:ea typeface="Courier" charset="0"/>
                <a:cs typeface="Courier" charset="0"/>
              </a:rPr>
              <a:t>, "%d\n", </a:t>
            </a:r>
            <a:r>
              <a:rPr lang="en-US" sz="1600" dirty="0" err="1">
                <a:latin typeface="Courier" charset="0"/>
                <a:ea typeface="Courier" charset="0"/>
                <a:cs typeface="Courier" charset="0"/>
              </a:rPr>
              <a:t>temp_millic</a:t>
            </a:r>
            <a:r>
              <a:rPr lang="en-US" sz="1600" dirty="0">
                <a:latin typeface="Courier" charset="0"/>
                <a:ea typeface="Courier" charset="0"/>
                <a:cs typeface="Courier" charset="0"/>
              </a:rPr>
              <a:t> / 1000);</a:t>
            </a:r>
          </a:p>
          <a:p>
            <a:pPr>
              <a:spcAft>
                <a:spcPts val="600"/>
              </a:spcAft>
            </a:pPr>
            <a:r>
              <a:rPr lang="en-US" sz="1600" dirty="0">
                <a:latin typeface="Courier" charset="0"/>
                <a:ea typeface="Courier" charset="0"/>
                <a:cs typeface="Courier" charset="0"/>
              </a:rPr>
              <a:t>}</a:t>
            </a:r>
          </a:p>
          <a:p>
            <a:pPr>
              <a:spcAft>
                <a:spcPts val="600"/>
              </a:spcAft>
            </a:pPr>
            <a:endParaRPr lang="en-US" sz="1600" dirty="0" err="1">
              <a:latin typeface="Courier" charset="0"/>
              <a:ea typeface="Courier" charset="0"/>
              <a:cs typeface="Courier" charset="0"/>
            </a:endParaRPr>
          </a:p>
        </p:txBody>
      </p:sp>
      <p:sp>
        <p:nvSpPr>
          <p:cNvPr id="7" name="TextBox 6">
            <a:extLst>
              <a:ext uri="{FF2B5EF4-FFF2-40B4-BE49-F238E27FC236}">
                <a16:creationId xmlns:a16="http://schemas.microsoft.com/office/drawing/2014/main" id="{6CF8BD95-1FF7-4969-B29B-40FFE846B4C9}"/>
              </a:ext>
            </a:extLst>
          </p:cNvPr>
          <p:cNvSpPr txBox="1"/>
          <p:nvPr/>
        </p:nvSpPr>
        <p:spPr>
          <a:xfrm>
            <a:off x="6899031" y="3472223"/>
            <a:ext cx="5562600" cy="615553"/>
          </a:xfrm>
          <a:prstGeom prst="rect">
            <a:avLst/>
          </a:prstGeom>
        </p:spPr>
        <p:txBody>
          <a:bodyPr vert="horz" wrap="square" lIns="0" tIns="0" rIns="0" bIns="0" rtlCol="0" anchor="t">
            <a:spAutoFit/>
          </a:bodyPr>
          <a:lstStyle/>
          <a:p>
            <a:r>
              <a:rPr lang="en-US" sz="2000" dirty="0"/>
              <a:t>The temperature sensor reading is supplied via a kernel function call.</a:t>
            </a:r>
          </a:p>
        </p:txBody>
      </p:sp>
      <p:sp>
        <p:nvSpPr>
          <p:cNvPr id="8" name="TextBox 7">
            <a:extLst>
              <a:ext uri="{FF2B5EF4-FFF2-40B4-BE49-F238E27FC236}">
                <a16:creationId xmlns:a16="http://schemas.microsoft.com/office/drawing/2014/main" id="{50D2A1EC-684B-42FC-98F0-D2C1BFAFAA42}"/>
              </a:ext>
            </a:extLst>
          </p:cNvPr>
          <p:cNvSpPr txBox="1"/>
          <p:nvPr/>
        </p:nvSpPr>
        <p:spPr>
          <a:xfrm>
            <a:off x="13458825" y="4071938"/>
            <a:ext cx="914400" cy="914400"/>
          </a:xfrm>
          <a:prstGeom prst="rect">
            <a:avLst/>
          </a:prstGeom>
        </p:spPr>
        <p:txBody>
          <a:bodyPr vert="horz" wrap="none" lIns="0" tIns="0" rIns="0" bIns="0" rtlCol="0" anchor="t">
            <a:normAutofit/>
          </a:bodyPr>
          <a:lstStyle/>
          <a:p>
            <a:endParaRPr lang="en-US" dirty="0"/>
          </a:p>
        </p:txBody>
      </p:sp>
      <p:cxnSp>
        <p:nvCxnSpPr>
          <p:cNvPr id="9" name="Straight Arrow Connector 8">
            <a:extLst>
              <a:ext uri="{FF2B5EF4-FFF2-40B4-BE49-F238E27FC236}">
                <a16:creationId xmlns:a16="http://schemas.microsoft.com/office/drawing/2014/main" id="{B7224F26-3FFB-4EEB-915C-154127942A66}"/>
              </a:ext>
            </a:extLst>
          </p:cNvPr>
          <p:cNvCxnSpPr>
            <a:cxnSpLocks/>
          </p:cNvCxnSpPr>
          <p:nvPr/>
        </p:nvCxnSpPr>
        <p:spPr>
          <a:xfrm flipH="1" flipV="1">
            <a:off x="4013860" y="3001108"/>
            <a:ext cx="2885171" cy="691661"/>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DEFBE40-F9FA-4F38-A403-2E6384662DA3}"/>
              </a:ext>
            </a:extLst>
          </p:cNvPr>
          <p:cNvSpPr txBox="1"/>
          <p:nvPr/>
        </p:nvSpPr>
        <p:spPr>
          <a:xfrm>
            <a:off x="2734409" y="5331619"/>
            <a:ext cx="3324225" cy="615553"/>
          </a:xfrm>
          <a:prstGeom prst="rect">
            <a:avLst/>
          </a:prstGeom>
        </p:spPr>
        <p:txBody>
          <a:bodyPr vert="horz" wrap="square" lIns="0" tIns="0" rIns="0" bIns="0" rtlCol="0" anchor="t">
            <a:spAutoFit/>
          </a:bodyPr>
          <a:lstStyle/>
          <a:p>
            <a:r>
              <a:rPr lang="en-US" sz="2000" dirty="0"/>
              <a:t>Reading is translated to string and sent to </a:t>
            </a:r>
            <a:r>
              <a:rPr lang="en-US" sz="2000" dirty="0" err="1"/>
              <a:t>sysfs</a:t>
            </a:r>
            <a:r>
              <a:rPr lang="en-US" sz="2000" dirty="0"/>
              <a:t> file</a:t>
            </a:r>
          </a:p>
        </p:txBody>
      </p:sp>
      <p:cxnSp>
        <p:nvCxnSpPr>
          <p:cNvPr id="11" name="Straight Arrow Connector 10">
            <a:extLst>
              <a:ext uri="{FF2B5EF4-FFF2-40B4-BE49-F238E27FC236}">
                <a16:creationId xmlns:a16="http://schemas.microsoft.com/office/drawing/2014/main" id="{A438AFC8-33DD-452E-8734-A5CD9FD42C3A}"/>
              </a:ext>
            </a:extLst>
          </p:cNvPr>
          <p:cNvCxnSpPr>
            <a:cxnSpLocks/>
          </p:cNvCxnSpPr>
          <p:nvPr/>
        </p:nvCxnSpPr>
        <p:spPr>
          <a:xfrm flipV="1">
            <a:off x="4013860" y="4680990"/>
            <a:ext cx="956725" cy="650629"/>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92364F9-D315-3A52-1CE6-FE88E3B52B8D}"/>
              </a:ext>
            </a:extLst>
          </p:cNvPr>
          <p:cNvSpPr txBox="1"/>
          <p:nvPr/>
        </p:nvSpPr>
        <p:spPr>
          <a:xfrm>
            <a:off x="5501604" y="585559"/>
            <a:ext cx="3796507" cy="615553"/>
          </a:xfrm>
          <a:prstGeom prst="rect">
            <a:avLst/>
          </a:prstGeom>
        </p:spPr>
        <p:txBody>
          <a:bodyPr vert="horz" wrap="square" lIns="0" tIns="0" rIns="0" bIns="0" rtlCol="0" anchor="t">
            <a:spAutoFit/>
          </a:bodyPr>
          <a:lstStyle/>
          <a:p>
            <a:r>
              <a:rPr lang="en-US" sz="2000" dirty="0"/>
              <a:t>Function executed when the user reads /sys/kernel/temp/value</a:t>
            </a:r>
          </a:p>
        </p:txBody>
      </p:sp>
      <p:cxnSp>
        <p:nvCxnSpPr>
          <p:cNvPr id="15" name="Straight Arrow Connector 14">
            <a:extLst>
              <a:ext uri="{FF2B5EF4-FFF2-40B4-BE49-F238E27FC236}">
                <a16:creationId xmlns:a16="http://schemas.microsoft.com/office/drawing/2014/main" id="{841B749D-347C-8B2C-C871-486F027AE958}"/>
              </a:ext>
            </a:extLst>
          </p:cNvPr>
          <p:cNvCxnSpPr>
            <a:cxnSpLocks/>
          </p:cNvCxnSpPr>
          <p:nvPr/>
        </p:nvCxnSpPr>
        <p:spPr>
          <a:xfrm flipH="1">
            <a:off x="3305908" y="990559"/>
            <a:ext cx="2043296" cy="449441"/>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4437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D37E1-638B-6AB8-130D-A100CCDB255F}"/>
              </a:ext>
            </a:extLst>
          </p:cNvPr>
          <p:cNvSpPr>
            <a:spLocks noGrp="1"/>
          </p:cNvSpPr>
          <p:nvPr>
            <p:ph type="title"/>
          </p:nvPr>
        </p:nvSpPr>
        <p:spPr/>
        <p:txBody>
          <a:bodyPr/>
          <a:lstStyle/>
          <a:p>
            <a:r>
              <a:rPr lang="en-US" dirty="0"/>
              <a:t>Interfacing the Module with AI</a:t>
            </a:r>
          </a:p>
        </p:txBody>
      </p:sp>
      <p:sp>
        <p:nvSpPr>
          <p:cNvPr id="3" name="Content Placeholder 2">
            <a:extLst>
              <a:ext uri="{FF2B5EF4-FFF2-40B4-BE49-F238E27FC236}">
                <a16:creationId xmlns:a16="http://schemas.microsoft.com/office/drawing/2014/main" id="{96F3AF71-6BB2-31FF-83F1-68AD6FDD36B8}"/>
              </a:ext>
            </a:extLst>
          </p:cNvPr>
          <p:cNvSpPr>
            <a:spLocks noGrp="1"/>
          </p:cNvSpPr>
          <p:nvPr>
            <p:ph idx="1"/>
          </p:nvPr>
        </p:nvSpPr>
        <p:spPr/>
        <p:txBody>
          <a:bodyPr/>
          <a:lstStyle/>
          <a:p>
            <a:r>
              <a:rPr lang="en-US" dirty="0"/>
              <a:t>We run the LLM as a </a:t>
            </a:r>
            <a:r>
              <a:rPr lang="en-US" b="1" dirty="0"/>
              <a:t>sporadic utility </a:t>
            </a:r>
            <a:r>
              <a:rPr lang="en-US" dirty="0"/>
              <a:t>(</a:t>
            </a:r>
            <a:r>
              <a:rPr lang="en-US" dirty="0" err="1"/>
              <a:t>llama_cli</a:t>
            </a:r>
            <a:r>
              <a:rPr lang="en-US" dirty="0"/>
              <a:t>) which takes prompts as command-line arguments.</a:t>
            </a:r>
          </a:p>
          <a:p>
            <a:r>
              <a:rPr lang="en-US" dirty="0"/>
              <a:t>It might be better to run the LLM as a service. A long-running background service allows us to </a:t>
            </a:r>
            <a:r>
              <a:rPr lang="en-US" b="1" dirty="0"/>
              <a:t>build up context </a:t>
            </a:r>
            <a:r>
              <a:rPr lang="en-US" dirty="0"/>
              <a:t>for the LLM. Also it means we incur </a:t>
            </a:r>
            <a:r>
              <a:rPr lang="en-US" b="1" dirty="0"/>
              <a:t>lower latency </a:t>
            </a:r>
            <a:r>
              <a:rPr lang="en-US" dirty="0"/>
              <a:t>for each query.</a:t>
            </a:r>
          </a:p>
          <a:p>
            <a:r>
              <a:rPr lang="en-US" dirty="0"/>
              <a:t>However there is a constant background resource overhead.</a:t>
            </a:r>
          </a:p>
          <a:p>
            <a:r>
              <a:rPr lang="en-US" dirty="0"/>
              <a:t>How do we start the background service? Probably using a script (</a:t>
            </a:r>
            <a:r>
              <a:rPr lang="en-US" dirty="0" err="1"/>
              <a:t>systemd</a:t>
            </a:r>
            <a:r>
              <a:rPr lang="en-US" dirty="0"/>
              <a:t> or </a:t>
            </a:r>
            <a:r>
              <a:rPr lang="en-US" dirty="0" err="1"/>
              <a:t>initrc</a:t>
            </a:r>
            <a:r>
              <a:rPr lang="en-US" dirty="0"/>
              <a:t>) at bootup time.</a:t>
            </a:r>
          </a:p>
        </p:txBody>
      </p:sp>
    </p:spTree>
    <p:extLst>
      <p:ext uri="{BB962C8B-B14F-4D97-AF65-F5344CB8AC3E}">
        <p14:creationId xmlns:p14="http://schemas.microsoft.com/office/powerpoint/2010/main" val="38220827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452BB-1C96-E844-5344-7643D0405F70}"/>
              </a:ext>
            </a:extLst>
          </p:cNvPr>
          <p:cNvSpPr>
            <a:spLocks noGrp="1"/>
          </p:cNvSpPr>
          <p:nvPr>
            <p:ph type="title"/>
          </p:nvPr>
        </p:nvSpPr>
        <p:spPr/>
        <p:txBody>
          <a:bodyPr/>
          <a:lstStyle/>
          <a:p>
            <a:r>
              <a:rPr lang="en-US" dirty="0"/>
              <a:t>Querying the AI</a:t>
            </a:r>
          </a:p>
        </p:txBody>
      </p:sp>
      <p:sp>
        <p:nvSpPr>
          <p:cNvPr id="3" name="Content Placeholder 2">
            <a:extLst>
              <a:ext uri="{FF2B5EF4-FFF2-40B4-BE49-F238E27FC236}">
                <a16:creationId xmlns:a16="http://schemas.microsoft.com/office/drawing/2014/main" id="{91736499-F035-3206-5961-A78E5FEB0B7C}"/>
              </a:ext>
            </a:extLst>
          </p:cNvPr>
          <p:cNvSpPr>
            <a:spLocks noGrp="1"/>
          </p:cNvSpPr>
          <p:nvPr>
            <p:ph idx="1"/>
          </p:nvPr>
        </p:nvSpPr>
        <p:spPr/>
        <p:txBody>
          <a:bodyPr/>
          <a:lstStyle/>
          <a:p>
            <a:r>
              <a:rPr lang="en-US" dirty="0"/>
              <a:t>Now we can define a command – </a:t>
            </a:r>
            <a:r>
              <a:rPr lang="en-US" b="1" dirty="0" err="1">
                <a:latin typeface="Courier New" panose="02070309020205020404" pitchFamily="49" charset="0"/>
                <a:cs typeface="Courier New" panose="02070309020205020404" pitchFamily="49" charset="0"/>
              </a:rPr>
              <a:t>ai_temp</a:t>
            </a:r>
            <a:r>
              <a:rPr lang="en-US" b="1" dirty="0">
                <a:latin typeface="Courier New" panose="02070309020205020404" pitchFamily="49" charset="0"/>
                <a:cs typeface="Courier New" panose="02070309020205020404" pitchFamily="49" charset="0"/>
              </a:rPr>
              <a:t> </a:t>
            </a:r>
            <a:r>
              <a:rPr lang="en-US" dirty="0"/>
              <a:t>– that reads the kernel module data exposed via </a:t>
            </a:r>
            <a:r>
              <a:rPr lang="en-US" dirty="0" err="1"/>
              <a:t>sysfs</a:t>
            </a:r>
            <a:r>
              <a:rPr lang="en-US" dirty="0"/>
              <a:t>, sends a prompt to the AI service if it’s running, and reports the textual answer back </a:t>
            </a:r>
          </a:p>
          <a:p>
            <a:pPr marL="457200" indent="-457200">
              <a:buAutoNum type="alphaLcParenBoth"/>
            </a:pPr>
            <a:r>
              <a:rPr lang="en-US" dirty="0"/>
              <a:t>to standard output, on the command line, and</a:t>
            </a:r>
          </a:p>
          <a:p>
            <a:pPr marL="457200" indent="-457200">
              <a:buAutoNum type="alphaLcParenBoth"/>
            </a:pPr>
            <a:r>
              <a:rPr lang="en-US" dirty="0"/>
              <a:t>in the system logs – for record-keeping – important for auditability of AI.</a:t>
            </a:r>
          </a:p>
          <a:p>
            <a:pPr marL="457200" indent="-457200">
              <a:buAutoNum type="alphaLcParenBoth"/>
            </a:pPr>
            <a:endParaRPr lang="en-US" dirty="0"/>
          </a:p>
          <a:p>
            <a:r>
              <a:rPr lang="en-US" dirty="0"/>
              <a:t>The practical lab shows how this command might be implemented as a shell script.</a:t>
            </a:r>
          </a:p>
        </p:txBody>
      </p:sp>
    </p:spTree>
    <p:extLst>
      <p:ext uri="{BB962C8B-B14F-4D97-AF65-F5344CB8AC3E}">
        <p14:creationId xmlns:p14="http://schemas.microsoft.com/office/powerpoint/2010/main" val="1323237581"/>
      </p:ext>
    </p:extLst>
  </p:cSld>
  <p:clrMapOvr>
    <a:masterClrMapping/>
  </p:clrMapOvr>
</p:sld>
</file>

<file path=ppt/theme/theme1.xml><?xml version="1.0" encoding="utf-8"?>
<a:theme xmlns:a="http://schemas.openxmlformats.org/drawingml/2006/main" name="ARM PPT template 2017_Confidential">
  <a:themeElements>
    <a:clrScheme name="arm">
      <a:dk1>
        <a:sysClr val="windowText" lastClr="000000"/>
      </a:dk1>
      <a:lt1>
        <a:sysClr val="window" lastClr="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2017_public.potx" id="{A3B643CE-0F79-4823-AA66-0CA4DE5EE3C5}" vid="{ED53B60E-37BF-4A33-8397-68515E403FF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AB4C7B3E1FC394489A73CF7D7E3C9BF" ma:contentTypeVersion="0" ma:contentTypeDescription="Create a new document." ma:contentTypeScope="" ma:versionID="45cafcb85e4a634abde564ce1863f081">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6A7FD9-EB25-40DB-BD4D-0724701A0C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546F3D9-27DD-4F07-9983-380B33535F9E}">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A2F4DB20-F02C-4139-BE14-4D908EF1BA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Arm_PPT_2017_public (1)</Template>
  <TotalTime>0</TotalTime>
  <Words>3828</Words>
  <Application>Microsoft Macintosh PowerPoint</Application>
  <PresentationFormat>Widescreen</PresentationFormat>
  <Paragraphs>419</Paragraphs>
  <Slides>31</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ＭＳ Ｐゴシック</vt:lpstr>
      <vt:lpstr>Arial</vt:lpstr>
      <vt:lpstr>Calibri</vt:lpstr>
      <vt:lpstr>Courier</vt:lpstr>
      <vt:lpstr>Courier New</vt:lpstr>
      <vt:lpstr>Symbol</vt:lpstr>
      <vt:lpstr>Wingdings</vt:lpstr>
      <vt:lpstr>ARM PPT template 2017_Confidential</vt:lpstr>
      <vt:lpstr>Embedded Linux</vt:lpstr>
      <vt:lpstr>Goal</vt:lpstr>
      <vt:lpstr>Summary</vt:lpstr>
      <vt:lpstr>Summary</vt:lpstr>
      <vt:lpstr>Introduction</vt:lpstr>
      <vt:lpstr>Summary</vt:lpstr>
      <vt:lpstr>The sysfs File System</vt:lpstr>
      <vt:lpstr>The sysfs File System</vt:lpstr>
      <vt:lpstr>The sysfs File System: Controlling GPIOs</vt:lpstr>
      <vt:lpstr>Adding Entries to the sysfs File System</vt:lpstr>
      <vt:lpstr>Adding Entries to the sysfs File System</vt:lpstr>
      <vt:lpstr>Using sysfs and VFS API</vt:lpstr>
      <vt:lpstr>Summary</vt:lpstr>
      <vt:lpstr>The Llama AI Model</vt:lpstr>
      <vt:lpstr>What is a Large Language Model (LLM)?</vt:lpstr>
      <vt:lpstr>Deployment Model for LLM</vt:lpstr>
      <vt:lpstr>Comparing Deployment Models for LLM</vt:lpstr>
      <vt:lpstr>Why might an AI model be used in an Embedded System?</vt:lpstr>
      <vt:lpstr>Benefits and Drawbacks of AI Integration</vt:lpstr>
      <vt:lpstr>Llama Deployment on Raspberry Pi</vt:lpstr>
      <vt:lpstr>Deployment Component Diagram</vt:lpstr>
      <vt:lpstr>Summary</vt:lpstr>
      <vt:lpstr>Building Linux Support for the On-Board Temperature Sensor</vt:lpstr>
      <vt:lpstr>Module Data Structure Definition</vt:lpstr>
      <vt:lpstr>Module Initialization Function</vt:lpstr>
      <vt:lpstr>Module Initialization Function</vt:lpstr>
      <vt:lpstr>Module Initialization Function</vt:lpstr>
      <vt:lpstr>Module Clean-up Function</vt:lpstr>
      <vt:lpstr>Module Read Function</vt:lpstr>
      <vt:lpstr>Interfacing the Module with AI</vt:lpstr>
      <vt:lpstr>Querying the AI</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2017-09-28T16:46:04Z</dcterms:created>
  <dcterms:modified xsi:type="dcterms:W3CDTF">2025-11-07T10:58:51Z</dcterms:modified>
  <cp:category/>
  <cp:contentStatus>Published</cp:contentStatus>
</cp:coreProperties>
</file>

<file path=docProps/custom.xml><?xml version="1.0" encoding="utf-8"?>
<Properties xmlns:vt="http://schemas.openxmlformats.org/officeDocument/2006/docPropsVTypes" xmlns="http://schemas.openxmlformats.org/officeDocument/2006/custom-properti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vti_description">
    <vt:lpwstr/>
  </property>
  <property fmtid="{D5CDD505-2E9C-101B-9397-08002B2CF9AE}" pid="6" name="WorkflowChangePath">
    <vt:lpwstr>1069b4ef-e6f3-4ad7-8c8e-772136578697,10;</vt:lpwstr>
  </property>
  <property fmtid="{D5CDD505-2E9C-101B-9397-08002B2CF9AE}" pid="7" name="Confidentiality">
    <vt:lpwstr>1;#Confidential|28d1025d-1415-4984-b35e-5b79e7d32b5c</vt:lpwstr>
  </property>
  <property fmtid="{D5CDD505-2E9C-101B-9397-08002B2CF9AE}" pid="8" name="ContentTypeId">
    <vt:lpwstr>0x0101001AB4C7B3E1FC394489A73CF7D7E3C9BF</vt:lpwstr>
  </property>
  <property fmtid="{D5CDD505-2E9C-101B-9397-08002B2CF9AE}" pid="9" name="Calendar Year">
    <vt:lpwstr>7;#2017|58467e81-5d99-44a5-abb5-12a016b65e9e</vt:lpwstr>
  </property>
  <property fmtid="{D5CDD505-2E9C-101B-9397-08002B2CF9AE}" pid="10" name="TaxCatchAll">
    <vt:lpwstr/>
  </property>
  <property fmtid="{D5CDD505-2E9C-101B-9397-08002B2CF9AE}" pid="11" name="TaxKeywordTaxHTField">
    <vt:lpwstr/>
  </property>
  <property fmtid="{D5CDD505-2E9C-101B-9397-08002B2CF9AE}" pid="12" name="ItemRetentionFormula">
    <vt:lpwstr/>
  </property>
  <property fmtid="{D5CDD505-2E9C-101B-9397-08002B2CF9AE}" pid="13" name="_dlc_LastRun">
    <vt:lpwstr>08/15/2015 23:02:11</vt:lpwstr>
  </property>
  <property fmtid="{D5CDD505-2E9C-101B-9397-08002B2CF9AE}" pid="14" name="_dlc_DocIdItemGuid">
    <vt:lpwstr>4ff7fb8e-c1c6-4ffa-a6e2-9443f43164b5</vt:lpwstr>
  </property>
  <property fmtid="{D5CDD505-2E9C-101B-9397-08002B2CF9AE}" pid="15" name="_dlc_ItemStageId">
    <vt:lpwstr>1</vt:lpwstr>
  </property>
  <property fmtid="{D5CDD505-2E9C-101B-9397-08002B2CF9AE}" pid="16" name="j60c3ced31bb40378c6254d49035d966">
    <vt:lpwstr>2015|ee47c3e7-6a69-4f36-9adf-1007c8d399a4</vt:lpwstr>
  </property>
</Properties>
</file>
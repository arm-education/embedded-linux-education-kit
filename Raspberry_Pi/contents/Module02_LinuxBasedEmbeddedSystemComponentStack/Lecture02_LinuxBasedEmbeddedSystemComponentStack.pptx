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7"/>
  </p:notesMasterIdLst>
  <p:handoutMasterIdLst>
    <p:handoutMasterId r:id="rId38"/>
  </p:handoutMasterIdLst>
  <p:sldIdLst>
    <p:sldId id="329" r:id="rId5"/>
    <p:sldId id="302"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EE7FA-21B3-B9FA-70CB-407B2CCDFD60}" v="47" dt="2025-11-24T09:24:34.843"/>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autoAdjust="0"/>
    <p:restoredTop sz="92449" autoAdjust="0"/>
  </p:normalViewPr>
  <p:slideViewPr>
    <p:cSldViewPr snapToGrid="0">
      <p:cViewPr varScale="1">
        <p:scale>
          <a:sx n="56" d="100"/>
          <a:sy n="56" d="100"/>
        </p:scale>
        <p:origin x="1376" y="2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11/24/2025</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11/24/2025</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second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3096450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a:cs typeface="Calibri"/>
              </a:rPr>
              <a:t>The aim of this lecture is to illustrate the main components of a Linux-based embedded system, as well as to look at the bootstrap process.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4042916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start off by looking at some of the components that make up an embedded Linux system.</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3539228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start off by looking at some of the components that make up an embedded Linux system.</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3634093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A typical Linux-based embedded system is made up of numerous components. One of these components is the bootloader. This is a piece of software</a:t>
            </a:r>
            <a:r>
              <a:rPr lang="en-US" dirty="0">
                <a:ea typeface="ＭＳ Ｐゴシック"/>
                <a:cs typeface="Calibri"/>
              </a:rPr>
              <a:t>,</a:t>
            </a:r>
            <a:r>
              <a:rPr lang="en-US" sz="1200" kern="1200" dirty="0">
                <a:solidFill>
                  <a:schemeClr val="tx1"/>
                </a:solidFill>
                <a:effectLst/>
                <a:latin typeface="+mn-lt"/>
                <a:ea typeface="ＭＳ Ｐゴシック"/>
                <a:cs typeface="Calibri"/>
              </a:rPr>
              <a:t> executed at power-up </a:t>
            </a:r>
            <a:r>
              <a:rPr lang="en-US" dirty="0">
                <a:ea typeface="ＭＳ Ｐゴシック"/>
                <a:cs typeface="Calibri"/>
              </a:rPr>
              <a:t>to set</a:t>
            </a:r>
            <a:r>
              <a:rPr lang="en-US" sz="1200" kern="1200" dirty="0">
                <a:solidFill>
                  <a:schemeClr val="tx1"/>
                </a:solidFill>
                <a:effectLst/>
                <a:latin typeface="+mn-lt"/>
                <a:ea typeface="ＭＳ Ｐゴシック"/>
                <a:cs typeface="Calibri"/>
              </a:rPr>
              <a:t> up the hardware to run the operating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Another component is the device tree. This is a tree data structure with nodes that describe the physical devices in the hardware needed by the Linux kernel to initialize the device drivers.</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Perhaps the most important component</a:t>
            </a:r>
            <a:r>
              <a:rPr lang="en-US" sz="1200" kern="1200" dirty="0">
                <a:solidFill>
                  <a:schemeClr val="tx1"/>
                </a:solidFill>
                <a:effectLst/>
                <a:latin typeface="+mn-lt"/>
                <a:ea typeface="ＭＳ Ｐゴシック"/>
                <a:cs typeface="Calibri"/>
              </a:rPr>
              <a:t> is the Linux kernel. This is essentially the operating system code and provides all the services to manage hardware resources and </a:t>
            </a:r>
            <a:r>
              <a:rPr lang="en-US" dirty="0">
                <a:ea typeface="ＭＳ Ｐゴシック"/>
                <a:cs typeface="Calibri"/>
              </a:rPr>
              <a:t>perform </a:t>
            </a:r>
            <a:r>
              <a:rPr lang="en-US" sz="1200" kern="1200" dirty="0">
                <a:solidFill>
                  <a:schemeClr val="tx1"/>
                </a:solidFill>
                <a:effectLst/>
                <a:latin typeface="+mn-lt"/>
                <a:ea typeface="ＭＳ Ｐゴシック"/>
                <a:cs typeface="Calibri"/>
              </a:rPr>
              <a:t>many other tasks.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1814026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System programs are user-friendly utilities that implement and provide access to </a:t>
            </a:r>
            <a:r>
              <a:rPr lang="en-US" dirty="0">
                <a:ea typeface="ＭＳ Ｐゴシック"/>
                <a:cs typeface="Calibri"/>
              </a:rPr>
              <a:t>underlying</a:t>
            </a:r>
            <a:r>
              <a:rPr lang="en-US" sz="1200" kern="1200" dirty="0">
                <a:solidFill>
                  <a:schemeClr val="tx1"/>
                </a:solidFill>
                <a:effectLst/>
                <a:latin typeface="+mn-lt"/>
                <a:ea typeface="ＭＳ Ｐゴシック"/>
                <a:cs typeface="Calibri"/>
              </a:rPr>
              <a:t> operating system services.</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Applications</a:t>
            </a:r>
            <a:r>
              <a:rPr lang="en-US" sz="1200" kern="1200" dirty="0">
                <a:solidFill>
                  <a:schemeClr val="tx1"/>
                </a:solidFill>
                <a:effectLst/>
                <a:latin typeface="+mn-lt"/>
                <a:ea typeface="ＭＳ Ｐゴシック"/>
                <a:cs typeface="Calibri"/>
              </a:rPr>
              <a:t> are software </a:t>
            </a:r>
            <a:r>
              <a:rPr lang="en-US" dirty="0">
                <a:ea typeface="ＭＳ Ｐゴシック"/>
                <a:cs typeface="Calibri"/>
              </a:rPr>
              <a:t>programs </a:t>
            </a:r>
            <a:r>
              <a:rPr lang="en-US" sz="1200" kern="1200" dirty="0">
                <a:solidFill>
                  <a:schemeClr val="tx1"/>
                </a:solidFill>
                <a:effectLst/>
                <a:latin typeface="+mn-lt"/>
                <a:ea typeface="ＭＳ Ｐゴシック"/>
                <a:cs typeface="Calibri"/>
              </a:rPr>
              <a:t>that implement the functionality </a:t>
            </a:r>
            <a:r>
              <a:rPr lang="en-US" dirty="0">
                <a:ea typeface="ＭＳ Ｐゴシック"/>
                <a:cs typeface="Calibri"/>
              </a:rPr>
              <a:t>required by the </a:t>
            </a:r>
            <a:r>
              <a:rPr lang="en-US" sz="1200" kern="1200" dirty="0">
                <a:solidFill>
                  <a:schemeClr val="tx1"/>
                </a:solidFill>
                <a:effectLst/>
                <a:latin typeface="+mn-lt"/>
                <a:ea typeface="ＭＳ Ｐゴシック"/>
                <a:cs typeface="Calibri"/>
              </a:rPr>
              <a:t>system to </a:t>
            </a:r>
            <a:r>
              <a:rPr lang="en-US" dirty="0">
                <a:ea typeface="ＭＳ Ｐゴシック"/>
                <a:cs typeface="Calibri"/>
              </a:rPr>
              <a:t>serve</a:t>
            </a:r>
            <a:r>
              <a:rPr lang="en-US" sz="1200" kern="1200" dirty="0">
                <a:solidFill>
                  <a:schemeClr val="tx1"/>
                </a:solidFill>
                <a:effectLst/>
                <a:latin typeface="+mn-lt"/>
                <a:ea typeface="ＭＳ Ｐゴシック"/>
                <a:cs typeface="Calibri"/>
              </a:rPr>
              <a:t> the user.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root file system is the container of the Linux kernel configuration files, system programs, and the applications.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912562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terms of hardware, embedded systems are made up of several components.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One component is the RAM (random-access memory), which is a type of volatile memory</a:t>
            </a:r>
            <a:r>
              <a:rPr lang="en-US" dirty="0">
                <a:ea typeface="ＭＳ Ｐゴシック"/>
                <a:cs typeface="Calibri"/>
              </a:rPr>
              <a:t> </a:t>
            </a:r>
            <a:r>
              <a:rPr lang="en-US" sz="1200" kern="1200" dirty="0">
                <a:solidFill>
                  <a:schemeClr val="tx1"/>
                </a:solidFill>
                <a:effectLst/>
                <a:latin typeface="+mn-lt"/>
                <a:ea typeface="ＭＳ Ｐゴシック"/>
                <a:cs typeface="Calibri"/>
              </a:rPr>
              <a:t>used for storing data and code that is currently in use.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Another component is the CPU (central processing unit), which is the processor that the software is run on. The CPU is where the computation occurs within the system and </a:t>
            </a:r>
            <a:r>
              <a:rPr lang="en-US" dirty="0">
                <a:ea typeface="ＭＳ Ｐゴシック"/>
                <a:cs typeface="Calibri"/>
              </a:rPr>
              <a:t>includes</a:t>
            </a:r>
            <a:r>
              <a:rPr lang="en-US" sz="1200" kern="1200" dirty="0">
                <a:solidFill>
                  <a:schemeClr val="tx1"/>
                </a:solidFill>
                <a:effectLst/>
                <a:latin typeface="+mn-lt"/>
                <a:ea typeface="ＭＳ Ｐゴシック"/>
                <a:cs typeface="Calibri"/>
              </a:rPr>
              <a:t> the arithmetic logic unit.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Embedded systems also include input/output (I/O</a:t>
            </a:r>
            <a:r>
              <a:rPr lang="en-US" dirty="0">
                <a:ea typeface="ＭＳ Ｐゴシック"/>
                <a:cs typeface="Calibri"/>
              </a:rPr>
              <a:t>) devices,</a:t>
            </a:r>
            <a:r>
              <a:rPr lang="en-US" sz="1200" kern="1200" dirty="0">
                <a:solidFill>
                  <a:schemeClr val="tx1"/>
                </a:solidFill>
                <a:effectLst/>
                <a:latin typeface="+mn-lt"/>
                <a:ea typeface="ＭＳ Ｐゴシック"/>
                <a:cs typeface="Calibri"/>
              </a:rPr>
              <a:t> which are peripherals that enable the </a:t>
            </a:r>
            <a:r>
              <a:rPr lang="en-US" dirty="0">
                <a:ea typeface="ＭＳ Ｐゴシック"/>
                <a:cs typeface="Calibri"/>
              </a:rPr>
              <a:t>communication</a:t>
            </a:r>
            <a:r>
              <a:rPr lang="en-US" sz="1200" kern="1200" dirty="0">
                <a:solidFill>
                  <a:schemeClr val="tx1"/>
                </a:solidFill>
                <a:effectLst/>
                <a:latin typeface="+mn-lt"/>
                <a:ea typeface="ＭＳ Ｐゴシック"/>
                <a:cs typeface="Calibri"/>
              </a:rPr>
              <a:t> of information between the system and the user.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They also include boot flash and mass memory flash. Boot flash is a smaller type of non-volatile memory and mass memory flash is large non-volatile memory storage. These will both be discussed later.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2311941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There are different ways in which the reference hardware model can be implemented. For example:</a:t>
            </a:r>
          </a:p>
          <a:p>
            <a:r>
              <a:rPr lang="en-US" sz="1200" kern="1200" dirty="0">
                <a:solidFill>
                  <a:schemeClr val="tx1"/>
                </a:solidFill>
                <a:effectLst/>
                <a:latin typeface="+mn-lt"/>
                <a:ea typeface="ＭＳ Ｐゴシック"/>
                <a:cs typeface="Calibri"/>
              </a:rPr>
              <a:t>One option is a microcontroller-based implementation. This </a:t>
            </a:r>
            <a:r>
              <a:rPr lang="en-US" dirty="0">
                <a:ea typeface="ＭＳ Ｐゴシック"/>
                <a:cs typeface="Calibri"/>
              </a:rPr>
              <a:t>approach incorporates</a:t>
            </a:r>
            <a:r>
              <a:rPr lang="en-US" sz="1200" kern="1200" dirty="0">
                <a:solidFill>
                  <a:schemeClr val="tx1"/>
                </a:solidFill>
                <a:effectLst/>
                <a:latin typeface="+mn-lt"/>
                <a:ea typeface="ＭＳ Ｐゴシック"/>
                <a:cs typeface="Calibri"/>
              </a:rPr>
              <a:t> the majority of the reference model components onto a single device</a:t>
            </a:r>
            <a:r>
              <a:rPr lang="en-US" dirty="0">
                <a:ea typeface="ＭＳ Ｐゴシック"/>
                <a:cs typeface="Calibri"/>
              </a:rPr>
              <a:t>,</a:t>
            </a:r>
            <a:r>
              <a:rPr lang="en-US" sz="1200" kern="1200" dirty="0">
                <a:solidFill>
                  <a:schemeClr val="tx1"/>
                </a:solidFill>
                <a:effectLst/>
                <a:latin typeface="+mn-lt"/>
                <a:ea typeface="ＭＳ Ｐゴシック"/>
                <a:cs typeface="Calibri"/>
              </a:rPr>
              <a:t> typically </a:t>
            </a:r>
            <a:r>
              <a:rPr lang="en-US" dirty="0">
                <a:ea typeface="ＭＳ Ｐゴシック"/>
                <a:cs typeface="Calibri"/>
              </a:rPr>
              <a:t>including</a:t>
            </a:r>
            <a:r>
              <a:rPr lang="en-US" sz="1200" kern="1200" dirty="0">
                <a:solidFill>
                  <a:schemeClr val="tx1"/>
                </a:solidFill>
                <a:effectLst/>
                <a:latin typeface="+mn-lt"/>
                <a:ea typeface="ＭＳ Ｐゴシック"/>
                <a:cs typeface="Calibri"/>
              </a:rPr>
              <a:t> the CPU, RAM, boot flash, and I/O.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An alternative option is a system-on-chip </a:t>
            </a:r>
            <a:r>
              <a:rPr lang="en-US" dirty="0">
                <a:ea typeface="ＭＳ Ｐゴシック"/>
                <a:cs typeface="Calibri"/>
              </a:rPr>
              <a:t>(SoC) </a:t>
            </a:r>
            <a:r>
              <a:rPr lang="en-US" sz="1200" kern="1200" dirty="0">
                <a:solidFill>
                  <a:schemeClr val="tx1"/>
                </a:solidFill>
                <a:effectLst/>
                <a:latin typeface="+mn-lt"/>
                <a:ea typeface="ＭＳ Ｐゴシック"/>
                <a:cs typeface="Calibri"/>
              </a:rPr>
              <a:t>based implementation. </a:t>
            </a:r>
            <a:r>
              <a:rPr lang="en-US" dirty="0">
                <a:ea typeface="ＭＳ Ｐゴシック"/>
                <a:cs typeface="Calibri"/>
              </a:rPr>
              <a:t>In </a:t>
            </a:r>
            <a:r>
              <a:rPr lang="en-US" sz="1200" kern="1200" dirty="0">
                <a:solidFill>
                  <a:schemeClr val="tx1"/>
                </a:solidFill>
                <a:effectLst/>
                <a:latin typeface="+mn-lt"/>
                <a:ea typeface="ＭＳ Ｐゴシック"/>
                <a:cs typeface="Calibri"/>
              </a:rPr>
              <a:t>this </a:t>
            </a:r>
            <a:r>
              <a:rPr lang="en-US" dirty="0">
                <a:ea typeface="ＭＳ Ｐゴシック"/>
                <a:cs typeface="Calibri"/>
              </a:rPr>
              <a:t>approach</a:t>
            </a:r>
            <a:r>
              <a:rPr lang="en-US" sz="1200" kern="1200" dirty="0">
                <a:solidFill>
                  <a:schemeClr val="tx1"/>
                </a:solidFill>
                <a:effectLst/>
                <a:latin typeface="+mn-lt"/>
                <a:ea typeface="ＭＳ Ｐゴシック"/>
                <a:cs typeface="Calibri"/>
              </a:rPr>
              <a:t>, </a:t>
            </a:r>
            <a:r>
              <a:rPr lang="en-US" dirty="0">
                <a:ea typeface="ＭＳ Ｐゴシック"/>
                <a:cs typeface="Calibri"/>
              </a:rPr>
              <a:t>several of</a:t>
            </a:r>
            <a:r>
              <a:rPr lang="en-US" sz="1200" kern="1200" dirty="0">
                <a:solidFill>
                  <a:schemeClr val="tx1"/>
                </a:solidFill>
                <a:effectLst/>
                <a:latin typeface="+mn-lt"/>
                <a:ea typeface="ＭＳ Ｐゴシック"/>
                <a:cs typeface="Calibri"/>
              </a:rPr>
              <a:t> the reference model components are discrete. The CPU can then be integrated with some of them, for example, the I/O and boot flash.</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3584993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looking at a map of the CPU memory, you can see that different devices are allocated to different address ranges in memory. The CPU initially generates 2 to the power of n different addresses, where n is the number of bits of the address bus.</a:t>
            </a:r>
          </a:p>
          <a:p>
            <a:r>
              <a:rPr lang="en-US" sz="1200" kern="1200" dirty="0">
                <a:solidFill>
                  <a:schemeClr val="tx1"/>
                </a:solidFill>
                <a:effectLst/>
                <a:latin typeface="+mn-lt"/>
                <a:ea typeface="ＭＳ Ｐゴシック"/>
                <a:cs typeface="Calibri"/>
              </a:rPr>
              <a:t>These addresses are then assigned to different devices or components (</a:t>
            </a:r>
            <a:r>
              <a:rPr lang="en-US" dirty="0">
                <a:ea typeface="ＭＳ Ｐゴシック"/>
                <a:cs typeface="Calibri"/>
              </a:rPr>
              <a:t>e.g., memory</a:t>
            </a:r>
            <a:r>
              <a:rPr lang="en-US" sz="1200" kern="1200" dirty="0">
                <a:solidFill>
                  <a:schemeClr val="tx1"/>
                </a:solidFill>
                <a:effectLst/>
                <a:latin typeface="+mn-lt"/>
                <a:ea typeface="ＭＳ Ｐゴシック"/>
                <a:cs typeface="Calibri"/>
              </a:rPr>
              <a:t>, I/O</a:t>
            </a:r>
            <a:r>
              <a:rPr lang="en-US" dirty="0">
                <a:ea typeface="ＭＳ Ｐゴシック"/>
                <a:cs typeface="Calibri"/>
              </a:rPr>
              <a:t>)</a:t>
            </a:r>
            <a:r>
              <a:rPr lang="en-US" sz="1200" kern="1200" dirty="0">
                <a:solidFill>
                  <a:schemeClr val="tx1"/>
                </a:solidFill>
                <a:effectLst/>
                <a:latin typeface="+mn-lt"/>
                <a:ea typeface="ＭＳ Ｐゴシック"/>
                <a:cs typeface="Calibri"/>
              </a:rPr>
              <a:t> that require space in memory.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3155441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look at the bootloader.</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1493417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The bootloader </a:t>
            </a:r>
            <a:r>
              <a:rPr lang="en-US" dirty="0">
                <a:ea typeface="ＭＳ Ｐゴシック"/>
                <a:cs typeface="Calibri"/>
              </a:rPr>
              <a:t>plays an</a:t>
            </a:r>
            <a:r>
              <a:rPr lang="en-US" sz="1200" kern="1200" dirty="0">
                <a:solidFill>
                  <a:schemeClr val="tx1"/>
                </a:solidFill>
                <a:effectLst/>
                <a:latin typeface="+mn-lt"/>
                <a:ea typeface="ＭＳ Ｐゴシック"/>
                <a:cs typeface="Calibri"/>
              </a:rPr>
              <a:t> important role in the initial stages of </a:t>
            </a:r>
            <a:r>
              <a:rPr lang="en-US" dirty="0">
                <a:ea typeface="ＭＳ Ｐゴシック"/>
                <a:cs typeface="Calibri"/>
              </a:rPr>
              <a:t>the boot process</a:t>
            </a:r>
            <a:r>
              <a:rPr lang="en-US" sz="1200" kern="1200" dirty="0">
                <a:solidFill>
                  <a:schemeClr val="tx1"/>
                </a:solidFill>
                <a:effectLst/>
                <a:latin typeface="+mn-lt"/>
                <a:ea typeface="ＭＳ Ｐゴシック"/>
                <a:cs typeface="Calibri"/>
              </a:rPr>
              <a:t>. </a:t>
            </a:r>
            <a:r>
              <a:rPr lang="en-US" dirty="0">
                <a:ea typeface="ＭＳ Ｐゴシック"/>
                <a:cs typeface="Calibri"/>
              </a:rPr>
              <a:t>For</a:t>
            </a:r>
            <a:r>
              <a:rPr lang="en-US" sz="1200" kern="1200" dirty="0">
                <a:solidFill>
                  <a:schemeClr val="tx1"/>
                </a:solidFill>
                <a:effectLst/>
                <a:latin typeface="+mn-lt"/>
                <a:ea typeface="ＭＳ Ｐゴシック"/>
                <a:cs typeface="Calibri"/>
              </a:rPr>
              <a:t> software to run, the processor </a:t>
            </a:r>
            <a:r>
              <a:rPr lang="en-US" dirty="0">
                <a:ea typeface="ＭＳ Ｐゴシック"/>
                <a:cs typeface="Calibri"/>
              </a:rPr>
              <a:t>must</a:t>
            </a:r>
            <a:r>
              <a:rPr lang="en-US" sz="1200" kern="1200" dirty="0">
                <a:solidFill>
                  <a:schemeClr val="tx1"/>
                </a:solidFill>
                <a:effectLst/>
                <a:latin typeface="+mn-lt"/>
                <a:ea typeface="ＭＳ Ｐゴシック"/>
                <a:cs typeface="Calibri"/>
              </a:rPr>
              <a:t> know where the software is located, how it can access the location, and where the stack is located.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2496553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a system is powered-up, a program counter is set to a default known value, which is the reset vector. On Cortex-M, this is generally address 0x4</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The</a:t>
            </a:r>
            <a:r>
              <a:rPr lang="en-US" sz="1200" kern="1200" dirty="0">
                <a:solidFill>
                  <a:schemeClr val="tx1"/>
                </a:solidFill>
                <a:effectLst/>
                <a:latin typeface="+mn-lt"/>
                <a:ea typeface="ＭＳ Ｐゴシック"/>
                <a:cs typeface="Calibri"/>
              </a:rPr>
              <a:t> program counter is a register that holds the address of the instruction that is next to be </a:t>
            </a:r>
            <a:r>
              <a:rPr lang="en-US" dirty="0">
                <a:ea typeface="ＭＳ Ｐゴシック"/>
                <a:cs typeface="Calibri"/>
              </a:rPr>
              <a:t>executed</a:t>
            </a:r>
            <a:r>
              <a:rPr lang="en-US" sz="1200" kern="1200" dirty="0">
                <a:solidFill>
                  <a:schemeClr val="tx1"/>
                </a:solidFill>
                <a:effectLst/>
                <a:latin typeface="+mn-lt"/>
                <a:ea typeface="ＭＳ Ｐゴシック"/>
                <a:cs typeface="Calibri"/>
              </a:rPr>
              <a: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reset vector is a pointer to an address that contains the first instruction to be executed for the firmware.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bootloader is the first </a:t>
            </a:r>
            <a:r>
              <a:rPr lang="en-US" dirty="0">
                <a:ea typeface="ＭＳ Ｐゴシック"/>
                <a:cs typeface="Calibri"/>
              </a:rPr>
              <a:t>program</a:t>
            </a:r>
            <a:r>
              <a:rPr lang="en-US" sz="1200" kern="1200" dirty="0">
                <a:solidFill>
                  <a:schemeClr val="tx1"/>
                </a:solidFill>
                <a:effectLst/>
                <a:latin typeface="+mn-lt"/>
                <a:ea typeface="ＭＳ Ｐゴシック"/>
                <a:cs typeface="Calibri"/>
              </a:rPr>
              <a:t> </a:t>
            </a:r>
            <a:r>
              <a:rPr lang="en-US" dirty="0">
                <a:ea typeface="ＭＳ Ｐゴシック"/>
                <a:cs typeface="Calibri"/>
              </a:rPr>
              <a:t>to run</a:t>
            </a:r>
            <a:r>
              <a:rPr lang="en-US" sz="1200" kern="1200" dirty="0">
                <a:solidFill>
                  <a:schemeClr val="tx1"/>
                </a:solidFill>
                <a:effectLst/>
                <a:latin typeface="+mn-lt"/>
                <a:ea typeface="ＭＳ Ｐゴシック"/>
                <a:cs typeface="Calibri"/>
              </a:rPr>
              <a:t> and </a:t>
            </a:r>
            <a:r>
              <a:rPr lang="en-US" dirty="0">
                <a:ea typeface="ＭＳ Ｐゴシック"/>
                <a:cs typeface="Calibri"/>
              </a:rPr>
              <a:t>takes</a:t>
            </a:r>
            <a:r>
              <a:rPr lang="en-US" sz="1200" kern="1200" dirty="0">
                <a:solidFill>
                  <a:schemeClr val="tx1"/>
                </a:solidFill>
                <a:effectLst/>
                <a:latin typeface="+mn-lt"/>
                <a:ea typeface="ＭＳ Ｐゴシック"/>
                <a:cs typeface="Calibri"/>
              </a:rPr>
              <a:t> care of providing the processer with all the information it needs, such as startup software location, how to access it, and where the stack is located.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specific operations performed in the bootloader are dependent on the system’s architecture.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632222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Looking back </a:t>
            </a:r>
            <a:r>
              <a:rPr lang="en-US" dirty="0">
                <a:ea typeface="ＭＳ Ｐゴシック"/>
                <a:cs typeface="Calibri"/>
              </a:rPr>
              <a:t>at </a:t>
            </a:r>
            <a:r>
              <a:rPr lang="en-US" sz="1200" kern="1200" dirty="0">
                <a:solidFill>
                  <a:schemeClr val="tx1"/>
                </a:solidFill>
                <a:effectLst/>
                <a:latin typeface="+mn-lt"/>
                <a:ea typeface="ＭＳ Ｐゴシック"/>
                <a:cs typeface="Calibri"/>
              </a:rPr>
              <a:t>the two different implementations of the reference hardware model, we can see how the bootloader is used differently.</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In the</a:t>
            </a:r>
            <a:r>
              <a:rPr lang="en-US" sz="1200" kern="1200" dirty="0">
                <a:solidFill>
                  <a:schemeClr val="tx1"/>
                </a:solidFill>
                <a:effectLst/>
                <a:latin typeface="+mn-lt"/>
                <a:ea typeface="ＭＳ Ｐゴシック"/>
                <a:cs typeface="Calibri"/>
              </a:rPr>
              <a:t> microcontroller-based implementation, all the software is stored in a form of persistent storage embedded </a:t>
            </a:r>
            <a:r>
              <a:rPr lang="en-US" dirty="0">
                <a:ea typeface="ＭＳ Ｐゴシック"/>
                <a:cs typeface="Calibri"/>
              </a:rPr>
              <a:t>within</a:t>
            </a:r>
            <a:r>
              <a:rPr lang="en-US" sz="1200" kern="1200" dirty="0">
                <a:solidFill>
                  <a:schemeClr val="tx1"/>
                </a:solidFill>
                <a:effectLst/>
                <a:latin typeface="+mn-lt"/>
                <a:ea typeface="ＭＳ Ｐゴシック"/>
                <a:cs typeface="Calibri"/>
              </a:rPr>
              <a:t> the microcontroller. This software is executed from the persistent storage.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CPU reset vector</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which</a:t>
            </a:r>
            <a:r>
              <a:rPr lang="en-US" sz="1200" kern="1200" dirty="0">
                <a:solidFill>
                  <a:schemeClr val="tx1"/>
                </a:solidFill>
                <a:effectLst/>
                <a:latin typeface="+mn-lt"/>
                <a:ea typeface="ＭＳ Ｐゴシック"/>
                <a:cs typeface="Calibri"/>
              </a:rPr>
              <a:t> points to the bootloader</a:t>
            </a:r>
            <a:r>
              <a:rPr lang="en-US" dirty="0">
                <a:ea typeface="ＭＳ Ｐゴシック"/>
                <a:cs typeface="Calibri"/>
              </a:rPr>
              <a:t>,</a:t>
            </a:r>
            <a:r>
              <a:rPr lang="en-US" sz="1200" kern="1200" dirty="0">
                <a:solidFill>
                  <a:schemeClr val="tx1"/>
                </a:solidFill>
                <a:effectLst/>
                <a:latin typeface="+mn-lt"/>
                <a:ea typeface="ＭＳ Ｐゴシック"/>
                <a:cs typeface="Calibri"/>
              </a:rPr>
              <a:t> is located in the boot flash.</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Finally, the RAM is also embedded </a:t>
            </a:r>
            <a:r>
              <a:rPr lang="en-US" dirty="0">
                <a:ea typeface="ＭＳ Ｐゴシック"/>
                <a:cs typeface="Calibri"/>
              </a:rPr>
              <a:t>in</a:t>
            </a:r>
            <a:r>
              <a:rPr lang="en-US" sz="1200" kern="1200" dirty="0">
                <a:solidFill>
                  <a:schemeClr val="tx1"/>
                </a:solidFill>
                <a:effectLst/>
                <a:latin typeface="+mn-lt"/>
                <a:ea typeface="ＭＳ Ｐゴシック"/>
                <a:cs typeface="Calibri"/>
              </a:rPr>
              <a:t> the microcontroller and is </a:t>
            </a:r>
            <a:r>
              <a:rPr lang="en-US" dirty="0">
                <a:ea typeface="ＭＳ Ｐゴシック"/>
                <a:cs typeface="Calibri"/>
              </a:rPr>
              <a:t>used </a:t>
            </a:r>
            <a:r>
              <a:rPr lang="en-US" sz="1200" kern="1200" dirty="0">
                <a:solidFill>
                  <a:schemeClr val="tx1"/>
                </a:solidFill>
                <a:effectLst/>
                <a:latin typeface="+mn-lt"/>
                <a:ea typeface="ＭＳ Ｐゴシック"/>
                <a:cs typeface="Calibri"/>
              </a:rPr>
              <a:t>exclusively for data, the stack, and the heap.</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3222588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In</a:t>
            </a:r>
            <a:r>
              <a:rPr lang="en-US" sz="1200" kern="1200" dirty="0">
                <a:solidFill>
                  <a:schemeClr val="tx1"/>
                </a:solidFill>
                <a:effectLst/>
                <a:latin typeface="+mn-lt"/>
                <a:ea typeface="ＭＳ Ｐゴシック"/>
                <a:cs typeface="Calibri"/>
              </a:rPr>
              <a:t> the system-on-chip </a:t>
            </a:r>
            <a:r>
              <a:rPr lang="en-US" dirty="0">
                <a:ea typeface="ＭＳ Ｐゴシック"/>
                <a:cs typeface="Calibri"/>
              </a:rPr>
              <a:t>(SoC) </a:t>
            </a:r>
            <a:r>
              <a:rPr lang="en-US" sz="1200" kern="1200" dirty="0">
                <a:solidFill>
                  <a:schemeClr val="tx1"/>
                </a:solidFill>
                <a:effectLst/>
                <a:latin typeface="+mn-lt"/>
                <a:ea typeface="ＭＳ Ｐゴシック"/>
                <a:cs typeface="Calibri"/>
              </a:rPr>
              <a:t>implementation of the reference hardware model, </a:t>
            </a:r>
            <a:r>
              <a:rPr lang="en-US" dirty="0">
                <a:ea typeface="ＭＳ Ｐゴシック"/>
                <a:cs typeface="Calibri"/>
              </a:rPr>
              <a:t>the arrangement </a:t>
            </a:r>
            <a:r>
              <a:rPr lang="en-US" sz="1200" kern="1200" dirty="0">
                <a:solidFill>
                  <a:schemeClr val="tx1"/>
                </a:solidFill>
                <a:effectLst/>
                <a:latin typeface="+mn-lt"/>
                <a:ea typeface="ＭＳ Ｐゴシック"/>
                <a:cs typeface="Calibri"/>
              </a:rPr>
              <a:t>is </a:t>
            </a:r>
            <a:r>
              <a:rPr lang="en-US" dirty="0">
                <a:ea typeface="ＭＳ Ｐゴシック"/>
                <a:cs typeface="Calibri"/>
              </a:rPr>
              <a:t>different</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bootloader</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along with the CPU reset vector, </a:t>
            </a:r>
            <a:r>
              <a:rPr lang="en-US" sz="1200" kern="1200" dirty="0">
                <a:solidFill>
                  <a:schemeClr val="tx1"/>
                </a:solidFill>
                <a:effectLst/>
                <a:latin typeface="+mn-lt"/>
                <a:ea typeface="ＭＳ Ｐゴシック"/>
                <a:cs typeface="Calibri"/>
              </a:rPr>
              <a:t>is still stored in </a:t>
            </a:r>
            <a:r>
              <a:rPr lang="en-US" dirty="0">
                <a:ea typeface="ＭＳ Ｐゴシック"/>
                <a:cs typeface="Calibri"/>
              </a:rPr>
              <a:t>the boot</a:t>
            </a:r>
            <a:r>
              <a:rPr lang="en-US" sz="1200" kern="1200" dirty="0">
                <a:solidFill>
                  <a:schemeClr val="tx1"/>
                </a:solidFill>
                <a:effectLst/>
                <a:latin typeface="+mn-lt"/>
                <a:ea typeface="ＭＳ Ｐゴシック"/>
                <a:cs typeface="Calibri"/>
              </a:rPr>
              <a:t> flash, similar to the microcontroller implementation.</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However,</a:t>
            </a:r>
            <a:r>
              <a:rPr lang="en-US" sz="1200" kern="1200" dirty="0">
                <a:solidFill>
                  <a:schemeClr val="tx1"/>
                </a:solidFill>
                <a:effectLst/>
                <a:latin typeface="+mn-lt"/>
                <a:ea typeface="ＭＳ Ｐゴシック"/>
                <a:cs typeface="Calibri"/>
              </a:rPr>
              <a:t> unlike the microcontroller, the software </a:t>
            </a:r>
            <a:r>
              <a:rPr lang="en-US" dirty="0">
                <a:ea typeface="ＭＳ Ｐゴシック"/>
                <a:cs typeface="Calibri"/>
              </a:rPr>
              <a:t>components, such</a:t>
            </a:r>
            <a:r>
              <a:rPr lang="en-US" sz="1200" kern="1200" dirty="0">
                <a:solidFill>
                  <a:schemeClr val="tx1"/>
                </a:solidFill>
                <a:effectLst/>
                <a:latin typeface="+mn-lt"/>
                <a:ea typeface="ＭＳ Ｐゴシック"/>
                <a:cs typeface="Calibri"/>
              </a:rPr>
              <a:t> as applications, system programs, operating system, and device tree</a:t>
            </a:r>
            <a:r>
              <a:rPr lang="en-US" dirty="0">
                <a:ea typeface="ＭＳ Ｐゴシック"/>
                <a:cs typeface="Calibri"/>
              </a:rPr>
              <a:t>,</a:t>
            </a:r>
            <a:r>
              <a:rPr lang="en-US" sz="1200" kern="1200" dirty="0">
                <a:solidFill>
                  <a:schemeClr val="tx1"/>
                </a:solidFill>
                <a:effectLst/>
                <a:latin typeface="+mn-lt"/>
                <a:ea typeface="ＭＳ Ｐゴシック"/>
                <a:cs typeface="Calibri"/>
              </a:rPr>
              <a:t> are stored </a:t>
            </a:r>
            <a:r>
              <a:rPr lang="en-US" dirty="0">
                <a:ea typeface="ＭＳ Ｐゴシック"/>
                <a:cs typeface="Calibri"/>
              </a:rPr>
              <a:t>in</a:t>
            </a:r>
            <a:r>
              <a:rPr lang="en-US" sz="1200" kern="1200" dirty="0">
                <a:solidFill>
                  <a:schemeClr val="tx1"/>
                </a:solidFill>
                <a:effectLst/>
                <a:latin typeface="+mn-lt"/>
                <a:ea typeface="ＭＳ Ｐゴシック"/>
                <a:cs typeface="Calibri"/>
              </a:rPr>
              <a:t> the mass memory flash but are loaded </a:t>
            </a:r>
            <a:r>
              <a:rPr lang="en-US" dirty="0">
                <a:ea typeface="ＭＳ Ｐゴシック"/>
                <a:cs typeface="Calibri"/>
              </a:rPr>
              <a:t>into</a:t>
            </a:r>
            <a:r>
              <a:rPr lang="en-US" sz="1200" kern="1200" dirty="0">
                <a:solidFill>
                  <a:schemeClr val="tx1"/>
                </a:solidFill>
                <a:effectLst/>
                <a:latin typeface="+mn-lt"/>
                <a:ea typeface="ＭＳ Ｐゴシック"/>
                <a:cs typeface="Calibri"/>
              </a:rPr>
              <a:t> RAM by the bootloader.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Finally, the RAM is external to the system-on-chip and </a:t>
            </a:r>
            <a:r>
              <a:rPr lang="en-US" dirty="0">
                <a:ea typeface="ＭＳ Ｐゴシック"/>
                <a:cs typeface="Calibri"/>
              </a:rPr>
              <a:t>stores</a:t>
            </a:r>
            <a:r>
              <a:rPr lang="en-US" sz="1200" kern="1200" dirty="0">
                <a:solidFill>
                  <a:schemeClr val="tx1"/>
                </a:solidFill>
                <a:effectLst/>
                <a:latin typeface="+mn-lt"/>
                <a:ea typeface="ＭＳ Ｐゴシック"/>
                <a:cs typeface="Calibri"/>
              </a:rPr>
              <a:t> what </a:t>
            </a:r>
            <a:r>
              <a:rPr lang="en-US" dirty="0">
                <a:ea typeface="ＭＳ Ｐゴシック"/>
                <a:cs typeface="Calibri"/>
              </a:rPr>
              <a:t>has been loaded</a:t>
            </a:r>
            <a:r>
              <a:rPr lang="en-US" sz="1200" kern="1200" dirty="0">
                <a:solidFill>
                  <a:schemeClr val="tx1"/>
                </a:solidFill>
                <a:effectLst/>
                <a:latin typeface="+mn-lt"/>
                <a:ea typeface="ＭＳ Ｐゴシック"/>
                <a:cs typeface="Calibri"/>
              </a:rPr>
              <a:t> </a:t>
            </a:r>
            <a:r>
              <a:rPr lang="en-US" dirty="0">
                <a:ea typeface="ＭＳ Ｐゴシック"/>
                <a:cs typeface="Calibri"/>
              </a:rPr>
              <a:t>into</a:t>
            </a:r>
            <a:r>
              <a:rPr lang="en-US" sz="1200" kern="1200" dirty="0">
                <a:solidFill>
                  <a:schemeClr val="tx1"/>
                </a:solidFill>
                <a:effectLst/>
                <a:latin typeface="+mn-lt"/>
                <a:ea typeface="ＭＳ Ｐゴシック"/>
                <a:cs typeface="Calibri"/>
              </a:rPr>
              <a:t> it by the bootloader, as well as data, the stack, and the heap.</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320932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Let’s look at an example of the bootloader’s operations for the system-on-chip </a:t>
            </a:r>
            <a:r>
              <a:rPr lang="en-US" dirty="0">
                <a:ea typeface="ＭＳ Ｐゴシック"/>
                <a:cs typeface="Calibri"/>
              </a:rPr>
              <a:t>(SoC) </a:t>
            </a:r>
            <a:r>
              <a:rPr lang="en-US" sz="1200" kern="1200" dirty="0">
                <a:solidFill>
                  <a:schemeClr val="tx1"/>
                </a:solidFill>
                <a:effectLst/>
                <a:latin typeface="+mn-lt"/>
                <a:ea typeface="ＭＳ Ｐゴシック"/>
                <a:cs typeface="Calibri"/>
              </a:rPr>
              <a:t>implementation.</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memory map for this scenario will look like this.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RAM will be 512 kilobytes and will be assigned the addresses 0x0002_0000 to 0x0003_FFFF.</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mass memory flash will be 256 kilobytes and will be assigned the addresses 0x0001_0000 to 0x0001_FFFF.</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Then finally, the boot flash will also be 256 kilobytes and will be assigned the addresses 0x000_0000 to 0x0000_FFFF.</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1272805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This is the state of the memory map before power up.</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boot flash address range is preloaded with the bootloader. In this diagram, the first bootloader instruction will be positioned at 0x0000_0FFF while the final instruction will be at 0x0000_AFFF.</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mass memory flash address range </a:t>
            </a:r>
            <a:r>
              <a:rPr lang="en-US" dirty="0">
                <a:ea typeface="ＭＳ Ｐゴシック"/>
                <a:cs typeface="Calibri"/>
              </a:rPr>
              <a:t>is </a:t>
            </a:r>
            <a:r>
              <a:rPr lang="en-US" sz="1200" kern="1200" dirty="0">
                <a:solidFill>
                  <a:schemeClr val="tx1"/>
                </a:solidFill>
                <a:effectLst/>
                <a:latin typeface="+mn-lt"/>
                <a:ea typeface="ＭＳ Ｐゴシック"/>
                <a:cs typeface="Calibri"/>
              </a:rPr>
              <a:t>preloaded with the components such as the device tree, the operating system, the systems programs, and the applications.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3707749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This is the state of the memory map during power up.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At this point, the CPU </a:t>
            </a:r>
            <a:r>
              <a:rPr lang="en-US" dirty="0">
                <a:ea typeface="ＭＳ Ｐゴシック"/>
                <a:cs typeface="Calibri"/>
              </a:rPr>
              <a:t>starts</a:t>
            </a:r>
            <a:r>
              <a:rPr lang="en-US" sz="1200" kern="1200" dirty="0">
                <a:solidFill>
                  <a:schemeClr val="tx1"/>
                </a:solidFill>
                <a:effectLst/>
                <a:latin typeface="+mn-lt"/>
                <a:ea typeface="ＭＳ Ｐゴシック"/>
                <a:cs typeface="Calibri"/>
              </a:rPr>
              <a:t> executing processes using the reset vector. It will initially jump to the first instruction of the bootloader and then run the bootloader software from boot flash memory.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1189413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a:cs typeface="Calibri"/>
              </a:rPr>
              <a:t>The next state is during the bootstrap process. In this phase, the </a:t>
            </a:r>
            <a:r>
              <a:rPr lang="en-US">
                <a:ea typeface="ＭＳ Ｐゴシック"/>
                <a:cs typeface="Calibri"/>
              </a:rPr>
              <a:t>CPU's</a:t>
            </a:r>
            <a:r>
              <a:rPr lang="en-US" sz="1200" kern="1200">
                <a:solidFill>
                  <a:schemeClr val="tx1"/>
                </a:solidFill>
                <a:effectLst/>
                <a:latin typeface="+mn-lt"/>
                <a:ea typeface="ＭＳ Ｐゴシック"/>
                <a:cs typeface="Calibri"/>
              </a:rPr>
              <a:t> RAM controller will be initialized</a:t>
            </a:r>
            <a:r>
              <a:rPr lang="en-US">
                <a:ea typeface="ＭＳ Ｐゴシック"/>
                <a:cs typeface="Calibri"/>
              </a:rPr>
              <a:t>, and the</a:t>
            </a:r>
            <a:r>
              <a:rPr lang="en-US" sz="1200" kern="1200">
                <a:solidFill>
                  <a:schemeClr val="tx1"/>
                </a:solidFill>
                <a:effectLst/>
                <a:latin typeface="+mn-lt"/>
                <a:ea typeface="ＭＳ Ｐゴシック"/>
                <a:cs typeface="Calibri"/>
              </a:rPr>
              <a:t> CPU registers for mapping the stack and heap to RAM </a:t>
            </a:r>
            <a:r>
              <a:rPr lang="en-US">
                <a:ea typeface="ＭＳ Ｐゴシック"/>
                <a:cs typeface="Calibri"/>
              </a:rPr>
              <a:t>will be set up</a:t>
            </a:r>
            <a:r>
              <a:rPr lang="en-US" sz="1200" kern="120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Finally, the device tree, operating system, system programs, and applications </a:t>
            </a:r>
            <a:r>
              <a:rPr lang="en-US" dirty="0">
                <a:ea typeface="ＭＳ Ｐゴシック"/>
                <a:cs typeface="Calibri"/>
              </a:rPr>
              <a:t>are copied</a:t>
            </a:r>
            <a:r>
              <a:rPr lang="en-US" sz="1200" kern="1200" dirty="0">
                <a:solidFill>
                  <a:schemeClr val="tx1"/>
                </a:solidFill>
                <a:effectLst/>
                <a:latin typeface="+mn-lt"/>
                <a:ea typeface="ＭＳ Ｐゴシック"/>
                <a:cs typeface="Calibri"/>
              </a:rPr>
              <a:t> to RAM.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1608255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final stage we will look at is the end of the bootstrap, </a:t>
            </a:r>
            <a:r>
              <a:rPr lang="en-US" dirty="0">
                <a:ea typeface="ＭＳ Ｐゴシック"/>
                <a:cs typeface="Calibri"/>
              </a:rPr>
              <a:t>during which</a:t>
            </a:r>
            <a:r>
              <a:rPr lang="en-US" sz="1200" kern="1200" dirty="0">
                <a:solidFill>
                  <a:schemeClr val="tx1"/>
                </a:solidFill>
                <a:effectLst/>
                <a:latin typeface="+mn-lt"/>
                <a:ea typeface="ＭＳ Ｐゴシック"/>
                <a:cs typeface="Calibri"/>
              </a:rPr>
              <a:t> the bootloader jumps to the first instruction of the operating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CPU then executes the operating system software, which is responsible for setting up the execution environment for applications and the starting application execution.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2783491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Next, we will take a look at the Linux kernel.</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2413824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Linux kernel is the software</a:t>
            </a:r>
            <a:r>
              <a:rPr lang="en-US" dirty="0">
                <a:ea typeface="ＭＳ Ｐゴシック"/>
                <a:cs typeface="Calibri"/>
              </a:rPr>
              <a:t>,</a:t>
            </a:r>
            <a:r>
              <a:rPr lang="en-US" sz="1200" kern="1200" dirty="0">
                <a:solidFill>
                  <a:schemeClr val="tx1"/>
                </a:solidFill>
                <a:effectLst/>
                <a:latin typeface="+mn-lt"/>
                <a:ea typeface="ＭＳ Ｐゴシック"/>
                <a:cs typeface="Calibri"/>
              </a:rPr>
              <a:t> or operating system kernel</a:t>
            </a:r>
            <a:r>
              <a:rPr lang="en-US" dirty="0">
                <a:ea typeface="ＭＳ Ｐゴシック"/>
                <a:cs typeface="Calibri"/>
              </a:rPr>
              <a:t>,</a:t>
            </a:r>
            <a:r>
              <a:rPr lang="en-US" sz="1200" kern="1200" dirty="0">
                <a:solidFill>
                  <a:schemeClr val="tx1"/>
                </a:solidFill>
                <a:effectLst/>
                <a:latin typeface="+mn-lt"/>
                <a:ea typeface="ＭＳ Ｐゴシック"/>
                <a:cs typeface="Calibri"/>
              </a:rPr>
              <a:t> responsible for optimally managing the embedded system’s hardware resources.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It offers a range of services that perform essential </a:t>
            </a:r>
            <a:r>
              <a:rPr lang="en-US" dirty="0">
                <a:ea typeface="ＭＳ Ｐゴシック"/>
                <a:cs typeface="Calibri"/>
              </a:rPr>
              <a:t>operating system </a:t>
            </a:r>
            <a:r>
              <a:rPr lang="en-US" sz="1200" kern="1200" dirty="0">
                <a:solidFill>
                  <a:schemeClr val="tx1"/>
                </a:solidFill>
                <a:effectLst/>
                <a:latin typeface="+mn-lt"/>
                <a:ea typeface="ＭＳ Ｐゴシック"/>
                <a:cs typeface="Calibri"/>
              </a:rPr>
              <a:t>functions. </a:t>
            </a:r>
            <a:r>
              <a:rPr lang="en-US" dirty="0">
                <a:ea typeface="ＭＳ Ｐゴシック"/>
                <a:cs typeface="Calibri"/>
              </a:rPr>
              <a:t>These</a:t>
            </a:r>
            <a:r>
              <a:rPr lang="en-US" sz="1200" kern="1200" dirty="0">
                <a:solidFill>
                  <a:schemeClr val="tx1"/>
                </a:solidFill>
                <a:effectLst/>
                <a:latin typeface="+mn-lt"/>
                <a:ea typeface="ＭＳ Ｐゴシック"/>
                <a:cs typeface="Calibri"/>
              </a:rPr>
              <a:t> </a:t>
            </a:r>
            <a:r>
              <a:rPr lang="en-US" dirty="0">
                <a:ea typeface="ＭＳ Ｐゴシック"/>
                <a:cs typeface="Calibri"/>
              </a:rPr>
              <a:t>include</a:t>
            </a:r>
            <a:r>
              <a:rPr lang="en-US" sz="1200" kern="1200" dirty="0">
                <a:solidFill>
                  <a:schemeClr val="tx1"/>
                </a:solidFill>
                <a:effectLst/>
                <a:latin typeface="+mn-lt"/>
                <a:ea typeface="ＭＳ Ｐゴシック"/>
                <a:cs typeface="Calibri"/>
              </a:rPr>
              <a:t> process management and scheduling </a:t>
            </a:r>
            <a:r>
              <a:rPr lang="en-US" dirty="0">
                <a:ea typeface="ＭＳ Ｐゴシック"/>
                <a:cs typeface="Calibri"/>
              </a:rPr>
              <a:t>through </a:t>
            </a:r>
            <a:r>
              <a:rPr lang="en-US" sz="1200" kern="1200" dirty="0">
                <a:solidFill>
                  <a:schemeClr val="tx1"/>
                </a:solidFill>
                <a:effectLst/>
                <a:latin typeface="+mn-lt"/>
                <a:ea typeface="ＭＳ Ｐゴシック"/>
                <a:cs typeface="Calibri"/>
              </a:rPr>
              <a:t>mechanisms such as task schedulers. This is primarily to do with how the CPU allocates its resources to different processes that require execution concurrently, and how they are scheduled to prevent any conflicts or interrupts within the system.</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The kernel also</a:t>
            </a:r>
            <a:r>
              <a:rPr lang="en-US" sz="1200" kern="1200" dirty="0">
                <a:solidFill>
                  <a:schemeClr val="tx1"/>
                </a:solidFill>
                <a:effectLst/>
                <a:latin typeface="+mn-lt"/>
                <a:ea typeface="ＭＳ Ｐゴシック"/>
                <a:cs typeface="Calibri"/>
              </a:rPr>
              <a:t> </a:t>
            </a:r>
            <a:r>
              <a:rPr lang="en-US" dirty="0">
                <a:ea typeface="ＭＳ Ｐゴシック"/>
                <a:cs typeface="Calibri"/>
              </a:rPr>
              <a:t>enables</a:t>
            </a:r>
            <a:r>
              <a:rPr lang="en-US" sz="1200" kern="1200" dirty="0">
                <a:solidFill>
                  <a:schemeClr val="tx1"/>
                </a:solidFill>
                <a:effectLst/>
                <a:latin typeface="+mn-lt"/>
                <a:ea typeface="ＭＳ Ｐゴシック"/>
                <a:cs typeface="Calibri"/>
              </a:rPr>
              <a:t> processes to communicate and share data </a:t>
            </a:r>
            <a:r>
              <a:rPr lang="en-US" dirty="0">
                <a:ea typeface="ＭＳ Ｐゴシック"/>
                <a:cs typeface="Calibri"/>
              </a:rPr>
              <a:t>through</a:t>
            </a:r>
            <a:r>
              <a:rPr lang="en-US" sz="1200" kern="1200" dirty="0">
                <a:solidFill>
                  <a:schemeClr val="tx1"/>
                </a:solidFill>
                <a:effectLst/>
                <a:latin typeface="+mn-lt"/>
                <a:ea typeface="ＭＳ Ｐゴシック"/>
                <a:cs typeface="Calibri"/>
              </a:rPr>
              <a:t> inter-process communication. This can be achieved in a variety of ways. One method is via sockets, which send data via a network interface to another process. Another method is shared memory, </a:t>
            </a:r>
            <a:r>
              <a:rPr lang="en-US" dirty="0">
                <a:ea typeface="ＭＳ Ｐゴシック"/>
                <a:cs typeface="Calibri"/>
              </a:rPr>
              <a:t>where </a:t>
            </a:r>
            <a:r>
              <a:rPr lang="en-US" sz="1200" kern="1200" dirty="0">
                <a:solidFill>
                  <a:schemeClr val="tx1"/>
                </a:solidFill>
                <a:effectLst/>
                <a:latin typeface="+mn-lt"/>
                <a:ea typeface="ＭＳ Ｐゴシック"/>
                <a:cs typeface="Calibri"/>
              </a:rPr>
              <a:t>multiple </a:t>
            </a:r>
            <a:r>
              <a:rPr lang="en-US" dirty="0">
                <a:ea typeface="ＭＳ Ｐゴシック"/>
                <a:cs typeface="Calibri"/>
              </a:rPr>
              <a:t>processes</a:t>
            </a:r>
            <a:r>
              <a:rPr lang="en-US" sz="1200" kern="1200" dirty="0">
                <a:solidFill>
                  <a:schemeClr val="tx1"/>
                </a:solidFill>
                <a:effectLst/>
                <a:latin typeface="+mn-lt"/>
                <a:ea typeface="ＭＳ Ｐゴシック"/>
                <a:cs typeface="Calibri"/>
              </a:rPr>
              <a:t> </a:t>
            </a:r>
            <a:r>
              <a:rPr lang="en-US" dirty="0">
                <a:ea typeface="ＭＳ Ｐゴシック"/>
                <a:cs typeface="Calibri"/>
              </a:rPr>
              <a:t>have </a:t>
            </a:r>
            <a:r>
              <a:rPr lang="en-US" sz="1200" kern="1200" dirty="0">
                <a:solidFill>
                  <a:schemeClr val="tx1"/>
                </a:solidFill>
                <a:effectLst/>
                <a:latin typeface="+mn-lt"/>
                <a:ea typeface="ＭＳ Ｐゴシック"/>
                <a:cs typeface="Calibri"/>
              </a:rPr>
              <a:t>access </a:t>
            </a:r>
            <a:r>
              <a:rPr lang="en-US" dirty="0">
                <a:ea typeface="ＭＳ Ｐゴシック"/>
                <a:cs typeface="Calibri"/>
              </a:rPr>
              <a:t>to </a:t>
            </a:r>
            <a:r>
              <a:rPr lang="en-US" sz="1200" kern="1200" dirty="0">
                <a:solidFill>
                  <a:schemeClr val="tx1"/>
                </a:solidFill>
                <a:effectLst/>
                <a:latin typeface="+mn-lt"/>
                <a:ea typeface="ＭＳ Ｐゴシック"/>
                <a:cs typeface="Calibri"/>
              </a:rPr>
              <a:t>the same block of memory. The processes can then alter this block and share information.</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Memory and I/O management are also included. We briefly looked at memory management in earlier slides, at how devices are allotted address ranges in memory. I/O management is supported via device drivers, allowing the user to control or interact with external devices that are attached to the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is also support for a range of file system types that detail the structure of how information is stored, laid out, and accessed on the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Additionally, there is support for network management such as network protocols and network device drivers. Users have the ability to configure network settings and enable them to interact with networks.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3205616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a:cs typeface="Calibri"/>
              </a:rPr>
              <a:t>The Linux kernel </a:t>
            </a:r>
            <a:r>
              <a:rPr lang="en-US">
                <a:ea typeface="ＭＳ Ｐゴシック"/>
                <a:cs typeface="Calibri"/>
              </a:rPr>
              <a:t>follows a</a:t>
            </a:r>
            <a:r>
              <a:rPr lang="en-US" sz="1200" kern="1200">
                <a:solidFill>
                  <a:schemeClr val="tx1"/>
                </a:solidFill>
                <a:effectLst/>
                <a:latin typeface="+mn-lt"/>
                <a:ea typeface="ＭＳ Ｐゴシック"/>
                <a:cs typeface="Calibri"/>
              </a:rPr>
              <a:t> layered operating system architecture. This leads to the operating system being divided into two main layers. One layer is user space; this layer is typically the higher-level parts of the system and mainly consists of applications or system programs, essentially, code that does not run on the operating system’s kernel. This is built on top of the kernel space layer. This is where the kernel operates, executing services for the system. These two layers occupy </a:t>
            </a:r>
            <a:r>
              <a:rPr lang="en-US">
                <a:ea typeface="ＭＳ Ｐゴシック"/>
                <a:cs typeface="Calibri"/>
              </a:rPr>
              <a:t>separate regions</a:t>
            </a:r>
            <a:r>
              <a:rPr lang="en-US" sz="1200" kern="1200">
                <a:solidFill>
                  <a:schemeClr val="tx1"/>
                </a:solidFill>
                <a:effectLst/>
                <a:latin typeface="+mn-lt"/>
                <a:ea typeface="ＭＳ Ｐゴシック"/>
                <a:cs typeface="Calibri"/>
              </a:rPr>
              <a:t> </a:t>
            </a:r>
            <a:r>
              <a:rPr lang="en-US" sz="1200" kern="1200" dirty="0">
                <a:solidFill>
                  <a:schemeClr val="tx1"/>
                </a:solidFill>
                <a:effectLst/>
                <a:latin typeface="+mn-lt"/>
                <a:ea typeface="ＭＳ Ｐゴシック"/>
                <a:cs typeface="Calibri"/>
              </a:rPr>
              <a:t>of the address spaces.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Basic services are delivered by one single executable. This is in line with monolithic kernels, where the entire operating system works in kernel space. </a:t>
            </a:r>
          </a:p>
          <a:p>
            <a:r>
              <a:rPr lang="en-US" sz="1200" kern="1200" dirty="0">
                <a:solidFill>
                  <a:schemeClr val="tx1"/>
                </a:solidFill>
                <a:effectLst/>
                <a:latin typeface="+mn-lt"/>
                <a:ea typeface="ＭＳ Ｐゴシック" charset="0"/>
                <a:cs typeface="ＭＳ Ｐゴシック" charset="0"/>
              </a:rPr>
              <a:t> </a:t>
            </a:r>
          </a:p>
          <a:p>
            <a:r>
              <a:rPr lang="en-US" sz="1200" kern="1200">
                <a:solidFill>
                  <a:schemeClr val="tx1"/>
                </a:solidFill>
                <a:effectLst/>
                <a:latin typeface="+mn-lt"/>
                <a:ea typeface="ＭＳ Ｐゴシック"/>
                <a:cs typeface="Calibri"/>
              </a:rPr>
              <a:t>These services can be extended or added to at run-time by using loadable kernel modules</a:t>
            </a:r>
            <a:r>
              <a:rPr lang="en-US">
                <a:ea typeface="ＭＳ Ｐゴシック"/>
                <a:cs typeface="Calibri"/>
              </a:rPr>
              <a:t> (LKMs).</a:t>
            </a:r>
            <a:endParaRPr lang="en-US" sz="1200" kern="1200">
              <a:solidFill>
                <a:schemeClr val="tx1"/>
              </a:solidFill>
              <a:effectLst/>
              <a:latin typeface="+mn-lt"/>
              <a:ea typeface="ＭＳ Ｐゴシック"/>
              <a:cs typeface="Calibri"/>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3790424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One advantage to the Linux kernel layout is it provides good separation between applications or system programs and the kernel. This means that any bugs that occur in user space will not affect or corrupt the kernel.</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However, </a:t>
            </a:r>
            <a:r>
              <a:rPr lang="en-US" dirty="0">
                <a:ea typeface="ＭＳ Ｐゴシック"/>
                <a:cs typeface="Calibri"/>
              </a:rPr>
              <a:t>a disadvantage </a:t>
            </a:r>
            <a:r>
              <a:rPr lang="en-US" sz="1200" kern="1200" dirty="0">
                <a:solidFill>
                  <a:schemeClr val="tx1"/>
                </a:solidFill>
                <a:effectLst/>
                <a:latin typeface="+mn-lt"/>
                <a:ea typeface="ＭＳ Ｐゴシック"/>
                <a:cs typeface="Calibri"/>
              </a:rPr>
              <a:t>is that if there is a bug in one kernel component, </a:t>
            </a:r>
            <a:r>
              <a:rPr lang="en-US" dirty="0">
                <a:ea typeface="ＭＳ Ｐゴシック"/>
                <a:cs typeface="Calibri"/>
              </a:rPr>
              <a:t>such as</a:t>
            </a:r>
            <a:r>
              <a:rPr lang="en-US" sz="1200" kern="1200" dirty="0">
                <a:solidFill>
                  <a:schemeClr val="tx1"/>
                </a:solidFill>
                <a:effectLst/>
                <a:latin typeface="+mn-lt"/>
                <a:ea typeface="ＭＳ Ｐゴシック"/>
                <a:cs typeface="Calibri"/>
              </a:rPr>
              <a:t> a new device driver, it has the potential to crash the </a:t>
            </a:r>
            <a:r>
              <a:rPr lang="en-US" dirty="0">
                <a:ea typeface="ＭＳ Ｐゴシック"/>
                <a:cs typeface="Calibri"/>
              </a:rPr>
              <a:t>entire</a:t>
            </a:r>
            <a:r>
              <a:rPr lang="en-US" sz="1200" kern="1200" dirty="0">
                <a:solidFill>
                  <a:schemeClr val="tx1"/>
                </a:solidFill>
                <a:effectLst/>
                <a:latin typeface="+mn-lt"/>
                <a:ea typeface="ＭＳ Ｐゴシック"/>
                <a:cs typeface="Calibri"/>
              </a:rPr>
              <a:t> system (usually with a kernel panic event which halts the running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3950231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take a quick look at the device tree.</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1292809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For</a:t>
            </a:r>
            <a:r>
              <a:rPr lang="en-US" sz="1200" kern="1200" dirty="0">
                <a:solidFill>
                  <a:schemeClr val="tx1"/>
                </a:solidFill>
                <a:effectLst/>
                <a:latin typeface="+mn-lt"/>
                <a:ea typeface="ＭＳ Ｐゴシック"/>
                <a:cs typeface="Calibri"/>
              </a:rPr>
              <a:t> the kernel to manage hardware resources, it needs to know which resources are currently available in the embedded system (i.e., the hardware description</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such as </a:t>
            </a:r>
            <a:r>
              <a:rPr lang="en-US" sz="1200" kern="1200" dirty="0">
                <a:solidFill>
                  <a:schemeClr val="tx1"/>
                </a:solidFill>
                <a:effectLst/>
                <a:latin typeface="+mn-lt"/>
                <a:ea typeface="ＭＳ Ｐゴシック"/>
                <a:cs typeface="Calibri"/>
              </a:rPr>
              <a:t>I/O devices, memory, </a:t>
            </a:r>
            <a:r>
              <a:rPr lang="en-US" dirty="0">
                <a:ea typeface="ＭＳ Ｐゴシック"/>
                <a:cs typeface="Calibri"/>
              </a:rPr>
              <a:t>and others).</a:t>
            </a:r>
            <a:endParaRPr lang="en-US" sz="1200" kern="1200" dirty="0">
              <a:solidFill>
                <a:schemeClr val="tx1"/>
              </a:solidFill>
              <a:effectLst/>
              <a:latin typeface="+mn-lt"/>
              <a:ea typeface="ＭＳ Ｐゴシック"/>
              <a:cs typeface="Calibri"/>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This information can be provided to the kernel in two ways. One method is to hardcode it into the kernel binary code. However, this means that each modification to the hardware definition would require the source code to be recompiled. The alternative is to provide it to the kernel when the bootloader uses a binary file, which is </a:t>
            </a:r>
            <a:r>
              <a:rPr lang="en-US" dirty="0">
                <a:ea typeface="ＭＳ Ｐゴシック"/>
                <a:cs typeface="Calibri"/>
              </a:rPr>
              <a:t>known as the</a:t>
            </a:r>
            <a:r>
              <a:rPr lang="en-US" sz="1200" kern="1200" dirty="0">
                <a:solidFill>
                  <a:schemeClr val="tx1"/>
                </a:solidFill>
                <a:effectLst/>
                <a:latin typeface="+mn-lt"/>
                <a:ea typeface="ＭＳ Ｐゴシック"/>
                <a:cs typeface="Calibri"/>
              </a:rPr>
              <a:t> device tree blob</a:t>
            </a:r>
            <a:r>
              <a:rPr lang="en-US" dirty="0">
                <a:ea typeface="ＭＳ Ｐゴシック"/>
                <a:cs typeface="Calibri"/>
              </a:rPr>
              <a:t> (DTB).</a:t>
            </a:r>
            <a:endParaRPr lang="en-US" sz="1200" kern="1200" dirty="0">
              <a:solidFill>
                <a:schemeClr val="tx1"/>
              </a:solidFill>
              <a:effectLst/>
              <a:latin typeface="+mn-lt"/>
              <a:ea typeface="ＭＳ Ｐゴシック"/>
              <a:cs typeface="Calibri"/>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 device tree blob is a file that is produced from a device tree source</a:t>
            </a:r>
            <a:r>
              <a:rPr lang="en-US" dirty="0">
                <a:ea typeface="ＭＳ Ｐゴシック"/>
                <a:cs typeface="Calibri"/>
              </a:rPr>
              <a:t> (DTS).</a:t>
            </a:r>
            <a:r>
              <a:rPr lang="en-US" sz="1200" kern="1200" dirty="0">
                <a:solidFill>
                  <a:schemeClr val="tx1"/>
                </a:solidFill>
                <a:effectLst/>
                <a:latin typeface="+mn-lt"/>
                <a:ea typeface="ＭＳ Ｐゴシック"/>
                <a:cs typeface="Calibri"/>
              </a:rPr>
              <a:t> </a:t>
            </a:r>
            <a:r>
              <a:rPr lang="en-US" dirty="0">
                <a:ea typeface="ＭＳ Ｐゴシック"/>
                <a:cs typeface="Calibri"/>
              </a:rPr>
              <a:t>Hardware</a:t>
            </a:r>
            <a:r>
              <a:rPr lang="en-US" sz="1200" kern="1200" dirty="0">
                <a:solidFill>
                  <a:schemeClr val="tx1"/>
                </a:solidFill>
                <a:effectLst/>
                <a:latin typeface="+mn-lt"/>
                <a:ea typeface="ＭＳ Ｐゴシック"/>
                <a:cs typeface="Calibri"/>
              </a:rPr>
              <a:t> </a:t>
            </a:r>
            <a:r>
              <a:rPr lang="en-US" dirty="0">
                <a:ea typeface="ＭＳ Ｐゴシック"/>
                <a:cs typeface="Calibri"/>
              </a:rPr>
              <a:t>definitions</a:t>
            </a:r>
            <a:r>
              <a:rPr lang="en-US" sz="1200" kern="1200" dirty="0">
                <a:solidFill>
                  <a:schemeClr val="tx1"/>
                </a:solidFill>
                <a:effectLst/>
                <a:latin typeface="+mn-lt"/>
                <a:ea typeface="ＭＳ Ｐゴシック"/>
                <a:cs typeface="Calibri"/>
              </a:rPr>
              <a:t> can be changed more easily</a:t>
            </a:r>
            <a:r>
              <a:rPr lang="en-US" dirty="0">
                <a:ea typeface="ＭＳ Ｐゴシック"/>
                <a:cs typeface="Calibri"/>
              </a:rPr>
              <a:t>,</a:t>
            </a:r>
            <a:r>
              <a:rPr lang="en-US" sz="1200" kern="1200" dirty="0">
                <a:solidFill>
                  <a:schemeClr val="tx1"/>
                </a:solidFill>
                <a:effectLst/>
                <a:latin typeface="+mn-lt"/>
                <a:ea typeface="ＭＳ Ｐゴシック"/>
                <a:cs typeface="Calibri"/>
              </a:rPr>
              <a:t> as only the device tree source needs recompilation</a:t>
            </a:r>
            <a:r>
              <a:rPr lang="en-US" dirty="0">
                <a:ea typeface="ＭＳ Ｐゴシック"/>
                <a:cs typeface="Calibri"/>
              </a:rPr>
              <a:t>,</a:t>
            </a:r>
            <a:r>
              <a:rPr lang="en-US" sz="1200" kern="1200" dirty="0">
                <a:solidFill>
                  <a:schemeClr val="tx1"/>
                </a:solidFill>
                <a:effectLst/>
                <a:latin typeface="+mn-lt"/>
                <a:ea typeface="ＭＳ Ｐゴシック"/>
                <a:cs typeface="Calibri"/>
              </a:rPr>
              <a:t> saving time by not needing to recompile the kernel.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3229503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Next, we shall look at system programs.</a:t>
            </a:r>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2945997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System programs are executable from the </a:t>
            </a:r>
            <a:r>
              <a:rPr lang="en-US" dirty="0">
                <a:ea typeface="ＭＳ Ｐゴシック"/>
                <a:cs typeface="Calibri"/>
              </a:rPr>
              <a:t>command line</a:t>
            </a:r>
            <a:r>
              <a:rPr lang="en-US" sz="1200" kern="1200" dirty="0">
                <a:solidFill>
                  <a:schemeClr val="tx1"/>
                </a:solidFill>
                <a:effectLst/>
                <a:latin typeface="+mn-lt"/>
                <a:ea typeface="ＭＳ Ｐゴシック"/>
                <a:cs typeface="Calibri"/>
              </a:rPr>
              <a:t> and provide a convenient environment for program development and execution. </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They can be divided into the following:</a:t>
            </a:r>
          </a:p>
          <a:p>
            <a:r>
              <a:rPr lang="fr-FR" sz="1200" kern="1200" dirty="0">
                <a:solidFill>
                  <a:schemeClr val="tx1"/>
                </a:solidFill>
                <a:effectLst/>
                <a:latin typeface="+mn-lt"/>
                <a:ea typeface="ＭＳ Ｐゴシック" charset="0"/>
                <a:cs typeface="ＭＳ Ｐゴシック" charset="0"/>
              </a:rPr>
              <a:t>	- </a:t>
            </a:r>
            <a:r>
              <a:rPr lang="fr-FR" sz="1200" kern="1200" dirty="0" err="1">
                <a:solidFill>
                  <a:schemeClr val="tx1"/>
                </a:solidFill>
                <a:effectLst/>
                <a:latin typeface="+mn-lt"/>
                <a:ea typeface="ＭＳ Ｐゴシック" charset="0"/>
                <a:cs typeface="ＭＳ Ｐゴシック" charset="0"/>
              </a:rPr>
              <a:t>Status</a:t>
            </a:r>
            <a:r>
              <a:rPr lang="fr-FR" sz="1200" kern="1200" dirty="0">
                <a:solidFill>
                  <a:schemeClr val="tx1"/>
                </a:solidFill>
                <a:effectLst/>
                <a:latin typeface="+mn-lt"/>
                <a:ea typeface="ＭＳ Ｐゴシック" charset="0"/>
                <a:cs typeface="ＭＳ Ｐゴシック" charset="0"/>
              </a:rPr>
              <a:t> information</a:t>
            </a:r>
            <a:endParaRPr lang="en-US" sz="1200" kern="1200" dirty="0">
              <a:solidFill>
                <a:schemeClr val="tx1"/>
              </a:solidFill>
              <a:effectLst/>
              <a:latin typeface="+mn-lt"/>
              <a:ea typeface="ＭＳ Ｐゴシック" charset="0"/>
              <a:cs typeface="ＭＳ Ｐゴシック" charset="0"/>
            </a:endParaRPr>
          </a:p>
          <a:p>
            <a:r>
              <a:rPr lang="fr-FR" sz="1200" kern="1200" dirty="0">
                <a:solidFill>
                  <a:schemeClr val="tx1"/>
                </a:solidFill>
                <a:effectLst/>
                <a:latin typeface="+mn-lt"/>
                <a:ea typeface="ＭＳ Ｐゴシック" charset="0"/>
                <a:cs typeface="ＭＳ Ｐゴシック" charset="0"/>
              </a:rPr>
              <a:t>	- File modification</a:t>
            </a:r>
            <a:endParaRPr lang="en-US" sz="1200" kern="1200" dirty="0">
              <a:solidFill>
                <a:schemeClr val="tx1"/>
              </a:solidFill>
              <a:effectLst/>
              <a:latin typeface="+mn-lt"/>
              <a:ea typeface="ＭＳ Ｐゴシック" charset="0"/>
              <a:cs typeface="ＭＳ Ｐゴシック" charset="0"/>
            </a:endParaRPr>
          </a:p>
          <a:p>
            <a:r>
              <a:rPr lang="fr-FR" sz="1200" kern="1200" dirty="0">
                <a:solidFill>
                  <a:schemeClr val="tx1"/>
                </a:solidFill>
                <a:effectLst/>
                <a:latin typeface="+mn-lt"/>
                <a:ea typeface="ＭＳ Ｐゴシック" charset="0"/>
                <a:cs typeface="ＭＳ Ｐゴシック" charset="0"/>
              </a:rPr>
              <a:t>	</a:t>
            </a:r>
            <a:r>
              <a:rPr lang="en-US" sz="1200" kern="1200" dirty="0">
                <a:solidFill>
                  <a:schemeClr val="tx1"/>
                </a:solidFill>
                <a:effectLst/>
                <a:latin typeface="+mn-lt"/>
                <a:ea typeface="ＭＳ Ｐゴシック" charset="0"/>
                <a:cs typeface="ＭＳ Ｐゴシック" charset="0"/>
              </a:rPr>
              <a:t>- Programming language support</a:t>
            </a:r>
          </a:p>
          <a:p>
            <a:r>
              <a:rPr lang="en-US" sz="1200" kern="1200" dirty="0">
                <a:solidFill>
                  <a:schemeClr val="tx1"/>
                </a:solidFill>
                <a:effectLst/>
                <a:latin typeface="+mn-lt"/>
                <a:ea typeface="ＭＳ Ｐゴシック" charset="0"/>
                <a:cs typeface="ＭＳ Ｐゴシック" charset="0"/>
              </a:rPr>
              <a:t>	- Program loading execution</a:t>
            </a:r>
          </a:p>
          <a:p>
            <a:r>
              <a:rPr lang="en-US" sz="1200" kern="1200" dirty="0">
                <a:solidFill>
                  <a:schemeClr val="tx1"/>
                </a:solidFill>
                <a:effectLst/>
                <a:latin typeface="+mn-lt"/>
                <a:ea typeface="ＭＳ Ｐゴシック" charset="0"/>
                <a:cs typeface="ＭＳ Ｐゴシック" charset="0"/>
              </a:rPr>
              <a:t>	- Communications</a:t>
            </a:r>
          </a:p>
          <a:p>
            <a:r>
              <a:rPr lang="en-US" sz="1200" kern="1200" dirty="0">
                <a:solidFill>
                  <a:schemeClr val="tx1"/>
                </a:solidFill>
                <a:effectLst/>
                <a:latin typeface="+mn-lt"/>
                <a:ea typeface="ＭＳ Ｐゴシック" charset="0"/>
                <a:cs typeface="ＭＳ Ｐゴシック" charset="0"/>
              </a:rPr>
              <a:t>	- Application programs</a:t>
            </a:r>
          </a:p>
          <a:p>
            <a:r>
              <a:rPr lang="en-US" sz="1200" kern="1200" dirty="0">
                <a:solidFill>
                  <a:schemeClr val="tx1"/>
                </a:solidFill>
                <a:effectLst/>
                <a:latin typeface="+mn-lt"/>
                <a:ea typeface="ＭＳ Ｐゴシック" charset="0"/>
                <a:cs typeface="ＭＳ Ｐゴシック" charset="0"/>
              </a:rPr>
              <a:t>Some examples are ls, cd, cat, and </a:t>
            </a:r>
            <a:r>
              <a:rPr lang="en-US" sz="1200" kern="1200" dirty="0" err="1">
                <a:solidFill>
                  <a:schemeClr val="tx1"/>
                </a:solidFill>
                <a:effectLst/>
                <a:latin typeface="+mn-lt"/>
                <a:ea typeface="ＭＳ Ｐゴシック" charset="0"/>
                <a:cs typeface="ＭＳ Ｐゴシック" charset="0"/>
              </a:rPr>
              <a:t>chmod</a:t>
            </a:r>
            <a:r>
              <a:rPr lang="en-US" sz="1200" kern="1200" dirty="0">
                <a:solidFill>
                  <a:schemeClr val="tx1"/>
                </a:solidFill>
                <a:effectLst/>
                <a:latin typeface="+mn-lt"/>
                <a:ea typeface="ＭＳ Ｐゴシック" charset="0"/>
                <a:cs typeface="ＭＳ Ｐゴシック" charset="0"/>
              </a:rPr>
              <a: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2682472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Next, we will look at applications.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37369420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An application is the software required in order to provide the user with a service, </a:t>
            </a:r>
            <a:r>
              <a:rPr lang="en-US" dirty="0">
                <a:ea typeface="ＭＳ Ｐゴシック"/>
                <a:cs typeface="Calibri"/>
              </a:rPr>
              <a:t>typically the primary purpose or</a:t>
            </a:r>
            <a:r>
              <a:rPr lang="en-US" sz="1200" kern="1200" dirty="0">
                <a:solidFill>
                  <a:schemeClr val="tx1"/>
                </a:solidFill>
                <a:effectLst/>
                <a:latin typeface="+mn-lt"/>
                <a:ea typeface="ＭＳ Ｐゴシック"/>
                <a:cs typeface="Calibri"/>
              </a:rPr>
              <a:t> which the embedded system was </a:t>
            </a:r>
            <a:r>
              <a:rPr lang="en-US" dirty="0">
                <a:ea typeface="ＭＳ Ｐゴシック"/>
                <a:cs typeface="Calibri"/>
              </a:rPr>
              <a:t>designed</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There are a variety of examples that can be found in products, such as</a:t>
            </a:r>
          </a:p>
          <a:p>
            <a:pPr lvl="1"/>
            <a:r>
              <a:rPr lang="en-US" sz="1200" kern="1200" dirty="0">
                <a:solidFill>
                  <a:schemeClr val="tx1"/>
                </a:solidFill>
                <a:effectLst/>
                <a:latin typeface="+mn-lt"/>
                <a:ea typeface="ＭＳ Ｐゴシック" charset="0"/>
                <a:cs typeface="ＭＳ Ｐゴシック" charset="0"/>
              </a:rPr>
              <a:t>- Network-attached storage (NAS)</a:t>
            </a:r>
          </a:p>
          <a:p>
            <a:pPr lvl="1"/>
            <a:r>
              <a:rPr lang="en-US" sz="1200" kern="1200" dirty="0">
                <a:solidFill>
                  <a:schemeClr val="tx1"/>
                </a:solidFill>
                <a:effectLst/>
                <a:latin typeface="+mn-lt"/>
                <a:ea typeface="ＭＳ Ｐゴシック" charset="0"/>
                <a:cs typeface="ＭＳ Ｐゴシック" charset="0"/>
              </a:rPr>
              <a:t>- Network router</a:t>
            </a:r>
          </a:p>
          <a:p>
            <a:pPr lvl="1"/>
            <a:r>
              <a:rPr lang="en-US" sz="1200" kern="1200" dirty="0">
                <a:solidFill>
                  <a:schemeClr val="tx1"/>
                </a:solidFill>
                <a:effectLst/>
                <a:latin typeface="+mn-lt"/>
                <a:ea typeface="ＭＳ Ｐゴシック" charset="0"/>
                <a:cs typeface="ＭＳ Ｐゴシック" charset="0"/>
              </a:rPr>
              <a:t>- In-vehicle infotainment</a:t>
            </a:r>
          </a:p>
          <a:p>
            <a:pPr lvl="1"/>
            <a:r>
              <a:rPr lang="en-US" sz="1200" kern="1200" dirty="0">
                <a:solidFill>
                  <a:schemeClr val="tx1"/>
                </a:solidFill>
                <a:effectLst/>
                <a:latin typeface="+mn-lt"/>
                <a:ea typeface="ＭＳ Ｐゴシック" charset="0"/>
                <a:cs typeface="ＭＳ Ｐゴシック" charset="0"/>
              </a:rPr>
              <a:t>- Specialized lab equipment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34389274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Finally, we will take a quick look at the root file system.</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30</a:t>
            </a:fld>
            <a:endParaRPr lang="en-US" altLang="en-US"/>
          </a:p>
        </p:txBody>
      </p:sp>
    </p:spTree>
    <p:extLst>
      <p:ext uri="{BB962C8B-B14F-4D97-AF65-F5344CB8AC3E}">
        <p14:creationId xmlns:p14="http://schemas.microsoft.com/office/powerpoint/2010/main" val="627839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Upon startup, the Linux kernel </a:t>
            </a:r>
            <a:r>
              <a:rPr lang="en-US" dirty="0">
                <a:ea typeface="ＭＳ Ｐゴシック"/>
                <a:cs typeface="Calibri"/>
              </a:rPr>
              <a:t>requires </a:t>
            </a:r>
            <a:r>
              <a:rPr lang="en-US" sz="1200" kern="1200" dirty="0">
                <a:solidFill>
                  <a:schemeClr val="tx1"/>
                </a:solidFill>
                <a:effectLst/>
                <a:latin typeface="+mn-lt"/>
                <a:ea typeface="ＭＳ Ｐゴシック"/>
                <a:cs typeface="Calibri"/>
              </a:rPr>
              <a:t>a file system, </a:t>
            </a:r>
            <a:r>
              <a:rPr lang="en-US" dirty="0">
                <a:ea typeface="ＭＳ Ｐゴシック"/>
                <a:cs typeface="Calibri"/>
              </a:rPr>
              <a:t>known as the</a:t>
            </a:r>
            <a:r>
              <a:rPr lang="en-US" sz="1200" kern="1200" dirty="0">
                <a:solidFill>
                  <a:schemeClr val="tx1"/>
                </a:solidFill>
                <a:effectLst/>
                <a:latin typeface="+mn-lt"/>
                <a:ea typeface="ＭＳ Ｐゴシック"/>
                <a:cs typeface="Calibri"/>
              </a:rPr>
              <a:t> root file system. This contains all the configuration files that are required in order to prepare the execution environment for the application, for example, setting up the Ethernet address.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also contains the first user-level process: </a:t>
            </a:r>
            <a:r>
              <a:rPr lang="en-US" sz="1200" kern="1200" dirty="0" err="1">
                <a:solidFill>
                  <a:schemeClr val="tx1"/>
                </a:solidFill>
                <a:effectLst/>
                <a:latin typeface="+mn-lt"/>
                <a:ea typeface="ＭＳ Ｐゴシック" charset="0"/>
                <a:cs typeface="ＭＳ Ｐゴシック" charset="0"/>
              </a:rPr>
              <a:t>init.</a:t>
            </a:r>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 root file system can be</a:t>
            </a:r>
            <a:r>
              <a:rPr lang="en-US" dirty="0">
                <a:ea typeface="ＭＳ Ｐゴシック"/>
                <a:cs typeface="Calibri"/>
              </a:rPr>
              <a:t>:</a:t>
            </a:r>
            <a:endParaRPr lang="en-US" sz="1200" kern="1200" dirty="0">
              <a:solidFill>
                <a:schemeClr val="tx1"/>
              </a:solidFill>
              <a:effectLst/>
              <a:latin typeface="+mn-lt"/>
              <a:ea typeface="ＭＳ Ｐゴシック" charset="0"/>
              <a:cs typeface="Calibri"/>
            </a:endParaRPr>
          </a:p>
          <a:p>
            <a:pPr marL="742950" lvl="1" indent="-285750">
              <a:buFont typeface="Calibri"/>
              <a:buChar char="-"/>
            </a:pPr>
            <a:r>
              <a:rPr lang="en-US" sz="1200" kern="1200" dirty="0">
                <a:solidFill>
                  <a:schemeClr val="tx1"/>
                </a:solidFill>
                <a:effectLst/>
                <a:latin typeface="+mn-lt"/>
                <a:ea typeface="ＭＳ Ｐゴシック"/>
                <a:cs typeface="Calibri"/>
              </a:rPr>
              <a:t>A portion of RAM that is treated as a file system</a:t>
            </a:r>
            <a:r>
              <a:rPr lang="en-US" dirty="0">
                <a:ea typeface="ＭＳ Ｐゴシック"/>
                <a:cs typeface="Calibri"/>
              </a:rPr>
              <a:t>.</a:t>
            </a:r>
            <a:r>
              <a:rPr lang="en-US" sz="1200" kern="1200" dirty="0">
                <a:solidFill>
                  <a:schemeClr val="tx1"/>
                </a:solidFill>
                <a:effectLst/>
                <a:latin typeface="+mn-lt"/>
                <a:ea typeface="ＭＳ Ｐゴシック"/>
                <a:cs typeface="Calibri"/>
              </a:rPr>
              <a:t> This is known as an “initial RAM disk” or “</a:t>
            </a:r>
            <a:r>
              <a:rPr lang="en-US" sz="1200" kern="1200" dirty="0" err="1">
                <a:solidFill>
                  <a:schemeClr val="tx1"/>
                </a:solidFill>
                <a:effectLst/>
                <a:latin typeface="+mn-lt"/>
                <a:ea typeface="ＭＳ Ｐゴシック"/>
                <a:cs typeface="Calibri"/>
              </a:rPr>
              <a:t>initrd</a:t>
            </a:r>
            <a:r>
              <a:rPr lang="en-US" sz="1200" kern="1200" dirty="0">
                <a:solidFill>
                  <a:schemeClr val="tx1"/>
                </a:solidFill>
                <a:effectLst/>
                <a:latin typeface="+mn-lt"/>
                <a:ea typeface="ＭＳ Ｐゴシック"/>
                <a:cs typeface="Calibri"/>
              </a:rPr>
              <a:t>”. This can be used if the embedded system does not need to store data persistently during its operations.</a:t>
            </a:r>
          </a:p>
          <a:p>
            <a:pPr marL="742950" lvl="1" indent="-285750">
              <a:buFont typeface="Calibri"/>
              <a:buChar char="-"/>
            </a:pPr>
            <a:r>
              <a:rPr lang="en-US" sz="1200" kern="1200" dirty="0">
                <a:solidFill>
                  <a:schemeClr val="tx1"/>
                </a:solidFill>
                <a:effectLst/>
                <a:latin typeface="+mn-lt"/>
                <a:ea typeface="ＭＳ Ｐゴシック"/>
                <a:cs typeface="Calibri"/>
              </a:rPr>
              <a:t>A persistent storage in the embedded system</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if</a:t>
            </a:r>
            <a:r>
              <a:rPr lang="en-US" sz="1200" kern="1200" dirty="0">
                <a:solidFill>
                  <a:schemeClr val="tx1"/>
                </a:solidFill>
                <a:effectLst/>
                <a:latin typeface="+mn-lt"/>
                <a:ea typeface="ＭＳ Ｐゴシック"/>
                <a:cs typeface="Calibri"/>
              </a:rPr>
              <a:t> the embedded system has to store data persistently during its operations</a:t>
            </a:r>
          </a:p>
          <a:p>
            <a:pPr marL="742950" lvl="1" indent="-285750">
              <a:buFont typeface="Calibri"/>
              <a:buChar char="-"/>
            </a:pPr>
            <a:r>
              <a:rPr lang="en-US" sz="1200" kern="1200" dirty="0">
                <a:solidFill>
                  <a:schemeClr val="tx1"/>
                </a:solidFill>
                <a:effectLst/>
                <a:latin typeface="+mn-lt"/>
                <a:ea typeface="ＭＳ Ｐゴシック"/>
                <a:cs typeface="Calibri"/>
              </a:rPr>
              <a:t>A persistent storage accessed over the network</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if</a:t>
            </a:r>
            <a:r>
              <a:rPr lang="en-US" sz="1200" kern="1200" dirty="0">
                <a:solidFill>
                  <a:schemeClr val="tx1"/>
                </a:solidFill>
                <a:effectLst/>
                <a:latin typeface="+mn-lt"/>
                <a:ea typeface="ＭＳ Ｐゴシック"/>
                <a:cs typeface="Calibri"/>
              </a:rPr>
              <a:t> developing a Linux-based embedded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37902253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Here is an example of what you might expect to see in a typical root file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This concludes the second lecture on Linux for Embedded Systems. In the next module, we will look at the Linux architecture and the bootloader.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a:p>
        </p:txBody>
      </p:sp>
    </p:spTree>
    <p:extLst>
      <p:ext uri="{BB962C8B-B14F-4D97-AF65-F5344CB8AC3E}">
        <p14:creationId xmlns:p14="http://schemas.microsoft.com/office/powerpoint/2010/main" val="129053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dirty="0">
                <a:solidFill>
                  <a:schemeClr val="bg1"/>
                </a:solidFill>
              </a:rPr>
              <a:t>Thank You!</a:t>
            </a:r>
          </a:p>
          <a:p>
            <a:pPr>
              <a:defRPr/>
            </a:pPr>
            <a:r>
              <a:rPr lang="en-US" altLang="en-US" sz="3700" dirty="0" err="1">
                <a:solidFill>
                  <a:schemeClr val="bg1"/>
                </a:solidFill>
              </a:rPr>
              <a:t>Danke</a:t>
            </a:r>
            <a:r>
              <a:rPr lang="en-US" altLang="en-US" sz="3700" dirty="0">
                <a:solidFill>
                  <a:schemeClr val="bg1"/>
                </a:solidFill>
              </a:rPr>
              <a:t>!</a:t>
            </a:r>
          </a:p>
          <a:p>
            <a:pPr>
              <a:defRPr/>
            </a:pPr>
            <a:r>
              <a:rPr lang="en-US" altLang="en-US" sz="3700" dirty="0">
                <a:solidFill>
                  <a:schemeClr val="bg1"/>
                </a:solidFill>
              </a:rPr>
              <a:t>Merci!</a:t>
            </a:r>
          </a:p>
          <a:p>
            <a:pPr>
              <a:defRPr/>
            </a:pPr>
            <a:r>
              <a:rPr lang="en-US" altLang="en-US" sz="3700" dirty="0" err="1">
                <a:solidFill>
                  <a:schemeClr val="bg1"/>
                </a:solidFill>
              </a:rPr>
              <a:t>谢谢</a:t>
            </a:r>
            <a:r>
              <a:rPr lang="en-US" altLang="en-US" sz="3700" dirty="0">
                <a:solidFill>
                  <a:schemeClr val="bg1"/>
                </a:solidFill>
              </a:rPr>
              <a:t>!</a:t>
            </a:r>
          </a:p>
          <a:p>
            <a:pPr>
              <a:defRPr/>
            </a:pPr>
            <a:r>
              <a:rPr lang="en-US" altLang="en-US" sz="3700" dirty="0" err="1">
                <a:solidFill>
                  <a:schemeClr val="bg1"/>
                </a:solidFill>
              </a:rPr>
              <a:t>ありがとう</a:t>
            </a:r>
            <a:r>
              <a:rPr lang="en-US" altLang="en-US" sz="3700" dirty="0">
                <a:solidFill>
                  <a:schemeClr val="bg1"/>
                </a:solidFill>
              </a:rPr>
              <a:t>!</a:t>
            </a:r>
          </a:p>
          <a:p>
            <a:pPr>
              <a:defRPr/>
            </a:pPr>
            <a:r>
              <a:rPr lang="en-US" altLang="en-US" sz="3700" dirty="0">
                <a:solidFill>
                  <a:schemeClr val="bg1"/>
                </a:solidFill>
              </a:rPr>
              <a:t>Gracias!</a:t>
            </a:r>
          </a:p>
          <a:p>
            <a:pPr>
              <a:defRPr/>
            </a:pPr>
            <a:r>
              <a:rPr lang="en-US" altLang="en-US" sz="3700" dirty="0" err="1">
                <a:solidFill>
                  <a:schemeClr val="bg1"/>
                </a:solidFill>
              </a:rPr>
              <a:t>Kiitos</a:t>
            </a:r>
            <a:r>
              <a:rPr lang="en-US" altLang="en-US" sz="3700" dirty="0">
                <a:solidFill>
                  <a:schemeClr val="bg1"/>
                </a:solidFill>
              </a:rPr>
              <a:t>!</a:t>
            </a:r>
          </a:p>
          <a:p>
            <a:pPr>
              <a:defRPr/>
            </a:pPr>
            <a:r>
              <a:rPr lang="ko-KR" altLang="en-US" b="1" dirty="0">
                <a:solidFill>
                  <a:schemeClr val="bg1"/>
                </a:solidFill>
              </a:rPr>
              <a:t>감사합니다</a:t>
            </a:r>
            <a:endParaRPr lang="ko-KR" altLang="en-US" dirty="0">
              <a:solidFill>
                <a:schemeClr val="bg1"/>
              </a:solidFill>
            </a:endParaRPr>
          </a:p>
          <a:p>
            <a:pPr>
              <a:defRPr/>
            </a:pPr>
            <a:r>
              <a:rPr lang="hi-IN" dirty="0">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dirty="0">
                <a:solidFill>
                  <a:schemeClr val="bg1"/>
                </a:solidFill>
              </a:rPr>
            </a:br>
            <a:r>
              <a:rPr lang="en-US" altLang="x-none" sz="1200" dirty="0" err="1">
                <a:solidFill>
                  <a:schemeClr val="bg1"/>
                </a:solidFill>
              </a:rPr>
              <a:t>www.arm.com</a:t>
            </a:r>
            <a:r>
              <a:rPr lang="en-US" altLang="x-none" sz="1200" dirty="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6294438" y="1563688"/>
            <a:ext cx="5045075" cy="1555750"/>
          </a:xfrm>
        </p:spPr>
        <p:txBody>
          <a:bodyPr wrap="square" numCol="1" compatLnSpc="1">
            <a:prstTxWarp prst="textNoShape">
              <a:avLst/>
            </a:prstTxWarp>
          </a:bodyPr>
          <a:lstStyle/>
          <a:p>
            <a:pPr>
              <a:defRPr/>
            </a:pPr>
            <a:r>
              <a:rPr lang="en-US" dirty="0"/>
              <a:t>Embedded Linux</a:t>
            </a:r>
          </a:p>
        </p:txBody>
      </p:sp>
      <p:sp>
        <p:nvSpPr>
          <p:cNvPr id="7" name="Subtitle 2">
            <a:extLst>
              <a:ext uri="{FF2B5EF4-FFF2-40B4-BE49-F238E27FC236}">
                <a16:creationId xmlns:a16="http://schemas.microsoft.com/office/drawing/2014/main" id="{A05536E3-4863-49AB-BC06-1C97EDF20F06}"/>
              </a:ext>
            </a:extLst>
          </p:cNvPr>
          <p:cNvSpPr>
            <a:spLocks noGrp="1" noChangeArrowheads="1"/>
          </p:cNvSpPr>
          <p:nvPr>
            <p:ph type="subTitle" idx="1"/>
          </p:nvPr>
        </p:nvSpPr>
        <p:spPr bwMode="auto">
          <a:xfrm>
            <a:off x="3780430" y="3176588"/>
            <a:ext cx="7559083" cy="739775"/>
          </a:xfrm>
        </p:spPr>
        <p:txBody>
          <a:bodyPr wrap="square" numCol="1" anchor="t" anchorCtr="0" compatLnSpc="1">
            <a:prstTxWarp prst="textNoShape">
              <a:avLst/>
            </a:prstTxWarp>
          </a:bodyPr>
          <a:lstStyle/>
          <a:p>
            <a:pPr fontAlgn="base">
              <a:spcBef>
                <a:spcPct val="0"/>
              </a:spcBef>
            </a:pPr>
            <a:r>
              <a:rPr lang="en-US" dirty="0">
                <a:ea typeface="ＭＳ Ｐゴシック"/>
              </a:rPr>
              <a:t>Linux-Based Embedded System Component Stack</a:t>
            </a:r>
          </a:p>
          <a:p>
            <a:pPr fontAlgn="base">
              <a:spcBef>
                <a:spcPct val="0"/>
              </a:spcBef>
            </a:pPr>
            <a:endParaRPr lang="en-US"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Goals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To illustrate the main components of a Linux-based embedded system</a:t>
            </a:r>
          </a:p>
          <a:p>
            <a:r>
              <a:rPr lang="en-US" dirty="0"/>
              <a:t>To analyze the bootstrap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t>Kernel</a:t>
            </a:r>
          </a:p>
          <a:p>
            <a:r>
              <a:rPr lang="en-US" dirty="0">
                <a:ea typeface="ＭＳ Ｐゴシック"/>
              </a:rPr>
              <a:t>Device Tree</a:t>
            </a:r>
            <a:endParaRPr lang="en-US"/>
          </a:p>
          <a:p>
            <a:r>
              <a:rPr lang="en-US" dirty="0">
                <a:ea typeface="ＭＳ Ｐゴシック"/>
              </a:rPr>
              <a:t>System Programs</a:t>
            </a:r>
            <a:endParaRPr lang="en-US"/>
          </a:p>
          <a:p>
            <a:r>
              <a:rPr lang="en-US" dirty="0"/>
              <a:t>Application</a:t>
            </a:r>
          </a:p>
          <a:p>
            <a:r>
              <a:rPr lang="en-US" dirty="0">
                <a:ea typeface="ＭＳ Ｐゴシック"/>
              </a:rPr>
              <a:t>Root Filesystem</a:t>
            </a:r>
            <a:endParaRPr lang="en-US" dirty="0"/>
          </a:p>
        </p:txBody>
      </p:sp>
    </p:spTree>
    <p:extLst>
      <p:ext uri="{BB962C8B-B14F-4D97-AF65-F5344CB8AC3E}">
        <p14:creationId xmlns:p14="http://schemas.microsoft.com/office/powerpoint/2010/main" val="3886792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Introduction</a:t>
            </a:r>
          </a:p>
          <a:p>
            <a:r>
              <a:rPr lang="en-US" dirty="0"/>
              <a:t>Bootloader</a:t>
            </a:r>
          </a:p>
          <a:p>
            <a:r>
              <a:rPr lang="en-US" dirty="0"/>
              <a:t>Kernel</a:t>
            </a:r>
          </a:p>
          <a:p>
            <a:r>
              <a:rPr lang="en-US" dirty="0">
                <a:ea typeface="ＭＳ Ｐゴシック"/>
              </a:rPr>
              <a:t>Device Tree</a:t>
            </a:r>
            <a:endParaRPr lang="en-US" dirty="0"/>
          </a:p>
          <a:p>
            <a:r>
              <a:rPr lang="en-US" dirty="0">
                <a:ea typeface="ＭＳ Ｐゴシック"/>
              </a:rPr>
              <a:t>System Programs</a:t>
            </a:r>
            <a:endParaRPr lang="en-US" dirty="0"/>
          </a:p>
          <a:p>
            <a:r>
              <a:rPr lang="en-US" dirty="0"/>
              <a:t>Application</a:t>
            </a:r>
          </a:p>
          <a:p>
            <a:r>
              <a:rPr lang="en-US" dirty="0">
                <a:ea typeface="ＭＳ Ｐゴシック"/>
              </a:rPr>
              <a:t>Root Filesystem</a:t>
            </a:r>
            <a:endParaRPr lang="en-US" dirty="0"/>
          </a:p>
        </p:txBody>
      </p:sp>
    </p:spTree>
    <p:extLst>
      <p:ext uri="{BB962C8B-B14F-4D97-AF65-F5344CB8AC3E}">
        <p14:creationId xmlns:p14="http://schemas.microsoft.com/office/powerpoint/2010/main" val="50622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ea typeface="ＭＳ Ｐゴシック"/>
              </a:rPr>
              <a:t>Linux-Based Embedded System Components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172994" cy="4086225"/>
          </a:xfrm>
        </p:spPr>
        <p:txBody>
          <a:bodyPr wrap="square" numCol="1" anchor="t" anchorCtr="0" compatLnSpc="1">
            <a:prstTxWarp prst="textNoShape">
              <a:avLst/>
            </a:prstTxWarp>
          </a:bodyPr>
          <a:lstStyle/>
          <a:p>
            <a:r>
              <a:rPr lang="en-US" dirty="0">
                <a:solidFill>
                  <a:srgbClr val="128CAB"/>
                </a:solidFill>
              </a:rPr>
              <a:t>Bootloader</a:t>
            </a:r>
            <a:endParaRPr lang="en-US" altLang="en-US" dirty="0">
              <a:ea typeface="ＭＳ Ｐゴシック" panose="020B0600070205080204" pitchFamily="34" charset="-128"/>
            </a:endParaRPr>
          </a:p>
          <a:p>
            <a:pPr lvl="1"/>
            <a:r>
              <a:rPr lang="en-US" dirty="0"/>
              <a:t>Software executed at power-up to set-up the hardware to run the operating system</a:t>
            </a:r>
            <a:endParaRPr lang="en-US" altLang="en-US" dirty="0">
              <a:ea typeface="ＭＳ Ｐゴシック" panose="020B0600070205080204" pitchFamily="34" charset="-128"/>
            </a:endParaRPr>
          </a:p>
          <a:p>
            <a:r>
              <a:rPr lang="en-US" dirty="0">
                <a:solidFill>
                  <a:srgbClr val="128CAB"/>
                </a:solidFill>
              </a:rPr>
              <a:t>Device tree</a:t>
            </a:r>
            <a:endParaRPr lang="en-US" altLang="en-US" dirty="0">
              <a:ea typeface="ＭＳ Ｐゴシック" panose="020B0600070205080204" pitchFamily="34" charset="-128"/>
            </a:endParaRPr>
          </a:p>
          <a:p>
            <a:pPr lvl="1"/>
            <a:r>
              <a:rPr lang="en-US" dirty="0"/>
              <a:t>A tree data structure with nodes that describe the physical devices in the hardware needed by the Linux kernel to initialize properly the device drivers</a:t>
            </a:r>
            <a:endParaRPr lang="en-US" altLang="en-US" dirty="0">
              <a:ea typeface="ＭＳ Ｐゴシック" panose="020B0600070205080204" pitchFamily="34" charset="-128"/>
            </a:endParaRPr>
          </a:p>
          <a:p>
            <a:r>
              <a:rPr lang="en-US" dirty="0">
                <a:solidFill>
                  <a:srgbClr val="128CAB"/>
                </a:solidFill>
              </a:rPr>
              <a:t>Linux Kernel</a:t>
            </a:r>
            <a:endParaRPr lang="en-US" altLang="en-US" dirty="0">
              <a:ea typeface="ＭＳ Ｐゴシック" panose="020B0600070205080204" pitchFamily="34" charset="-128"/>
            </a:endParaRPr>
          </a:p>
          <a:p>
            <a:pPr lvl="1"/>
            <a:r>
              <a:rPr lang="en-US" dirty="0"/>
              <a:t>The operating system code providing all the services to manage the hardware resources</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57479265-C0FB-4103-B2FA-FDFD46035161}"/>
              </a:ext>
            </a:extLst>
          </p:cNvPr>
          <p:cNvSpPr txBox="1"/>
          <p:nvPr/>
        </p:nvSpPr>
        <p:spPr>
          <a:xfrm>
            <a:off x="7617619" y="5715000"/>
            <a:ext cx="3600000" cy="432000"/>
          </a:xfrm>
          <a:prstGeom prst="rect">
            <a:avLst/>
          </a:prstGeom>
          <a:solidFill>
            <a:srgbClr val="800000"/>
          </a:solidFill>
          <a:ln>
            <a:solidFill>
              <a:schemeClr val="tx1"/>
            </a:solidFill>
          </a:ln>
        </p:spPr>
        <p:txBody>
          <a:bodyPr wrap="square" rtlCol="0" anchor="ctr">
            <a:normAutofit lnSpcReduction="10000"/>
          </a:bodyPr>
          <a:lstStyle/>
          <a:p>
            <a:pPr algn="ctr"/>
            <a:r>
              <a:rPr lang="en-US" sz="2400" dirty="0">
                <a:solidFill>
                  <a:schemeClr val="bg1"/>
                </a:solidFill>
              </a:rPr>
              <a:t>Hardware</a:t>
            </a:r>
            <a:endParaRPr lang="en-US" dirty="0">
              <a:solidFill>
                <a:schemeClr val="bg1"/>
              </a:solidFill>
            </a:endParaRPr>
          </a:p>
        </p:txBody>
      </p:sp>
      <p:sp>
        <p:nvSpPr>
          <p:cNvPr id="6" name="CasellaDiTesto 8">
            <a:extLst>
              <a:ext uri="{FF2B5EF4-FFF2-40B4-BE49-F238E27FC236}">
                <a16:creationId xmlns:a16="http://schemas.microsoft.com/office/drawing/2014/main" id="{A6F99463-77F6-492C-B468-96B1AEAE2DCA}"/>
              </a:ext>
            </a:extLst>
          </p:cNvPr>
          <p:cNvSpPr txBox="1"/>
          <p:nvPr/>
        </p:nvSpPr>
        <p:spPr>
          <a:xfrm>
            <a:off x="7626619" y="1189692"/>
            <a:ext cx="3600000" cy="432000"/>
          </a:xfrm>
          <a:prstGeom prst="roundRect">
            <a:avLst>
              <a:gd name="adj" fmla="val 12593"/>
            </a:avLst>
          </a:prstGeom>
          <a:solidFill>
            <a:schemeClr val="accent1"/>
          </a:solidFill>
          <a:ln>
            <a:solidFill>
              <a:schemeClr val="tx1"/>
            </a:solidFill>
          </a:ln>
        </p:spPr>
        <p:txBody>
          <a:bodyPr wrap="square" rtlCol="0" anchor="ctr">
            <a:normAutofit fontScale="92500" lnSpcReduction="10000"/>
          </a:bodyPr>
          <a:lstStyle/>
          <a:p>
            <a:pPr algn="ctr"/>
            <a:r>
              <a:rPr lang="en-US" sz="2400" dirty="0">
                <a:solidFill>
                  <a:schemeClr val="bg1"/>
                </a:solidFill>
              </a:rPr>
              <a:t>Application</a:t>
            </a:r>
          </a:p>
        </p:txBody>
      </p:sp>
      <p:sp>
        <p:nvSpPr>
          <p:cNvPr id="7" name="CasellaDiTesto 6">
            <a:extLst>
              <a:ext uri="{FF2B5EF4-FFF2-40B4-BE49-F238E27FC236}">
                <a16:creationId xmlns:a16="http://schemas.microsoft.com/office/drawing/2014/main" id="{602FE310-F8D8-4758-BF43-368E30E97FA3}"/>
              </a:ext>
            </a:extLst>
          </p:cNvPr>
          <p:cNvSpPr txBox="1"/>
          <p:nvPr/>
        </p:nvSpPr>
        <p:spPr>
          <a:xfrm>
            <a:off x="7626619" y="1774092"/>
            <a:ext cx="3600000" cy="389045"/>
          </a:xfrm>
          <a:prstGeom prst="roundRect">
            <a:avLst>
              <a:gd name="adj" fmla="val 7167"/>
            </a:avLst>
          </a:prstGeom>
          <a:solidFill>
            <a:srgbClr val="00B050"/>
          </a:solidFill>
          <a:ln>
            <a:solidFill>
              <a:schemeClr val="tx1"/>
            </a:solidFill>
          </a:ln>
        </p:spPr>
        <p:txBody>
          <a:bodyPr wrap="square" rtlCol="0" anchor="ctr">
            <a:normAutofit fontScale="92500" lnSpcReduction="10000"/>
          </a:bodyPr>
          <a:lstStyle/>
          <a:p>
            <a:pPr algn="ctr"/>
            <a:r>
              <a:rPr lang="en-US" sz="2000" dirty="0">
                <a:solidFill>
                  <a:schemeClr val="bg1"/>
                </a:solidFill>
              </a:rPr>
              <a:t>System Programs</a:t>
            </a:r>
          </a:p>
        </p:txBody>
      </p:sp>
      <p:sp>
        <p:nvSpPr>
          <p:cNvPr id="8" name="CasellaDiTesto 6">
            <a:extLst>
              <a:ext uri="{FF2B5EF4-FFF2-40B4-BE49-F238E27FC236}">
                <a16:creationId xmlns:a16="http://schemas.microsoft.com/office/drawing/2014/main" id="{99312D81-0F34-48A0-A833-AE4E01844175}"/>
              </a:ext>
            </a:extLst>
          </p:cNvPr>
          <p:cNvSpPr txBox="1"/>
          <p:nvPr/>
        </p:nvSpPr>
        <p:spPr>
          <a:xfrm>
            <a:off x="7626619" y="2536092"/>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9" name="CasellaDiTesto 6">
            <a:extLst>
              <a:ext uri="{FF2B5EF4-FFF2-40B4-BE49-F238E27FC236}">
                <a16:creationId xmlns:a16="http://schemas.microsoft.com/office/drawing/2014/main" id="{385E429F-0FE4-4090-9276-F8AE1279B733}"/>
              </a:ext>
            </a:extLst>
          </p:cNvPr>
          <p:cNvSpPr txBox="1"/>
          <p:nvPr/>
        </p:nvSpPr>
        <p:spPr>
          <a:xfrm>
            <a:off x="7626619" y="2946222"/>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Process Management</a:t>
            </a:r>
            <a:endParaRPr lang="en-US" sz="2000" dirty="0">
              <a:solidFill>
                <a:schemeClr val="bg1"/>
              </a:solidFill>
            </a:endParaRPr>
          </a:p>
        </p:txBody>
      </p:sp>
      <p:sp>
        <p:nvSpPr>
          <p:cNvPr id="10" name="CasellaDiTesto 6">
            <a:extLst>
              <a:ext uri="{FF2B5EF4-FFF2-40B4-BE49-F238E27FC236}">
                <a16:creationId xmlns:a16="http://schemas.microsoft.com/office/drawing/2014/main" id="{57D56A2D-713F-48C7-B4C6-34C94D39C391}"/>
              </a:ext>
            </a:extLst>
          </p:cNvPr>
          <p:cNvSpPr txBox="1"/>
          <p:nvPr/>
        </p:nvSpPr>
        <p:spPr>
          <a:xfrm>
            <a:off x="9454055" y="2946108"/>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Virtual File System</a:t>
            </a:r>
            <a:endParaRPr lang="en-US" sz="2000" dirty="0">
              <a:solidFill>
                <a:schemeClr val="bg1"/>
              </a:solidFill>
            </a:endParaRPr>
          </a:p>
        </p:txBody>
      </p:sp>
      <p:sp>
        <p:nvSpPr>
          <p:cNvPr id="11" name="CasellaDiTesto 6">
            <a:extLst>
              <a:ext uri="{FF2B5EF4-FFF2-40B4-BE49-F238E27FC236}">
                <a16:creationId xmlns:a16="http://schemas.microsoft.com/office/drawing/2014/main" id="{E6690E16-D373-4470-9C98-7EBE6C902BCE}"/>
              </a:ext>
            </a:extLst>
          </p:cNvPr>
          <p:cNvSpPr txBox="1"/>
          <p:nvPr/>
        </p:nvSpPr>
        <p:spPr>
          <a:xfrm>
            <a:off x="76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12" name="CasellaDiTesto 6">
            <a:extLst>
              <a:ext uri="{FF2B5EF4-FFF2-40B4-BE49-F238E27FC236}">
                <a16:creationId xmlns:a16="http://schemas.microsoft.com/office/drawing/2014/main" id="{80FB2D2B-1E99-463A-A435-A1D1DD6D2EE5}"/>
              </a:ext>
            </a:extLst>
          </p:cNvPr>
          <p:cNvSpPr txBox="1"/>
          <p:nvPr/>
        </p:nvSpPr>
        <p:spPr>
          <a:xfrm>
            <a:off x="94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13" name="CasellaDiTesto 6">
            <a:extLst>
              <a:ext uri="{FF2B5EF4-FFF2-40B4-BE49-F238E27FC236}">
                <a16:creationId xmlns:a16="http://schemas.microsoft.com/office/drawing/2014/main" id="{140D682D-210E-4281-967F-83E9C4625F66}"/>
              </a:ext>
            </a:extLst>
          </p:cNvPr>
          <p:cNvSpPr txBox="1"/>
          <p:nvPr/>
        </p:nvSpPr>
        <p:spPr>
          <a:xfrm>
            <a:off x="7626619" y="4532828"/>
            <a:ext cx="3564000" cy="415588"/>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14" name="CasellaDiTesto 6">
            <a:extLst>
              <a:ext uri="{FF2B5EF4-FFF2-40B4-BE49-F238E27FC236}">
                <a16:creationId xmlns:a16="http://schemas.microsoft.com/office/drawing/2014/main" id="{A1E30D6D-731C-4AD6-A48A-A945D6FF358D}"/>
              </a:ext>
            </a:extLst>
          </p:cNvPr>
          <p:cNvSpPr txBox="1"/>
          <p:nvPr/>
        </p:nvSpPr>
        <p:spPr>
          <a:xfrm>
            <a:off x="7635619" y="5223212"/>
            <a:ext cx="1963200" cy="415588"/>
          </a:xfrm>
          <a:prstGeom prst="roundRect">
            <a:avLst>
              <a:gd name="adj" fmla="val 7167"/>
            </a:avLst>
          </a:prstGeom>
          <a:solidFill>
            <a:schemeClr val="accent4">
              <a:lumMod val="75000"/>
            </a:schemeClr>
          </a:solidFill>
          <a:ln>
            <a:solidFill>
              <a:schemeClr val="tx1"/>
            </a:solidFill>
          </a:ln>
        </p:spPr>
        <p:txBody>
          <a:bodyPr wrap="square" rtlCol="0" anchor="ctr">
            <a:spAutoFit/>
          </a:bodyPr>
          <a:lstStyle/>
          <a:p>
            <a:pPr algn="ctr"/>
            <a:r>
              <a:rPr lang="en-US" sz="2000">
                <a:solidFill>
                  <a:schemeClr val="bg1"/>
                </a:solidFill>
              </a:rPr>
              <a:t>Bootloader</a:t>
            </a:r>
            <a:endParaRPr lang="en-US" sz="2000" dirty="0">
              <a:solidFill>
                <a:schemeClr val="bg1"/>
              </a:solidFill>
            </a:endParaRPr>
          </a:p>
        </p:txBody>
      </p:sp>
      <p:sp>
        <p:nvSpPr>
          <p:cNvPr id="15" name="Rectangle 14">
            <a:extLst>
              <a:ext uri="{FF2B5EF4-FFF2-40B4-BE49-F238E27FC236}">
                <a16:creationId xmlns:a16="http://schemas.microsoft.com/office/drawing/2014/main" id="{67DEAF68-8017-45D6-B56D-955EEAC569E5}"/>
              </a:ext>
            </a:extLst>
          </p:cNvPr>
          <p:cNvSpPr/>
          <p:nvPr/>
        </p:nvSpPr>
        <p:spPr>
          <a:xfrm>
            <a:off x="7465219" y="2414535"/>
            <a:ext cx="3886200" cy="266400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1E711B-C8B9-4624-AB11-2122A227F839}"/>
              </a:ext>
            </a:extLst>
          </p:cNvPr>
          <p:cNvSpPr txBox="1"/>
          <p:nvPr/>
        </p:nvSpPr>
        <p:spPr>
          <a:xfrm rot="16200000">
            <a:off x="5907142" y="3162966"/>
            <a:ext cx="2430355" cy="914400"/>
          </a:xfrm>
          <a:prstGeom prst="rect">
            <a:avLst/>
          </a:prstGeom>
        </p:spPr>
        <p:txBody>
          <a:bodyPr vert="horz" wrap="none" lIns="0" tIns="0" rIns="0" bIns="0" rtlCol="0" anchor="t">
            <a:normAutofit/>
          </a:bodyPr>
          <a:lstStyle/>
          <a:p>
            <a:pPr algn="ctr"/>
            <a:r>
              <a:rPr lang="en-US" sz="2400" dirty="0">
                <a:solidFill>
                  <a:schemeClr val="accent1"/>
                </a:solidFill>
              </a:rPr>
              <a:t>Linux</a:t>
            </a:r>
            <a:br>
              <a:rPr lang="en-US" sz="2400" dirty="0">
                <a:solidFill>
                  <a:schemeClr val="accent1"/>
                </a:solidFill>
              </a:rPr>
            </a:br>
            <a:r>
              <a:rPr lang="en-US" sz="2400" dirty="0">
                <a:solidFill>
                  <a:schemeClr val="accent1"/>
                </a:solidFill>
              </a:rPr>
              <a:t>Kernel</a:t>
            </a:r>
          </a:p>
        </p:txBody>
      </p:sp>
      <p:sp>
        <p:nvSpPr>
          <p:cNvPr id="17" name="Rectangle 16">
            <a:extLst>
              <a:ext uri="{FF2B5EF4-FFF2-40B4-BE49-F238E27FC236}">
                <a16:creationId xmlns:a16="http://schemas.microsoft.com/office/drawing/2014/main" id="{426A7719-FB96-4F97-BBBC-6E527A06DAC6}"/>
              </a:ext>
            </a:extLst>
          </p:cNvPr>
          <p:cNvSpPr/>
          <p:nvPr/>
        </p:nvSpPr>
        <p:spPr>
          <a:xfrm>
            <a:off x="7465219" y="1085892"/>
            <a:ext cx="3886200" cy="1204086"/>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4E183D9-24EA-43D7-BF87-F00875007CC7}"/>
              </a:ext>
            </a:extLst>
          </p:cNvPr>
          <p:cNvSpPr txBox="1"/>
          <p:nvPr/>
        </p:nvSpPr>
        <p:spPr>
          <a:xfrm rot="16200000">
            <a:off x="5907142" y="1256790"/>
            <a:ext cx="2430355" cy="914400"/>
          </a:xfrm>
          <a:prstGeom prst="rect">
            <a:avLst/>
          </a:prstGeom>
        </p:spPr>
        <p:txBody>
          <a:bodyPr vert="horz" wrap="none" lIns="0" tIns="0" rIns="0" bIns="0" rtlCol="0" anchor="t">
            <a:normAutofit/>
          </a:bodyPr>
          <a:lstStyle/>
          <a:p>
            <a:pPr algn="ctr"/>
            <a:r>
              <a:rPr lang="en-US" sz="2400" dirty="0">
                <a:solidFill>
                  <a:schemeClr val="accent1"/>
                </a:solidFill>
              </a:rPr>
              <a:t>Root File</a:t>
            </a:r>
            <a:br>
              <a:rPr lang="en-US" sz="2400" dirty="0">
                <a:solidFill>
                  <a:schemeClr val="accent1"/>
                </a:solidFill>
              </a:rPr>
            </a:br>
            <a:r>
              <a:rPr lang="en-US" sz="2400" dirty="0">
                <a:solidFill>
                  <a:schemeClr val="accent1"/>
                </a:solidFill>
              </a:rPr>
              <a:t>System</a:t>
            </a:r>
          </a:p>
        </p:txBody>
      </p:sp>
      <p:sp>
        <p:nvSpPr>
          <p:cNvPr id="19" name="CasellaDiTesto 6">
            <a:extLst>
              <a:ext uri="{FF2B5EF4-FFF2-40B4-BE49-F238E27FC236}">
                <a16:creationId xmlns:a16="http://schemas.microsoft.com/office/drawing/2014/main" id="{48DCE2EB-BE6A-4057-A276-6B0319214414}"/>
              </a:ext>
            </a:extLst>
          </p:cNvPr>
          <p:cNvSpPr txBox="1"/>
          <p:nvPr/>
        </p:nvSpPr>
        <p:spPr>
          <a:xfrm>
            <a:off x="9675158" y="5220212"/>
            <a:ext cx="1515461" cy="415588"/>
          </a:xfrm>
          <a:prstGeom prst="roundRect">
            <a:avLst>
              <a:gd name="adj" fmla="val 7167"/>
            </a:avLst>
          </a:prstGeom>
          <a:solidFill>
            <a:srgbClr val="002060"/>
          </a:solidFill>
          <a:ln>
            <a:solidFill>
              <a:schemeClr val="tx1"/>
            </a:solidFill>
          </a:ln>
        </p:spPr>
        <p:txBody>
          <a:bodyPr wrap="square" rtlCol="0" anchor="ctr">
            <a:spAutoFit/>
          </a:bodyPr>
          <a:lstStyle/>
          <a:p>
            <a:pPr algn="ctr"/>
            <a:r>
              <a:rPr lang="en-US" sz="2000" dirty="0">
                <a:solidFill>
                  <a:schemeClr val="bg1"/>
                </a:solidFill>
              </a:rPr>
              <a:t>Device tree</a:t>
            </a:r>
          </a:p>
        </p:txBody>
      </p:sp>
    </p:spTree>
    <p:extLst>
      <p:ext uri="{BB962C8B-B14F-4D97-AF65-F5344CB8AC3E}">
        <p14:creationId xmlns:p14="http://schemas.microsoft.com/office/powerpoint/2010/main" val="412830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ea typeface="ＭＳ Ｐゴシック"/>
              </a:rPr>
              <a:t>Linux-Based Embedded System Components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6172993" cy="4086225"/>
          </a:xfrm>
        </p:spPr>
        <p:txBody>
          <a:bodyPr wrap="square" numCol="1" anchor="t" anchorCtr="0" compatLnSpc="1">
            <a:prstTxWarp prst="textNoShape">
              <a:avLst/>
            </a:prstTxWarp>
          </a:bodyPr>
          <a:lstStyle/>
          <a:p>
            <a:r>
              <a:rPr lang="en-US" dirty="0">
                <a:solidFill>
                  <a:srgbClr val="128CAB"/>
                </a:solidFill>
                <a:ea typeface="ＭＳ Ｐゴシック"/>
              </a:rPr>
              <a:t>System Programs</a:t>
            </a:r>
            <a:endParaRPr lang="en-US" dirty="0">
              <a:solidFill>
                <a:srgbClr val="128CAB"/>
              </a:solidFill>
            </a:endParaRPr>
          </a:p>
          <a:p>
            <a:pPr marL="398145" lvl="1" indent="-166370"/>
            <a:r>
              <a:rPr lang="en-US" dirty="0"/>
              <a:t>User-friendly utilities to access operating system services</a:t>
            </a:r>
            <a:endParaRPr lang="en-US" altLang="en-US" dirty="0">
              <a:ea typeface="ＭＳ Ｐゴシック" panose="020B0600070205080204" pitchFamily="34" charset="-128"/>
              <a:cs typeface="Calibri"/>
            </a:endParaRPr>
          </a:p>
          <a:p>
            <a:r>
              <a:rPr lang="en-US" dirty="0">
                <a:solidFill>
                  <a:srgbClr val="128CAB"/>
                </a:solidFill>
              </a:rPr>
              <a:t>Application</a:t>
            </a:r>
            <a:endParaRPr lang="en-US" altLang="en-US" dirty="0">
              <a:ea typeface="ＭＳ Ｐゴシック" panose="020B0600070205080204" pitchFamily="34" charset="-128"/>
            </a:endParaRPr>
          </a:p>
          <a:p>
            <a:pPr marL="398145" lvl="1" indent="-166370"/>
            <a:r>
              <a:rPr lang="en-US" dirty="0"/>
              <a:t>Software implementing the functionalities to be delivered to the embedded system user</a:t>
            </a:r>
            <a:endParaRPr lang="en-US" altLang="en-US" dirty="0">
              <a:ea typeface="ＭＳ Ｐゴシック" panose="020B0600070205080204" pitchFamily="34" charset="-128"/>
              <a:cs typeface="Calibri"/>
            </a:endParaRPr>
          </a:p>
          <a:p>
            <a:r>
              <a:rPr lang="en-US" dirty="0">
                <a:solidFill>
                  <a:srgbClr val="128CAB"/>
                </a:solidFill>
                <a:ea typeface="ＭＳ Ｐゴシック"/>
              </a:rPr>
              <a:t>Root Filesystem</a:t>
            </a:r>
            <a:endParaRPr lang="en-US" altLang="en-US" dirty="0">
              <a:ea typeface="ＭＳ Ｐゴシック" panose="020B0600070205080204" pitchFamily="34" charset="-128"/>
            </a:endParaRPr>
          </a:p>
          <a:p>
            <a:pPr marL="398145" lvl="1" indent="-166370"/>
            <a:r>
              <a:rPr lang="en-US" dirty="0"/>
              <a:t>Container for the Linux Kernel configuration files, the system programs, and the application</a:t>
            </a:r>
            <a:endParaRPr lang="en-US" altLang="en-US" dirty="0">
              <a:ea typeface="ＭＳ Ｐゴシック" panose="020B0600070205080204" pitchFamily="34" charset="-128"/>
              <a:cs typeface="Calibri"/>
            </a:endParaRPr>
          </a:p>
        </p:txBody>
      </p:sp>
      <p:sp>
        <p:nvSpPr>
          <p:cNvPr id="5" name="CasellaDiTesto 6">
            <a:extLst>
              <a:ext uri="{FF2B5EF4-FFF2-40B4-BE49-F238E27FC236}">
                <a16:creationId xmlns:a16="http://schemas.microsoft.com/office/drawing/2014/main" id="{476A2627-98B8-4DBC-A634-7C2DC27EF71B}"/>
              </a:ext>
            </a:extLst>
          </p:cNvPr>
          <p:cNvSpPr txBox="1"/>
          <p:nvPr/>
        </p:nvSpPr>
        <p:spPr>
          <a:xfrm>
            <a:off x="7617619" y="5715000"/>
            <a:ext cx="3600000" cy="432000"/>
          </a:xfrm>
          <a:prstGeom prst="rect">
            <a:avLst/>
          </a:prstGeom>
          <a:solidFill>
            <a:srgbClr val="800000"/>
          </a:solidFill>
          <a:ln>
            <a:solidFill>
              <a:schemeClr val="tx1"/>
            </a:solidFill>
          </a:ln>
        </p:spPr>
        <p:txBody>
          <a:bodyPr wrap="square" rtlCol="0" anchor="ctr">
            <a:normAutofit lnSpcReduction="10000"/>
          </a:bodyPr>
          <a:lstStyle/>
          <a:p>
            <a:pPr algn="ctr"/>
            <a:r>
              <a:rPr lang="en-US" sz="2400" dirty="0">
                <a:solidFill>
                  <a:schemeClr val="bg1"/>
                </a:solidFill>
              </a:rPr>
              <a:t>Hardware</a:t>
            </a:r>
            <a:endParaRPr lang="en-US" dirty="0">
              <a:solidFill>
                <a:schemeClr val="bg1"/>
              </a:solidFill>
            </a:endParaRPr>
          </a:p>
        </p:txBody>
      </p:sp>
      <p:sp>
        <p:nvSpPr>
          <p:cNvPr id="6" name="CasellaDiTesto 8">
            <a:extLst>
              <a:ext uri="{FF2B5EF4-FFF2-40B4-BE49-F238E27FC236}">
                <a16:creationId xmlns:a16="http://schemas.microsoft.com/office/drawing/2014/main" id="{C3DBC216-149C-4EF9-AE22-709B86F49B58}"/>
              </a:ext>
            </a:extLst>
          </p:cNvPr>
          <p:cNvSpPr txBox="1"/>
          <p:nvPr/>
        </p:nvSpPr>
        <p:spPr>
          <a:xfrm>
            <a:off x="7626619" y="1189692"/>
            <a:ext cx="3600000" cy="432000"/>
          </a:xfrm>
          <a:prstGeom prst="roundRect">
            <a:avLst>
              <a:gd name="adj" fmla="val 12593"/>
            </a:avLst>
          </a:prstGeom>
          <a:solidFill>
            <a:schemeClr val="accent1"/>
          </a:solidFill>
          <a:ln>
            <a:solidFill>
              <a:schemeClr val="tx1"/>
            </a:solidFill>
          </a:ln>
        </p:spPr>
        <p:txBody>
          <a:bodyPr wrap="square" rtlCol="0" anchor="ctr">
            <a:normAutofit fontScale="92500" lnSpcReduction="10000"/>
          </a:bodyPr>
          <a:lstStyle/>
          <a:p>
            <a:pPr algn="ctr"/>
            <a:r>
              <a:rPr lang="en-US" sz="2400" dirty="0">
                <a:solidFill>
                  <a:schemeClr val="bg1"/>
                </a:solidFill>
              </a:rPr>
              <a:t>Application</a:t>
            </a:r>
          </a:p>
        </p:txBody>
      </p:sp>
      <p:sp>
        <p:nvSpPr>
          <p:cNvPr id="7" name="CasellaDiTesto 6">
            <a:extLst>
              <a:ext uri="{FF2B5EF4-FFF2-40B4-BE49-F238E27FC236}">
                <a16:creationId xmlns:a16="http://schemas.microsoft.com/office/drawing/2014/main" id="{E04CD3FB-24CD-468F-8A57-62DB06F84F44}"/>
              </a:ext>
            </a:extLst>
          </p:cNvPr>
          <p:cNvSpPr txBox="1"/>
          <p:nvPr/>
        </p:nvSpPr>
        <p:spPr>
          <a:xfrm>
            <a:off x="7626619" y="1774092"/>
            <a:ext cx="3600000" cy="389045"/>
          </a:xfrm>
          <a:prstGeom prst="roundRect">
            <a:avLst>
              <a:gd name="adj" fmla="val 7167"/>
            </a:avLst>
          </a:prstGeom>
          <a:solidFill>
            <a:srgbClr val="00B050"/>
          </a:solidFill>
          <a:ln>
            <a:solidFill>
              <a:schemeClr val="tx1"/>
            </a:solidFill>
          </a:ln>
        </p:spPr>
        <p:txBody>
          <a:bodyPr wrap="square" rtlCol="0" anchor="ctr">
            <a:normAutofit fontScale="92500" lnSpcReduction="10000"/>
          </a:bodyPr>
          <a:lstStyle/>
          <a:p>
            <a:pPr algn="ctr"/>
            <a:r>
              <a:rPr lang="en-US" sz="2000" dirty="0">
                <a:solidFill>
                  <a:schemeClr val="bg1"/>
                </a:solidFill>
              </a:rPr>
              <a:t>System Programs</a:t>
            </a:r>
          </a:p>
        </p:txBody>
      </p:sp>
      <p:sp>
        <p:nvSpPr>
          <p:cNvPr id="8" name="CasellaDiTesto 6">
            <a:extLst>
              <a:ext uri="{FF2B5EF4-FFF2-40B4-BE49-F238E27FC236}">
                <a16:creationId xmlns:a16="http://schemas.microsoft.com/office/drawing/2014/main" id="{2EC224B9-7780-4CC9-B9E2-12371288B263}"/>
              </a:ext>
            </a:extLst>
          </p:cNvPr>
          <p:cNvSpPr txBox="1"/>
          <p:nvPr/>
        </p:nvSpPr>
        <p:spPr>
          <a:xfrm>
            <a:off x="7626619" y="2536092"/>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9" name="CasellaDiTesto 6">
            <a:extLst>
              <a:ext uri="{FF2B5EF4-FFF2-40B4-BE49-F238E27FC236}">
                <a16:creationId xmlns:a16="http://schemas.microsoft.com/office/drawing/2014/main" id="{40EADB1B-8982-4309-8E50-39CBD84C16AD}"/>
              </a:ext>
            </a:extLst>
          </p:cNvPr>
          <p:cNvSpPr txBox="1"/>
          <p:nvPr/>
        </p:nvSpPr>
        <p:spPr>
          <a:xfrm>
            <a:off x="7626619" y="2946222"/>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Process Management</a:t>
            </a:r>
            <a:endParaRPr lang="en-US" sz="2000" dirty="0">
              <a:solidFill>
                <a:schemeClr val="bg1"/>
              </a:solidFill>
            </a:endParaRPr>
          </a:p>
        </p:txBody>
      </p:sp>
      <p:sp>
        <p:nvSpPr>
          <p:cNvPr id="10" name="CasellaDiTesto 6">
            <a:extLst>
              <a:ext uri="{FF2B5EF4-FFF2-40B4-BE49-F238E27FC236}">
                <a16:creationId xmlns:a16="http://schemas.microsoft.com/office/drawing/2014/main" id="{E2C39FBA-CBE1-47CA-B1CA-B109E22C758C}"/>
              </a:ext>
            </a:extLst>
          </p:cNvPr>
          <p:cNvSpPr txBox="1"/>
          <p:nvPr/>
        </p:nvSpPr>
        <p:spPr>
          <a:xfrm>
            <a:off x="9454055" y="2946108"/>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Virtual File System</a:t>
            </a:r>
            <a:endParaRPr lang="en-US" sz="2000" dirty="0">
              <a:solidFill>
                <a:schemeClr val="bg1"/>
              </a:solidFill>
            </a:endParaRPr>
          </a:p>
        </p:txBody>
      </p:sp>
      <p:sp>
        <p:nvSpPr>
          <p:cNvPr id="11" name="CasellaDiTesto 6">
            <a:extLst>
              <a:ext uri="{FF2B5EF4-FFF2-40B4-BE49-F238E27FC236}">
                <a16:creationId xmlns:a16="http://schemas.microsoft.com/office/drawing/2014/main" id="{57A78B15-455E-4737-913A-DD1DEA20334F}"/>
              </a:ext>
            </a:extLst>
          </p:cNvPr>
          <p:cNvSpPr txBox="1"/>
          <p:nvPr/>
        </p:nvSpPr>
        <p:spPr>
          <a:xfrm>
            <a:off x="76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12" name="CasellaDiTesto 6">
            <a:extLst>
              <a:ext uri="{FF2B5EF4-FFF2-40B4-BE49-F238E27FC236}">
                <a16:creationId xmlns:a16="http://schemas.microsoft.com/office/drawing/2014/main" id="{D8F2E2EB-CC89-478B-A7B7-3811E9339B5F}"/>
              </a:ext>
            </a:extLst>
          </p:cNvPr>
          <p:cNvSpPr txBox="1"/>
          <p:nvPr/>
        </p:nvSpPr>
        <p:spPr>
          <a:xfrm>
            <a:off x="94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13" name="CasellaDiTesto 6">
            <a:extLst>
              <a:ext uri="{FF2B5EF4-FFF2-40B4-BE49-F238E27FC236}">
                <a16:creationId xmlns:a16="http://schemas.microsoft.com/office/drawing/2014/main" id="{24C405C5-EA2E-4433-AD55-4BF65146274B}"/>
              </a:ext>
            </a:extLst>
          </p:cNvPr>
          <p:cNvSpPr txBox="1"/>
          <p:nvPr/>
        </p:nvSpPr>
        <p:spPr>
          <a:xfrm>
            <a:off x="7626619" y="4532828"/>
            <a:ext cx="3564000" cy="415588"/>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14" name="CasellaDiTesto 6">
            <a:extLst>
              <a:ext uri="{FF2B5EF4-FFF2-40B4-BE49-F238E27FC236}">
                <a16:creationId xmlns:a16="http://schemas.microsoft.com/office/drawing/2014/main" id="{C521B2FE-E8C6-467F-9AD5-249F22C92F56}"/>
              </a:ext>
            </a:extLst>
          </p:cNvPr>
          <p:cNvSpPr txBox="1"/>
          <p:nvPr/>
        </p:nvSpPr>
        <p:spPr>
          <a:xfrm>
            <a:off x="7635619" y="5223212"/>
            <a:ext cx="1963200" cy="415588"/>
          </a:xfrm>
          <a:prstGeom prst="roundRect">
            <a:avLst>
              <a:gd name="adj" fmla="val 7167"/>
            </a:avLst>
          </a:prstGeom>
          <a:solidFill>
            <a:schemeClr val="accent4">
              <a:lumMod val="75000"/>
            </a:schemeClr>
          </a:solidFill>
          <a:ln>
            <a:solidFill>
              <a:schemeClr val="tx1"/>
            </a:solidFill>
          </a:ln>
        </p:spPr>
        <p:txBody>
          <a:bodyPr wrap="square" rtlCol="0" anchor="ctr">
            <a:spAutoFit/>
          </a:bodyPr>
          <a:lstStyle/>
          <a:p>
            <a:pPr algn="ctr"/>
            <a:r>
              <a:rPr lang="en-US" sz="2000">
                <a:solidFill>
                  <a:schemeClr val="bg1"/>
                </a:solidFill>
              </a:rPr>
              <a:t>Bootloader</a:t>
            </a:r>
            <a:endParaRPr lang="en-US" sz="2000" dirty="0">
              <a:solidFill>
                <a:schemeClr val="bg1"/>
              </a:solidFill>
            </a:endParaRPr>
          </a:p>
        </p:txBody>
      </p:sp>
      <p:sp>
        <p:nvSpPr>
          <p:cNvPr id="15" name="Rectangle 14">
            <a:extLst>
              <a:ext uri="{FF2B5EF4-FFF2-40B4-BE49-F238E27FC236}">
                <a16:creationId xmlns:a16="http://schemas.microsoft.com/office/drawing/2014/main" id="{65E0F370-0CF2-4C49-8DE4-4770FE4472B7}"/>
              </a:ext>
            </a:extLst>
          </p:cNvPr>
          <p:cNvSpPr/>
          <p:nvPr/>
        </p:nvSpPr>
        <p:spPr>
          <a:xfrm>
            <a:off x="7465219" y="2414535"/>
            <a:ext cx="3886200" cy="266400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F5FF8CB-AA2D-4D31-BB36-37B4B140528E}"/>
              </a:ext>
            </a:extLst>
          </p:cNvPr>
          <p:cNvSpPr/>
          <p:nvPr/>
        </p:nvSpPr>
        <p:spPr>
          <a:xfrm>
            <a:off x="7465219" y="1085892"/>
            <a:ext cx="3886200" cy="1204086"/>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CasellaDiTesto 6">
            <a:extLst>
              <a:ext uri="{FF2B5EF4-FFF2-40B4-BE49-F238E27FC236}">
                <a16:creationId xmlns:a16="http://schemas.microsoft.com/office/drawing/2014/main" id="{A8BA2311-9FC8-4EF6-99BF-51EC1DDEA0AC}"/>
              </a:ext>
            </a:extLst>
          </p:cNvPr>
          <p:cNvSpPr txBox="1"/>
          <p:nvPr/>
        </p:nvSpPr>
        <p:spPr>
          <a:xfrm>
            <a:off x="9675158" y="5220212"/>
            <a:ext cx="1515461" cy="415588"/>
          </a:xfrm>
          <a:prstGeom prst="roundRect">
            <a:avLst>
              <a:gd name="adj" fmla="val 7167"/>
            </a:avLst>
          </a:prstGeom>
          <a:solidFill>
            <a:srgbClr val="002060"/>
          </a:solidFill>
          <a:ln>
            <a:solidFill>
              <a:schemeClr val="tx1"/>
            </a:solidFill>
          </a:ln>
        </p:spPr>
        <p:txBody>
          <a:bodyPr wrap="square" rtlCol="0" anchor="ctr">
            <a:spAutoFit/>
          </a:bodyPr>
          <a:lstStyle/>
          <a:p>
            <a:pPr algn="ctr"/>
            <a:r>
              <a:rPr lang="en-US" sz="2000" dirty="0">
                <a:solidFill>
                  <a:schemeClr val="bg1"/>
                </a:solidFill>
              </a:rPr>
              <a:t>Device tree</a:t>
            </a:r>
          </a:p>
        </p:txBody>
      </p:sp>
      <p:sp>
        <p:nvSpPr>
          <p:cNvPr id="18" name="TextBox 17">
            <a:extLst>
              <a:ext uri="{FF2B5EF4-FFF2-40B4-BE49-F238E27FC236}">
                <a16:creationId xmlns:a16="http://schemas.microsoft.com/office/drawing/2014/main" id="{CE12FAC3-D194-454E-B4B1-6F84BC71C41E}"/>
              </a:ext>
            </a:extLst>
          </p:cNvPr>
          <p:cNvSpPr txBox="1"/>
          <p:nvPr/>
        </p:nvSpPr>
        <p:spPr>
          <a:xfrm rot="16200000">
            <a:off x="5907142" y="3162966"/>
            <a:ext cx="2430355" cy="914400"/>
          </a:xfrm>
          <a:prstGeom prst="rect">
            <a:avLst/>
          </a:prstGeom>
        </p:spPr>
        <p:txBody>
          <a:bodyPr vert="horz" wrap="none" lIns="0" tIns="0" rIns="0" bIns="0" rtlCol="0" anchor="t">
            <a:normAutofit/>
          </a:bodyPr>
          <a:lstStyle/>
          <a:p>
            <a:pPr algn="ctr"/>
            <a:r>
              <a:rPr lang="en-US" sz="2400" dirty="0">
                <a:solidFill>
                  <a:schemeClr val="accent1"/>
                </a:solidFill>
              </a:rPr>
              <a:t>Linux</a:t>
            </a:r>
            <a:br>
              <a:rPr lang="en-US" sz="2400" dirty="0">
                <a:solidFill>
                  <a:schemeClr val="accent1"/>
                </a:solidFill>
              </a:rPr>
            </a:br>
            <a:r>
              <a:rPr lang="en-US" sz="2400" dirty="0">
                <a:solidFill>
                  <a:schemeClr val="accent1"/>
                </a:solidFill>
              </a:rPr>
              <a:t>Kernel</a:t>
            </a:r>
          </a:p>
        </p:txBody>
      </p:sp>
      <p:sp>
        <p:nvSpPr>
          <p:cNvPr id="19" name="TextBox 18">
            <a:extLst>
              <a:ext uri="{FF2B5EF4-FFF2-40B4-BE49-F238E27FC236}">
                <a16:creationId xmlns:a16="http://schemas.microsoft.com/office/drawing/2014/main" id="{9484B6AE-F02E-4DD8-B1C1-147ED041CA48}"/>
              </a:ext>
            </a:extLst>
          </p:cNvPr>
          <p:cNvSpPr txBox="1"/>
          <p:nvPr/>
        </p:nvSpPr>
        <p:spPr>
          <a:xfrm rot="16200000">
            <a:off x="5907142" y="1256790"/>
            <a:ext cx="2430355" cy="914400"/>
          </a:xfrm>
          <a:prstGeom prst="rect">
            <a:avLst/>
          </a:prstGeom>
        </p:spPr>
        <p:txBody>
          <a:bodyPr vert="horz" wrap="none" lIns="0" tIns="0" rIns="0" bIns="0" rtlCol="0" anchor="t">
            <a:normAutofit/>
          </a:bodyPr>
          <a:lstStyle/>
          <a:p>
            <a:pPr algn="ctr"/>
            <a:r>
              <a:rPr lang="en-US" sz="2400" dirty="0">
                <a:solidFill>
                  <a:schemeClr val="accent1"/>
                </a:solidFill>
              </a:rPr>
              <a:t>Root File</a:t>
            </a:r>
            <a:br>
              <a:rPr lang="en-US" sz="2400" dirty="0">
                <a:solidFill>
                  <a:schemeClr val="accent1"/>
                </a:solidFill>
              </a:rPr>
            </a:br>
            <a:r>
              <a:rPr lang="en-US" sz="2400" dirty="0">
                <a:solidFill>
                  <a:schemeClr val="accent1"/>
                </a:solidFill>
              </a:rPr>
              <a:t>System</a:t>
            </a:r>
          </a:p>
        </p:txBody>
      </p:sp>
    </p:spTree>
    <p:extLst>
      <p:ext uri="{BB962C8B-B14F-4D97-AF65-F5344CB8AC3E}">
        <p14:creationId xmlns:p14="http://schemas.microsoft.com/office/powerpoint/2010/main" val="3497877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Reference Hardware Model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790688" cy="4086225"/>
          </a:xfrm>
        </p:spPr>
        <p:txBody>
          <a:bodyPr wrap="square" numCol="1" anchor="t" anchorCtr="0" compatLnSpc="1">
            <a:prstTxWarp prst="textNoShape">
              <a:avLst/>
            </a:prstTxWarp>
          </a:bodyPr>
          <a:lstStyle/>
          <a:p>
            <a:r>
              <a:rPr lang="en-US" dirty="0"/>
              <a:t>Embedded System Hardware components:</a:t>
            </a:r>
            <a:endParaRPr lang="en-US" altLang="en-US" dirty="0">
              <a:ea typeface="ＭＳ Ｐゴシック" panose="020B0600070205080204" pitchFamily="34" charset="-128"/>
            </a:endParaRPr>
          </a:p>
          <a:p>
            <a:pPr marL="398145" lvl="1" indent="-166370"/>
            <a:r>
              <a:rPr lang="en-US" dirty="0">
                <a:solidFill>
                  <a:srgbClr val="128CAB"/>
                </a:solidFill>
                <a:ea typeface="ＭＳ Ｐゴシック"/>
              </a:rPr>
              <a:t>RAM</a:t>
            </a:r>
            <a:r>
              <a:rPr lang="en-US" dirty="0">
                <a:ea typeface="ＭＳ Ｐゴシック"/>
              </a:rPr>
              <a:t>:  volatile memory storing data/code </a:t>
            </a:r>
            <a:endParaRPr lang="en-US" dirty="0">
              <a:ea typeface="ＭＳ Ｐゴシック"/>
              <a:cs typeface="Calibri"/>
            </a:endParaRPr>
          </a:p>
          <a:p>
            <a:pPr marL="398145" lvl="1" indent="-166370"/>
            <a:r>
              <a:rPr lang="en-US" dirty="0">
                <a:solidFill>
                  <a:srgbClr val="128CAB"/>
                </a:solidFill>
              </a:rPr>
              <a:t>CPU</a:t>
            </a:r>
            <a:r>
              <a:rPr lang="en-US" dirty="0"/>
              <a:t>:  processor running software</a:t>
            </a:r>
            <a:endParaRPr lang="en-US" dirty="0">
              <a:cs typeface="Calibri"/>
            </a:endParaRPr>
          </a:p>
          <a:p>
            <a:pPr marL="398145" lvl="1" indent="-166370"/>
            <a:r>
              <a:rPr lang="en-US" dirty="0">
                <a:solidFill>
                  <a:srgbClr val="128CAB"/>
                </a:solidFill>
              </a:rPr>
              <a:t>I/O</a:t>
            </a:r>
            <a:r>
              <a:rPr lang="en-US" dirty="0"/>
              <a:t>:  peripherals to get inputs from the user, and to provide outputs to the user</a:t>
            </a:r>
            <a:endParaRPr lang="en-US" dirty="0">
              <a:cs typeface="Calibri"/>
            </a:endParaRPr>
          </a:p>
          <a:p>
            <a:pPr marL="398145" lvl="1" indent="-166370"/>
            <a:r>
              <a:rPr lang="en-US" dirty="0">
                <a:solidFill>
                  <a:srgbClr val="128CAB"/>
                </a:solidFill>
              </a:rPr>
              <a:t>Boot Flash</a:t>
            </a:r>
            <a:r>
              <a:rPr lang="en-US" dirty="0"/>
              <a:t>:  small non-volatile memory needed at power-up (discussed later)</a:t>
            </a:r>
            <a:endParaRPr lang="en-US" dirty="0">
              <a:cs typeface="Calibri"/>
            </a:endParaRPr>
          </a:p>
          <a:p>
            <a:pPr marL="398145" lvl="1" indent="-166370"/>
            <a:r>
              <a:rPr lang="en-US" dirty="0">
                <a:solidFill>
                  <a:srgbClr val="128CAB"/>
                </a:solidFill>
              </a:rPr>
              <a:t>Mass Memory Flash</a:t>
            </a:r>
            <a:r>
              <a:rPr lang="en-US" dirty="0"/>
              <a:t>:  large non-volatile memory (discussed later)</a:t>
            </a:r>
            <a:endParaRPr lang="en-US" altLang="en-US" dirty="0">
              <a:ea typeface="ＭＳ Ｐゴシック" panose="020B0600070205080204" pitchFamily="34" charset="-128"/>
              <a:cs typeface="Calibri"/>
            </a:endParaRPr>
          </a:p>
        </p:txBody>
      </p:sp>
      <p:sp>
        <p:nvSpPr>
          <p:cNvPr id="5" name="Rectangle 4">
            <a:extLst>
              <a:ext uri="{FF2B5EF4-FFF2-40B4-BE49-F238E27FC236}">
                <a16:creationId xmlns:a16="http://schemas.microsoft.com/office/drawing/2014/main" id="{8F78687E-5602-40AC-AF34-B7D8798BD4DD}"/>
              </a:ext>
            </a:extLst>
          </p:cNvPr>
          <p:cNvSpPr/>
          <p:nvPr/>
        </p:nvSpPr>
        <p:spPr bwMode="auto">
          <a:xfrm>
            <a:off x="6550818" y="1905000"/>
            <a:ext cx="5334001" cy="3124200"/>
          </a:xfrm>
          <a:prstGeom prst="rect">
            <a:avLst/>
          </a:prstGeom>
          <a:solidFill>
            <a:srgbClr val="C00000"/>
          </a:solidFill>
          <a:ln w="9525" cap="flat" cmpd="sng" algn="ctr">
            <a:solidFill>
              <a:schemeClr val="tx1"/>
            </a:solidFill>
            <a:prstDash val="solid"/>
            <a:round/>
            <a:headEnd type="none" w="med" len="med"/>
            <a:tailEnd type="none" w="med" len="med"/>
          </a:ln>
          <a:effectLst>
            <a:outerShdw blurRad="50800" dist="38100" dir="2700000" algn="br">
              <a:srgbClr val="000000">
                <a:alpha val="43000"/>
              </a:srgb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Tahoma" pitchFamily="34" charset="0"/>
            </a:endParaRPr>
          </a:p>
        </p:txBody>
      </p:sp>
      <p:sp>
        <p:nvSpPr>
          <p:cNvPr id="6" name="TextBox 5">
            <a:extLst>
              <a:ext uri="{FF2B5EF4-FFF2-40B4-BE49-F238E27FC236}">
                <a16:creationId xmlns:a16="http://schemas.microsoft.com/office/drawing/2014/main" id="{013D2194-9E00-455A-B5FD-E32873461C07}"/>
              </a:ext>
            </a:extLst>
          </p:cNvPr>
          <p:cNvSpPr txBox="1"/>
          <p:nvPr/>
        </p:nvSpPr>
        <p:spPr>
          <a:xfrm>
            <a:off x="8592188" y="2500125"/>
            <a:ext cx="1295400" cy="1015663"/>
          </a:xfrm>
          <a:prstGeom prst="rect">
            <a:avLst/>
          </a:prstGeom>
          <a:solidFill>
            <a:srgbClr val="128CAB"/>
          </a:solidFill>
          <a:ln>
            <a:solidFill>
              <a:schemeClr val="tx1"/>
            </a:solidFill>
          </a:ln>
          <a:effectLst>
            <a:outerShdw blurRad="50800" dist="38100" dir="2700000" algn="br">
              <a:srgbClr val="000000">
                <a:alpha val="43000"/>
              </a:srgbClr>
            </a:outerShdw>
          </a:effectLst>
        </p:spPr>
        <p:txBody>
          <a:bodyPr wrap="square" rtlCol="0">
            <a:spAutoFit/>
          </a:bodyPr>
          <a:lstStyle/>
          <a:p>
            <a:pPr algn="ctr"/>
            <a:endParaRPr lang="en-US" sz="2000" dirty="0">
              <a:solidFill>
                <a:schemeClr val="bg1"/>
              </a:solidFill>
            </a:endParaRPr>
          </a:p>
          <a:p>
            <a:pPr algn="ctr"/>
            <a:r>
              <a:rPr lang="en-US" sz="2000" dirty="0">
                <a:solidFill>
                  <a:schemeClr val="bg1"/>
                </a:solidFill>
              </a:rPr>
              <a:t>CPU</a:t>
            </a:r>
          </a:p>
          <a:p>
            <a:pPr algn="ctr"/>
            <a:endParaRPr lang="en-US" sz="2000" dirty="0">
              <a:solidFill>
                <a:schemeClr val="bg1"/>
              </a:solidFill>
            </a:endParaRPr>
          </a:p>
        </p:txBody>
      </p:sp>
      <p:sp>
        <p:nvSpPr>
          <p:cNvPr id="7" name="TextBox 6">
            <a:extLst>
              <a:ext uri="{FF2B5EF4-FFF2-40B4-BE49-F238E27FC236}">
                <a16:creationId xmlns:a16="http://schemas.microsoft.com/office/drawing/2014/main" id="{BF71ECF7-F2AB-437C-9F1D-2F29B7995E19}"/>
              </a:ext>
            </a:extLst>
          </p:cNvPr>
          <p:cNvSpPr txBox="1"/>
          <p:nvPr/>
        </p:nvSpPr>
        <p:spPr>
          <a:xfrm>
            <a:off x="10192388" y="2500125"/>
            <a:ext cx="1600200" cy="400110"/>
          </a:xfrm>
          <a:prstGeom prst="rect">
            <a:avLst/>
          </a:prstGeom>
          <a:solidFill>
            <a:srgbClr val="008000"/>
          </a:solidFill>
          <a:ln>
            <a:solidFill>
              <a:schemeClr val="tx1"/>
            </a:solidFill>
          </a:ln>
          <a:effectLst>
            <a:outerShdw blurRad="50800" dist="38100" dir="2700000" algn="br">
              <a:srgbClr val="000000">
                <a:alpha val="43000"/>
              </a:srgbClr>
            </a:outerShdw>
          </a:effectLst>
        </p:spPr>
        <p:txBody>
          <a:bodyPr wrap="square" rtlCol="0">
            <a:spAutoFit/>
          </a:bodyPr>
          <a:lstStyle/>
          <a:p>
            <a:pPr algn="ctr"/>
            <a:r>
              <a:rPr lang="en-US" sz="2000" dirty="0">
                <a:solidFill>
                  <a:schemeClr val="bg1"/>
                </a:solidFill>
              </a:rPr>
              <a:t>Boot Flash</a:t>
            </a:r>
          </a:p>
        </p:txBody>
      </p:sp>
      <p:sp>
        <p:nvSpPr>
          <p:cNvPr id="8" name="TextBox 7">
            <a:extLst>
              <a:ext uri="{FF2B5EF4-FFF2-40B4-BE49-F238E27FC236}">
                <a16:creationId xmlns:a16="http://schemas.microsoft.com/office/drawing/2014/main" id="{ABE00B96-1EC4-4CCF-B212-49449D5C4CE9}"/>
              </a:ext>
            </a:extLst>
          </p:cNvPr>
          <p:cNvSpPr txBox="1"/>
          <p:nvPr/>
        </p:nvSpPr>
        <p:spPr>
          <a:xfrm>
            <a:off x="10192388" y="3179576"/>
            <a:ext cx="1600200" cy="1631216"/>
          </a:xfrm>
          <a:prstGeom prst="rect">
            <a:avLst/>
          </a:prstGeom>
          <a:solidFill>
            <a:srgbClr val="92D050"/>
          </a:solidFill>
          <a:ln>
            <a:solidFill>
              <a:schemeClr val="tx1"/>
            </a:solidFill>
          </a:ln>
          <a:effectLst>
            <a:outerShdw blurRad="50800" dist="38100" dir="2700000" algn="br">
              <a:srgbClr val="000000">
                <a:alpha val="43000"/>
              </a:srgbClr>
            </a:outerShdw>
          </a:effectLst>
        </p:spPr>
        <p:txBody>
          <a:bodyPr wrap="square" rtlCol="0">
            <a:spAutoFit/>
          </a:bodyPr>
          <a:lstStyle/>
          <a:p>
            <a:pPr algn="ctr"/>
            <a:endParaRPr lang="en-US" sz="2000" dirty="0">
              <a:solidFill>
                <a:srgbClr val="FFFFFF"/>
              </a:solidFill>
            </a:endParaRPr>
          </a:p>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9" name="TextBox 8">
            <a:extLst>
              <a:ext uri="{FF2B5EF4-FFF2-40B4-BE49-F238E27FC236}">
                <a16:creationId xmlns:a16="http://schemas.microsoft.com/office/drawing/2014/main" id="{6F8E9AE4-51BE-4E97-9221-9A5E5148FFAE}"/>
              </a:ext>
            </a:extLst>
          </p:cNvPr>
          <p:cNvSpPr txBox="1"/>
          <p:nvPr/>
        </p:nvSpPr>
        <p:spPr>
          <a:xfrm>
            <a:off x="8592188" y="3793066"/>
            <a:ext cx="1295400" cy="1015663"/>
          </a:xfrm>
          <a:prstGeom prst="rect">
            <a:avLst/>
          </a:prstGeom>
          <a:solidFill>
            <a:srgbClr val="0070C0"/>
          </a:solidFill>
          <a:ln>
            <a:solidFill>
              <a:schemeClr val="tx1"/>
            </a:solidFill>
          </a:ln>
          <a:effectLst>
            <a:outerShdw blurRad="50800" dist="38100" dir="2700000" algn="br">
              <a:srgbClr val="000000">
                <a:alpha val="43000"/>
              </a:srgbClr>
            </a:outerShdw>
          </a:effectLst>
        </p:spPr>
        <p:txBody>
          <a:bodyPr wrap="square" rtlCol="0">
            <a:spAutoFit/>
          </a:bodyPr>
          <a:lstStyle/>
          <a:p>
            <a:pPr algn="ctr"/>
            <a:endParaRPr lang="en-US" sz="2000" dirty="0">
              <a:solidFill>
                <a:srgbClr val="FFFFFF"/>
              </a:solidFill>
            </a:endParaRPr>
          </a:p>
          <a:p>
            <a:pPr algn="ctr"/>
            <a:r>
              <a:rPr lang="en-US" sz="2000" dirty="0">
                <a:solidFill>
                  <a:srgbClr val="FFFFFF"/>
                </a:solidFill>
              </a:rPr>
              <a:t>I/O</a:t>
            </a:r>
          </a:p>
          <a:p>
            <a:pPr algn="ctr"/>
            <a:endParaRPr lang="en-US" sz="2000" dirty="0">
              <a:solidFill>
                <a:srgbClr val="FFFFFF"/>
              </a:solidFill>
            </a:endParaRPr>
          </a:p>
        </p:txBody>
      </p:sp>
      <p:sp>
        <p:nvSpPr>
          <p:cNvPr id="10" name="TextBox 9">
            <a:extLst>
              <a:ext uri="{FF2B5EF4-FFF2-40B4-BE49-F238E27FC236}">
                <a16:creationId xmlns:a16="http://schemas.microsoft.com/office/drawing/2014/main" id="{FA520373-C392-4710-B2B7-5F3BA89F7A63}"/>
              </a:ext>
            </a:extLst>
          </p:cNvPr>
          <p:cNvSpPr txBox="1"/>
          <p:nvPr/>
        </p:nvSpPr>
        <p:spPr>
          <a:xfrm>
            <a:off x="6637444" y="2500743"/>
            <a:ext cx="1600200" cy="2308324"/>
          </a:xfrm>
          <a:prstGeom prst="rect">
            <a:avLst/>
          </a:prstGeom>
          <a:solidFill>
            <a:srgbClr val="00B0F0"/>
          </a:solidFill>
          <a:ln>
            <a:solidFill>
              <a:schemeClr val="tx1"/>
            </a:solidFill>
          </a:ln>
          <a:effectLst>
            <a:outerShdw blurRad="50800" dist="38100" dir="2700000" algn="br">
              <a:srgbClr val="000000">
                <a:alpha val="43000"/>
              </a:srgbClr>
            </a:outerShdw>
          </a:effectLst>
        </p:spPr>
        <p:txBody>
          <a:bodyPr wrap="square" rtlCol="0">
            <a:spAutoFit/>
          </a:bodyPr>
          <a:lstStyle/>
          <a:p>
            <a:pPr algn="ctr"/>
            <a:endParaRPr lang="en-US" sz="2000" dirty="0">
              <a:solidFill>
                <a:schemeClr val="bg1"/>
              </a:solidFill>
            </a:endParaRPr>
          </a:p>
          <a:p>
            <a:pPr algn="ctr"/>
            <a:endParaRPr lang="en-US" sz="2000" dirty="0">
              <a:solidFill>
                <a:schemeClr val="bg1"/>
              </a:solidFill>
            </a:endParaRPr>
          </a:p>
          <a:p>
            <a:pPr algn="ctr"/>
            <a:r>
              <a:rPr lang="en-US" sz="2000" dirty="0">
                <a:solidFill>
                  <a:schemeClr val="bg1"/>
                </a:solidFill>
              </a:rPr>
              <a:t>RAM</a:t>
            </a:r>
          </a:p>
          <a:p>
            <a:pPr algn="ctr"/>
            <a:r>
              <a:rPr lang="en-US" sz="2000" dirty="0">
                <a:solidFill>
                  <a:schemeClr val="bg1"/>
                </a:solidFill>
              </a:rPr>
              <a:t>Memory</a:t>
            </a:r>
          </a:p>
          <a:p>
            <a:pPr algn="ctr"/>
            <a:endParaRPr lang="en-US" sz="2000" dirty="0">
              <a:solidFill>
                <a:schemeClr val="bg1"/>
              </a:solidFill>
            </a:endParaRPr>
          </a:p>
          <a:p>
            <a:pPr algn="ctr"/>
            <a:endParaRPr lang="en-US" sz="2000" dirty="0">
              <a:solidFill>
                <a:schemeClr val="bg1"/>
              </a:solidFill>
            </a:endParaRPr>
          </a:p>
          <a:p>
            <a:pPr algn="ctr"/>
            <a:endParaRPr lang="en-US" sz="2000" dirty="0">
              <a:solidFill>
                <a:schemeClr val="bg1"/>
              </a:solidFill>
            </a:endParaRPr>
          </a:p>
        </p:txBody>
      </p:sp>
      <p:sp>
        <p:nvSpPr>
          <p:cNvPr id="11" name="TextBox 10">
            <a:extLst>
              <a:ext uri="{FF2B5EF4-FFF2-40B4-BE49-F238E27FC236}">
                <a16:creationId xmlns:a16="http://schemas.microsoft.com/office/drawing/2014/main" id="{5E1530E9-F0E7-4FD5-A340-7B517941E935}"/>
              </a:ext>
            </a:extLst>
          </p:cNvPr>
          <p:cNvSpPr txBox="1"/>
          <p:nvPr/>
        </p:nvSpPr>
        <p:spPr>
          <a:xfrm>
            <a:off x="6637187" y="1905000"/>
            <a:ext cx="3190232" cy="400110"/>
          </a:xfrm>
          <a:prstGeom prst="rect">
            <a:avLst/>
          </a:prstGeom>
          <a:noFill/>
        </p:spPr>
        <p:txBody>
          <a:bodyPr wrap="none" rtlCol="0">
            <a:spAutoFit/>
          </a:bodyPr>
          <a:lstStyle/>
          <a:p>
            <a:r>
              <a:rPr lang="en-US" sz="2000" dirty="0">
                <a:solidFill>
                  <a:schemeClr val="bg1"/>
                </a:solidFill>
              </a:rPr>
              <a:t>Embedded System Hardware</a:t>
            </a:r>
          </a:p>
        </p:txBody>
      </p:sp>
    </p:spTree>
    <p:extLst>
      <p:ext uri="{BB962C8B-B14F-4D97-AF65-F5344CB8AC3E}">
        <p14:creationId xmlns:p14="http://schemas.microsoft.com/office/powerpoint/2010/main" val="995719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Reference Hardware Model Implementations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584265"/>
            <a:ext cx="11180763" cy="4086225"/>
          </a:xfrm>
        </p:spPr>
        <p:txBody>
          <a:bodyPr wrap="square" numCol="1" anchor="t" anchorCtr="0" compatLnSpc="1">
            <a:prstTxWarp prst="textNoShape">
              <a:avLst/>
            </a:prstTxWarp>
          </a:bodyPr>
          <a:lstStyle/>
          <a:p>
            <a:r>
              <a:rPr lang="en-US" dirty="0">
                <a:ea typeface="ＭＳ Ｐゴシック"/>
              </a:rPr>
              <a:t>Multiple implementations of the reference hardware model are possible. For example:</a:t>
            </a:r>
            <a:endParaRPr lang="en-US" altLang="en-US" dirty="0">
              <a:ea typeface="ＭＳ Ｐゴシック"/>
            </a:endParaRPr>
          </a:p>
          <a:p>
            <a:pPr marL="398145" lvl="1" indent="-166370"/>
            <a:r>
              <a:rPr lang="en-US" dirty="0">
                <a:solidFill>
                  <a:srgbClr val="128CAB"/>
                </a:solidFill>
                <a:ea typeface="ＭＳ Ｐゴシック"/>
              </a:rPr>
              <a:t>Microcontroller-based implementation</a:t>
            </a:r>
            <a:r>
              <a:rPr lang="en-US" dirty="0">
                <a:ea typeface="ＭＳ Ｐゴシック"/>
              </a:rPr>
              <a:t>:  a single device hosts most of the reference model components (e.g., CPU, RAM, boot flash).</a:t>
            </a:r>
            <a:endParaRPr lang="en-US" dirty="0">
              <a:ea typeface="ＭＳ Ｐゴシック"/>
              <a:cs typeface="Calibri"/>
            </a:endParaRPr>
          </a:p>
          <a:p>
            <a:pPr marL="398145" lvl="1" indent="-166370"/>
            <a:r>
              <a:rPr lang="en-US" dirty="0">
                <a:solidFill>
                  <a:srgbClr val="128CAB"/>
                </a:solidFill>
                <a:ea typeface="ＭＳ Ｐゴシック"/>
              </a:rPr>
              <a:t>System-on-Chip implementation</a:t>
            </a:r>
            <a:r>
              <a:rPr lang="en-US" dirty="0">
                <a:ea typeface="ＭＳ Ｐゴシック"/>
              </a:rPr>
              <a:t>:  most of the reference model components are discrete components, while the CPU is integrated with some of them (e.g., I/O, boot flash).</a:t>
            </a:r>
            <a:endParaRPr lang="en-US" altLang="en-US" dirty="0">
              <a:ea typeface="ＭＳ Ｐゴシック"/>
              <a:cs typeface="Calibri"/>
            </a:endParaRPr>
          </a:p>
        </p:txBody>
      </p:sp>
      <p:sp>
        <p:nvSpPr>
          <p:cNvPr id="5" name="Rectangle 4">
            <a:extLst>
              <a:ext uri="{FF2B5EF4-FFF2-40B4-BE49-F238E27FC236}">
                <a16:creationId xmlns:a16="http://schemas.microsoft.com/office/drawing/2014/main" id="{EA66265A-8159-48E9-BC1E-532A52D4BC90}"/>
              </a:ext>
            </a:extLst>
          </p:cNvPr>
          <p:cNvSpPr/>
          <p:nvPr/>
        </p:nvSpPr>
        <p:spPr bwMode="auto">
          <a:xfrm>
            <a:off x="1004210" y="3429000"/>
            <a:ext cx="3735002" cy="258420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a:outerShdw blurRad="50800" dist="38100" dir="2700000" algn="br">
              <a:srgbClr val="000000">
                <a:alpha val="43000"/>
              </a:srgb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Tahoma" pitchFamily="34" charset="0"/>
            </a:endParaRPr>
          </a:p>
        </p:txBody>
      </p:sp>
      <p:grpSp>
        <p:nvGrpSpPr>
          <p:cNvPr id="6" name="Group 5">
            <a:extLst>
              <a:ext uri="{FF2B5EF4-FFF2-40B4-BE49-F238E27FC236}">
                <a16:creationId xmlns:a16="http://schemas.microsoft.com/office/drawing/2014/main" id="{4EA26D34-78D2-42AE-9F8B-690213832650}"/>
              </a:ext>
            </a:extLst>
          </p:cNvPr>
          <p:cNvGrpSpPr/>
          <p:nvPr/>
        </p:nvGrpSpPr>
        <p:grpSpPr>
          <a:xfrm>
            <a:off x="1160191" y="3880039"/>
            <a:ext cx="3188494" cy="1847658"/>
            <a:chOff x="759619" y="3809937"/>
            <a:chExt cx="3188494" cy="1847658"/>
          </a:xfrm>
          <a:effectLst>
            <a:outerShdw blurRad="50800" dist="76200" dir="2700000" algn="tl" rotWithShape="0">
              <a:prstClr val="black">
                <a:alpha val="40000"/>
              </a:prstClr>
            </a:outerShdw>
          </a:effectLst>
        </p:grpSpPr>
        <p:sp>
          <p:nvSpPr>
            <p:cNvPr id="7" name="TextBox 6">
              <a:extLst>
                <a:ext uri="{FF2B5EF4-FFF2-40B4-BE49-F238E27FC236}">
                  <a16:creationId xmlns:a16="http://schemas.microsoft.com/office/drawing/2014/main" id="{21D05E33-F2D5-436F-9045-37D3853AF0A5}"/>
                </a:ext>
              </a:extLst>
            </p:cNvPr>
            <p:cNvSpPr txBox="1"/>
            <p:nvPr/>
          </p:nvSpPr>
          <p:spPr>
            <a:xfrm>
              <a:off x="1985963" y="3810935"/>
              <a:ext cx="942975" cy="923330"/>
            </a:xfrm>
            <a:prstGeom prst="rect">
              <a:avLst/>
            </a:prstGeom>
            <a:solidFill>
              <a:srgbClr val="128CAB"/>
            </a:solidFill>
            <a:ln>
              <a:solidFill>
                <a:schemeClr val="tx1"/>
              </a:solidFill>
            </a:ln>
            <a:effectLst/>
          </p:spPr>
          <p:txBody>
            <a:bodyPr wrap="square" rtlCol="0">
              <a:spAutoFit/>
            </a:bodyPr>
            <a:lstStyle/>
            <a:p>
              <a:pPr algn="ctr"/>
              <a:endParaRPr lang="en-US" dirty="0">
                <a:solidFill>
                  <a:schemeClr val="bg1"/>
                </a:solidFill>
              </a:endParaRPr>
            </a:p>
            <a:p>
              <a:pPr algn="ctr"/>
              <a:r>
                <a:rPr lang="en-US" dirty="0">
                  <a:solidFill>
                    <a:schemeClr val="bg1"/>
                  </a:solidFill>
                </a:rPr>
                <a:t>CPU</a:t>
              </a:r>
            </a:p>
            <a:p>
              <a:pPr algn="ctr"/>
              <a:endParaRPr lang="en-US" dirty="0">
                <a:solidFill>
                  <a:schemeClr val="bg1"/>
                </a:solidFill>
              </a:endParaRPr>
            </a:p>
          </p:txBody>
        </p:sp>
        <p:sp>
          <p:nvSpPr>
            <p:cNvPr id="8" name="TextBox 7">
              <a:extLst>
                <a:ext uri="{FF2B5EF4-FFF2-40B4-BE49-F238E27FC236}">
                  <a16:creationId xmlns:a16="http://schemas.microsoft.com/office/drawing/2014/main" id="{E75AB899-0335-4918-8405-E4B9BC2ECDEF}"/>
                </a:ext>
              </a:extLst>
            </p:cNvPr>
            <p:cNvSpPr txBox="1"/>
            <p:nvPr/>
          </p:nvSpPr>
          <p:spPr>
            <a:xfrm>
              <a:off x="2928938" y="3809937"/>
              <a:ext cx="1019175" cy="1847658"/>
            </a:xfrm>
            <a:prstGeom prst="rect">
              <a:avLst/>
            </a:prstGeom>
            <a:solidFill>
              <a:srgbClr val="008000"/>
            </a:solidFill>
            <a:ln>
              <a:solidFill>
                <a:schemeClr val="tx1"/>
              </a:solidFill>
            </a:ln>
            <a:effectLst/>
          </p:spPr>
          <p:txBody>
            <a:bodyPr wrap="square" rtlCol="0" anchor="ctr">
              <a:noAutofit/>
            </a:bodyPr>
            <a:lstStyle/>
            <a:p>
              <a:pPr algn="ctr"/>
              <a:r>
                <a:rPr lang="en-US" dirty="0">
                  <a:solidFill>
                    <a:schemeClr val="bg1"/>
                  </a:solidFill>
                </a:rPr>
                <a:t>Boot Flash</a:t>
              </a:r>
            </a:p>
          </p:txBody>
        </p:sp>
        <p:sp>
          <p:nvSpPr>
            <p:cNvPr id="9" name="TextBox 8">
              <a:extLst>
                <a:ext uri="{FF2B5EF4-FFF2-40B4-BE49-F238E27FC236}">
                  <a16:creationId xmlns:a16="http://schemas.microsoft.com/office/drawing/2014/main" id="{1BBF6292-FCD2-4618-961F-31CD071E1D61}"/>
                </a:ext>
              </a:extLst>
            </p:cNvPr>
            <p:cNvSpPr txBox="1"/>
            <p:nvPr/>
          </p:nvSpPr>
          <p:spPr>
            <a:xfrm>
              <a:off x="1985963" y="4734265"/>
              <a:ext cx="942975" cy="923330"/>
            </a:xfrm>
            <a:prstGeom prst="rect">
              <a:avLst/>
            </a:prstGeom>
            <a:solidFill>
              <a:srgbClr val="0070C0"/>
            </a:solidFill>
            <a:ln>
              <a:solidFill>
                <a:schemeClr val="tx1"/>
              </a:solidFill>
            </a:ln>
            <a:effectLst/>
          </p:spPr>
          <p:txBody>
            <a:bodyPr wrap="square" rtlCol="0">
              <a:spAutoFit/>
            </a:bodyPr>
            <a:lstStyle/>
            <a:p>
              <a:pPr algn="ctr"/>
              <a:endParaRPr lang="en-US" dirty="0">
                <a:solidFill>
                  <a:srgbClr val="FFFFFF"/>
                </a:solidFill>
              </a:endParaRPr>
            </a:p>
            <a:p>
              <a:pPr algn="ctr"/>
              <a:r>
                <a:rPr lang="en-US" dirty="0">
                  <a:solidFill>
                    <a:srgbClr val="FFFFFF"/>
                  </a:solidFill>
                </a:rPr>
                <a:t>I/O</a:t>
              </a:r>
            </a:p>
            <a:p>
              <a:pPr algn="ctr"/>
              <a:endParaRPr lang="en-US" dirty="0">
                <a:solidFill>
                  <a:srgbClr val="FFFFFF"/>
                </a:solidFill>
              </a:endParaRPr>
            </a:p>
          </p:txBody>
        </p:sp>
        <p:sp>
          <p:nvSpPr>
            <p:cNvPr id="10" name="TextBox 9">
              <a:extLst>
                <a:ext uri="{FF2B5EF4-FFF2-40B4-BE49-F238E27FC236}">
                  <a16:creationId xmlns:a16="http://schemas.microsoft.com/office/drawing/2014/main" id="{1D5973B5-E903-48AC-AE98-605A762D2BA2}"/>
                </a:ext>
              </a:extLst>
            </p:cNvPr>
            <p:cNvSpPr txBox="1"/>
            <p:nvPr/>
          </p:nvSpPr>
          <p:spPr>
            <a:xfrm>
              <a:off x="759619" y="3809951"/>
              <a:ext cx="1226344" cy="1847644"/>
            </a:xfrm>
            <a:prstGeom prst="rect">
              <a:avLst/>
            </a:prstGeom>
            <a:solidFill>
              <a:srgbClr val="00B0F0"/>
            </a:solidFill>
            <a:ln>
              <a:solidFill>
                <a:schemeClr val="tx1"/>
              </a:solidFill>
            </a:ln>
            <a:effectLst/>
          </p:spPr>
          <p:txBody>
            <a:bodyPr wrap="square" lIns="91440" tIns="45720" rIns="91440" bIns="45720" rtlCol="0" anchor="t">
              <a:noAutofit/>
            </a:bodyPr>
            <a:lstStyle/>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latin typeface="Calibri"/>
                  <a:ea typeface="ＭＳ Ｐゴシック"/>
                  <a:cs typeface="Calibri"/>
                </a:rPr>
                <a:t>RAM</a:t>
              </a:r>
            </a:p>
            <a:p>
              <a:pPr algn="ctr"/>
              <a:endParaRPr lang="en-US" dirty="0">
                <a:solidFill>
                  <a:schemeClr val="bg1"/>
                </a:solidFill>
                <a:cs typeface="Calibri" panose="020F0502020204030204" pitchFamily="34" charset="0"/>
              </a:endParaRPr>
            </a:p>
            <a:p>
              <a:pPr algn="ctr"/>
              <a:endParaRPr lang="en-US" dirty="0">
                <a:solidFill>
                  <a:schemeClr val="bg1"/>
                </a:solidFill>
              </a:endParaRPr>
            </a:p>
          </p:txBody>
        </p:sp>
      </p:grpSp>
      <p:sp>
        <p:nvSpPr>
          <p:cNvPr id="11" name="Rectangle 10">
            <a:extLst>
              <a:ext uri="{FF2B5EF4-FFF2-40B4-BE49-F238E27FC236}">
                <a16:creationId xmlns:a16="http://schemas.microsoft.com/office/drawing/2014/main" id="{E3CC3E78-B2DB-4795-857C-B33FE766F8F1}"/>
              </a:ext>
            </a:extLst>
          </p:cNvPr>
          <p:cNvSpPr/>
          <p:nvPr/>
        </p:nvSpPr>
        <p:spPr>
          <a:xfrm>
            <a:off x="1160191" y="3770065"/>
            <a:ext cx="3420000" cy="209244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DED33C1-F58D-4CD6-BE99-A7B330D695F9}"/>
              </a:ext>
            </a:extLst>
          </p:cNvPr>
          <p:cNvSpPr txBox="1"/>
          <p:nvPr/>
        </p:nvSpPr>
        <p:spPr>
          <a:xfrm>
            <a:off x="4643438" y="6315075"/>
            <a:ext cx="914400" cy="914400"/>
          </a:xfrm>
          <a:prstGeom prst="rect">
            <a:avLst/>
          </a:prstGeom>
        </p:spPr>
        <p:txBody>
          <a:bodyPr vert="horz" wrap="none" lIns="0" tIns="0" rIns="0" bIns="0" rtlCol="0" anchor="t">
            <a:normAutofit/>
          </a:bodyPr>
          <a:lstStyle/>
          <a:p>
            <a:endParaRPr lang="en-US" dirty="0"/>
          </a:p>
        </p:txBody>
      </p:sp>
      <p:sp>
        <p:nvSpPr>
          <p:cNvPr id="13" name="TextBox 12">
            <a:extLst>
              <a:ext uri="{FF2B5EF4-FFF2-40B4-BE49-F238E27FC236}">
                <a16:creationId xmlns:a16="http://schemas.microsoft.com/office/drawing/2014/main" id="{560D57D9-E74C-40C8-BEC1-267E2E9C45F4}"/>
              </a:ext>
            </a:extLst>
          </p:cNvPr>
          <p:cNvSpPr txBox="1"/>
          <p:nvPr/>
        </p:nvSpPr>
        <p:spPr>
          <a:xfrm>
            <a:off x="1139955" y="3429000"/>
            <a:ext cx="2171700" cy="300037"/>
          </a:xfrm>
          <a:prstGeom prst="rect">
            <a:avLst/>
          </a:prstGeom>
        </p:spPr>
        <p:txBody>
          <a:bodyPr vert="horz" wrap="none" lIns="0" tIns="0" rIns="0" bIns="0" rtlCol="0" anchor="t">
            <a:normAutofit/>
          </a:bodyPr>
          <a:lstStyle/>
          <a:p>
            <a:pPr algn="ctr"/>
            <a:r>
              <a:rPr lang="en-US" dirty="0">
                <a:solidFill>
                  <a:srgbClr val="128CAB"/>
                </a:solidFill>
              </a:rPr>
              <a:t>Microcontroller (MCU)</a:t>
            </a:r>
            <a:endParaRPr lang="en-US" dirty="0"/>
          </a:p>
        </p:txBody>
      </p:sp>
      <p:sp>
        <p:nvSpPr>
          <p:cNvPr id="14" name="Rectangle 13">
            <a:extLst>
              <a:ext uri="{FF2B5EF4-FFF2-40B4-BE49-F238E27FC236}">
                <a16:creationId xmlns:a16="http://schemas.microsoft.com/office/drawing/2014/main" id="{1D15E836-3499-4D05-9EFC-0398E69DAFFC}"/>
              </a:ext>
            </a:extLst>
          </p:cNvPr>
          <p:cNvSpPr/>
          <p:nvPr/>
        </p:nvSpPr>
        <p:spPr bwMode="auto">
          <a:xfrm>
            <a:off x="5746481" y="3429000"/>
            <a:ext cx="5314299" cy="258420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a:outerShdw blurRad="50800" dist="38100" dir="2700000" algn="br">
              <a:srgbClr val="000000">
                <a:alpha val="43000"/>
              </a:srgb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Tahoma" pitchFamily="34" charset="0"/>
            </a:endParaRPr>
          </a:p>
        </p:txBody>
      </p:sp>
      <p:sp>
        <p:nvSpPr>
          <p:cNvPr id="15" name="TextBox 14">
            <a:extLst>
              <a:ext uri="{FF2B5EF4-FFF2-40B4-BE49-F238E27FC236}">
                <a16:creationId xmlns:a16="http://schemas.microsoft.com/office/drawing/2014/main" id="{EDA4EA64-6259-4F1D-BE33-3C781EE81A65}"/>
              </a:ext>
            </a:extLst>
          </p:cNvPr>
          <p:cNvSpPr txBox="1"/>
          <p:nvPr/>
        </p:nvSpPr>
        <p:spPr>
          <a:xfrm>
            <a:off x="9658224" y="3879540"/>
            <a:ext cx="1202060" cy="1847658"/>
          </a:xfrm>
          <a:prstGeom prst="rect">
            <a:avLst/>
          </a:prstGeom>
          <a:solidFill>
            <a:srgbClr val="92D050"/>
          </a:solidFill>
          <a:ln>
            <a:solidFill>
              <a:schemeClr val="tx1"/>
            </a:solidFill>
          </a:ln>
          <a:effectLst>
            <a:outerShdw blurRad="50800" dist="38100" dir="2700000" algn="br">
              <a:srgbClr val="000000">
                <a:alpha val="43000"/>
              </a:srgbClr>
            </a:outerShdw>
          </a:effectLst>
        </p:spPr>
        <p:txBody>
          <a:bodyPr wrap="square" rtlCol="0" anchor="ctr">
            <a:noAutofit/>
          </a:bodyPr>
          <a:lstStyle/>
          <a:p>
            <a:pPr algn="ctr"/>
            <a:endParaRPr lang="en-US" dirty="0">
              <a:solidFill>
                <a:srgbClr val="FFFFFF"/>
              </a:solidFill>
            </a:endParaRPr>
          </a:p>
          <a:p>
            <a:pPr algn="ctr"/>
            <a:r>
              <a:rPr lang="en-US" dirty="0">
                <a:solidFill>
                  <a:srgbClr val="FFFFFF"/>
                </a:solidFill>
              </a:rPr>
              <a:t>Mass Memory</a:t>
            </a:r>
          </a:p>
          <a:p>
            <a:pPr algn="ctr"/>
            <a:r>
              <a:rPr lang="en-US" dirty="0">
                <a:solidFill>
                  <a:srgbClr val="FFFFFF"/>
                </a:solidFill>
              </a:rPr>
              <a:t>Flash</a:t>
            </a:r>
          </a:p>
          <a:p>
            <a:pPr algn="ctr"/>
            <a:endParaRPr lang="en-US" dirty="0">
              <a:solidFill>
                <a:srgbClr val="FFFFFF"/>
              </a:solidFill>
            </a:endParaRPr>
          </a:p>
        </p:txBody>
      </p:sp>
      <p:grpSp>
        <p:nvGrpSpPr>
          <p:cNvPr id="16" name="Group 15">
            <a:extLst>
              <a:ext uri="{FF2B5EF4-FFF2-40B4-BE49-F238E27FC236}">
                <a16:creationId xmlns:a16="http://schemas.microsoft.com/office/drawing/2014/main" id="{9FDF5CC6-FBF4-4FF2-AB5B-62E9FD6442A4}"/>
              </a:ext>
            </a:extLst>
          </p:cNvPr>
          <p:cNvGrpSpPr/>
          <p:nvPr/>
        </p:nvGrpSpPr>
        <p:grpSpPr>
          <a:xfrm>
            <a:off x="6005381" y="3879554"/>
            <a:ext cx="3445674" cy="1847644"/>
            <a:chOff x="502439" y="3809951"/>
            <a:chExt cx="3445674" cy="1847644"/>
          </a:xfrm>
          <a:effectLst>
            <a:outerShdw blurRad="50800" dist="76200" dir="2700000" algn="tl" rotWithShape="0">
              <a:prstClr val="black">
                <a:alpha val="40000"/>
              </a:prstClr>
            </a:outerShdw>
          </a:effectLst>
        </p:grpSpPr>
        <p:sp>
          <p:nvSpPr>
            <p:cNvPr id="17" name="TextBox 16">
              <a:extLst>
                <a:ext uri="{FF2B5EF4-FFF2-40B4-BE49-F238E27FC236}">
                  <a16:creationId xmlns:a16="http://schemas.microsoft.com/office/drawing/2014/main" id="{81D91164-4EE8-468D-99AA-0CAA79115B56}"/>
                </a:ext>
              </a:extLst>
            </p:cNvPr>
            <p:cNvSpPr txBox="1"/>
            <p:nvPr/>
          </p:nvSpPr>
          <p:spPr>
            <a:xfrm>
              <a:off x="1985963" y="3810935"/>
              <a:ext cx="1962150" cy="923330"/>
            </a:xfrm>
            <a:prstGeom prst="rect">
              <a:avLst/>
            </a:prstGeom>
            <a:solidFill>
              <a:srgbClr val="128CAB"/>
            </a:solidFill>
            <a:ln>
              <a:solidFill>
                <a:schemeClr val="tx1"/>
              </a:solidFill>
            </a:ln>
            <a:effectLst/>
          </p:spPr>
          <p:txBody>
            <a:bodyPr wrap="square" rtlCol="0">
              <a:spAutoFit/>
            </a:bodyPr>
            <a:lstStyle/>
            <a:p>
              <a:pPr algn="ctr"/>
              <a:endParaRPr lang="en-US" dirty="0">
                <a:solidFill>
                  <a:schemeClr val="bg1"/>
                </a:solidFill>
              </a:endParaRPr>
            </a:p>
            <a:p>
              <a:pPr algn="ctr"/>
              <a:r>
                <a:rPr lang="en-US" dirty="0">
                  <a:solidFill>
                    <a:schemeClr val="bg1"/>
                  </a:solidFill>
                </a:rPr>
                <a:t>CPU</a:t>
              </a:r>
            </a:p>
            <a:p>
              <a:pPr algn="ctr"/>
              <a:endParaRPr lang="en-US" dirty="0">
                <a:solidFill>
                  <a:schemeClr val="bg1"/>
                </a:solidFill>
              </a:endParaRPr>
            </a:p>
          </p:txBody>
        </p:sp>
        <p:sp>
          <p:nvSpPr>
            <p:cNvPr id="18" name="TextBox 17">
              <a:extLst>
                <a:ext uri="{FF2B5EF4-FFF2-40B4-BE49-F238E27FC236}">
                  <a16:creationId xmlns:a16="http://schemas.microsoft.com/office/drawing/2014/main" id="{14810292-8108-4D61-90AA-ECECC340023A}"/>
                </a:ext>
              </a:extLst>
            </p:cNvPr>
            <p:cNvSpPr txBox="1"/>
            <p:nvPr/>
          </p:nvSpPr>
          <p:spPr>
            <a:xfrm>
              <a:off x="2928938" y="4734265"/>
              <a:ext cx="1019175" cy="923330"/>
            </a:xfrm>
            <a:prstGeom prst="rect">
              <a:avLst/>
            </a:prstGeom>
            <a:solidFill>
              <a:srgbClr val="008000"/>
            </a:solidFill>
            <a:ln>
              <a:solidFill>
                <a:schemeClr val="tx1"/>
              </a:solidFill>
            </a:ln>
            <a:effectLst/>
          </p:spPr>
          <p:txBody>
            <a:bodyPr wrap="square" rtlCol="0" anchor="ctr">
              <a:noAutofit/>
            </a:bodyPr>
            <a:lstStyle/>
            <a:p>
              <a:pPr algn="ctr"/>
              <a:r>
                <a:rPr lang="en-US" dirty="0">
                  <a:solidFill>
                    <a:schemeClr val="bg1"/>
                  </a:solidFill>
                </a:rPr>
                <a:t>Boot Flash</a:t>
              </a:r>
            </a:p>
          </p:txBody>
        </p:sp>
        <p:sp>
          <p:nvSpPr>
            <p:cNvPr id="19" name="TextBox 18">
              <a:extLst>
                <a:ext uri="{FF2B5EF4-FFF2-40B4-BE49-F238E27FC236}">
                  <a16:creationId xmlns:a16="http://schemas.microsoft.com/office/drawing/2014/main" id="{BE03D420-FC0E-451E-9F8A-CE614D647E07}"/>
                </a:ext>
              </a:extLst>
            </p:cNvPr>
            <p:cNvSpPr txBox="1"/>
            <p:nvPr/>
          </p:nvSpPr>
          <p:spPr>
            <a:xfrm>
              <a:off x="1985963" y="4734265"/>
              <a:ext cx="942975" cy="923330"/>
            </a:xfrm>
            <a:prstGeom prst="rect">
              <a:avLst/>
            </a:prstGeom>
            <a:solidFill>
              <a:srgbClr val="0070C0"/>
            </a:solidFill>
            <a:ln>
              <a:solidFill>
                <a:schemeClr val="tx1"/>
              </a:solidFill>
            </a:ln>
            <a:effectLst/>
          </p:spPr>
          <p:txBody>
            <a:bodyPr wrap="square" rtlCol="0">
              <a:spAutoFit/>
            </a:bodyPr>
            <a:lstStyle/>
            <a:p>
              <a:pPr algn="ctr"/>
              <a:endParaRPr lang="en-US" dirty="0">
                <a:solidFill>
                  <a:srgbClr val="FFFFFF"/>
                </a:solidFill>
              </a:endParaRPr>
            </a:p>
            <a:p>
              <a:pPr algn="ctr"/>
              <a:r>
                <a:rPr lang="en-US" dirty="0">
                  <a:solidFill>
                    <a:srgbClr val="FFFFFF"/>
                  </a:solidFill>
                </a:rPr>
                <a:t>I/O</a:t>
              </a:r>
            </a:p>
            <a:p>
              <a:pPr algn="ctr"/>
              <a:endParaRPr lang="en-US" dirty="0">
                <a:solidFill>
                  <a:srgbClr val="FFFFFF"/>
                </a:solidFill>
              </a:endParaRPr>
            </a:p>
          </p:txBody>
        </p:sp>
        <p:sp>
          <p:nvSpPr>
            <p:cNvPr id="20" name="TextBox 19">
              <a:extLst>
                <a:ext uri="{FF2B5EF4-FFF2-40B4-BE49-F238E27FC236}">
                  <a16:creationId xmlns:a16="http://schemas.microsoft.com/office/drawing/2014/main" id="{8167A36C-EA7D-49C9-9700-32333912486F}"/>
                </a:ext>
              </a:extLst>
            </p:cNvPr>
            <p:cNvSpPr txBox="1"/>
            <p:nvPr/>
          </p:nvSpPr>
          <p:spPr>
            <a:xfrm>
              <a:off x="502439" y="3809951"/>
              <a:ext cx="1226344" cy="1847644"/>
            </a:xfrm>
            <a:prstGeom prst="rect">
              <a:avLst/>
            </a:prstGeom>
            <a:solidFill>
              <a:srgbClr val="00B0F0"/>
            </a:solidFill>
            <a:ln>
              <a:solidFill>
                <a:schemeClr val="tx1"/>
              </a:solidFill>
            </a:ln>
            <a:effectLst/>
          </p:spPr>
          <p:txBody>
            <a:bodyPr wrap="square" lIns="91440" tIns="45720" rIns="91440" bIns="45720" rtlCol="0" anchor="t">
              <a:noAutofit/>
            </a:bodyPr>
            <a:lstStyle/>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latin typeface="Calibri"/>
                  <a:ea typeface="ＭＳ Ｐゴシック"/>
                  <a:cs typeface="Calibri"/>
                </a:rPr>
                <a:t>RAM</a:t>
              </a:r>
            </a:p>
            <a:p>
              <a:pPr algn="ctr"/>
              <a:endParaRPr lang="en-US" dirty="0">
                <a:solidFill>
                  <a:schemeClr val="bg1"/>
                </a:solidFill>
              </a:endParaRPr>
            </a:p>
            <a:p>
              <a:pPr algn="ctr"/>
              <a:endParaRPr lang="en-US" dirty="0">
                <a:solidFill>
                  <a:schemeClr val="bg1"/>
                </a:solidFill>
              </a:endParaRPr>
            </a:p>
          </p:txBody>
        </p:sp>
      </p:grpSp>
      <p:sp>
        <p:nvSpPr>
          <p:cNvPr id="21" name="Rectangle 20">
            <a:extLst>
              <a:ext uri="{FF2B5EF4-FFF2-40B4-BE49-F238E27FC236}">
                <a16:creationId xmlns:a16="http://schemas.microsoft.com/office/drawing/2014/main" id="{356F3C30-38D6-4FE6-AD8E-EBFBFAED88BE}"/>
              </a:ext>
            </a:extLst>
          </p:cNvPr>
          <p:cNvSpPr/>
          <p:nvPr/>
        </p:nvSpPr>
        <p:spPr>
          <a:xfrm>
            <a:off x="7356205" y="3770065"/>
            <a:ext cx="2202529" cy="209244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970EA8F-67B2-4F9C-B565-0C5ABC11E20C}"/>
              </a:ext>
            </a:extLst>
          </p:cNvPr>
          <p:cNvSpPr txBox="1"/>
          <p:nvPr/>
        </p:nvSpPr>
        <p:spPr>
          <a:xfrm>
            <a:off x="7390091" y="3429000"/>
            <a:ext cx="2171700" cy="300037"/>
          </a:xfrm>
          <a:prstGeom prst="rect">
            <a:avLst/>
          </a:prstGeom>
        </p:spPr>
        <p:txBody>
          <a:bodyPr vert="horz" wrap="none" lIns="0" tIns="0" rIns="0" bIns="0" rtlCol="0" anchor="t">
            <a:normAutofit/>
          </a:bodyPr>
          <a:lstStyle/>
          <a:p>
            <a:pPr algn="ctr"/>
            <a:r>
              <a:rPr lang="en-US">
                <a:solidFill>
                  <a:srgbClr val="128CAB"/>
                </a:solidFill>
              </a:rPr>
              <a:t>System on Chip (</a:t>
            </a:r>
            <a:r>
              <a:rPr lang="en-US" dirty="0" err="1">
                <a:solidFill>
                  <a:srgbClr val="128CAB"/>
                </a:solidFill>
              </a:rPr>
              <a:t>SoC</a:t>
            </a:r>
            <a:r>
              <a:rPr lang="en-US" dirty="0">
                <a:solidFill>
                  <a:srgbClr val="128CAB"/>
                </a:solidFill>
              </a:rPr>
              <a:t>)</a:t>
            </a:r>
            <a:endParaRPr lang="en-US" dirty="0"/>
          </a:p>
        </p:txBody>
      </p:sp>
    </p:spTree>
    <p:extLst>
      <p:ext uri="{BB962C8B-B14F-4D97-AF65-F5344CB8AC3E}">
        <p14:creationId xmlns:p14="http://schemas.microsoft.com/office/powerpoint/2010/main" val="3050362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CPU Memory Map</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7000056" cy="4086225"/>
          </a:xfrm>
        </p:spPr>
        <p:txBody>
          <a:bodyPr wrap="square" numCol="1" anchor="t" anchorCtr="0" compatLnSpc="1">
            <a:prstTxWarp prst="textNoShape">
              <a:avLst/>
            </a:prstTxWarp>
          </a:bodyPr>
          <a:lstStyle/>
          <a:p>
            <a:r>
              <a:rPr lang="en-US" dirty="0">
                <a:ea typeface="ＭＳ Ｐゴシック"/>
              </a:rPr>
              <a:t>The CPU generates 2</a:t>
            </a:r>
            <a:r>
              <a:rPr lang="en-US" baseline="30000" dirty="0">
                <a:ea typeface="ＭＳ Ｐゴシック"/>
              </a:rPr>
              <a:t>N</a:t>
            </a:r>
            <a:r>
              <a:rPr lang="en-US" dirty="0">
                <a:ea typeface="ＭＳ Ｐゴシック"/>
              </a:rPr>
              <a:t> different addresses (0</a:t>
            </a:r>
            <a:r>
              <a:rPr lang="en-US" dirty="0">
                <a:ea typeface="ＭＳ Ｐゴシック"/>
                <a:sym typeface="Wingdings"/>
              </a:rPr>
              <a:t></a:t>
            </a:r>
            <a:r>
              <a:rPr lang="en-US" dirty="0">
                <a:ea typeface="ＭＳ Ｐゴシック"/>
              </a:rPr>
              <a:t>2</a:t>
            </a:r>
            <a:r>
              <a:rPr lang="en-US" baseline="30000" dirty="0">
                <a:ea typeface="ＭＳ Ｐゴシック"/>
              </a:rPr>
              <a:t>N</a:t>
            </a:r>
            <a:r>
              <a:rPr lang="en-US" dirty="0">
                <a:ea typeface="ＭＳ Ｐゴシック"/>
              </a:rPr>
              <a:t>-1).</a:t>
            </a:r>
            <a:endParaRPr lang="en-US" altLang="en-US" dirty="0">
              <a:ea typeface="ＭＳ Ｐゴシック"/>
            </a:endParaRPr>
          </a:p>
          <a:p>
            <a:pPr marL="398145" lvl="1" indent="-166370"/>
            <a:r>
              <a:rPr lang="en-US" dirty="0">
                <a:ea typeface="ＭＳ Ｐゴシック"/>
              </a:rPr>
              <a:t>N=number of bits of the address bus</a:t>
            </a:r>
            <a:endParaRPr lang="en-US" dirty="0">
              <a:ea typeface="ＭＳ Ｐゴシック"/>
              <a:cs typeface="Calibri"/>
            </a:endParaRPr>
          </a:p>
          <a:p>
            <a:pPr marL="398145" lvl="1" indent="-166370"/>
            <a:r>
              <a:rPr lang="en-US" altLang="en-US" dirty="0">
                <a:ea typeface="ＭＳ Ｐゴシック"/>
              </a:rPr>
              <a:t>a 32-bit address bus implies 2^32 (~4 billion ) addresses</a:t>
            </a:r>
            <a:endParaRPr lang="en-US" altLang="en-US" dirty="0">
              <a:ea typeface="ＭＳ Ｐゴシック"/>
              <a:cs typeface="Calibri"/>
            </a:endParaRPr>
          </a:p>
          <a:p>
            <a:r>
              <a:rPr lang="en-US" dirty="0">
                <a:ea typeface="ＭＳ Ｐゴシック"/>
              </a:rPr>
              <a:t>Each device (e.g., memory, I/O) is associated with a range of addresses.</a:t>
            </a:r>
          </a:p>
          <a:p>
            <a:r>
              <a:rPr lang="en-US" dirty="0"/>
              <a:t>The </a:t>
            </a:r>
            <a:r>
              <a:rPr lang="en-US" dirty="0">
                <a:solidFill>
                  <a:srgbClr val="128CAB"/>
                </a:solidFill>
              </a:rPr>
              <a:t>memory map</a:t>
            </a:r>
            <a:r>
              <a:rPr lang="en-US" dirty="0"/>
              <a:t> describes this association for all the devices.</a:t>
            </a:r>
            <a:endParaRPr lang="en-US" altLang="en-US" dirty="0">
              <a:ea typeface="ＭＳ Ｐゴシック" panose="020B0600070205080204" pitchFamily="34" charset="-128"/>
            </a:endParaRPr>
          </a:p>
          <a:p>
            <a:pPr marL="855345" lvl="2" indent="-166370"/>
            <a:endParaRPr lang="en-US" altLang="en-US" dirty="0">
              <a:ea typeface="ＭＳ Ｐゴシック" panose="020B0600070205080204" pitchFamily="34" charset="-128"/>
              <a:cs typeface="Calibri"/>
            </a:endParaRPr>
          </a:p>
        </p:txBody>
      </p:sp>
      <p:pic>
        <p:nvPicPr>
          <p:cNvPr id="5" name="Picture 4">
            <a:extLst>
              <a:ext uri="{FF2B5EF4-FFF2-40B4-BE49-F238E27FC236}">
                <a16:creationId xmlns:a16="http://schemas.microsoft.com/office/drawing/2014/main" id="{38EFE3E9-8AC8-4C4E-A74B-1CDE01121F4A}"/>
              </a:ext>
            </a:extLst>
          </p:cNvPr>
          <p:cNvPicPr>
            <a:picLocks noChangeAspect="1"/>
          </p:cNvPicPr>
          <p:nvPr/>
        </p:nvPicPr>
        <p:blipFill>
          <a:blip r:embed="rId3"/>
          <a:stretch>
            <a:fillRect/>
          </a:stretch>
        </p:blipFill>
        <p:spPr>
          <a:xfrm>
            <a:off x="7757267" y="1234630"/>
            <a:ext cx="2884920" cy="4856794"/>
          </a:xfrm>
          <a:prstGeom prst="rect">
            <a:avLst/>
          </a:prstGeom>
        </p:spPr>
      </p:pic>
      <p:sp>
        <p:nvSpPr>
          <p:cNvPr id="6" name="TextBox 5">
            <a:extLst>
              <a:ext uri="{FF2B5EF4-FFF2-40B4-BE49-F238E27FC236}">
                <a16:creationId xmlns:a16="http://schemas.microsoft.com/office/drawing/2014/main" id="{A28CEF26-8F08-4AB5-A3F6-734E8EF1445A}"/>
              </a:ext>
            </a:extLst>
          </p:cNvPr>
          <p:cNvSpPr txBox="1"/>
          <p:nvPr/>
        </p:nvSpPr>
        <p:spPr>
          <a:xfrm>
            <a:off x="8113877" y="438000"/>
            <a:ext cx="2171700" cy="738000"/>
          </a:xfrm>
          <a:prstGeom prst="rect">
            <a:avLst/>
          </a:prstGeom>
        </p:spPr>
        <p:txBody>
          <a:bodyPr vert="horz" wrap="none" lIns="0" tIns="0" rIns="0" bIns="0" rtlCol="0" anchor="t">
            <a:noAutofit/>
          </a:bodyPr>
          <a:lstStyle/>
          <a:p>
            <a:pPr algn="ctr"/>
            <a:r>
              <a:rPr lang="en-US" dirty="0"/>
              <a:t>Memory map of NXP </a:t>
            </a:r>
            <a:br>
              <a:rPr lang="en-US" dirty="0"/>
            </a:br>
            <a:r>
              <a:rPr lang="en-US" dirty="0"/>
              <a:t>LPC1768 (Cortex-M3)</a:t>
            </a:r>
          </a:p>
        </p:txBody>
      </p:sp>
    </p:spTree>
    <p:extLst>
      <p:ext uri="{BB962C8B-B14F-4D97-AF65-F5344CB8AC3E}">
        <p14:creationId xmlns:p14="http://schemas.microsoft.com/office/powerpoint/2010/main" val="4233775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rgbClr val="128CAB"/>
                </a:solidFill>
              </a:rPr>
              <a:t>Bootloader</a:t>
            </a:r>
          </a:p>
          <a:p>
            <a:r>
              <a:rPr lang="en-US" dirty="0"/>
              <a:t>Kernel</a:t>
            </a:r>
          </a:p>
          <a:p>
            <a:r>
              <a:rPr lang="en-US" dirty="0">
                <a:ea typeface="ＭＳ Ｐゴシック"/>
              </a:rPr>
              <a:t>Device Tree</a:t>
            </a:r>
            <a:endParaRPr lang="en-US"/>
          </a:p>
          <a:p>
            <a:r>
              <a:rPr lang="en-US">
                <a:ea typeface="ＭＳ Ｐゴシック"/>
              </a:rPr>
              <a:t>System Programs</a:t>
            </a:r>
            <a:endParaRPr lang="en-US"/>
          </a:p>
          <a:p>
            <a:r>
              <a:rPr lang="en-US" dirty="0"/>
              <a:t>Application</a:t>
            </a:r>
          </a:p>
          <a:p>
            <a:r>
              <a:rPr lang="en-US" dirty="0">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4611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Role of the Bootloader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A processor is designed to run software from “somewhere”.</a:t>
            </a:r>
          </a:p>
          <a:p>
            <a:r>
              <a:rPr lang="en-US" dirty="0"/>
              <a:t>To start running the software, the processor needs to know:</a:t>
            </a:r>
            <a:endParaRPr lang="en-US" altLang="en-US" dirty="0">
              <a:ea typeface="ＭＳ Ｐゴシック" panose="020B0600070205080204" pitchFamily="34" charset="-128"/>
            </a:endParaRPr>
          </a:p>
          <a:p>
            <a:pPr lvl="1"/>
            <a:r>
              <a:rPr lang="en-US" dirty="0"/>
              <a:t>Where the software is located</a:t>
            </a:r>
          </a:p>
          <a:p>
            <a:pPr lvl="1"/>
            <a:r>
              <a:rPr lang="en-US" dirty="0"/>
              <a:t>How to get access to the software location</a:t>
            </a:r>
          </a:p>
          <a:p>
            <a:pPr lvl="1"/>
            <a:r>
              <a:rPr lang="en-US" dirty="0"/>
              <a:t>Where the stack is located</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161896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Role of the Bootloader</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When </a:t>
            </a:r>
            <a:r>
              <a:rPr lang="en-US" dirty="0">
                <a:solidFill>
                  <a:srgbClr val="128CAB"/>
                </a:solidFill>
              </a:rPr>
              <a:t>powered-up</a:t>
            </a:r>
            <a:r>
              <a:rPr lang="en-US" dirty="0"/>
              <a:t>, the processor needs a simple way to get the information it needs.</a:t>
            </a:r>
            <a:endParaRPr lang="en-US" altLang="en-US" dirty="0">
              <a:ea typeface="ＭＳ Ｐゴシック" panose="020B0600070205080204" pitchFamily="34" charset="-128"/>
            </a:endParaRPr>
          </a:p>
          <a:p>
            <a:pPr lvl="1"/>
            <a:r>
              <a:rPr lang="en-US" dirty="0"/>
              <a:t>Where the software is located</a:t>
            </a:r>
          </a:p>
          <a:p>
            <a:pPr lvl="1"/>
            <a:r>
              <a:rPr lang="en-US" dirty="0"/>
              <a:t>How to get access to the software location</a:t>
            </a:r>
          </a:p>
          <a:p>
            <a:pPr lvl="1"/>
            <a:r>
              <a:rPr lang="en-US" dirty="0"/>
              <a:t>Where the stack is located</a:t>
            </a:r>
          </a:p>
          <a:p>
            <a:r>
              <a:rPr lang="en-US" dirty="0">
                <a:sym typeface="Wingdings"/>
              </a:rPr>
              <a:t>At power-up, the </a:t>
            </a:r>
            <a:r>
              <a:rPr lang="en-US" dirty="0">
                <a:solidFill>
                  <a:srgbClr val="128CAB"/>
                </a:solidFill>
                <a:sym typeface="Wingdings"/>
              </a:rPr>
              <a:t>program counter </a:t>
            </a:r>
            <a:r>
              <a:rPr lang="en-US" dirty="0">
                <a:sym typeface="Wingdings"/>
              </a:rPr>
              <a:t>is set to a default known value, the </a:t>
            </a:r>
            <a:r>
              <a:rPr lang="en-US" dirty="0">
                <a:solidFill>
                  <a:srgbClr val="128CAB"/>
                </a:solidFill>
                <a:sym typeface="Wingdings"/>
              </a:rPr>
              <a:t>reset vector.</a:t>
            </a:r>
            <a:endParaRPr lang="en-US" altLang="en-US" dirty="0">
              <a:ea typeface="ＭＳ Ｐゴシック" panose="020B0600070205080204" pitchFamily="34" charset="-128"/>
            </a:endParaRPr>
          </a:p>
          <a:p>
            <a:pPr lvl="1"/>
            <a:r>
              <a:rPr lang="en-US" dirty="0"/>
              <a:t>The software starting at the reset vector, which will load the </a:t>
            </a:r>
            <a:r>
              <a:rPr lang="en-US" dirty="0">
                <a:solidFill>
                  <a:schemeClr val="accent1"/>
                </a:solidFill>
              </a:rPr>
              <a:t>bootloader</a:t>
            </a:r>
            <a:r>
              <a:rPr lang="en-US" dirty="0"/>
              <a:t>, which takes care of providing the processor all the needed information.</a:t>
            </a:r>
          </a:p>
          <a:p>
            <a:pPr lvl="1"/>
            <a:r>
              <a:rPr lang="en-US" dirty="0"/>
              <a:t>The operations performed depend on the system architecture.</a:t>
            </a: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12314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Possible Scenarios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292133" cy="4086225"/>
          </a:xfrm>
        </p:spPr>
        <p:txBody>
          <a:bodyPr wrap="square" numCol="1" anchor="t" anchorCtr="0" compatLnSpc="1">
            <a:prstTxWarp prst="textNoShape">
              <a:avLst/>
            </a:prstTxWarp>
          </a:bodyPr>
          <a:lstStyle/>
          <a:p>
            <a:r>
              <a:rPr lang="en-US" dirty="0">
                <a:solidFill>
                  <a:srgbClr val="128CAB"/>
                </a:solidFill>
              </a:rPr>
              <a:t>Scenario 1</a:t>
            </a:r>
            <a:r>
              <a:rPr lang="en-US" dirty="0"/>
              <a:t>, typical of microcontrollers</a:t>
            </a:r>
            <a:endParaRPr lang="en-US" altLang="en-US" dirty="0">
              <a:ea typeface="ＭＳ Ｐゴシック" panose="020B0600070205080204" pitchFamily="34" charset="-128"/>
            </a:endParaRPr>
          </a:p>
          <a:p>
            <a:pPr marL="398145" lvl="1" indent="-166370"/>
            <a:r>
              <a:rPr lang="en-US" dirty="0"/>
              <a:t>All the software (bootloader + device tree + operating system + root filesystem) is stored in persistent storage (boot flash) embedded in the microcontroller.</a:t>
            </a:r>
            <a:endParaRPr lang="en-US" dirty="0">
              <a:cs typeface="Calibri"/>
            </a:endParaRPr>
          </a:p>
          <a:p>
            <a:pPr marL="398145" lvl="1" indent="-166370"/>
            <a:r>
              <a:rPr lang="en-US" dirty="0"/>
              <a:t>All the software is executed from the persistent storage.</a:t>
            </a:r>
            <a:endParaRPr lang="en-US" dirty="0">
              <a:cs typeface="Calibri"/>
            </a:endParaRPr>
          </a:p>
          <a:p>
            <a:pPr marL="398145" lvl="1" indent="-166370"/>
            <a:r>
              <a:rPr lang="en-US" dirty="0">
                <a:ea typeface="ＭＳ Ｐゴシック"/>
              </a:rPr>
              <a:t>The CPU reset vector is located in the boot flash.</a:t>
            </a:r>
            <a:endParaRPr lang="en-US" dirty="0">
              <a:ea typeface="ＭＳ Ｐゴシック"/>
              <a:cs typeface="Calibri"/>
            </a:endParaRPr>
          </a:p>
          <a:p>
            <a:pPr marL="398145" lvl="1" indent="-166370"/>
            <a:r>
              <a:rPr lang="en-US" dirty="0">
                <a:ea typeface="ＭＳ Ｐゴシック"/>
              </a:rPr>
              <a:t>The RAM is embedded in the microcontroller and is used for data, stack and heap only.</a:t>
            </a:r>
            <a:endParaRPr lang="en-US" altLang="en-US" dirty="0">
              <a:ea typeface="ＭＳ Ｐゴシック"/>
              <a:cs typeface="Calibri"/>
            </a:endParaRPr>
          </a:p>
        </p:txBody>
      </p:sp>
      <p:sp>
        <p:nvSpPr>
          <p:cNvPr id="5" name="TextBox 4">
            <a:extLst>
              <a:ext uri="{FF2B5EF4-FFF2-40B4-BE49-F238E27FC236}">
                <a16:creationId xmlns:a16="http://schemas.microsoft.com/office/drawing/2014/main" id="{DAEDC47F-0B94-45F7-9649-53EEBB9724C3}"/>
              </a:ext>
            </a:extLst>
          </p:cNvPr>
          <p:cNvSpPr txBox="1"/>
          <p:nvPr/>
        </p:nvSpPr>
        <p:spPr>
          <a:xfrm>
            <a:off x="871538" y="685800"/>
            <a:ext cx="914400" cy="914400"/>
          </a:xfrm>
          <a:prstGeom prst="rect">
            <a:avLst/>
          </a:prstGeom>
        </p:spPr>
        <p:txBody>
          <a:bodyPr vert="horz" wrap="none" lIns="0" tIns="0" rIns="0" bIns="0" rtlCol="0" anchor="t">
            <a:normAutofit/>
          </a:bodyPr>
          <a:lstStyle/>
          <a:p>
            <a:endParaRPr lang="en-US" dirty="0"/>
          </a:p>
        </p:txBody>
      </p:sp>
      <p:sp>
        <p:nvSpPr>
          <p:cNvPr id="6" name="Rectangle 5">
            <a:extLst>
              <a:ext uri="{FF2B5EF4-FFF2-40B4-BE49-F238E27FC236}">
                <a16:creationId xmlns:a16="http://schemas.microsoft.com/office/drawing/2014/main" id="{5EA836D8-F048-4C22-A64A-37D7B8B200A5}"/>
              </a:ext>
            </a:extLst>
          </p:cNvPr>
          <p:cNvSpPr/>
          <p:nvPr/>
        </p:nvSpPr>
        <p:spPr bwMode="auto">
          <a:xfrm>
            <a:off x="7367593" y="1025650"/>
            <a:ext cx="3762909" cy="258420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a:outerShdw blurRad="50800" dist="38100" dir="2700000" algn="br">
              <a:srgbClr val="000000">
                <a:alpha val="43000"/>
              </a:srgb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Tahoma" pitchFamily="34" charset="0"/>
            </a:endParaRPr>
          </a:p>
        </p:txBody>
      </p:sp>
      <p:grpSp>
        <p:nvGrpSpPr>
          <p:cNvPr id="7" name="Group 6">
            <a:extLst>
              <a:ext uri="{FF2B5EF4-FFF2-40B4-BE49-F238E27FC236}">
                <a16:creationId xmlns:a16="http://schemas.microsoft.com/office/drawing/2014/main" id="{18697CE4-E7C2-49F4-847C-7FE16892CB42}"/>
              </a:ext>
            </a:extLst>
          </p:cNvPr>
          <p:cNvGrpSpPr/>
          <p:nvPr/>
        </p:nvGrpSpPr>
        <p:grpSpPr>
          <a:xfrm>
            <a:off x="7647401" y="1476190"/>
            <a:ext cx="3188494" cy="1847658"/>
            <a:chOff x="759619" y="3809937"/>
            <a:chExt cx="3188494" cy="1847658"/>
          </a:xfrm>
          <a:effectLst>
            <a:outerShdw blurRad="50800" dist="76200" dir="2700000" algn="tl" rotWithShape="0">
              <a:prstClr val="black">
                <a:alpha val="40000"/>
              </a:prstClr>
            </a:outerShdw>
          </a:effectLst>
        </p:grpSpPr>
        <p:sp>
          <p:nvSpPr>
            <p:cNvPr id="8" name="TextBox 7">
              <a:extLst>
                <a:ext uri="{FF2B5EF4-FFF2-40B4-BE49-F238E27FC236}">
                  <a16:creationId xmlns:a16="http://schemas.microsoft.com/office/drawing/2014/main" id="{D50C63B7-3280-4CDA-AE7F-93DDE01FB305}"/>
                </a:ext>
              </a:extLst>
            </p:cNvPr>
            <p:cNvSpPr txBox="1"/>
            <p:nvPr/>
          </p:nvSpPr>
          <p:spPr>
            <a:xfrm>
              <a:off x="1985963" y="3810935"/>
              <a:ext cx="942975" cy="923330"/>
            </a:xfrm>
            <a:prstGeom prst="rect">
              <a:avLst/>
            </a:prstGeom>
            <a:solidFill>
              <a:srgbClr val="128CAB"/>
            </a:solidFill>
            <a:ln>
              <a:solidFill>
                <a:schemeClr val="tx1"/>
              </a:solidFill>
            </a:ln>
            <a:effectLst/>
          </p:spPr>
          <p:txBody>
            <a:bodyPr wrap="square" rtlCol="0">
              <a:spAutoFit/>
            </a:bodyPr>
            <a:lstStyle/>
            <a:p>
              <a:pPr algn="ctr"/>
              <a:endParaRPr lang="en-US" dirty="0">
                <a:solidFill>
                  <a:schemeClr val="bg1"/>
                </a:solidFill>
              </a:endParaRPr>
            </a:p>
            <a:p>
              <a:pPr algn="ctr"/>
              <a:r>
                <a:rPr lang="en-US" dirty="0">
                  <a:solidFill>
                    <a:schemeClr val="bg1"/>
                  </a:solidFill>
                </a:rPr>
                <a:t>CPU</a:t>
              </a:r>
            </a:p>
            <a:p>
              <a:pPr algn="ctr"/>
              <a:endParaRPr lang="en-US" dirty="0">
                <a:solidFill>
                  <a:schemeClr val="bg1"/>
                </a:solidFill>
              </a:endParaRPr>
            </a:p>
          </p:txBody>
        </p:sp>
        <p:sp>
          <p:nvSpPr>
            <p:cNvPr id="9" name="TextBox 8">
              <a:extLst>
                <a:ext uri="{FF2B5EF4-FFF2-40B4-BE49-F238E27FC236}">
                  <a16:creationId xmlns:a16="http://schemas.microsoft.com/office/drawing/2014/main" id="{DA0A6F85-1665-4DDD-9372-B7E01AE44DC6}"/>
                </a:ext>
              </a:extLst>
            </p:cNvPr>
            <p:cNvSpPr txBox="1"/>
            <p:nvPr/>
          </p:nvSpPr>
          <p:spPr>
            <a:xfrm>
              <a:off x="2928938" y="3809937"/>
              <a:ext cx="1019175" cy="1847658"/>
            </a:xfrm>
            <a:prstGeom prst="rect">
              <a:avLst/>
            </a:prstGeom>
            <a:solidFill>
              <a:srgbClr val="008000"/>
            </a:solidFill>
            <a:ln>
              <a:solidFill>
                <a:schemeClr val="tx1"/>
              </a:solidFill>
            </a:ln>
            <a:effectLst/>
          </p:spPr>
          <p:txBody>
            <a:bodyPr wrap="square" rtlCol="0" anchor="ctr">
              <a:noAutofit/>
            </a:bodyPr>
            <a:lstStyle/>
            <a:p>
              <a:pPr algn="ctr"/>
              <a:r>
                <a:rPr lang="en-US" dirty="0">
                  <a:solidFill>
                    <a:schemeClr val="bg1"/>
                  </a:solidFill>
                </a:rPr>
                <a:t>Boot Flash</a:t>
              </a:r>
            </a:p>
          </p:txBody>
        </p:sp>
        <p:sp>
          <p:nvSpPr>
            <p:cNvPr id="10" name="TextBox 9">
              <a:extLst>
                <a:ext uri="{FF2B5EF4-FFF2-40B4-BE49-F238E27FC236}">
                  <a16:creationId xmlns:a16="http://schemas.microsoft.com/office/drawing/2014/main" id="{4CD49316-7FD1-4198-AD4E-B23F4DD75169}"/>
                </a:ext>
              </a:extLst>
            </p:cNvPr>
            <p:cNvSpPr txBox="1"/>
            <p:nvPr/>
          </p:nvSpPr>
          <p:spPr>
            <a:xfrm>
              <a:off x="1985963" y="4734265"/>
              <a:ext cx="942975" cy="923330"/>
            </a:xfrm>
            <a:prstGeom prst="rect">
              <a:avLst/>
            </a:prstGeom>
            <a:solidFill>
              <a:srgbClr val="0070C0"/>
            </a:solidFill>
            <a:ln>
              <a:solidFill>
                <a:schemeClr val="tx1"/>
              </a:solidFill>
            </a:ln>
            <a:effectLst/>
          </p:spPr>
          <p:txBody>
            <a:bodyPr wrap="square" rtlCol="0">
              <a:spAutoFit/>
            </a:bodyPr>
            <a:lstStyle/>
            <a:p>
              <a:pPr algn="ctr"/>
              <a:endParaRPr lang="en-US" dirty="0">
                <a:solidFill>
                  <a:srgbClr val="FFFFFF"/>
                </a:solidFill>
              </a:endParaRPr>
            </a:p>
            <a:p>
              <a:pPr algn="ctr"/>
              <a:r>
                <a:rPr lang="en-US" dirty="0">
                  <a:solidFill>
                    <a:srgbClr val="FFFFFF"/>
                  </a:solidFill>
                </a:rPr>
                <a:t>I/O</a:t>
              </a:r>
            </a:p>
            <a:p>
              <a:pPr algn="ctr"/>
              <a:endParaRPr lang="en-US" dirty="0">
                <a:solidFill>
                  <a:srgbClr val="FFFFFF"/>
                </a:solidFill>
              </a:endParaRPr>
            </a:p>
          </p:txBody>
        </p:sp>
        <p:sp>
          <p:nvSpPr>
            <p:cNvPr id="11" name="TextBox 10">
              <a:extLst>
                <a:ext uri="{FF2B5EF4-FFF2-40B4-BE49-F238E27FC236}">
                  <a16:creationId xmlns:a16="http://schemas.microsoft.com/office/drawing/2014/main" id="{4E679EED-9C0B-49AF-94DE-01A2B325E100}"/>
                </a:ext>
              </a:extLst>
            </p:cNvPr>
            <p:cNvSpPr txBox="1"/>
            <p:nvPr/>
          </p:nvSpPr>
          <p:spPr>
            <a:xfrm>
              <a:off x="759619" y="3809951"/>
              <a:ext cx="1226344" cy="1847644"/>
            </a:xfrm>
            <a:prstGeom prst="rect">
              <a:avLst/>
            </a:prstGeom>
            <a:solidFill>
              <a:srgbClr val="00B0F0"/>
            </a:solidFill>
            <a:ln>
              <a:solidFill>
                <a:schemeClr val="tx1"/>
              </a:solidFill>
            </a:ln>
            <a:effectLst/>
          </p:spPr>
          <p:txBody>
            <a:bodyPr wrap="square" lIns="91440" tIns="45720" rIns="91440" bIns="45720" rtlCol="0" anchor="t">
              <a:noAutofit/>
            </a:bodyPr>
            <a:lstStyle/>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latin typeface="Calibri"/>
                  <a:ea typeface="ＭＳ Ｐゴシック"/>
                  <a:cs typeface="Calibri"/>
                </a:rPr>
                <a:t>RAM</a:t>
              </a:r>
            </a:p>
            <a:p>
              <a:pPr algn="ctr"/>
              <a:endParaRPr lang="en-US" dirty="0">
                <a:solidFill>
                  <a:schemeClr val="bg1"/>
                </a:solidFill>
              </a:endParaRPr>
            </a:p>
            <a:p>
              <a:pPr algn="ctr"/>
              <a:endParaRPr lang="en-US" dirty="0">
                <a:solidFill>
                  <a:schemeClr val="bg1"/>
                </a:solidFill>
              </a:endParaRPr>
            </a:p>
          </p:txBody>
        </p:sp>
      </p:grpSp>
      <p:sp>
        <p:nvSpPr>
          <p:cNvPr id="12" name="Rectangle 11">
            <a:extLst>
              <a:ext uri="{FF2B5EF4-FFF2-40B4-BE49-F238E27FC236}">
                <a16:creationId xmlns:a16="http://schemas.microsoft.com/office/drawing/2014/main" id="{30E546CD-D9A2-4446-9F0E-BBB7FF7D4DAB}"/>
              </a:ext>
            </a:extLst>
          </p:cNvPr>
          <p:cNvSpPr/>
          <p:nvPr/>
        </p:nvSpPr>
        <p:spPr>
          <a:xfrm>
            <a:off x="7523575" y="1366715"/>
            <a:ext cx="3420000" cy="209244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D6FBEF8-A465-4CC7-94A0-99E32CBC0E00}"/>
              </a:ext>
            </a:extLst>
          </p:cNvPr>
          <p:cNvSpPr txBox="1"/>
          <p:nvPr/>
        </p:nvSpPr>
        <p:spPr>
          <a:xfrm>
            <a:off x="7503339" y="1025650"/>
            <a:ext cx="2171700" cy="300037"/>
          </a:xfrm>
          <a:prstGeom prst="rect">
            <a:avLst/>
          </a:prstGeom>
        </p:spPr>
        <p:txBody>
          <a:bodyPr vert="horz" wrap="none" lIns="0" tIns="0" rIns="0" bIns="0" rtlCol="0" anchor="t">
            <a:normAutofit/>
          </a:bodyPr>
          <a:lstStyle/>
          <a:p>
            <a:pPr algn="ctr"/>
            <a:r>
              <a:rPr lang="en-US" dirty="0">
                <a:solidFill>
                  <a:srgbClr val="128CAB"/>
                </a:solidFill>
              </a:rPr>
              <a:t>Microcontroller (MCU)</a:t>
            </a:r>
            <a:endParaRPr lang="en-US" dirty="0"/>
          </a:p>
        </p:txBody>
      </p:sp>
      <p:sp>
        <p:nvSpPr>
          <p:cNvPr id="14" name="CasellaDiTesto 6">
            <a:extLst>
              <a:ext uri="{FF2B5EF4-FFF2-40B4-BE49-F238E27FC236}">
                <a16:creationId xmlns:a16="http://schemas.microsoft.com/office/drawing/2014/main" id="{05202456-F5D9-4C30-9DDA-AE8D959D3ABE}"/>
              </a:ext>
            </a:extLst>
          </p:cNvPr>
          <p:cNvSpPr txBox="1"/>
          <p:nvPr/>
        </p:nvSpPr>
        <p:spPr>
          <a:xfrm>
            <a:off x="9739731" y="5745022"/>
            <a:ext cx="1169184" cy="351651"/>
          </a:xfrm>
          <a:prstGeom prst="roundRect">
            <a:avLst>
              <a:gd name="adj" fmla="val 7167"/>
            </a:avLst>
          </a:prstGeom>
          <a:solidFill>
            <a:schemeClr val="accent4">
              <a:lumMod val="75000"/>
            </a:schemeClr>
          </a:solidFill>
          <a:ln>
            <a:solidFill>
              <a:schemeClr val="tx1"/>
            </a:solidFill>
          </a:ln>
        </p:spPr>
        <p:txBody>
          <a:bodyPr wrap="square" rtlCol="0" anchor="ctr">
            <a:spAutoFit/>
          </a:bodyPr>
          <a:lstStyle/>
          <a:p>
            <a:pPr algn="ctr"/>
            <a:r>
              <a:rPr lang="en-US" sz="1600" dirty="0">
                <a:solidFill>
                  <a:schemeClr val="bg1"/>
                </a:solidFill>
              </a:rPr>
              <a:t>Bootloader</a:t>
            </a:r>
          </a:p>
        </p:txBody>
      </p:sp>
      <p:sp>
        <p:nvSpPr>
          <p:cNvPr id="15" name="CasellaDiTesto 6">
            <a:extLst>
              <a:ext uri="{FF2B5EF4-FFF2-40B4-BE49-F238E27FC236}">
                <a16:creationId xmlns:a16="http://schemas.microsoft.com/office/drawing/2014/main" id="{33DEC001-2024-4CBA-9802-E46EF3A48B9A}"/>
              </a:ext>
            </a:extLst>
          </p:cNvPr>
          <p:cNvSpPr txBox="1"/>
          <p:nvPr/>
        </p:nvSpPr>
        <p:spPr>
          <a:xfrm>
            <a:off x="9739731" y="4818952"/>
            <a:ext cx="1169184" cy="607397"/>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1600" dirty="0">
                <a:solidFill>
                  <a:schemeClr val="bg1"/>
                </a:solidFill>
              </a:rPr>
              <a:t>Operating System</a:t>
            </a:r>
          </a:p>
        </p:txBody>
      </p:sp>
      <p:sp>
        <p:nvSpPr>
          <p:cNvPr id="16" name="CasellaDiTesto 8">
            <a:extLst>
              <a:ext uri="{FF2B5EF4-FFF2-40B4-BE49-F238E27FC236}">
                <a16:creationId xmlns:a16="http://schemas.microsoft.com/office/drawing/2014/main" id="{B8889ECF-B1DB-410B-B06A-7FC61CFD93F5}"/>
              </a:ext>
            </a:extLst>
          </p:cNvPr>
          <p:cNvSpPr txBox="1"/>
          <p:nvPr/>
        </p:nvSpPr>
        <p:spPr>
          <a:xfrm>
            <a:off x="9739731" y="3879281"/>
            <a:ext cx="1169184" cy="432000"/>
          </a:xfrm>
          <a:prstGeom prst="roundRect">
            <a:avLst>
              <a:gd name="adj" fmla="val 12593"/>
            </a:avLst>
          </a:prstGeom>
          <a:solidFill>
            <a:schemeClr val="accent1"/>
          </a:solidFill>
          <a:ln>
            <a:solidFill>
              <a:schemeClr val="tx1"/>
            </a:solidFill>
          </a:ln>
        </p:spPr>
        <p:txBody>
          <a:bodyPr wrap="square" rtlCol="0" anchor="ctr">
            <a:normAutofit/>
          </a:bodyPr>
          <a:lstStyle/>
          <a:p>
            <a:pPr algn="ctr"/>
            <a:r>
              <a:rPr lang="en-US" sz="1600" dirty="0">
                <a:solidFill>
                  <a:schemeClr val="bg1"/>
                </a:solidFill>
              </a:rPr>
              <a:t>Application</a:t>
            </a:r>
          </a:p>
        </p:txBody>
      </p:sp>
      <p:sp>
        <p:nvSpPr>
          <p:cNvPr id="17" name="CasellaDiTesto 6">
            <a:extLst>
              <a:ext uri="{FF2B5EF4-FFF2-40B4-BE49-F238E27FC236}">
                <a16:creationId xmlns:a16="http://schemas.microsoft.com/office/drawing/2014/main" id="{443F7A61-CF1E-469E-872F-27A8C94928A9}"/>
              </a:ext>
            </a:extLst>
          </p:cNvPr>
          <p:cNvSpPr txBox="1"/>
          <p:nvPr/>
        </p:nvSpPr>
        <p:spPr>
          <a:xfrm>
            <a:off x="9739731" y="4306527"/>
            <a:ext cx="1169184" cy="522368"/>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600" dirty="0">
                <a:solidFill>
                  <a:schemeClr val="bg1"/>
                </a:solidFill>
              </a:rPr>
              <a:t>System Programs</a:t>
            </a:r>
          </a:p>
        </p:txBody>
      </p:sp>
      <p:cxnSp>
        <p:nvCxnSpPr>
          <p:cNvPr id="18" name="Straight Arrow Connector 17">
            <a:extLst>
              <a:ext uri="{FF2B5EF4-FFF2-40B4-BE49-F238E27FC236}">
                <a16:creationId xmlns:a16="http://schemas.microsoft.com/office/drawing/2014/main" id="{27D5AF80-1CE2-4009-9CAD-704F4F1149DB}"/>
              </a:ext>
            </a:extLst>
          </p:cNvPr>
          <p:cNvCxnSpPr>
            <a:stCxn id="16" idx="0"/>
            <a:endCxn id="9" idx="2"/>
          </p:cNvCxnSpPr>
          <p:nvPr/>
        </p:nvCxnSpPr>
        <p:spPr>
          <a:xfrm flipV="1">
            <a:off x="10324323" y="3323848"/>
            <a:ext cx="1985" cy="5554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CasellaDiTesto 8">
            <a:extLst>
              <a:ext uri="{FF2B5EF4-FFF2-40B4-BE49-F238E27FC236}">
                <a16:creationId xmlns:a16="http://schemas.microsoft.com/office/drawing/2014/main" id="{69DEFB45-268F-4B29-BAE4-35BDC429CDE2}"/>
              </a:ext>
            </a:extLst>
          </p:cNvPr>
          <p:cNvSpPr txBox="1"/>
          <p:nvPr/>
        </p:nvSpPr>
        <p:spPr>
          <a:xfrm>
            <a:off x="7599108" y="3860751"/>
            <a:ext cx="1320808" cy="1069192"/>
          </a:xfrm>
          <a:prstGeom prst="roundRect">
            <a:avLst>
              <a:gd name="adj" fmla="val 12593"/>
            </a:avLst>
          </a:prstGeom>
          <a:solidFill>
            <a:srgbClr val="00B0F0"/>
          </a:solidFill>
          <a:ln>
            <a:solidFill>
              <a:schemeClr val="tx1"/>
            </a:solidFill>
          </a:ln>
        </p:spPr>
        <p:txBody>
          <a:bodyPr wrap="square" rtlCol="0" anchor="ctr">
            <a:normAutofit/>
          </a:bodyPr>
          <a:lstStyle/>
          <a:p>
            <a:pPr algn="ctr"/>
            <a:r>
              <a:rPr lang="en-US" sz="1600" dirty="0">
                <a:solidFill>
                  <a:schemeClr val="bg1"/>
                </a:solidFill>
              </a:rPr>
              <a:t>Data</a:t>
            </a:r>
          </a:p>
          <a:p>
            <a:pPr algn="ctr"/>
            <a:r>
              <a:rPr lang="en-US" sz="1600" dirty="0">
                <a:solidFill>
                  <a:schemeClr val="bg1"/>
                </a:solidFill>
              </a:rPr>
              <a:t>Stack</a:t>
            </a:r>
          </a:p>
          <a:p>
            <a:pPr algn="ctr"/>
            <a:r>
              <a:rPr lang="en-US" sz="1600" dirty="0">
                <a:solidFill>
                  <a:schemeClr val="bg1"/>
                </a:solidFill>
              </a:rPr>
              <a:t>Heap</a:t>
            </a:r>
          </a:p>
        </p:txBody>
      </p:sp>
      <p:cxnSp>
        <p:nvCxnSpPr>
          <p:cNvPr id="20" name="Straight Arrow Connector 19">
            <a:extLst>
              <a:ext uri="{FF2B5EF4-FFF2-40B4-BE49-F238E27FC236}">
                <a16:creationId xmlns:a16="http://schemas.microsoft.com/office/drawing/2014/main" id="{E6193DBF-2BA4-4A18-A773-E4D103DA364E}"/>
              </a:ext>
            </a:extLst>
          </p:cNvPr>
          <p:cNvCxnSpPr>
            <a:stCxn id="19" idx="0"/>
          </p:cNvCxnSpPr>
          <p:nvPr/>
        </p:nvCxnSpPr>
        <p:spPr>
          <a:xfrm flipV="1">
            <a:off x="8259512" y="3316513"/>
            <a:ext cx="1" cy="54423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CasellaDiTesto 6">
            <a:extLst>
              <a:ext uri="{FF2B5EF4-FFF2-40B4-BE49-F238E27FC236}">
                <a16:creationId xmlns:a16="http://schemas.microsoft.com/office/drawing/2014/main" id="{43313D9E-F58F-4F6B-926B-4BE2D7B5BEAB}"/>
              </a:ext>
            </a:extLst>
          </p:cNvPr>
          <p:cNvSpPr txBox="1"/>
          <p:nvPr/>
        </p:nvSpPr>
        <p:spPr>
          <a:xfrm>
            <a:off x="9739731" y="5393371"/>
            <a:ext cx="1169184" cy="351651"/>
          </a:xfrm>
          <a:prstGeom prst="roundRect">
            <a:avLst>
              <a:gd name="adj" fmla="val 7167"/>
            </a:avLst>
          </a:prstGeom>
          <a:solidFill>
            <a:srgbClr val="002060"/>
          </a:solidFill>
          <a:ln>
            <a:solidFill>
              <a:schemeClr val="tx1"/>
            </a:solidFill>
          </a:ln>
        </p:spPr>
        <p:txBody>
          <a:bodyPr wrap="square" rtlCol="0" anchor="ctr">
            <a:spAutoFit/>
          </a:bodyPr>
          <a:lstStyle/>
          <a:p>
            <a:pPr algn="ctr"/>
            <a:r>
              <a:rPr lang="en-US" sz="1600" dirty="0">
                <a:solidFill>
                  <a:schemeClr val="bg1"/>
                </a:solidFill>
              </a:rPr>
              <a:t>Device tree</a:t>
            </a:r>
          </a:p>
        </p:txBody>
      </p:sp>
      <p:sp>
        <p:nvSpPr>
          <p:cNvPr id="22" name="Left Brace 21">
            <a:extLst>
              <a:ext uri="{FF2B5EF4-FFF2-40B4-BE49-F238E27FC236}">
                <a16:creationId xmlns:a16="http://schemas.microsoft.com/office/drawing/2014/main" id="{0C0C09EE-6AAE-44AD-A79F-745DBEB6199E}"/>
              </a:ext>
            </a:extLst>
          </p:cNvPr>
          <p:cNvSpPr/>
          <p:nvPr/>
        </p:nvSpPr>
        <p:spPr>
          <a:xfrm flipH="1">
            <a:off x="11003774" y="3879281"/>
            <a:ext cx="225196" cy="94961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E8625A63-B8B1-4C49-B7D2-77A16AD8023D}"/>
              </a:ext>
            </a:extLst>
          </p:cNvPr>
          <p:cNvSpPr txBox="1"/>
          <p:nvPr/>
        </p:nvSpPr>
        <p:spPr>
          <a:xfrm rot="5400000">
            <a:off x="11037406" y="4175137"/>
            <a:ext cx="878247" cy="409388"/>
          </a:xfrm>
          <a:prstGeom prst="rect">
            <a:avLst/>
          </a:prstGeom>
        </p:spPr>
        <p:txBody>
          <a:bodyPr vert="horz" wrap="none" lIns="0" tIns="0" rIns="0" bIns="0" rtlCol="0" anchor="t">
            <a:normAutofit fontScale="92500" lnSpcReduction="20000"/>
          </a:bodyPr>
          <a:lstStyle/>
          <a:p>
            <a:pPr algn="ctr"/>
            <a:r>
              <a:rPr lang="en-US" sz="1600"/>
              <a:t>Root File</a:t>
            </a:r>
            <a:br>
              <a:rPr lang="en-US" sz="1600"/>
            </a:br>
            <a:r>
              <a:rPr lang="en-US" sz="1600"/>
              <a:t> </a:t>
            </a:r>
            <a:r>
              <a:rPr lang="en-US" sz="1600" dirty="0"/>
              <a:t>System</a:t>
            </a:r>
          </a:p>
        </p:txBody>
      </p:sp>
    </p:spTree>
    <p:extLst>
      <p:ext uri="{BB962C8B-B14F-4D97-AF65-F5344CB8AC3E}">
        <p14:creationId xmlns:p14="http://schemas.microsoft.com/office/powerpoint/2010/main" val="2580369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Possible Scenarios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820185" cy="4086225"/>
          </a:xfrm>
        </p:spPr>
        <p:txBody>
          <a:bodyPr wrap="square" numCol="1" anchor="t" anchorCtr="0" compatLnSpc="1">
            <a:prstTxWarp prst="textNoShape">
              <a:avLst/>
            </a:prstTxWarp>
          </a:bodyPr>
          <a:lstStyle/>
          <a:p>
            <a:r>
              <a:rPr lang="en-US" dirty="0">
                <a:solidFill>
                  <a:srgbClr val="128CAB"/>
                </a:solidFill>
              </a:rPr>
              <a:t>Scenario 2</a:t>
            </a:r>
            <a:r>
              <a:rPr lang="en-US" dirty="0"/>
              <a:t>, typical of System-on-Chip</a:t>
            </a:r>
            <a:endParaRPr lang="en-US" altLang="en-US" dirty="0">
              <a:ea typeface="ＭＳ Ｐゴシック" panose="020B0600070205080204" pitchFamily="34" charset="-128"/>
            </a:endParaRPr>
          </a:p>
          <a:p>
            <a:pPr marL="398145" lvl="1" indent="-166370"/>
            <a:r>
              <a:rPr lang="en-US" dirty="0">
                <a:ea typeface="ＭＳ Ｐゴシック"/>
              </a:rPr>
              <a:t>The bootloader is stored into the boot flash.</a:t>
            </a:r>
            <a:endParaRPr lang="en-US" dirty="0">
              <a:ea typeface="ＭＳ Ｐゴシック"/>
              <a:cs typeface="Calibri"/>
            </a:endParaRPr>
          </a:p>
          <a:p>
            <a:pPr marL="398145" lvl="1" indent="-166370"/>
            <a:r>
              <a:rPr lang="en-US" dirty="0">
                <a:ea typeface="ＭＳ Ｐゴシック"/>
              </a:rPr>
              <a:t>The CPU reset vector is located in the boot flash.</a:t>
            </a:r>
            <a:endParaRPr lang="en-US" dirty="0">
              <a:ea typeface="ＭＳ Ｐゴシック"/>
              <a:cs typeface="Calibri"/>
            </a:endParaRPr>
          </a:p>
          <a:p>
            <a:pPr marL="398145" lvl="1" indent="-166370"/>
            <a:r>
              <a:rPr lang="en-US" dirty="0">
                <a:ea typeface="ＭＳ Ｐゴシック"/>
              </a:rPr>
              <a:t>The root filesystem, operating system, and device tree are stored in the mass memory flash and loaded in RAM by the bootloader.</a:t>
            </a:r>
            <a:endParaRPr lang="en-US" dirty="0">
              <a:ea typeface="ＭＳ Ｐゴシック"/>
              <a:cs typeface="Calibri"/>
            </a:endParaRPr>
          </a:p>
          <a:p>
            <a:pPr marL="398145" lvl="1" indent="-166370"/>
            <a:r>
              <a:rPr lang="en-US" dirty="0">
                <a:ea typeface="ＭＳ Ｐゴシック"/>
              </a:rPr>
              <a:t>The RAM is external to the </a:t>
            </a:r>
            <a:r>
              <a:rPr lang="en-US" dirty="0" err="1">
                <a:ea typeface="ＭＳ Ｐゴシック"/>
              </a:rPr>
              <a:t>SoC.</a:t>
            </a:r>
            <a:r>
              <a:rPr lang="en-US" dirty="0">
                <a:ea typeface="ＭＳ Ｐゴシック"/>
              </a:rPr>
              <a:t>  It will store the operating system + application software, root filesystem (if configured as RAM disk), data, stack, and heap.</a:t>
            </a:r>
            <a:endParaRPr lang="en-US" altLang="en-US" dirty="0">
              <a:ea typeface="ＭＳ Ｐゴシック"/>
              <a:cs typeface="Calibri"/>
            </a:endParaRPr>
          </a:p>
        </p:txBody>
      </p:sp>
      <p:sp>
        <p:nvSpPr>
          <p:cNvPr id="5" name="TextBox 4">
            <a:extLst>
              <a:ext uri="{FF2B5EF4-FFF2-40B4-BE49-F238E27FC236}">
                <a16:creationId xmlns:a16="http://schemas.microsoft.com/office/drawing/2014/main" id="{8E5556F2-11B7-4079-A1B8-265A1293461D}"/>
              </a:ext>
            </a:extLst>
          </p:cNvPr>
          <p:cNvSpPr txBox="1"/>
          <p:nvPr/>
        </p:nvSpPr>
        <p:spPr>
          <a:xfrm>
            <a:off x="871538" y="685800"/>
            <a:ext cx="914400" cy="914400"/>
          </a:xfrm>
          <a:prstGeom prst="rect">
            <a:avLst/>
          </a:prstGeom>
        </p:spPr>
        <p:txBody>
          <a:bodyPr vert="horz" wrap="none" lIns="0" tIns="0" rIns="0" bIns="0" rtlCol="0" anchor="t">
            <a:normAutofit/>
          </a:bodyPr>
          <a:lstStyle/>
          <a:p>
            <a:endParaRPr lang="en-US" dirty="0"/>
          </a:p>
        </p:txBody>
      </p:sp>
      <p:sp>
        <p:nvSpPr>
          <p:cNvPr id="6" name="Rectangle 5">
            <a:extLst>
              <a:ext uri="{FF2B5EF4-FFF2-40B4-BE49-F238E27FC236}">
                <a16:creationId xmlns:a16="http://schemas.microsoft.com/office/drawing/2014/main" id="{0CACC92C-93CB-4CE0-9EEE-6554A9D1FEBA}"/>
              </a:ext>
            </a:extLst>
          </p:cNvPr>
          <p:cNvSpPr/>
          <p:nvPr/>
        </p:nvSpPr>
        <p:spPr bwMode="auto">
          <a:xfrm>
            <a:off x="6503722" y="1257293"/>
            <a:ext cx="5314299" cy="258420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a:outerShdw blurRad="50800" dist="38100" dir="2700000" algn="br">
              <a:srgbClr val="000000">
                <a:alpha val="43000"/>
              </a:srgb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Tahoma" pitchFamily="34" charset="0"/>
            </a:endParaRPr>
          </a:p>
        </p:txBody>
      </p:sp>
      <p:sp>
        <p:nvSpPr>
          <p:cNvPr id="7" name="TextBox 6">
            <a:extLst>
              <a:ext uri="{FF2B5EF4-FFF2-40B4-BE49-F238E27FC236}">
                <a16:creationId xmlns:a16="http://schemas.microsoft.com/office/drawing/2014/main" id="{EDA78429-1787-4DC7-9BEE-B9849EFFAD8B}"/>
              </a:ext>
            </a:extLst>
          </p:cNvPr>
          <p:cNvSpPr txBox="1"/>
          <p:nvPr/>
        </p:nvSpPr>
        <p:spPr>
          <a:xfrm>
            <a:off x="10415465" y="1707833"/>
            <a:ext cx="1202060" cy="1847658"/>
          </a:xfrm>
          <a:prstGeom prst="rect">
            <a:avLst/>
          </a:prstGeom>
          <a:solidFill>
            <a:srgbClr val="92D050"/>
          </a:solidFill>
          <a:ln>
            <a:solidFill>
              <a:schemeClr val="tx1"/>
            </a:solidFill>
          </a:ln>
          <a:effectLst>
            <a:outerShdw blurRad="50800" dist="38100" dir="2700000" algn="br">
              <a:srgbClr val="000000">
                <a:alpha val="43000"/>
              </a:srgbClr>
            </a:outerShdw>
          </a:effectLst>
        </p:spPr>
        <p:txBody>
          <a:bodyPr wrap="square" rtlCol="0" anchor="ctr">
            <a:noAutofit/>
          </a:bodyPr>
          <a:lstStyle/>
          <a:p>
            <a:pPr algn="ctr"/>
            <a:endParaRPr lang="en-US" dirty="0">
              <a:solidFill>
                <a:srgbClr val="FFFFFF"/>
              </a:solidFill>
            </a:endParaRPr>
          </a:p>
          <a:p>
            <a:pPr algn="ctr"/>
            <a:r>
              <a:rPr lang="en-US" dirty="0">
                <a:solidFill>
                  <a:srgbClr val="FFFFFF"/>
                </a:solidFill>
              </a:rPr>
              <a:t>Mass Memory</a:t>
            </a:r>
          </a:p>
          <a:p>
            <a:pPr algn="ctr"/>
            <a:r>
              <a:rPr lang="en-US" dirty="0">
                <a:solidFill>
                  <a:srgbClr val="FFFFFF"/>
                </a:solidFill>
              </a:rPr>
              <a:t>Flash</a:t>
            </a:r>
          </a:p>
          <a:p>
            <a:pPr algn="ctr"/>
            <a:endParaRPr lang="en-US" dirty="0">
              <a:solidFill>
                <a:srgbClr val="FFFFFF"/>
              </a:solidFill>
            </a:endParaRPr>
          </a:p>
        </p:txBody>
      </p:sp>
      <p:grpSp>
        <p:nvGrpSpPr>
          <p:cNvPr id="8" name="Group 7">
            <a:extLst>
              <a:ext uri="{FF2B5EF4-FFF2-40B4-BE49-F238E27FC236}">
                <a16:creationId xmlns:a16="http://schemas.microsoft.com/office/drawing/2014/main" id="{F3283B01-8A92-489C-801D-AAE68681CF85}"/>
              </a:ext>
            </a:extLst>
          </p:cNvPr>
          <p:cNvGrpSpPr/>
          <p:nvPr/>
        </p:nvGrpSpPr>
        <p:grpSpPr>
          <a:xfrm>
            <a:off x="6762622" y="1707847"/>
            <a:ext cx="3445674" cy="1847644"/>
            <a:chOff x="502439" y="3809951"/>
            <a:chExt cx="3445674" cy="1847644"/>
          </a:xfrm>
          <a:effectLst>
            <a:outerShdw blurRad="50800" dist="76200" dir="2700000" algn="tl" rotWithShape="0">
              <a:prstClr val="black">
                <a:alpha val="40000"/>
              </a:prstClr>
            </a:outerShdw>
          </a:effectLst>
        </p:grpSpPr>
        <p:sp>
          <p:nvSpPr>
            <p:cNvPr id="9" name="TextBox 8">
              <a:extLst>
                <a:ext uri="{FF2B5EF4-FFF2-40B4-BE49-F238E27FC236}">
                  <a16:creationId xmlns:a16="http://schemas.microsoft.com/office/drawing/2014/main" id="{EA869DFE-C199-437B-A0B5-8BB94A6FB1CC}"/>
                </a:ext>
              </a:extLst>
            </p:cNvPr>
            <p:cNvSpPr txBox="1"/>
            <p:nvPr/>
          </p:nvSpPr>
          <p:spPr>
            <a:xfrm>
              <a:off x="1985963" y="3810935"/>
              <a:ext cx="1962150" cy="923330"/>
            </a:xfrm>
            <a:prstGeom prst="rect">
              <a:avLst/>
            </a:prstGeom>
            <a:solidFill>
              <a:srgbClr val="128CAB"/>
            </a:solidFill>
            <a:ln>
              <a:solidFill>
                <a:schemeClr val="tx1"/>
              </a:solidFill>
            </a:ln>
            <a:effectLst/>
          </p:spPr>
          <p:txBody>
            <a:bodyPr wrap="square" rtlCol="0">
              <a:spAutoFit/>
            </a:bodyPr>
            <a:lstStyle/>
            <a:p>
              <a:pPr algn="ctr"/>
              <a:endParaRPr lang="en-US" dirty="0">
                <a:solidFill>
                  <a:schemeClr val="bg1"/>
                </a:solidFill>
              </a:endParaRPr>
            </a:p>
            <a:p>
              <a:pPr algn="ctr"/>
              <a:r>
                <a:rPr lang="en-US" dirty="0">
                  <a:solidFill>
                    <a:schemeClr val="bg1"/>
                  </a:solidFill>
                </a:rPr>
                <a:t>CPU</a:t>
              </a:r>
            </a:p>
            <a:p>
              <a:pPr algn="ctr"/>
              <a:endParaRPr lang="en-US" dirty="0">
                <a:solidFill>
                  <a:schemeClr val="bg1"/>
                </a:solidFill>
              </a:endParaRPr>
            </a:p>
          </p:txBody>
        </p:sp>
        <p:sp>
          <p:nvSpPr>
            <p:cNvPr id="10" name="TextBox 9">
              <a:extLst>
                <a:ext uri="{FF2B5EF4-FFF2-40B4-BE49-F238E27FC236}">
                  <a16:creationId xmlns:a16="http://schemas.microsoft.com/office/drawing/2014/main" id="{DBF7723C-C180-4A60-BD1E-1F9BF4B02411}"/>
                </a:ext>
              </a:extLst>
            </p:cNvPr>
            <p:cNvSpPr txBox="1"/>
            <p:nvPr/>
          </p:nvSpPr>
          <p:spPr>
            <a:xfrm>
              <a:off x="2928938" y="4734265"/>
              <a:ext cx="1019175" cy="923330"/>
            </a:xfrm>
            <a:prstGeom prst="rect">
              <a:avLst/>
            </a:prstGeom>
            <a:solidFill>
              <a:srgbClr val="008000"/>
            </a:solidFill>
            <a:ln>
              <a:solidFill>
                <a:schemeClr val="tx1"/>
              </a:solidFill>
            </a:ln>
            <a:effectLst/>
          </p:spPr>
          <p:txBody>
            <a:bodyPr wrap="square" rtlCol="0" anchor="ctr">
              <a:noAutofit/>
            </a:bodyPr>
            <a:lstStyle/>
            <a:p>
              <a:pPr algn="ctr"/>
              <a:r>
                <a:rPr lang="en-US" dirty="0">
                  <a:solidFill>
                    <a:schemeClr val="bg1"/>
                  </a:solidFill>
                </a:rPr>
                <a:t>Boot Flash</a:t>
              </a:r>
            </a:p>
          </p:txBody>
        </p:sp>
        <p:sp>
          <p:nvSpPr>
            <p:cNvPr id="11" name="TextBox 10">
              <a:extLst>
                <a:ext uri="{FF2B5EF4-FFF2-40B4-BE49-F238E27FC236}">
                  <a16:creationId xmlns:a16="http://schemas.microsoft.com/office/drawing/2014/main" id="{6402D189-069A-4F27-8A68-EA0BE881CBE9}"/>
                </a:ext>
              </a:extLst>
            </p:cNvPr>
            <p:cNvSpPr txBox="1"/>
            <p:nvPr/>
          </p:nvSpPr>
          <p:spPr>
            <a:xfrm>
              <a:off x="1985963" y="4734265"/>
              <a:ext cx="942975" cy="923330"/>
            </a:xfrm>
            <a:prstGeom prst="rect">
              <a:avLst/>
            </a:prstGeom>
            <a:solidFill>
              <a:srgbClr val="0070C0"/>
            </a:solidFill>
            <a:ln>
              <a:solidFill>
                <a:schemeClr val="tx1"/>
              </a:solidFill>
            </a:ln>
            <a:effectLst/>
          </p:spPr>
          <p:txBody>
            <a:bodyPr wrap="square" rtlCol="0">
              <a:spAutoFit/>
            </a:bodyPr>
            <a:lstStyle/>
            <a:p>
              <a:pPr algn="ctr"/>
              <a:endParaRPr lang="en-US" dirty="0">
                <a:solidFill>
                  <a:srgbClr val="FFFFFF"/>
                </a:solidFill>
              </a:endParaRPr>
            </a:p>
            <a:p>
              <a:pPr algn="ctr"/>
              <a:r>
                <a:rPr lang="en-US" dirty="0">
                  <a:solidFill>
                    <a:srgbClr val="FFFFFF"/>
                  </a:solidFill>
                </a:rPr>
                <a:t>I/O</a:t>
              </a:r>
            </a:p>
            <a:p>
              <a:pPr algn="ctr"/>
              <a:endParaRPr lang="en-US" dirty="0">
                <a:solidFill>
                  <a:srgbClr val="FFFFFF"/>
                </a:solidFill>
              </a:endParaRPr>
            </a:p>
          </p:txBody>
        </p:sp>
        <p:sp>
          <p:nvSpPr>
            <p:cNvPr id="12" name="TextBox 11">
              <a:extLst>
                <a:ext uri="{FF2B5EF4-FFF2-40B4-BE49-F238E27FC236}">
                  <a16:creationId xmlns:a16="http://schemas.microsoft.com/office/drawing/2014/main" id="{FD1BD163-BFD2-45B1-8D7D-78B275B33FA4}"/>
                </a:ext>
              </a:extLst>
            </p:cNvPr>
            <p:cNvSpPr txBox="1"/>
            <p:nvPr/>
          </p:nvSpPr>
          <p:spPr>
            <a:xfrm>
              <a:off x="502439" y="3809951"/>
              <a:ext cx="1226344" cy="1847644"/>
            </a:xfrm>
            <a:prstGeom prst="rect">
              <a:avLst/>
            </a:prstGeom>
            <a:solidFill>
              <a:srgbClr val="00B0F0"/>
            </a:solidFill>
            <a:ln>
              <a:solidFill>
                <a:schemeClr val="tx1"/>
              </a:solidFill>
            </a:ln>
            <a:effectLst/>
          </p:spPr>
          <p:txBody>
            <a:bodyPr wrap="square" lIns="91440" tIns="45720" rIns="91440" bIns="45720" rtlCol="0" anchor="t">
              <a:noAutofit/>
            </a:bodyPr>
            <a:lstStyle/>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latin typeface="Calibri"/>
                  <a:ea typeface="ＭＳ Ｐゴシック"/>
                  <a:cs typeface="Calibri"/>
                </a:rPr>
                <a:t>RAM</a:t>
              </a:r>
            </a:p>
            <a:p>
              <a:pPr algn="ctr"/>
              <a:endParaRPr lang="en-US" dirty="0">
                <a:solidFill>
                  <a:schemeClr val="bg1"/>
                </a:solidFill>
              </a:endParaRPr>
            </a:p>
            <a:p>
              <a:pPr algn="ctr"/>
              <a:endParaRPr lang="en-US" dirty="0">
                <a:solidFill>
                  <a:schemeClr val="bg1"/>
                </a:solidFill>
              </a:endParaRPr>
            </a:p>
          </p:txBody>
        </p:sp>
      </p:grpSp>
      <p:sp>
        <p:nvSpPr>
          <p:cNvPr id="13" name="Rectangle 12">
            <a:extLst>
              <a:ext uri="{FF2B5EF4-FFF2-40B4-BE49-F238E27FC236}">
                <a16:creationId xmlns:a16="http://schemas.microsoft.com/office/drawing/2014/main" id="{7BCD44CF-DA98-4E56-AEBA-595252F50EDE}"/>
              </a:ext>
            </a:extLst>
          </p:cNvPr>
          <p:cNvSpPr/>
          <p:nvPr/>
        </p:nvSpPr>
        <p:spPr>
          <a:xfrm>
            <a:off x="8113446" y="1598358"/>
            <a:ext cx="2202529" cy="209244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F13BAD-AD64-40B3-8F06-2B603FD02AED}"/>
              </a:ext>
            </a:extLst>
          </p:cNvPr>
          <p:cNvSpPr txBox="1"/>
          <p:nvPr/>
        </p:nvSpPr>
        <p:spPr>
          <a:xfrm>
            <a:off x="8147332" y="1257293"/>
            <a:ext cx="2171700" cy="300037"/>
          </a:xfrm>
          <a:prstGeom prst="rect">
            <a:avLst/>
          </a:prstGeom>
        </p:spPr>
        <p:txBody>
          <a:bodyPr vert="horz" wrap="none" lIns="0" tIns="0" rIns="0" bIns="0" rtlCol="0" anchor="t">
            <a:normAutofit/>
          </a:bodyPr>
          <a:lstStyle/>
          <a:p>
            <a:pPr algn="ctr"/>
            <a:r>
              <a:rPr lang="en-US" dirty="0">
                <a:solidFill>
                  <a:srgbClr val="128CAB"/>
                </a:solidFill>
              </a:rPr>
              <a:t>System-on-Chip</a:t>
            </a:r>
            <a:endParaRPr lang="en-US" dirty="0"/>
          </a:p>
        </p:txBody>
      </p:sp>
      <p:sp>
        <p:nvSpPr>
          <p:cNvPr id="15" name="CasellaDiTesto 6">
            <a:extLst>
              <a:ext uri="{FF2B5EF4-FFF2-40B4-BE49-F238E27FC236}">
                <a16:creationId xmlns:a16="http://schemas.microsoft.com/office/drawing/2014/main" id="{C4F17F82-5D49-440A-B377-A7C786EA5DA4}"/>
              </a:ext>
            </a:extLst>
          </p:cNvPr>
          <p:cNvSpPr txBox="1"/>
          <p:nvPr/>
        </p:nvSpPr>
        <p:spPr>
          <a:xfrm>
            <a:off x="9214710" y="4107888"/>
            <a:ext cx="1019175" cy="287715"/>
          </a:xfrm>
          <a:prstGeom prst="roundRect">
            <a:avLst>
              <a:gd name="adj" fmla="val 7167"/>
            </a:avLst>
          </a:prstGeom>
          <a:solidFill>
            <a:schemeClr val="accent4">
              <a:lumMod val="75000"/>
            </a:schemeClr>
          </a:solidFill>
          <a:ln>
            <a:solidFill>
              <a:schemeClr val="tx1"/>
            </a:solidFill>
          </a:ln>
        </p:spPr>
        <p:txBody>
          <a:bodyPr wrap="square" rtlCol="0" anchor="ctr">
            <a:spAutoFit/>
          </a:bodyPr>
          <a:lstStyle/>
          <a:p>
            <a:pPr algn="ctr"/>
            <a:r>
              <a:rPr lang="en-US" sz="1200" dirty="0">
                <a:solidFill>
                  <a:schemeClr val="bg1"/>
                </a:solidFill>
              </a:rPr>
              <a:t>Bootloader</a:t>
            </a:r>
          </a:p>
        </p:txBody>
      </p:sp>
      <p:sp>
        <p:nvSpPr>
          <p:cNvPr id="16" name="CasellaDiTesto 6">
            <a:extLst>
              <a:ext uri="{FF2B5EF4-FFF2-40B4-BE49-F238E27FC236}">
                <a16:creationId xmlns:a16="http://schemas.microsoft.com/office/drawing/2014/main" id="{7BB61B0F-D77B-42C2-AA37-6613FC475A08}"/>
              </a:ext>
            </a:extLst>
          </p:cNvPr>
          <p:cNvSpPr txBox="1"/>
          <p:nvPr/>
        </p:nvSpPr>
        <p:spPr>
          <a:xfrm>
            <a:off x="10415465" y="5047559"/>
            <a:ext cx="1169184" cy="607397"/>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1600" dirty="0">
                <a:solidFill>
                  <a:schemeClr val="bg1"/>
                </a:solidFill>
              </a:rPr>
              <a:t>Operating System</a:t>
            </a:r>
          </a:p>
        </p:txBody>
      </p:sp>
      <p:sp>
        <p:nvSpPr>
          <p:cNvPr id="17" name="CasellaDiTesto 8">
            <a:extLst>
              <a:ext uri="{FF2B5EF4-FFF2-40B4-BE49-F238E27FC236}">
                <a16:creationId xmlns:a16="http://schemas.microsoft.com/office/drawing/2014/main" id="{48ECA788-9631-44FC-85E7-72D15E96283E}"/>
              </a:ext>
            </a:extLst>
          </p:cNvPr>
          <p:cNvSpPr txBox="1"/>
          <p:nvPr/>
        </p:nvSpPr>
        <p:spPr>
          <a:xfrm>
            <a:off x="10415465" y="4107888"/>
            <a:ext cx="1169184" cy="432000"/>
          </a:xfrm>
          <a:prstGeom prst="roundRect">
            <a:avLst>
              <a:gd name="adj" fmla="val 12593"/>
            </a:avLst>
          </a:prstGeom>
          <a:solidFill>
            <a:schemeClr val="accent1"/>
          </a:solidFill>
          <a:ln>
            <a:solidFill>
              <a:schemeClr val="tx1"/>
            </a:solidFill>
          </a:ln>
        </p:spPr>
        <p:txBody>
          <a:bodyPr wrap="square" rtlCol="0" anchor="ctr">
            <a:normAutofit/>
          </a:bodyPr>
          <a:lstStyle/>
          <a:p>
            <a:pPr algn="ctr"/>
            <a:r>
              <a:rPr lang="en-US" sz="1600" dirty="0">
                <a:solidFill>
                  <a:schemeClr val="bg1"/>
                </a:solidFill>
              </a:rPr>
              <a:t>Application</a:t>
            </a:r>
          </a:p>
        </p:txBody>
      </p:sp>
      <p:sp>
        <p:nvSpPr>
          <p:cNvPr id="18" name="CasellaDiTesto 6">
            <a:extLst>
              <a:ext uri="{FF2B5EF4-FFF2-40B4-BE49-F238E27FC236}">
                <a16:creationId xmlns:a16="http://schemas.microsoft.com/office/drawing/2014/main" id="{CC8D6E8D-26CA-43A3-942F-FA7A18DA3837}"/>
              </a:ext>
            </a:extLst>
          </p:cNvPr>
          <p:cNvSpPr txBox="1"/>
          <p:nvPr/>
        </p:nvSpPr>
        <p:spPr>
          <a:xfrm>
            <a:off x="10415465" y="4535134"/>
            <a:ext cx="1169184" cy="522368"/>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600" dirty="0">
                <a:solidFill>
                  <a:schemeClr val="bg1"/>
                </a:solidFill>
              </a:rPr>
              <a:t>System Programs</a:t>
            </a:r>
          </a:p>
        </p:txBody>
      </p:sp>
      <p:sp>
        <p:nvSpPr>
          <p:cNvPr id="19" name="CasellaDiTesto 8">
            <a:extLst>
              <a:ext uri="{FF2B5EF4-FFF2-40B4-BE49-F238E27FC236}">
                <a16:creationId xmlns:a16="http://schemas.microsoft.com/office/drawing/2014/main" id="{5BC4069C-1365-4BAC-B967-C37FDF68D549}"/>
              </a:ext>
            </a:extLst>
          </p:cNvPr>
          <p:cNvSpPr txBox="1"/>
          <p:nvPr/>
        </p:nvSpPr>
        <p:spPr>
          <a:xfrm>
            <a:off x="6762622" y="4107888"/>
            <a:ext cx="1226344" cy="1069192"/>
          </a:xfrm>
          <a:prstGeom prst="roundRect">
            <a:avLst>
              <a:gd name="adj" fmla="val 12593"/>
            </a:avLst>
          </a:prstGeom>
          <a:solidFill>
            <a:srgbClr val="00B0F0"/>
          </a:solidFill>
          <a:ln>
            <a:solidFill>
              <a:schemeClr val="tx1"/>
            </a:solidFill>
          </a:ln>
        </p:spPr>
        <p:txBody>
          <a:bodyPr wrap="square" rtlCol="0" anchor="ctr">
            <a:normAutofit/>
          </a:bodyPr>
          <a:lstStyle/>
          <a:p>
            <a:pPr algn="ctr"/>
            <a:r>
              <a:rPr lang="en-US" sz="1600" dirty="0">
                <a:solidFill>
                  <a:schemeClr val="bg1"/>
                </a:solidFill>
              </a:rPr>
              <a:t>Data</a:t>
            </a:r>
          </a:p>
          <a:p>
            <a:pPr algn="ctr"/>
            <a:r>
              <a:rPr lang="en-US" sz="1600" dirty="0">
                <a:solidFill>
                  <a:schemeClr val="bg1"/>
                </a:solidFill>
              </a:rPr>
              <a:t>Stack</a:t>
            </a:r>
          </a:p>
          <a:p>
            <a:pPr algn="ctr"/>
            <a:r>
              <a:rPr lang="en-US" sz="1600" dirty="0">
                <a:solidFill>
                  <a:schemeClr val="bg1"/>
                </a:solidFill>
              </a:rPr>
              <a:t>Heap</a:t>
            </a:r>
          </a:p>
        </p:txBody>
      </p:sp>
      <p:cxnSp>
        <p:nvCxnSpPr>
          <p:cNvPr id="20" name="Straight Arrow Connector 19">
            <a:extLst>
              <a:ext uri="{FF2B5EF4-FFF2-40B4-BE49-F238E27FC236}">
                <a16:creationId xmlns:a16="http://schemas.microsoft.com/office/drawing/2014/main" id="{2BBFD585-B74A-4176-A8C1-39227C18813D}"/>
              </a:ext>
            </a:extLst>
          </p:cNvPr>
          <p:cNvCxnSpPr/>
          <p:nvPr/>
        </p:nvCxnSpPr>
        <p:spPr>
          <a:xfrm flipV="1">
            <a:off x="7376623" y="3552456"/>
            <a:ext cx="1985" cy="5554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3D54701-9853-4E82-BFA6-A37EC8F9A46B}"/>
              </a:ext>
            </a:extLst>
          </p:cNvPr>
          <p:cNvCxnSpPr>
            <a:stCxn id="15" idx="0"/>
          </p:cNvCxnSpPr>
          <p:nvPr/>
        </p:nvCxnSpPr>
        <p:spPr>
          <a:xfrm flipV="1">
            <a:off x="9724298" y="3523562"/>
            <a:ext cx="1984" cy="58432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4358502-1243-4BA6-A5EC-1E41ED011332}"/>
              </a:ext>
            </a:extLst>
          </p:cNvPr>
          <p:cNvCxnSpPr/>
          <p:nvPr/>
        </p:nvCxnSpPr>
        <p:spPr>
          <a:xfrm flipV="1">
            <a:off x="11007548" y="3537850"/>
            <a:ext cx="1985" cy="5554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3" name="CasellaDiTesto 6">
            <a:extLst>
              <a:ext uri="{FF2B5EF4-FFF2-40B4-BE49-F238E27FC236}">
                <a16:creationId xmlns:a16="http://schemas.microsoft.com/office/drawing/2014/main" id="{EC1E1764-2F93-41A6-8469-6712DA8F8676}"/>
              </a:ext>
            </a:extLst>
          </p:cNvPr>
          <p:cNvSpPr txBox="1"/>
          <p:nvPr/>
        </p:nvSpPr>
        <p:spPr>
          <a:xfrm>
            <a:off x="10415465" y="5654956"/>
            <a:ext cx="1169184" cy="351651"/>
          </a:xfrm>
          <a:prstGeom prst="roundRect">
            <a:avLst>
              <a:gd name="adj" fmla="val 7167"/>
            </a:avLst>
          </a:prstGeom>
          <a:solidFill>
            <a:srgbClr val="002060"/>
          </a:solidFill>
          <a:ln>
            <a:solidFill>
              <a:schemeClr val="tx1"/>
            </a:solidFill>
          </a:ln>
        </p:spPr>
        <p:txBody>
          <a:bodyPr wrap="square" rtlCol="0" anchor="ctr">
            <a:spAutoFit/>
          </a:bodyPr>
          <a:lstStyle/>
          <a:p>
            <a:pPr algn="ctr"/>
            <a:r>
              <a:rPr lang="en-US" sz="1600" dirty="0">
                <a:solidFill>
                  <a:schemeClr val="bg1"/>
                </a:solidFill>
              </a:rPr>
              <a:t>Device tree</a:t>
            </a:r>
          </a:p>
        </p:txBody>
      </p:sp>
    </p:spTree>
    <p:extLst>
      <p:ext uri="{BB962C8B-B14F-4D97-AF65-F5344CB8AC3E}">
        <p14:creationId xmlns:p14="http://schemas.microsoft.com/office/powerpoint/2010/main" val="2180490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An Example of Bootloader Operations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603875" cy="4086225"/>
          </a:xfrm>
        </p:spPr>
        <p:txBody>
          <a:bodyPr wrap="square" numCol="1" anchor="t" anchorCtr="0" compatLnSpc="1">
            <a:prstTxWarp prst="textNoShape">
              <a:avLst/>
            </a:prstTxWarp>
          </a:bodyPr>
          <a:lstStyle/>
          <a:p>
            <a:r>
              <a:rPr lang="en-US" dirty="0"/>
              <a:t>Let’s consider Scenario 2 for a given SoC with the following memory map:</a:t>
            </a:r>
            <a:endParaRPr lang="en-US" altLang="en-US" dirty="0">
              <a:ea typeface="ＭＳ Ｐゴシック" panose="020B0600070205080204" pitchFamily="34" charset="-128"/>
            </a:endParaRPr>
          </a:p>
          <a:p>
            <a:pPr marL="398145" lvl="1" indent="-166370"/>
            <a:r>
              <a:rPr lang="en-US" dirty="0">
                <a:ea typeface="ＭＳ Ｐゴシック"/>
              </a:rPr>
              <a:t>RAM 512 </a:t>
            </a:r>
            <a:r>
              <a:rPr lang="en-US" dirty="0" err="1">
                <a:ea typeface="ＭＳ Ｐゴシック"/>
              </a:rPr>
              <a:t>kbytes</a:t>
            </a:r>
            <a:r>
              <a:rPr lang="en-US" dirty="0">
                <a:ea typeface="ＭＳ Ｐゴシック"/>
              </a:rPr>
              <a:t> (arranged as 128 </a:t>
            </a:r>
            <a:r>
              <a:rPr lang="en-US" dirty="0" err="1">
                <a:ea typeface="ＭＳ Ｐゴシック"/>
              </a:rPr>
              <a:t>kwords</a:t>
            </a:r>
            <a:r>
              <a:rPr lang="en-US" dirty="0">
                <a:ea typeface="ＭＳ Ｐゴシック"/>
              </a:rPr>
              <a:t>, each 32 bits long), from 0x0002_0000 to 0x0003_FFFF</a:t>
            </a:r>
            <a:endParaRPr lang="en-US" dirty="0">
              <a:ea typeface="ＭＳ Ｐゴシック"/>
              <a:cs typeface="Calibri"/>
            </a:endParaRPr>
          </a:p>
          <a:p>
            <a:pPr marL="398145" lvl="1" indent="-166370"/>
            <a:r>
              <a:rPr lang="en-US" dirty="0">
                <a:ea typeface="ＭＳ Ｐゴシック"/>
              </a:rPr>
              <a:t>Mass memory flash 256 </a:t>
            </a:r>
            <a:r>
              <a:rPr lang="en-US" dirty="0" err="1">
                <a:ea typeface="ＭＳ Ｐゴシック"/>
              </a:rPr>
              <a:t>kbytes</a:t>
            </a:r>
            <a:r>
              <a:rPr lang="en-US" dirty="0">
                <a:ea typeface="ＭＳ Ｐゴシック"/>
              </a:rPr>
              <a:t> (same organization as before), from 0x0001_0000 to 0x0001_FFFF</a:t>
            </a:r>
            <a:endParaRPr lang="en-US" dirty="0">
              <a:ea typeface="ＭＳ Ｐゴシック"/>
              <a:cs typeface="Calibri"/>
            </a:endParaRPr>
          </a:p>
          <a:p>
            <a:pPr marL="398145" lvl="1" indent="-166370"/>
            <a:r>
              <a:rPr lang="en-US" dirty="0">
                <a:ea typeface="ＭＳ Ｐゴシック"/>
              </a:rPr>
              <a:t>Boot flash 256 </a:t>
            </a:r>
            <a:r>
              <a:rPr lang="en-US" dirty="0" err="1">
                <a:ea typeface="ＭＳ Ｐゴシック"/>
              </a:rPr>
              <a:t>kbytes</a:t>
            </a:r>
            <a:r>
              <a:rPr lang="en-US" dirty="0">
                <a:ea typeface="ＭＳ Ｐゴシック"/>
              </a:rPr>
              <a:t> (same organization as before), from 0x000_0000 to 0x0000_FFFF</a:t>
            </a:r>
            <a:endParaRPr lang="en-US" altLang="en-US" dirty="0">
              <a:ea typeface="ＭＳ Ｐゴシック"/>
              <a:cs typeface="Calibri"/>
            </a:endParaRPr>
          </a:p>
        </p:txBody>
      </p:sp>
      <p:grpSp>
        <p:nvGrpSpPr>
          <p:cNvPr id="5" name="Group 4">
            <a:extLst>
              <a:ext uri="{FF2B5EF4-FFF2-40B4-BE49-F238E27FC236}">
                <a16:creationId xmlns:a16="http://schemas.microsoft.com/office/drawing/2014/main" id="{35C4D098-F8E8-494B-A74C-31BD3AD3D7C6}"/>
              </a:ext>
            </a:extLst>
          </p:cNvPr>
          <p:cNvGrpSpPr/>
          <p:nvPr/>
        </p:nvGrpSpPr>
        <p:grpSpPr>
          <a:xfrm>
            <a:off x="8267705" y="1243101"/>
            <a:ext cx="1600200" cy="4876899"/>
            <a:chOff x="7353300" y="1552475"/>
            <a:chExt cx="1600200" cy="4876899"/>
          </a:xfrm>
          <a:effectLst>
            <a:outerShdw blurRad="50800" dist="76200" dir="2700000" algn="tl" rotWithShape="0">
              <a:prstClr val="black">
                <a:alpha val="40000"/>
              </a:prstClr>
            </a:outerShdw>
          </a:effectLst>
        </p:grpSpPr>
        <p:sp>
          <p:nvSpPr>
            <p:cNvPr id="6" name="TextBox 5">
              <a:extLst>
                <a:ext uri="{FF2B5EF4-FFF2-40B4-BE49-F238E27FC236}">
                  <a16:creationId xmlns:a16="http://schemas.microsoft.com/office/drawing/2014/main" id="{E2127380-AAB3-4092-A01E-DF9836E94939}"/>
                </a:ext>
              </a:extLst>
            </p:cNvPr>
            <p:cNvSpPr txBox="1"/>
            <p:nvPr/>
          </p:nvSpPr>
          <p:spPr>
            <a:xfrm>
              <a:off x="7353300" y="5200649"/>
              <a:ext cx="1600200" cy="1228725"/>
            </a:xfrm>
            <a:prstGeom prst="rect">
              <a:avLst/>
            </a:prstGeom>
            <a:solidFill>
              <a:srgbClr val="008000"/>
            </a:solidFill>
            <a:ln>
              <a:solidFill>
                <a:schemeClr val="tx1"/>
              </a:solidFill>
            </a:ln>
            <a:effectLst/>
          </p:spPr>
          <p:txBody>
            <a:bodyPr wrap="square" rtlCol="0">
              <a:noAutofit/>
            </a:bodyPr>
            <a:lstStyle/>
            <a:p>
              <a:pPr algn="ctr"/>
              <a:r>
                <a:rPr lang="en-US" sz="2000" dirty="0">
                  <a:solidFill>
                    <a:schemeClr val="bg1"/>
                  </a:solidFill>
                </a:rPr>
                <a:t>Boot Flash</a:t>
              </a:r>
            </a:p>
          </p:txBody>
        </p:sp>
        <p:sp>
          <p:nvSpPr>
            <p:cNvPr id="7" name="TextBox 6">
              <a:extLst>
                <a:ext uri="{FF2B5EF4-FFF2-40B4-BE49-F238E27FC236}">
                  <a16:creationId xmlns:a16="http://schemas.microsoft.com/office/drawing/2014/main" id="{C2C34A56-A4B8-4FBA-8F61-4F09EC52C875}"/>
                </a:ext>
              </a:extLst>
            </p:cNvPr>
            <p:cNvSpPr txBox="1"/>
            <p:nvPr/>
          </p:nvSpPr>
          <p:spPr>
            <a:xfrm>
              <a:off x="7353300" y="3976649"/>
              <a:ext cx="1600200" cy="1224000"/>
            </a:xfrm>
            <a:prstGeom prst="rect">
              <a:avLst/>
            </a:prstGeom>
            <a:solidFill>
              <a:srgbClr val="92D050"/>
            </a:solidFill>
            <a:ln>
              <a:solidFill>
                <a:schemeClr val="tx1"/>
              </a:solidFill>
            </a:ln>
            <a:effectLst/>
          </p:spPr>
          <p:txBody>
            <a:bodyPr wrap="square" rtlCol="0" anchor="t">
              <a:noAutofit/>
            </a:bodyPr>
            <a:lstStyle/>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8" name="TextBox 7">
              <a:extLst>
                <a:ext uri="{FF2B5EF4-FFF2-40B4-BE49-F238E27FC236}">
                  <a16:creationId xmlns:a16="http://schemas.microsoft.com/office/drawing/2014/main" id="{75962BA4-97F9-49C5-BE1C-3661391AAEB3}"/>
                </a:ext>
              </a:extLst>
            </p:cNvPr>
            <p:cNvSpPr txBox="1"/>
            <p:nvPr/>
          </p:nvSpPr>
          <p:spPr>
            <a:xfrm>
              <a:off x="7353300" y="1552475"/>
              <a:ext cx="1600200" cy="2448000"/>
            </a:xfrm>
            <a:prstGeom prst="rect">
              <a:avLst/>
            </a:prstGeom>
            <a:solidFill>
              <a:srgbClr val="00B0F0"/>
            </a:solidFill>
            <a:ln>
              <a:solidFill>
                <a:schemeClr val="tx1"/>
              </a:solidFill>
            </a:ln>
            <a:effectLst/>
          </p:spPr>
          <p:txBody>
            <a:bodyPr wrap="square" lIns="91440" tIns="45720" rIns="91440" bIns="45720" rtlCol="0" anchor="t">
              <a:noAutofit/>
            </a:bodyPr>
            <a:lstStyle/>
            <a:p>
              <a:pPr algn="ctr"/>
              <a:r>
                <a:rPr lang="en-US" sz="2000" dirty="0">
                  <a:solidFill>
                    <a:schemeClr val="bg1"/>
                  </a:solidFill>
                  <a:latin typeface="Calibri"/>
                  <a:ea typeface="ＭＳ Ｐゴシック"/>
                  <a:cs typeface="Calibri"/>
                </a:rPr>
                <a:t>RAM</a:t>
              </a:r>
            </a:p>
            <a:p>
              <a:pPr algn="ctr"/>
              <a:endParaRPr lang="en-US" sz="2000" dirty="0">
                <a:solidFill>
                  <a:schemeClr val="bg1"/>
                </a:solidFill>
                <a:cs typeface="Calibri" panose="020F0502020204030204" pitchFamily="34" charset="0"/>
              </a:endParaRPr>
            </a:p>
          </p:txBody>
        </p:sp>
      </p:grpSp>
      <p:sp>
        <p:nvSpPr>
          <p:cNvPr id="9" name="TextBox 8">
            <a:extLst>
              <a:ext uri="{FF2B5EF4-FFF2-40B4-BE49-F238E27FC236}">
                <a16:creationId xmlns:a16="http://schemas.microsoft.com/office/drawing/2014/main" id="{57577EDE-F5B2-4301-B798-EC653606589A}"/>
              </a:ext>
            </a:extLst>
          </p:cNvPr>
          <p:cNvSpPr txBox="1"/>
          <p:nvPr/>
        </p:nvSpPr>
        <p:spPr>
          <a:xfrm>
            <a:off x="9986968" y="5891400"/>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0" name="TextBox 9">
            <a:extLst>
              <a:ext uri="{FF2B5EF4-FFF2-40B4-BE49-F238E27FC236}">
                <a16:creationId xmlns:a16="http://schemas.microsoft.com/office/drawing/2014/main" id="{630E237C-839D-421D-B36C-714ADBCE2D02}"/>
              </a:ext>
            </a:extLst>
          </p:cNvPr>
          <p:cNvSpPr txBox="1"/>
          <p:nvPr/>
        </p:nvSpPr>
        <p:spPr>
          <a:xfrm>
            <a:off x="9986968" y="4891275"/>
            <a:ext cx="1371600" cy="247837"/>
          </a:xfrm>
          <a:prstGeom prst="rect">
            <a:avLst/>
          </a:prstGeom>
        </p:spPr>
        <p:txBody>
          <a:bodyPr vert="horz" wrap="none" lIns="0" tIns="0" rIns="0" bIns="0" rtlCol="0" anchor="t">
            <a:normAutofit lnSpcReduction="10000"/>
          </a:bodyPr>
          <a:lstStyle/>
          <a:p>
            <a:r>
              <a:rPr lang="en-US" dirty="0"/>
              <a:t>0x0000_FFFF</a:t>
            </a:r>
          </a:p>
        </p:txBody>
      </p:sp>
      <p:sp>
        <p:nvSpPr>
          <p:cNvPr id="11" name="TextBox 10">
            <a:extLst>
              <a:ext uri="{FF2B5EF4-FFF2-40B4-BE49-F238E27FC236}">
                <a16:creationId xmlns:a16="http://schemas.microsoft.com/office/drawing/2014/main" id="{B3533F9F-3BA0-4590-98FE-E162D9A2416A}"/>
              </a:ext>
            </a:extLst>
          </p:cNvPr>
          <p:cNvSpPr txBox="1"/>
          <p:nvPr/>
        </p:nvSpPr>
        <p:spPr>
          <a:xfrm>
            <a:off x="9986968" y="3543356"/>
            <a:ext cx="1371600" cy="247837"/>
          </a:xfrm>
          <a:prstGeom prst="rect">
            <a:avLst/>
          </a:prstGeom>
        </p:spPr>
        <p:txBody>
          <a:bodyPr vert="horz" wrap="none" lIns="0" tIns="0" rIns="0" bIns="0" rtlCol="0" anchor="t">
            <a:normAutofit lnSpcReduction="10000"/>
          </a:bodyPr>
          <a:lstStyle/>
          <a:p>
            <a:r>
              <a:rPr lang="en-US" dirty="0"/>
              <a:t>0x0001_FFFF</a:t>
            </a:r>
          </a:p>
        </p:txBody>
      </p:sp>
      <p:sp>
        <p:nvSpPr>
          <p:cNvPr id="12" name="TextBox 11">
            <a:extLst>
              <a:ext uri="{FF2B5EF4-FFF2-40B4-BE49-F238E27FC236}">
                <a16:creationId xmlns:a16="http://schemas.microsoft.com/office/drawing/2014/main" id="{45117DD8-AF5D-456B-A8DF-E2A3C49679DB}"/>
              </a:ext>
            </a:extLst>
          </p:cNvPr>
          <p:cNvSpPr txBox="1"/>
          <p:nvPr/>
        </p:nvSpPr>
        <p:spPr>
          <a:xfrm>
            <a:off x="9986968" y="1174839"/>
            <a:ext cx="1371600" cy="247837"/>
          </a:xfrm>
          <a:prstGeom prst="rect">
            <a:avLst/>
          </a:prstGeom>
        </p:spPr>
        <p:txBody>
          <a:bodyPr vert="horz" wrap="none" lIns="0" tIns="0" rIns="0" bIns="0" rtlCol="0" anchor="t">
            <a:normAutofit lnSpcReduction="10000"/>
          </a:bodyPr>
          <a:lstStyle/>
          <a:p>
            <a:r>
              <a:rPr lang="en-US" dirty="0"/>
              <a:t>0x0003_FFFF</a:t>
            </a:r>
          </a:p>
        </p:txBody>
      </p:sp>
      <p:sp>
        <p:nvSpPr>
          <p:cNvPr id="13" name="TextBox 12">
            <a:extLst>
              <a:ext uri="{FF2B5EF4-FFF2-40B4-BE49-F238E27FC236}">
                <a16:creationId xmlns:a16="http://schemas.microsoft.com/office/drawing/2014/main" id="{1812E902-3188-4DCA-AFC3-E7933978576F}"/>
              </a:ext>
            </a:extLst>
          </p:cNvPr>
          <p:cNvSpPr txBox="1"/>
          <p:nvPr/>
        </p:nvSpPr>
        <p:spPr>
          <a:xfrm>
            <a:off x="6438903" y="5910637"/>
            <a:ext cx="1371600" cy="247837"/>
          </a:xfrm>
          <a:prstGeom prst="rect">
            <a:avLst/>
          </a:prstGeom>
        </p:spPr>
        <p:txBody>
          <a:bodyPr vert="horz" wrap="none" lIns="0" tIns="0" rIns="0" bIns="0" rtlCol="0" anchor="t">
            <a:normAutofit lnSpcReduction="10000"/>
          </a:bodyPr>
          <a:lstStyle/>
          <a:p>
            <a:r>
              <a:rPr lang="en-US" dirty="0"/>
              <a:t>CPU </a:t>
            </a:r>
            <a:r>
              <a:rPr lang="en-US"/>
              <a:t>reset vector</a:t>
            </a:r>
            <a:endParaRPr lang="en-US" dirty="0"/>
          </a:p>
        </p:txBody>
      </p:sp>
    </p:spTree>
    <p:extLst>
      <p:ext uri="{BB962C8B-B14F-4D97-AF65-F5344CB8AC3E}">
        <p14:creationId xmlns:p14="http://schemas.microsoft.com/office/powerpoint/2010/main" val="1627171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An Example of Bootloader Operations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Time = </a:t>
            </a:r>
            <a:r>
              <a:rPr lang="en-US" dirty="0">
                <a:solidFill>
                  <a:srgbClr val="128CAB"/>
                </a:solidFill>
              </a:rPr>
              <a:t>before power up</a:t>
            </a:r>
          </a:p>
          <a:p>
            <a:r>
              <a:rPr lang="en-US" dirty="0"/>
              <a:t>The boot flash is preloaded with the bootloader</a:t>
            </a:r>
          </a:p>
          <a:p>
            <a:pPr lvl="1"/>
            <a:r>
              <a:rPr lang="en-US" dirty="0"/>
              <a:t>First bootloader instruction at </a:t>
            </a:r>
            <a:r>
              <a:rPr lang="en-US" dirty="0" err="1"/>
              <a:t>0x0000_0FFF</a:t>
            </a:r>
            <a:endParaRPr lang="en-US" dirty="0"/>
          </a:p>
          <a:p>
            <a:pPr lvl="1"/>
            <a:r>
              <a:rPr lang="en-US" dirty="0"/>
              <a:t>Last bootloader instruction at </a:t>
            </a:r>
            <a:r>
              <a:rPr lang="en-US" dirty="0" err="1"/>
              <a:t>0x0000_AFFF</a:t>
            </a:r>
            <a:endParaRPr lang="en-US" altLang="en-US" dirty="0">
              <a:ea typeface="ＭＳ Ｐゴシック" panose="020B0600070205080204" pitchFamily="34" charset="-128"/>
            </a:endParaRPr>
          </a:p>
          <a:p>
            <a:r>
              <a:rPr lang="en-US" dirty="0"/>
              <a:t>The mass memory flash is preloaded with:</a:t>
            </a:r>
          </a:p>
          <a:p>
            <a:pPr lvl="1"/>
            <a:r>
              <a:rPr lang="en-US" dirty="0"/>
              <a:t>Device tree (DT)</a:t>
            </a:r>
          </a:p>
          <a:p>
            <a:pPr lvl="1"/>
            <a:r>
              <a:rPr lang="en-US" dirty="0"/>
              <a:t>Operating systems (OS)</a:t>
            </a:r>
          </a:p>
          <a:p>
            <a:pPr lvl="1"/>
            <a:r>
              <a:rPr lang="en-US" dirty="0"/>
              <a:t>System programs (SP)</a:t>
            </a:r>
          </a:p>
          <a:p>
            <a:pPr lvl="1"/>
            <a:r>
              <a:rPr lang="en-US" dirty="0"/>
              <a:t>Application</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grpSp>
        <p:nvGrpSpPr>
          <p:cNvPr id="5" name="Group 4">
            <a:extLst>
              <a:ext uri="{FF2B5EF4-FFF2-40B4-BE49-F238E27FC236}">
                <a16:creationId xmlns:a16="http://schemas.microsoft.com/office/drawing/2014/main" id="{4B05957E-A186-41F8-AE17-A59B622AB50D}"/>
              </a:ext>
            </a:extLst>
          </p:cNvPr>
          <p:cNvGrpSpPr/>
          <p:nvPr/>
        </p:nvGrpSpPr>
        <p:grpSpPr>
          <a:xfrm>
            <a:off x="8267705" y="1243101"/>
            <a:ext cx="1600200" cy="4876899"/>
            <a:chOff x="7353300" y="1552475"/>
            <a:chExt cx="1600200" cy="4876899"/>
          </a:xfrm>
          <a:effectLst>
            <a:outerShdw blurRad="50800" dist="76200" dir="2700000" algn="tl" rotWithShape="0">
              <a:prstClr val="black">
                <a:alpha val="40000"/>
              </a:prstClr>
            </a:outerShdw>
          </a:effectLst>
        </p:grpSpPr>
        <p:sp>
          <p:nvSpPr>
            <p:cNvPr id="6" name="TextBox 5">
              <a:extLst>
                <a:ext uri="{FF2B5EF4-FFF2-40B4-BE49-F238E27FC236}">
                  <a16:creationId xmlns:a16="http://schemas.microsoft.com/office/drawing/2014/main" id="{1CD2D3D4-B749-4017-B443-8E100C57AD38}"/>
                </a:ext>
              </a:extLst>
            </p:cNvPr>
            <p:cNvSpPr txBox="1"/>
            <p:nvPr/>
          </p:nvSpPr>
          <p:spPr>
            <a:xfrm>
              <a:off x="7353300" y="5200649"/>
              <a:ext cx="1600200" cy="1228725"/>
            </a:xfrm>
            <a:prstGeom prst="rect">
              <a:avLst/>
            </a:prstGeom>
            <a:solidFill>
              <a:srgbClr val="008000"/>
            </a:solidFill>
            <a:ln>
              <a:solidFill>
                <a:schemeClr val="tx1"/>
              </a:solidFill>
            </a:ln>
            <a:effectLst/>
          </p:spPr>
          <p:txBody>
            <a:bodyPr wrap="square" rtlCol="0">
              <a:noAutofit/>
            </a:bodyPr>
            <a:lstStyle/>
            <a:p>
              <a:pPr algn="ctr"/>
              <a:r>
                <a:rPr lang="en-US" sz="2000" dirty="0">
                  <a:solidFill>
                    <a:schemeClr val="bg1"/>
                  </a:solidFill>
                </a:rPr>
                <a:t>Boot Flash</a:t>
              </a:r>
            </a:p>
          </p:txBody>
        </p:sp>
        <p:sp>
          <p:nvSpPr>
            <p:cNvPr id="7" name="TextBox 6">
              <a:extLst>
                <a:ext uri="{FF2B5EF4-FFF2-40B4-BE49-F238E27FC236}">
                  <a16:creationId xmlns:a16="http://schemas.microsoft.com/office/drawing/2014/main" id="{E9B287F9-DD73-499C-ACC7-D45D297C554A}"/>
                </a:ext>
              </a:extLst>
            </p:cNvPr>
            <p:cNvSpPr txBox="1"/>
            <p:nvPr/>
          </p:nvSpPr>
          <p:spPr>
            <a:xfrm>
              <a:off x="7353300" y="3976649"/>
              <a:ext cx="1600200" cy="1224000"/>
            </a:xfrm>
            <a:prstGeom prst="rect">
              <a:avLst/>
            </a:prstGeom>
            <a:solidFill>
              <a:srgbClr val="92D050"/>
            </a:solidFill>
            <a:ln>
              <a:solidFill>
                <a:schemeClr val="tx1"/>
              </a:solidFill>
            </a:ln>
            <a:effectLst/>
          </p:spPr>
          <p:txBody>
            <a:bodyPr wrap="square" rtlCol="0" anchor="t">
              <a:noAutofit/>
            </a:bodyPr>
            <a:lstStyle/>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8" name="TextBox 7">
              <a:extLst>
                <a:ext uri="{FF2B5EF4-FFF2-40B4-BE49-F238E27FC236}">
                  <a16:creationId xmlns:a16="http://schemas.microsoft.com/office/drawing/2014/main" id="{49409CA7-94D5-414C-BEEE-07D154CA155C}"/>
                </a:ext>
              </a:extLst>
            </p:cNvPr>
            <p:cNvSpPr txBox="1"/>
            <p:nvPr/>
          </p:nvSpPr>
          <p:spPr>
            <a:xfrm>
              <a:off x="7353300" y="1552475"/>
              <a:ext cx="1600200" cy="2448000"/>
            </a:xfrm>
            <a:prstGeom prst="rect">
              <a:avLst/>
            </a:prstGeom>
            <a:solidFill>
              <a:srgbClr val="00B0F0"/>
            </a:solidFill>
            <a:ln>
              <a:solidFill>
                <a:schemeClr val="tx1"/>
              </a:solidFill>
            </a:ln>
            <a:effectLst/>
          </p:spPr>
          <p:txBody>
            <a:bodyPr wrap="square" lIns="91440" tIns="45720" rIns="91440" bIns="45720" rtlCol="0" anchor="t">
              <a:noAutofit/>
            </a:bodyPr>
            <a:lstStyle/>
            <a:p>
              <a:pPr algn="ctr"/>
              <a:r>
                <a:rPr lang="en-US" sz="2000" dirty="0">
                  <a:solidFill>
                    <a:schemeClr val="bg1"/>
                  </a:solidFill>
                  <a:latin typeface="Calibri"/>
                  <a:ea typeface="ＭＳ Ｐゴシック"/>
                  <a:cs typeface="Calibri"/>
                </a:rPr>
                <a:t>RAM</a:t>
              </a:r>
            </a:p>
            <a:p>
              <a:pPr algn="ctr"/>
              <a:endParaRPr lang="en-US" sz="2000" dirty="0">
                <a:solidFill>
                  <a:schemeClr val="bg1"/>
                </a:solidFill>
                <a:cs typeface="Calibri" panose="020F0502020204030204" pitchFamily="34" charset="0"/>
              </a:endParaRPr>
            </a:p>
          </p:txBody>
        </p:sp>
      </p:grpSp>
      <p:sp>
        <p:nvSpPr>
          <p:cNvPr id="9" name="TextBox 8">
            <a:extLst>
              <a:ext uri="{FF2B5EF4-FFF2-40B4-BE49-F238E27FC236}">
                <a16:creationId xmlns:a16="http://schemas.microsoft.com/office/drawing/2014/main" id="{5B97D4B1-C0F6-414E-B4B4-ED78B372AE24}"/>
              </a:ext>
            </a:extLst>
          </p:cNvPr>
          <p:cNvSpPr txBox="1"/>
          <p:nvPr/>
        </p:nvSpPr>
        <p:spPr>
          <a:xfrm>
            <a:off x="9986968" y="5891400"/>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0" name="TextBox 9">
            <a:extLst>
              <a:ext uri="{FF2B5EF4-FFF2-40B4-BE49-F238E27FC236}">
                <a16:creationId xmlns:a16="http://schemas.microsoft.com/office/drawing/2014/main" id="{551A8608-82C8-4ECE-9DF9-9985BAC809D3}"/>
              </a:ext>
            </a:extLst>
          </p:cNvPr>
          <p:cNvSpPr txBox="1"/>
          <p:nvPr/>
        </p:nvSpPr>
        <p:spPr>
          <a:xfrm>
            <a:off x="9986968" y="4891275"/>
            <a:ext cx="1371600" cy="247837"/>
          </a:xfrm>
          <a:prstGeom prst="rect">
            <a:avLst/>
          </a:prstGeom>
        </p:spPr>
        <p:txBody>
          <a:bodyPr vert="horz" wrap="none" lIns="0" tIns="0" rIns="0" bIns="0" rtlCol="0" anchor="t">
            <a:normAutofit lnSpcReduction="10000"/>
          </a:bodyPr>
          <a:lstStyle/>
          <a:p>
            <a:r>
              <a:rPr lang="en-US" dirty="0"/>
              <a:t>0x0000_FFFF</a:t>
            </a:r>
          </a:p>
        </p:txBody>
      </p:sp>
      <p:sp>
        <p:nvSpPr>
          <p:cNvPr id="11" name="TextBox 10">
            <a:extLst>
              <a:ext uri="{FF2B5EF4-FFF2-40B4-BE49-F238E27FC236}">
                <a16:creationId xmlns:a16="http://schemas.microsoft.com/office/drawing/2014/main" id="{9B20F547-0395-4811-A359-2DC2A1CE7680}"/>
              </a:ext>
            </a:extLst>
          </p:cNvPr>
          <p:cNvSpPr txBox="1"/>
          <p:nvPr/>
        </p:nvSpPr>
        <p:spPr>
          <a:xfrm>
            <a:off x="9986968" y="3543356"/>
            <a:ext cx="1371600" cy="247837"/>
          </a:xfrm>
          <a:prstGeom prst="rect">
            <a:avLst/>
          </a:prstGeom>
        </p:spPr>
        <p:txBody>
          <a:bodyPr vert="horz" wrap="none" lIns="0" tIns="0" rIns="0" bIns="0" rtlCol="0" anchor="t">
            <a:normAutofit lnSpcReduction="10000"/>
          </a:bodyPr>
          <a:lstStyle/>
          <a:p>
            <a:r>
              <a:rPr lang="en-US" dirty="0"/>
              <a:t>0x0001_FFFF</a:t>
            </a:r>
          </a:p>
        </p:txBody>
      </p:sp>
      <p:sp>
        <p:nvSpPr>
          <p:cNvPr id="12" name="TextBox 11">
            <a:extLst>
              <a:ext uri="{FF2B5EF4-FFF2-40B4-BE49-F238E27FC236}">
                <a16:creationId xmlns:a16="http://schemas.microsoft.com/office/drawing/2014/main" id="{8CFA288B-2472-4125-B47E-ECFEB6D41EBF}"/>
              </a:ext>
            </a:extLst>
          </p:cNvPr>
          <p:cNvSpPr txBox="1"/>
          <p:nvPr/>
        </p:nvSpPr>
        <p:spPr>
          <a:xfrm>
            <a:off x="9986968" y="1174839"/>
            <a:ext cx="1371600" cy="247837"/>
          </a:xfrm>
          <a:prstGeom prst="rect">
            <a:avLst/>
          </a:prstGeom>
        </p:spPr>
        <p:txBody>
          <a:bodyPr vert="horz" wrap="none" lIns="0" tIns="0" rIns="0" bIns="0" rtlCol="0" anchor="t">
            <a:normAutofit lnSpcReduction="10000"/>
          </a:bodyPr>
          <a:lstStyle/>
          <a:p>
            <a:r>
              <a:rPr lang="en-US" dirty="0"/>
              <a:t>0x0003_FFFF</a:t>
            </a:r>
          </a:p>
        </p:txBody>
      </p:sp>
      <p:sp>
        <p:nvSpPr>
          <p:cNvPr id="13" name="TextBox 12">
            <a:extLst>
              <a:ext uri="{FF2B5EF4-FFF2-40B4-BE49-F238E27FC236}">
                <a16:creationId xmlns:a16="http://schemas.microsoft.com/office/drawing/2014/main" id="{0E58586F-BB17-4555-A784-35683C9901C6}"/>
              </a:ext>
            </a:extLst>
          </p:cNvPr>
          <p:cNvSpPr txBox="1"/>
          <p:nvPr/>
        </p:nvSpPr>
        <p:spPr>
          <a:xfrm>
            <a:off x="3735089" y="5891400"/>
            <a:ext cx="1371600" cy="247837"/>
          </a:xfrm>
          <a:prstGeom prst="rect">
            <a:avLst/>
          </a:prstGeom>
        </p:spPr>
        <p:txBody>
          <a:bodyPr vert="horz" wrap="none" lIns="0" tIns="0" rIns="0" bIns="0" rtlCol="0" anchor="t">
            <a:normAutofit lnSpcReduction="10000"/>
          </a:bodyPr>
          <a:lstStyle/>
          <a:p>
            <a:r>
              <a:rPr lang="en-US" dirty="0"/>
              <a:t>CPU </a:t>
            </a:r>
            <a:r>
              <a:rPr lang="en-US"/>
              <a:t>reset vector</a:t>
            </a:r>
            <a:endParaRPr lang="en-US" dirty="0"/>
          </a:p>
        </p:txBody>
      </p:sp>
      <p:sp>
        <p:nvSpPr>
          <p:cNvPr id="14" name="CasellaDiTesto 6">
            <a:extLst>
              <a:ext uri="{FF2B5EF4-FFF2-40B4-BE49-F238E27FC236}">
                <a16:creationId xmlns:a16="http://schemas.microsoft.com/office/drawing/2014/main" id="{7AEBF905-87F5-49D3-A793-54C38B34532B}"/>
              </a:ext>
            </a:extLst>
          </p:cNvPr>
          <p:cNvSpPr txBox="1"/>
          <p:nvPr/>
        </p:nvSpPr>
        <p:spPr>
          <a:xfrm>
            <a:off x="6974750" y="5237860"/>
            <a:ext cx="1173892" cy="882139"/>
          </a:xfrm>
          <a:prstGeom prst="roundRect">
            <a:avLst>
              <a:gd name="adj" fmla="val 7167"/>
            </a:avLst>
          </a:prstGeom>
          <a:solidFill>
            <a:schemeClr val="accent4">
              <a:lumMod val="75000"/>
            </a:schemeClr>
          </a:solidFill>
          <a:ln>
            <a:solidFill>
              <a:schemeClr val="tx1"/>
            </a:solidFill>
          </a:ln>
        </p:spPr>
        <p:txBody>
          <a:bodyPr wrap="square" rtlCol="0" anchor="t">
            <a:noAutofit/>
          </a:bodyPr>
          <a:lstStyle/>
          <a:p>
            <a:pPr algn="ctr"/>
            <a:r>
              <a:rPr lang="en-US" sz="1200" dirty="0">
                <a:solidFill>
                  <a:schemeClr val="bg1"/>
                </a:solidFill>
              </a:rPr>
              <a:t>Bootloader</a:t>
            </a:r>
          </a:p>
          <a:p>
            <a:pPr algn="ctr"/>
            <a:endParaRPr lang="en-US" sz="1200" dirty="0">
              <a:solidFill>
                <a:schemeClr val="bg1"/>
              </a:solidFill>
            </a:endParaRPr>
          </a:p>
          <a:p>
            <a:pPr algn="ctr"/>
            <a:endParaRPr lang="en-US" sz="1200" dirty="0">
              <a:solidFill>
                <a:schemeClr val="bg1"/>
              </a:solidFill>
            </a:endParaRPr>
          </a:p>
          <a:p>
            <a:pPr algn="ctr"/>
            <a:r>
              <a:rPr lang="en-US" sz="1000" dirty="0">
                <a:solidFill>
                  <a:schemeClr val="bg1"/>
                </a:solidFill>
              </a:rPr>
              <a:t>b 0x0000_0FFF</a:t>
            </a:r>
          </a:p>
        </p:txBody>
      </p:sp>
      <p:sp>
        <p:nvSpPr>
          <p:cNvPr id="15" name="CasellaDiTesto 6">
            <a:extLst>
              <a:ext uri="{FF2B5EF4-FFF2-40B4-BE49-F238E27FC236}">
                <a16:creationId xmlns:a16="http://schemas.microsoft.com/office/drawing/2014/main" id="{5D1641E5-E685-46D4-AE16-82229A051201}"/>
              </a:ext>
            </a:extLst>
          </p:cNvPr>
          <p:cNvSpPr txBox="1"/>
          <p:nvPr/>
        </p:nvSpPr>
        <p:spPr>
          <a:xfrm>
            <a:off x="6958170" y="4286252"/>
            <a:ext cx="1190472" cy="190287"/>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1200">
                <a:solidFill>
                  <a:schemeClr val="bg1"/>
                </a:solidFill>
              </a:rPr>
              <a:t>OS</a:t>
            </a:r>
            <a:endParaRPr lang="en-US" sz="1200" dirty="0">
              <a:solidFill>
                <a:schemeClr val="bg1"/>
              </a:solidFill>
            </a:endParaRPr>
          </a:p>
        </p:txBody>
      </p:sp>
      <p:sp>
        <p:nvSpPr>
          <p:cNvPr id="16" name="CasellaDiTesto 8">
            <a:extLst>
              <a:ext uri="{FF2B5EF4-FFF2-40B4-BE49-F238E27FC236}">
                <a16:creationId xmlns:a16="http://schemas.microsoft.com/office/drawing/2014/main" id="{FD870F3A-674B-498C-8C6D-700BF4EFBB57}"/>
              </a:ext>
            </a:extLst>
          </p:cNvPr>
          <p:cNvSpPr txBox="1"/>
          <p:nvPr/>
        </p:nvSpPr>
        <p:spPr>
          <a:xfrm>
            <a:off x="6958170" y="3733965"/>
            <a:ext cx="1190472" cy="305142"/>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1200" dirty="0">
                <a:solidFill>
                  <a:schemeClr val="bg1"/>
                </a:solidFill>
              </a:rPr>
              <a:t>Application</a:t>
            </a:r>
          </a:p>
        </p:txBody>
      </p:sp>
      <p:sp>
        <p:nvSpPr>
          <p:cNvPr id="17" name="CasellaDiTesto 6">
            <a:extLst>
              <a:ext uri="{FF2B5EF4-FFF2-40B4-BE49-F238E27FC236}">
                <a16:creationId xmlns:a16="http://schemas.microsoft.com/office/drawing/2014/main" id="{14F43D0B-E6C4-4B37-9627-AE166819D276}"/>
              </a:ext>
            </a:extLst>
          </p:cNvPr>
          <p:cNvSpPr txBox="1"/>
          <p:nvPr/>
        </p:nvSpPr>
        <p:spPr>
          <a:xfrm>
            <a:off x="6958170" y="4027518"/>
            <a:ext cx="1190472" cy="258734"/>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200" dirty="0">
                <a:solidFill>
                  <a:schemeClr val="bg1"/>
                </a:solidFill>
              </a:rPr>
              <a:t>SP</a:t>
            </a:r>
          </a:p>
        </p:txBody>
      </p:sp>
      <p:sp>
        <p:nvSpPr>
          <p:cNvPr id="18" name="TextBox 17">
            <a:extLst>
              <a:ext uri="{FF2B5EF4-FFF2-40B4-BE49-F238E27FC236}">
                <a16:creationId xmlns:a16="http://schemas.microsoft.com/office/drawing/2014/main" id="{4885061C-BB56-4661-AF77-5D20B50083E5}"/>
              </a:ext>
            </a:extLst>
          </p:cNvPr>
          <p:cNvSpPr txBox="1"/>
          <p:nvPr/>
        </p:nvSpPr>
        <p:spPr>
          <a:xfrm>
            <a:off x="5566209" y="5891399"/>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9" name="TextBox 18">
            <a:extLst>
              <a:ext uri="{FF2B5EF4-FFF2-40B4-BE49-F238E27FC236}">
                <a16:creationId xmlns:a16="http://schemas.microsoft.com/office/drawing/2014/main" id="{2D4A26AE-976B-4775-976D-6D5592F84178}"/>
              </a:ext>
            </a:extLst>
          </p:cNvPr>
          <p:cNvSpPr txBox="1"/>
          <p:nvPr/>
        </p:nvSpPr>
        <p:spPr>
          <a:xfrm>
            <a:off x="5566209" y="5203632"/>
            <a:ext cx="1371600" cy="247837"/>
          </a:xfrm>
          <a:prstGeom prst="rect">
            <a:avLst/>
          </a:prstGeom>
        </p:spPr>
        <p:txBody>
          <a:bodyPr vert="horz" wrap="none" lIns="0" tIns="0" rIns="0" bIns="0" rtlCol="0" anchor="t">
            <a:normAutofit lnSpcReduction="10000"/>
          </a:bodyPr>
          <a:lstStyle/>
          <a:p>
            <a:r>
              <a:rPr lang="en-US" dirty="0"/>
              <a:t>0x0000_AFFF</a:t>
            </a:r>
          </a:p>
        </p:txBody>
      </p:sp>
      <p:sp>
        <p:nvSpPr>
          <p:cNvPr id="20" name="CasellaDiTesto 6">
            <a:extLst>
              <a:ext uri="{FF2B5EF4-FFF2-40B4-BE49-F238E27FC236}">
                <a16:creationId xmlns:a16="http://schemas.microsoft.com/office/drawing/2014/main" id="{C83CDAEE-9A73-4BE5-8E75-8B1D10213ED3}"/>
              </a:ext>
            </a:extLst>
          </p:cNvPr>
          <p:cNvSpPr txBox="1"/>
          <p:nvPr/>
        </p:nvSpPr>
        <p:spPr>
          <a:xfrm>
            <a:off x="6958170" y="4469163"/>
            <a:ext cx="1190472" cy="190287"/>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sz="1200">
                <a:solidFill>
                  <a:schemeClr val="bg1"/>
                </a:solidFill>
              </a:rPr>
              <a:t>DT</a:t>
            </a:r>
            <a:endParaRPr lang="en-US" sz="1200" dirty="0">
              <a:solidFill>
                <a:schemeClr val="bg1"/>
              </a:solidFill>
            </a:endParaRPr>
          </a:p>
        </p:txBody>
      </p:sp>
    </p:spTree>
    <p:extLst>
      <p:ext uri="{BB962C8B-B14F-4D97-AF65-F5344CB8AC3E}">
        <p14:creationId xmlns:p14="http://schemas.microsoft.com/office/powerpoint/2010/main" val="467223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An Example of Bootloader Operations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6174146" cy="4086225"/>
          </a:xfrm>
        </p:spPr>
        <p:txBody>
          <a:bodyPr wrap="square" numCol="1" anchor="t" anchorCtr="0" compatLnSpc="1">
            <a:prstTxWarp prst="textNoShape">
              <a:avLst/>
            </a:prstTxWarp>
          </a:bodyPr>
          <a:lstStyle/>
          <a:p>
            <a:r>
              <a:rPr lang="en-US" dirty="0"/>
              <a:t>Time = </a:t>
            </a:r>
            <a:r>
              <a:rPr lang="en-US" dirty="0">
                <a:solidFill>
                  <a:srgbClr val="128CAB"/>
                </a:solidFill>
              </a:rPr>
              <a:t>power up</a:t>
            </a:r>
          </a:p>
          <a:p>
            <a:r>
              <a:rPr lang="en-US" dirty="0"/>
              <a:t>The CPU starts executing software from the </a:t>
            </a:r>
            <a:r>
              <a:rPr lang="en-US" dirty="0">
                <a:solidFill>
                  <a:srgbClr val="128CAB"/>
                </a:solidFill>
              </a:rPr>
              <a:t>reset vector</a:t>
            </a:r>
            <a:r>
              <a:rPr lang="en-US" dirty="0"/>
              <a:t>:</a:t>
            </a:r>
            <a:endParaRPr lang="en-US" altLang="en-US" dirty="0">
              <a:ea typeface="ＭＳ Ｐゴシック" panose="020B0600070205080204" pitchFamily="34" charset="-128"/>
            </a:endParaRPr>
          </a:p>
          <a:p>
            <a:pPr lvl="1"/>
            <a:r>
              <a:rPr lang="en-US" dirty="0"/>
              <a:t>It jumps to the first instruction of the bootloader.</a:t>
            </a:r>
          </a:p>
          <a:p>
            <a:pPr lvl="1"/>
            <a:r>
              <a:rPr lang="en-US" dirty="0"/>
              <a:t>It runs the bootloader software </a:t>
            </a:r>
            <a:r>
              <a:rPr lang="en-US"/>
              <a:t>from boot </a:t>
            </a:r>
            <a:r>
              <a:rPr lang="en-US" dirty="0"/>
              <a:t>flash memory.</a:t>
            </a:r>
            <a:endParaRPr lang="en-US" altLang="en-US" dirty="0">
              <a:ea typeface="ＭＳ Ｐゴシック" panose="020B0600070205080204" pitchFamily="34" charset="-128"/>
            </a:endParaRPr>
          </a:p>
        </p:txBody>
      </p:sp>
      <p:grpSp>
        <p:nvGrpSpPr>
          <p:cNvPr id="5" name="Group 4">
            <a:extLst>
              <a:ext uri="{FF2B5EF4-FFF2-40B4-BE49-F238E27FC236}">
                <a16:creationId xmlns:a16="http://schemas.microsoft.com/office/drawing/2014/main" id="{E7E73902-27C9-467A-A43D-F6673DD1E489}"/>
              </a:ext>
            </a:extLst>
          </p:cNvPr>
          <p:cNvGrpSpPr/>
          <p:nvPr/>
        </p:nvGrpSpPr>
        <p:grpSpPr>
          <a:xfrm>
            <a:off x="8267705" y="1243101"/>
            <a:ext cx="1600200" cy="4876899"/>
            <a:chOff x="7353300" y="1552475"/>
            <a:chExt cx="1600200" cy="4876899"/>
          </a:xfrm>
          <a:effectLst>
            <a:outerShdw blurRad="50800" dist="76200" dir="2700000" algn="tl" rotWithShape="0">
              <a:prstClr val="black">
                <a:alpha val="40000"/>
              </a:prstClr>
            </a:outerShdw>
          </a:effectLst>
        </p:grpSpPr>
        <p:sp>
          <p:nvSpPr>
            <p:cNvPr id="6" name="TextBox 5">
              <a:extLst>
                <a:ext uri="{FF2B5EF4-FFF2-40B4-BE49-F238E27FC236}">
                  <a16:creationId xmlns:a16="http://schemas.microsoft.com/office/drawing/2014/main" id="{EFE1596F-4824-46B1-A9D3-6623CA21F443}"/>
                </a:ext>
              </a:extLst>
            </p:cNvPr>
            <p:cNvSpPr txBox="1"/>
            <p:nvPr/>
          </p:nvSpPr>
          <p:spPr>
            <a:xfrm>
              <a:off x="7353300" y="5200649"/>
              <a:ext cx="1600200" cy="1228725"/>
            </a:xfrm>
            <a:prstGeom prst="rect">
              <a:avLst/>
            </a:prstGeom>
            <a:solidFill>
              <a:srgbClr val="008000"/>
            </a:solidFill>
            <a:ln>
              <a:solidFill>
                <a:schemeClr val="tx1"/>
              </a:solidFill>
            </a:ln>
            <a:effectLst/>
          </p:spPr>
          <p:txBody>
            <a:bodyPr wrap="square" rtlCol="0">
              <a:noAutofit/>
            </a:bodyPr>
            <a:lstStyle/>
            <a:p>
              <a:pPr algn="ctr"/>
              <a:r>
                <a:rPr lang="en-US" sz="2000" dirty="0">
                  <a:solidFill>
                    <a:schemeClr val="bg1"/>
                  </a:solidFill>
                </a:rPr>
                <a:t>Boot Flash</a:t>
              </a:r>
            </a:p>
          </p:txBody>
        </p:sp>
        <p:sp>
          <p:nvSpPr>
            <p:cNvPr id="7" name="TextBox 6">
              <a:extLst>
                <a:ext uri="{FF2B5EF4-FFF2-40B4-BE49-F238E27FC236}">
                  <a16:creationId xmlns:a16="http://schemas.microsoft.com/office/drawing/2014/main" id="{9BE73AFD-EDA8-406C-8133-9E4236812BD0}"/>
                </a:ext>
              </a:extLst>
            </p:cNvPr>
            <p:cNvSpPr txBox="1"/>
            <p:nvPr/>
          </p:nvSpPr>
          <p:spPr>
            <a:xfrm>
              <a:off x="7353300" y="3976649"/>
              <a:ext cx="1600200" cy="1224000"/>
            </a:xfrm>
            <a:prstGeom prst="rect">
              <a:avLst/>
            </a:prstGeom>
            <a:solidFill>
              <a:srgbClr val="92D050"/>
            </a:solidFill>
            <a:ln>
              <a:solidFill>
                <a:schemeClr val="tx1"/>
              </a:solidFill>
            </a:ln>
            <a:effectLst/>
          </p:spPr>
          <p:txBody>
            <a:bodyPr wrap="square" rtlCol="0" anchor="t">
              <a:noAutofit/>
            </a:bodyPr>
            <a:lstStyle/>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8" name="TextBox 7">
              <a:extLst>
                <a:ext uri="{FF2B5EF4-FFF2-40B4-BE49-F238E27FC236}">
                  <a16:creationId xmlns:a16="http://schemas.microsoft.com/office/drawing/2014/main" id="{6BFC3FDB-F431-4742-B6F5-5F04F17C2426}"/>
                </a:ext>
              </a:extLst>
            </p:cNvPr>
            <p:cNvSpPr txBox="1"/>
            <p:nvPr/>
          </p:nvSpPr>
          <p:spPr>
            <a:xfrm>
              <a:off x="7353300" y="1552475"/>
              <a:ext cx="1600200" cy="2448000"/>
            </a:xfrm>
            <a:prstGeom prst="rect">
              <a:avLst/>
            </a:prstGeom>
            <a:solidFill>
              <a:srgbClr val="00B0F0"/>
            </a:solidFill>
            <a:ln>
              <a:solidFill>
                <a:schemeClr val="tx1"/>
              </a:solidFill>
            </a:ln>
            <a:effectLst/>
          </p:spPr>
          <p:txBody>
            <a:bodyPr wrap="square" lIns="91440" tIns="45720" rIns="91440" bIns="45720" rtlCol="0" anchor="t">
              <a:noAutofit/>
            </a:bodyPr>
            <a:lstStyle/>
            <a:p>
              <a:pPr algn="ctr"/>
              <a:r>
                <a:rPr lang="en-US" sz="2000" dirty="0">
                  <a:solidFill>
                    <a:schemeClr val="bg1"/>
                  </a:solidFill>
                  <a:latin typeface="Calibri"/>
                  <a:ea typeface="ＭＳ Ｐゴシック"/>
                  <a:cs typeface="Calibri"/>
                </a:rPr>
                <a:t>RAM</a:t>
              </a:r>
            </a:p>
            <a:p>
              <a:pPr algn="ctr"/>
              <a:endParaRPr lang="en-US" sz="2000" dirty="0">
                <a:solidFill>
                  <a:schemeClr val="bg1"/>
                </a:solidFill>
              </a:endParaRPr>
            </a:p>
          </p:txBody>
        </p:sp>
      </p:grpSp>
      <p:sp>
        <p:nvSpPr>
          <p:cNvPr id="9" name="TextBox 8">
            <a:extLst>
              <a:ext uri="{FF2B5EF4-FFF2-40B4-BE49-F238E27FC236}">
                <a16:creationId xmlns:a16="http://schemas.microsoft.com/office/drawing/2014/main" id="{1A426DDF-A3B6-4402-819E-BEF83363E089}"/>
              </a:ext>
            </a:extLst>
          </p:cNvPr>
          <p:cNvSpPr txBox="1"/>
          <p:nvPr/>
        </p:nvSpPr>
        <p:spPr>
          <a:xfrm>
            <a:off x="9986968" y="5891400"/>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0" name="TextBox 9">
            <a:extLst>
              <a:ext uri="{FF2B5EF4-FFF2-40B4-BE49-F238E27FC236}">
                <a16:creationId xmlns:a16="http://schemas.microsoft.com/office/drawing/2014/main" id="{A0E8EDDF-E502-4EB6-9E98-FE3AC736E864}"/>
              </a:ext>
            </a:extLst>
          </p:cNvPr>
          <p:cNvSpPr txBox="1"/>
          <p:nvPr/>
        </p:nvSpPr>
        <p:spPr>
          <a:xfrm>
            <a:off x="9986968" y="4891275"/>
            <a:ext cx="1371600" cy="247837"/>
          </a:xfrm>
          <a:prstGeom prst="rect">
            <a:avLst/>
          </a:prstGeom>
        </p:spPr>
        <p:txBody>
          <a:bodyPr vert="horz" wrap="none" lIns="0" tIns="0" rIns="0" bIns="0" rtlCol="0" anchor="t">
            <a:normAutofit lnSpcReduction="10000"/>
          </a:bodyPr>
          <a:lstStyle/>
          <a:p>
            <a:r>
              <a:rPr lang="en-US" dirty="0"/>
              <a:t>0x0000_FFFF</a:t>
            </a:r>
          </a:p>
        </p:txBody>
      </p:sp>
      <p:sp>
        <p:nvSpPr>
          <p:cNvPr id="11" name="TextBox 10">
            <a:extLst>
              <a:ext uri="{FF2B5EF4-FFF2-40B4-BE49-F238E27FC236}">
                <a16:creationId xmlns:a16="http://schemas.microsoft.com/office/drawing/2014/main" id="{47DB8D15-84AB-4734-97AD-7A32F21FDB99}"/>
              </a:ext>
            </a:extLst>
          </p:cNvPr>
          <p:cNvSpPr txBox="1"/>
          <p:nvPr/>
        </p:nvSpPr>
        <p:spPr>
          <a:xfrm>
            <a:off x="9986968" y="3543356"/>
            <a:ext cx="1371600" cy="247837"/>
          </a:xfrm>
          <a:prstGeom prst="rect">
            <a:avLst/>
          </a:prstGeom>
        </p:spPr>
        <p:txBody>
          <a:bodyPr vert="horz" wrap="none" lIns="0" tIns="0" rIns="0" bIns="0" rtlCol="0" anchor="t">
            <a:normAutofit lnSpcReduction="10000"/>
          </a:bodyPr>
          <a:lstStyle/>
          <a:p>
            <a:r>
              <a:rPr lang="en-US" dirty="0"/>
              <a:t>0x0001_FFFF</a:t>
            </a:r>
          </a:p>
        </p:txBody>
      </p:sp>
      <p:sp>
        <p:nvSpPr>
          <p:cNvPr id="12" name="TextBox 11">
            <a:extLst>
              <a:ext uri="{FF2B5EF4-FFF2-40B4-BE49-F238E27FC236}">
                <a16:creationId xmlns:a16="http://schemas.microsoft.com/office/drawing/2014/main" id="{56B9098C-FCB2-4F19-85A5-3587AD7F6632}"/>
              </a:ext>
            </a:extLst>
          </p:cNvPr>
          <p:cNvSpPr txBox="1"/>
          <p:nvPr/>
        </p:nvSpPr>
        <p:spPr>
          <a:xfrm>
            <a:off x="9986968" y="1174839"/>
            <a:ext cx="1371600" cy="247837"/>
          </a:xfrm>
          <a:prstGeom prst="rect">
            <a:avLst/>
          </a:prstGeom>
        </p:spPr>
        <p:txBody>
          <a:bodyPr vert="horz" wrap="none" lIns="0" tIns="0" rIns="0" bIns="0" rtlCol="0" anchor="t">
            <a:normAutofit lnSpcReduction="10000"/>
          </a:bodyPr>
          <a:lstStyle/>
          <a:p>
            <a:r>
              <a:rPr lang="en-US" dirty="0"/>
              <a:t>0x0003_FFFF</a:t>
            </a:r>
          </a:p>
        </p:txBody>
      </p:sp>
      <p:sp>
        <p:nvSpPr>
          <p:cNvPr id="13" name="TextBox 12">
            <a:extLst>
              <a:ext uri="{FF2B5EF4-FFF2-40B4-BE49-F238E27FC236}">
                <a16:creationId xmlns:a16="http://schemas.microsoft.com/office/drawing/2014/main" id="{DEAE9E0F-D21E-4ED1-AB23-EEB52FAA534A}"/>
              </a:ext>
            </a:extLst>
          </p:cNvPr>
          <p:cNvSpPr txBox="1"/>
          <p:nvPr/>
        </p:nvSpPr>
        <p:spPr>
          <a:xfrm>
            <a:off x="3735089" y="5891400"/>
            <a:ext cx="1371600" cy="247837"/>
          </a:xfrm>
          <a:prstGeom prst="rect">
            <a:avLst/>
          </a:prstGeom>
        </p:spPr>
        <p:txBody>
          <a:bodyPr vert="horz" wrap="none" lIns="0" tIns="0" rIns="0" bIns="0" rtlCol="0" anchor="t">
            <a:normAutofit lnSpcReduction="10000"/>
          </a:bodyPr>
          <a:lstStyle/>
          <a:p>
            <a:r>
              <a:rPr lang="en-US" dirty="0"/>
              <a:t>CPU </a:t>
            </a:r>
            <a:r>
              <a:rPr lang="en-US"/>
              <a:t>reset vector</a:t>
            </a:r>
            <a:endParaRPr lang="en-US" dirty="0"/>
          </a:p>
        </p:txBody>
      </p:sp>
      <p:sp>
        <p:nvSpPr>
          <p:cNvPr id="14" name="CasellaDiTesto 6">
            <a:extLst>
              <a:ext uri="{FF2B5EF4-FFF2-40B4-BE49-F238E27FC236}">
                <a16:creationId xmlns:a16="http://schemas.microsoft.com/office/drawing/2014/main" id="{E35FA841-C72C-43DE-883F-B690FE5E3596}"/>
              </a:ext>
            </a:extLst>
          </p:cNvPr>
          <p:cNvSpPr txBox="1"/>
          <p:nvPr/>
        </p:nvSpPr>
        <p:spPr>
          <a:xfrm>
            <a:off x="6974750" y="5237860"/>
            <a:ext cx="1173892" cy="882139"/>
          </a:xfrm>
          <a:prstGeom prst="roundRect">
            <a:avLst>
              <a:gd name="adj" fmla="val 7167"/>
            </a:avLst>
          </a:prstGeom>
          <a:solidFill>
            <a:schemeClr val="accent4">
              <a:lumMod val="75000"/>
            </a:schemeClr>
          </a:solidFill>
          <a:ln>
            <a:solidFill>
              <a:schemeClr val="tx1"/>
            </a:solidFill>
          </a:ln>
        </p:spPr>
        <p:txBody>
          <a:bodyPr wrap="square" rtlCol="0" anchor="t">
            <a:noAutofit/>
          </a:bodyPr>
          <a:lstStyle/>
          <a:p>
            <a:pPr algn="ctr"/>
            <a:r>
              <a:rPr lang="en-US" sz="1200" dirty="0">
                <a:solidFill>
                  <a:schemeClr val="bg1"/>
                </a:solidFill>
              </a:rPr>
              <a:t>Bootloader</a:t>
            </a:r>
          </a:p>
          <a:p>
            <a:pPr algn="ctr"/>
            <a:endParaRPr lang="en-US" sz="1200" dirty="0">
              <a:solidFill>
                <a:schemeClr val="bg1"/>
              </a:solidFill>
            </a:endParaRPr>
          </a:p>
          <a:p>
            <a:pPr algn="ctr"/>
            <a:endParaRPr lang="en-US" sz="1200" dirty="0">
              <a:solidFill>
                <a:schemeClr val="bg1"/>
              </a:solidFill>
            </a:endParaRPr>
          </a:p>
          <a:p>
            <a:pPr algn="ctr"/>
            <a:r>
              <a:rPr lang="en-US" sz="1000" dirty="0">
                <a:solidFill>
                  <a:schemeClr val="bg1"/>
                </a:solidFill>
              </a:rPr>
              <a:t>b 0x0000_0FFF</a:t>
            </a:r>
          </a:p>
        </p:txBody>
      </p:sp>
      <p:sp>
        <p:nvSpPr>
          <p:cNvPr id="15" name="TextBox 14">
            <a:extLst>
              <a:ext uri="{FF2B5EF4-FFF2-40B4-BE49-F238E27FC236}">
                <a16:creationId xmlns:a16="http://schemas.microsoft.com/office/drawing/2014/main" id="{7ADB9AAE-C4DF-4738-9974-00E2223F9E2E}"/>
              </a:ext>
            </a:extLst>
          </p:cNvPr>
          <p:cNvSpPr txBox="1"/>
          <p:nvPr/>
        </p:nvSpPr>
        <p:spPr>
          <a:xfrm>
            <a:off x="5566209" y="5891399"/>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6" name="TextBox 15">
            <a:extLst>
              <a:ext uri="{FF2B5EF4-FFF2-40B4-BE49-F238E27FC236}">
                <a16:creationId xmlns:a16="http://schemas.microsoft.com/office/drawing/2014/main" id="{39D8724B-D9F5-4AEE-BB59-9101037839B6}"/>
              </a:ext>
            </a:extLst>
          </p:cNvPr>
          <p:cNvSpPr txBox="1"/>
          <p:nvPr/>
        </p:nvSpPr>
        <p:spPr>
          <a:xfrm>
            <a:off x="5566209" y="5203632"/>
            <a:ext cx="1371600" cy="247837"/>
          </a:xfrm>
          <a:prstGeom prst="rect">
            <a:avLst/>
          </a:prstGeom>
        </p:spPr>
        <p:txBody>
          <a:bodyPr vert="horz" wrap="none" lIns="0" tIns="0" rIns="0" bIns="0" rtlCol="0" anchor="t">
            <a:normAutofit lnSpcReduction="10000"/>
          </a:bodyPr>
          <a:lstStyle/>
          <a:p>
            <a:r>
              <a:rPr lang="en-US" dirty="0"/>
              <a:t>0x0000_AFFF</a:t>
            </a:r>
          </a:p>
        </p:txBody>
      </p:sp>
      <p:sp>
        <p:nvSpPr>
          <p:cNvPr id="17" name="CasellaDiTesto 6">
            <a:extLst>
              <a:ext uri="{FF2B5EF4-FFF2-40B4-BE49-F238E27FC236}">
                <a16:creationId xmlns:a16="http://schemas.microsoft.com/office/drawing/2014/main" id="{12EB29DD-E30E-4574-81C2-9E0A75B52EB2}"/>
              </a:ext>
            </a:extLst>
          </p:cNvPr>
          <p:cNvSpPr txBox="1"/>
          <p:nvPr/>
        </p:nvSpPr>
        <p:spPr>
          <a:xfrm>
            <a:off x="6958170" y="4286252"/>
            <a:ext cx="1190472" cy="190287"/>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1200">
                <a:solidFill>
                  <a:schemeClr val="bg1"/>
                </a:solidFill>
              </a:rPr>
              <a:t>OS</a:t>
            </a:r>
            <a:endParaRPr lang="en-US" sz="1200" dirty="0">
              <a:solidFill>
                <a:schemeClr val="bg1"/>
              </a:solidFill>
            </a:endParaRPr>
          </a:p>
        </p:txBody>
      </p:sp>
      <p:sp>
        <p:nvSpPr>
          <p:cNvPr id="18" name="CasellaDiTesto 8">
            <a:extLst>
              <a:ext uri="{FF2B5EF4-FFF2-40B4-BE49-F238E27FC236}">
                <a16:creationId xmlns:a16="http://schemas.microsoft.com/office/drawing/2014/main" id="{CF2BA29B-9885-4EB7-A250-AB8908DD1CC7}"/>
              </a:ext>
            </a:extLst>
          </p:cNvPr>
          <p:cNvSpPr txBox="1"/>
          <p:nvPr/>
        </p:nvSpPr>
        <p:spPr>
          <a:xfrm>
            <a:off x="6958170" y="3733965"/>
            <a:ext cx="1190472" cy="305142"/>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1200" dirty="0">
                <a:solidFill>
                  <a:schemeClr val="bg1"/>
                </a:solidFill>
              </a:rPr>
              <a:t>Application</a:t>
            </a:r>
          </a:p>
        </p:txBody>
      </p:sp>
      <p:sp>
        <p:nvSpPr>
          <p:cNvPr id="19" name="CasellaDiTesto 6">
            <a:extLst>
              <a:ext uri="{FF2B5EF4-FFF2-40B4-BE49-F238E27FC236}">
                <a16:creationId xmlns:a16="http://schemas.microsoft.com/office/drawing/2014/main" id="{67FBC9AF-615A-4B9B-90E8-2253F49D381E}"/>
              </a:ext>
            </a:extLst>
          </p:cNvPr>
          <p:cNvSpPr txBox="1"/>
          <p:nvPr/>
        </p:nvSpPr>
        <p:spPr>
          <a:xfrm>
            <a:off x="6958170" y="4027518"/>
            <a:ext cx="1190472" cy="258734"/>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200" dirty="0">
                <a:solidFill>
                  <a:schemeClr val="bg1"/>
                </a:solidFill>
              </a:rPr>
              <a:t>SP</a:t>
            </a:r>
          </a:p>
        </p:txBody>
      </p:sp>
      <p:sp>
        <p:nvSpPr>
          <p:cNvPr id="20" name="CasellaDiTesto 6">
            <a:extLst>
              <a:ext uri="{FF2B5EF4-FFF2-40B4-BE49-F238E27FC236}">
                <a16:creationId xmlns:a16="http://schemas.microsoft.com/office/drawing/2014/main" id="{CEBBE6ED-CE31-43A2-8684-AD0F68ACE52D}"/>
              </a:ext>
            </a:extLst>
          </p:cNvPr>
          <p:cNvSpPr txBox="1"/>
          <p:nvPr/>
        </p:nvSpPr>
        <p:spPr>
          <a:xfrm>
            <a:off x="6958170" y="4469163"/>
            <a:ext cx="1190472" cy="190287"/>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sz="1200">
                <a:solidFill>
                  <a:schemeClr val="bg1"/>
                </a:solidFill>
              </a:rPr>
              <a:t>DT</a:t>
            </a:r>
            <a:endParaRPr lang="en-US" sz="1200" dirty="0">
              <a:solidFill>
                <a:schemeClr val="bg1"/>
              </a:solidFill>
            </a:endParaRPr>
          </a:p>
        </p:txBody>
      </p:sp>
    </p:spTree>
    <p:extLst>
      <p:ext uri="{BB962C8B-B14F-4D97-AF65-F5344CB8AC3E}">
        <p14:creationId xmlns:p14="http://schemas.microsoft.com/office/powerpoint/2010/main" val="3840640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An Example of Bootloader Operations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734585" cy="4086225"/>
          </a:xfrm>
        </p:spPr>
        <p:txBody>
          <a:bodyPr wrap="square" numCol="1" anchor="t" anchorCtr="0" compatLnSpc="1">
            <a:prstTxWarp prst="textNoShape">
              <a:avLst/>
            </a:prstTxWarp>
          </a:bodyPr>
          <a:lstStyle/>
          <a:p>
            <a:r>
              <a:rPr lang="en-US" dirty="0"/>
              <a:t>Time = </a:t>
            </a:r>
            <a:r>
              <a:rPr lang="en-US" dirty="0">
                <a:solidFill>
                  <a:srgbClr val="128CAB"/>
                </a:solidFill>
              </a:rPr>
              <a:t>during bootstrap</a:t>
            </a:r>
          </a:p>
          <a:p>
            <a:r>
              <a:rPr lang="en-US" dirty="0"/>
              <a:t>The CPU executes bootloader software that:</a:t>
            </a:r>
            <a:endParaRPr lang="en-US" altLang="en-US" dirty="0">
              <a:ea typeface="ＭＳ Ｐゴシック" panose="020B0600070205080204" pitchFamily="34" charset="-128"/>
            </a:endParaRPr>
          </a:p>
          <a:p>
            <a:pPr marL="398145" lvl="1" indent="-166370"/>
            <a:r>
              <a:rPr lang="en-US" dirty="0">
                <a:ea typeface="ＭＳ Ｐゴシック"/>
              </a:rPr>
              <a:t>Initializes the CPU RAM controller</a:t>
            </a:r>
            <a:endParaRPr lang="en-US" dirty="0">
              <a:ea typeface="ＭＳ Ｐゴシック"/>
              <a:cs typeface="Calibri"/>
            </a:endParaRPr>
          </a:p>
          <a:p>
            <a:pPr marL="398145" lvl="1" indent="-166370"/>
            <a:r>
              <a:rPr lang="en-US" dirty="0">
                <a:ea typeface="ＭＳ Ｐゴシック"/>
              </a:rPr>
              <a:t>Sets up the CPU registers for mapping stack and heap to RAM </a:t>
            </a:r>
            <a:endParaRPr lang="en-US" dirty="0">
              <a:ea typeface="ＭＳ Ｐゴシック"/>
              <a:cs typeface="Calibri"/>
            </a:endParaRPr>
          </a:p>
          <a:p>
            <a:pPr marL="398145" lvl="1" indent="-166370"/>
            <a:r>
              <a:rPr lang="en-US" dirty="0">
                <a:ea typeface="ＭＳ Ｐゴシック"/>
              </a:rPr>
              <a:t>Copies device tree, operating system, system programs, and applications to RAM </a:t>
            </a:r>
            <a:endParaRPr lang="en-US" altLang="en-US" dirty="0">
              <a:ea typeface="ＭＳ Ｐゴシック"/>
              <a:cs typeface="Calibri"/>
            </a:endParaRPr>
          </a:p>
        </p:txBody>
      </p:sp>
      <p:grpSp>
        <p:nvGrpSpPr>
          <p:cNvPr id="5" name="Group 4">
            <a:extLst>
              <a:ext uri="{FF2B5EF4-FFF2-40B4-BE49-F238E27FC236}">
                <a16:creationId xmlns:a16="http://schemas.microsoft.com/office/drawing/2014/main" id="{BBFC530C-38C9-4515-BAAF-BA0E1638240F}"/>
              </a:ext>
            </a:extLst>
          </p:cNvPr>
          <p:cNvGrpSpPr/>
          <p:nvPr/>
        </p:nvGrpSpPr>
        <p:grpSpPr>
          <a:xfrm>
            <a:off x="8267705" y="1243101"/>
            <a:ext cx="1600200" cy="4876899"/>
            <a:chOff x="7353300" y="1552475"/>
            <a:chExt cx="1600200" cy="4876899"/>
          </a:xfrm>
          <a:effectLst>
            <a:outerShdw blurRad="50800" dist="76200" dir="2700000" algn="tl" rotWithShape="0">
              <a:prstClr val="black">
                <a:alpha val="40000"/>
              </a:prstClr>
            </a:outerShdw>
          </a:effectLst>
        </p:grpSpPr>
        <p:sp>
          <p:nvSpPr>
            <p:cNvPr id="6" name="TextBox 5">
              <a:extLst>
                <a:ext uri="{FF2B5EF4-FFF2-40B4-BE49-F238E27FC236}">
                  <a16:creationId xmlns:a16="http://schemas.microsoft.com/office/drawing/2014/main" id="{D96BF18C-0C8D-480C-9767-F3F327ADD0E1}"/>
                </a:ext>
              </a:extLst>
            </p:cNvPr>
            <p:cNvSpPr txBox="1"/>
            <p:nvPr/>
          </p:nvSpPr>
          <p:spPr>
            <a:xfrm>
              <a:off x="7353300" y="5200649"/>
              <a:ext cx="1600200" cy="1228725"/>
            </a:xfrm>
            <a:prstGeom prst="rect">
              <a:avLst/>
            </a:prstGeom>
            <a:solidFill>
              <a:srgbClr val="008000"/>
            </a:solidFill>
            <a:ln>
              <a:solidFill>
                <a:schemeClr val="tx1"/>
              </a:solidFill>
            </a:ln>
            <a:effectLst/>
          </p:spPr>
          <p:txBody>
            <a:bodyPr wrap="square" rtlCol="0">
              <a:noAutofit/>
            </a:bodyPr>
            <a:lstStyle/>
            <a:p>
              <a:pPr algn="ctr"/>
              <a:r>
                <a:rPr lang="en-US" sz="2000" dirty="0">
                  <a:solidFill>
                    <a:schemeClr val="bg1"/>
                  </a:solidFill>
                </a:rPr>
                <a:t>Boot Flash</a:t>
              </a:r>
            </a:p>
          </p:txBody>
        </p:sp>
        <p:sp>
          <p:nvSpPr>
            <p:cNvPr id="7" name="TextBox 6">
              <a:extLst>
                <a:ext uri="{FF2B5EF4-FFF2-40B4-BE49-F238E27FC236}">
                  <a16:creationId xmlns:a16="http://schemas.microsoft.com/office/drawing/2014/main" id="{4B2F1220-A1CE-45DE-8692-AEFB68E94792}"/>
                </a:ext>
              </a:extLst>
            </p:cNvPr>
            <p:cNvSpPr txBox="1"/>
            <p:nvPr/>
          </p:nvSpPr>
          <p:spPr>
            <a:xfrm>
              <a:off x="7353300" y="3976649"/>
              <a:ext cx="1600200" cy="1224000"/>
            </a:xfrm>
            <a:prstGeom prst="rect">
              <a:avLst/>
            </a:prstGeom>
            <a:solidFill>
              <a:srgbClr val="92D050"/>
            </a:solidFill>
            <a:ln>
              <a:solidFill>
                <a:schemeClr val="tx1"/>
              </a:solidFill>
            </a:ln>
            <a:effectLst/>
          </p:spPr>
          <p:txBody>
            <a:bodyPr wrap="square" rtlCol="0" anchor="t">
              <a:noAutofit/>
            </a:bodyPr>
            <a:lstStyle/>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8" name="TextBox 7">
              <a:extLst>
                <a:ext uri="{FF2B5EF4-FFF2-40B4-BE49-F238E27FC236}">
                  <a16:creationId xmlns:a16="http://schemas.microsoft.com/office/drawing/2014/main" id="{74E8A763-472C-425D-8864-F9164E978847}"/>
                </a:ext>
              </a:extLst>
            </p:cNvPr>
            <p:cNvSpPr txBox="1"/>
            <p:nvPr/>
          </p:nvSpPr>
          <p:spPr>
            <a:xfrm>
              <a:off x="7353300" y="1552475"/>
              <a:ext cx="1600200" cy="2448000"/>
            </a:xfrm>
            <a:prstGeom prst="rect">
              <a:avLst/>
            </a:prstGeom>
            <a:solidFill>
              <a:srgbClr val="00B0F0"/>
            </a:solidFill>
            <a:ln>
              <a:solidFill>
                <a:schemeClr val="tx1"/>
              </a:solidFill>
            </a:ln>
            <a:effectLst/>
          </p:spPr>
          <p:txBody>
            <a:bodyPr wrap="square" lIns="91440" tIns="45720" rIns="91440" bIns="45720" rtlCol="0" anchor="t">
              <a:noAutofit/>
            </a:bodyPr>
            <a:lstStyle/>
            <a:p>
              <a:pPr algn="ctr"/>
              <a:r>
                <a:rPr lang="en-US" sz="2000" dirty="0">
                  <a:solidFill>
                    <a:schemeClr val="bg1"/>
                  </a:solidFill>
                  <a:latin typeface="Calibri"/>
                  <a:ea typeface="ＭＳ Ｐゴシック"/>
                  <a:cs typeface="Calibri"/>
                </a:rPr>
                <a:t>RAM</a:t>
              </a:r>
            </a:p>
            <a:p>
              <a:pPr algn="ctr"/>
              <a:endParaRPr lang="en-US" sz="2000" dirty="0">
                <a:solidFill>
                  <a:schemeClr val="bg1"/>
                </a:solidFill>
                <a:cs typeface="Calibri" panose="020F0502020204030204" pitchFamily="34" charset="0"/>
              </a:endParaRPr>
            </a:p>
          </p:txBody>
        </p:sp>
      </p:grpSp>
      <p:sp>
        <p:nvSpPr>
          <p:cNvPr id="9" name="TextBox 8">
            <a:extLst>
              <a:ext uri="{FF2B5EF4-FFF2-40B4-BE49-F238E27FC236}">
                <a16:creationId xmlns:a16="http://schemas.microsoft.com/office/drawing/2014/main" id="{75267CBA-BB2C-4FE4-BC77-109CAA8BB7BE}"/>
              </a:ext>
            </a:extLst>
          </p:cNvPr>
          <p:cNvSpPr txBox="1"/>
          <p:nvPr/>
        </p:nvSpPr>
        <p:spPr>
          <a:xfrm>
            <a:off x="9986968" y="5891400"/>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0" name="TextBox 9">
            <a:extLst>
              <a:ext uri="{FF2B5EF4-FFF2-40B4-BE49-F238E27FC236}">
                <a16:creationId xmlns:a16="http://schemas.microsoft.com/office/drawing/2014/main" id="{C3A60879-4B6D-4304-95FA-91FEFDF1CA2D}"/>
              </a:ext>
            </a:extLst>
          </p:cNvPr>
          <p:cNvSpPr txBox="1"/>
          <p:nvPr/>
        </p:nvSpPr>
        <p:spPr>
          <a:xfrm>
            <a:off x="9986968" y="4891275"/>
            <a:ext cx="1371600" cy="247837"/>
          </a:xfrm>
          <a:prstGeom prst="rect">
            <a:avLst/>
          </a:prstGeom>
        </p:spPr>
        <p:txBody>
          <a:bodyPr vert="horz" wrap="none" lIns="0" tIns="0" rIns="0" bIns="0" rtlCol="0" anchor="t">
            <a:normAutofit lnSpcReduction="10000"/>
          </a:bodyPr>
          <a:lstStyle/>
          <a:p>
            <a:r>
              <a:rPr lang="en-US" dirty="0"/>
              <a:t>0x0000_FFFF</a:t>
            </a:r>
          </a:p>
        </p:txBody>
      </p:sp>
      <p:sp>
        <p:nvSpPr>
          <p:cNvPr id="11" name="TextBox 10">
            <a:extLst>
              <a:ext uri="{FF2B5EF4-FFF2-40B4-BE49-F238E27FC236}">
                <a16:creationId xmlns:a16="http://schemas.microsoft.com/office/drawing/2014/main" id="{77C7C033-3143-46C3-BB58-40CACC085915}"/>
              </a:ext>
            </a:extLst>
          </p:cNvPr>
          <p:cNvSpPr txBox="1"/>
          <p:nvPr/>
        </p:nvSpPr>
        <p:spPr>
          <a:xfrm>
            <a:off x="9986968" y="3543356"/>
            <a:ext cx="1371600" cy="247837"/>
          </a:xfrm>
          <a:prstGeom prst="rect">
            <a:avLst/>
          </a:prstGeom>
        </p:spPr>
        <p:txBody>
          <a:bodyPr vert="horz" wrap="none" lIns="0" tIns="0" rIns="0" bIns="0" rtlCol="0" anchor="t">
            <a:normAutofit lnSpcReduction="10000"/>
          </a:bodyPr>
          <a:lstStyle/>
          <a:p>
            <a:r>
              <a:rPr lang="en-US" dirty="0"/>
              <a:t>0x0001_FFFF</a:t>
            </a:r>
          </a:p>
        </p:txBody>
      </p:sp>
      <p:sp>
        <p:nvSpPr>
          <p:cNvPr id="12" name="TextBox 11">
            <a:extLst>
              <a:ext uri="{FF2B5EF4-FFF2-40B4-BE49-F238E27FC236}">
                <a16:creationId xmlns:a16="http://schemas.microsoft.com/office/drawing/2014/main" id="{4DFA7B28-D734-434A-9D6D-50F6EFB88535}"/>
              </a:ext>
            </a:extLst>
          </p:cNvPr>
          <p:cNvSpPr txBox="1"/>
          <p:nvPr/>
        </p:nvSpPr>
        <p:spPr>
          <a:xfrm>
            <a:off x="9986968" y="1174839"/>
            <a:ext cx="1371600" cy="247837"/>
          </a:xfrm>
          <a:prstGeom prst="rect">
            <a:avLst/>
          </a:prstGeom>
        </p:spPr>
        <p:txBody>
          <a:bodyPr vert="horz" wrap="none" lIns="0" tIns="0" rIns="0" bIns="0" rtlCol="0" anchor="t">
            <a:normAutofit lnSpcReduction="10000"/>
          </a:bodyPr>
          <a:lstStyle/>
          <a:p>
            <a:r>
              <a:rPr lang="en-US" dirty="0"/>
              <a:t>0x0003_FFFF</a:t>
            </a:r>
          </a:p>
        </p:txBody>
      </p:sp>
      <p:sp>
        <p:nvSpPr>
          <p:cNvPr id="13" name="TextBox 12">
            <a:extLst>
              <a:ext uri="{FF2B5EF4-FFF2-40B4-BE49-F238E27FC236}">
                <a16:creationId xmlns:a16="http://schemas.microsoft.com/office/drawing/2014/main" id="{739E880B-067B-4CAF-89E2-F96D1DD92157}"/>
              </a:ext>
            </a:extLst>
          </p:cNvPr>
          <p:cNvSpPr txBox="1"/>
          <p:nvPr/>
        </p:nvSpPr>
        <p:spPr>
          <a:xfrm>
            <a:off x="3735089" y="5891400"/>
            <a:ext cx="1371600" cy="247837"/>
          </a:xfrm>
          <a:prstGeom prst="rect">
            <a:avLst/>
          </a:prstGeom>
        </p:spPr>
        <p:txBody>
          <a:bodyPr vert="horz" wrap="none" lIns="0" tIns="0" rIns="0" bIns="0" rtlCol="0" anchor="t">
            <a:normAutofit lnSpcReduction="10000"/>
          </a:bodyPr>
          <a:lstStyle/>
          <a:p>
            <a:r>
              <a:rPr lang="en-US" dirty="0"/>
              <a:t>CPU </a:t>
            </a:r>
            <a:r>
              <a:rPr lang="en-US"/>
              <a:t>reset vector</a:t>
            </a:r>
            <a:endParaRPr lang="en-US" dirty="0"/>
          </a:p>
        </p:txBody>
      </p:sp>
      <p:sp>
        <p:nvSpPr>
          <p:cNvPr id="14" name="CasellaDiTesto 6">
            <a:extLst>
              <a:ext uri="{FF2B5EF4-FFF2-40B4-BE49-F238E27FC236}">
                <a16:creationId xmlns:a16="http://schemas.microsoft.com/office/drawing/2014/main" id="{9482289A-F587-4311-9C70-1DA94CB67D6E}"/>
              </a:ext>
            </a:extLst>
          </p:cNvPr>
          <p:cNvSpPr txBox="1"/>
          <p:nvPr/>
        </p:nvSpPr>
        <p:spPr>
          <a:xfrm>
            <a:off x="6974750" y="5237860"/>
            <a:ext cx="1173892" cy="882139"/>
          </a:xfrm>
          <a:prstGeom prst="roundRect">
            <a:avLst>
              <a:gd name="adj" fmla="val 7167"/>
            </a:avLst>
          </a:prstGeom>
          <a:solidFill>
            <a:schemeClr val="accent4">
              <a:lumMod val="75000"/>
            </a:schemeClr>
          </a:solidFill>
          <a:ln>
            <a:solidFill>
              <a:schemeClr val="tx1"/>
            </a:solidFill>
          </a:ln>
        </p:spPr>
        <p:txBody>
          <a:bodyPr wrap="square" rtlCol="0" anchor="t">
            <a:noAutofit/>
          </a:bodyPr>
          <a:lstStyle/>
          <a:p>
            <a:pPr algn="ctr"/>
            <a:r>
              <a:rPr lang="en-US" sz="1200" dirty="0">
                <a:solidFill>
                  <a:schemeClr val="bg1"/>
                </a:solidFill>
              </a:rPr>
              <a:t>Bootloader</a:t>
            </a:r>
          </a:p>
          <a:p>
            <a:pPr algn="ctr"/>
            <a:endParaRPr lang="en-US" sz="1200" dirty="0">
              <a:solidFill>
                <a:schemeClr val="bg1"/>
              </a:solidFill>
            </a:endParaRPr>
          </a:p>
          <a:p>
            <a:pPr algn="ctr"/>
            <a:endParaRPr lang="en-US" sz="1200" dirty="0">
              <a:solidFill>
                <a:schemeClr val="bg1"/>
              </a:solidFill>
            </a:endParaRPr>
          </a:p>
          <a:p>
            <a:pPr algn="ctr"/>
            <a:r>
              <a:rPr lang="en-US" sz="1000" dirty="0">
                <a:solidFill>
                  <a:schemeClr val="bg1"/>
                </a:solidFill>
              </a:rPr>
              <a:t>b 0x0000_0FFF</a:t>
            </a:r>
          </a:p>
        </p:txBody>
      </p:sp>
      <p:sp>
        <p:nvSpPr>
          <p:cNvPr id="15" name="TextBox 14">
            <a:extLst>
              <a:ext uri="{FF2B5EF4-FFF2-40B4-BE49-F238E27FC236}">
                <a16:creationId xmlns:a16="http://schemas.microsoft.com/office/drawing/2014/main" id="{2C1F782C-F942-4B9D-B306-77650947ECBD}"/>
              </a:ext>
            </a:extLst>
          </p:cNvPr>
          <p:cNvSpPr txBox="1"/>
          <p:nvPr/>
        </p:nvSpPr>
        <p:spPr>
          <a:xfrm>
            <a:off x="5566209" y="5891399"/>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6" name="TextBox 15">
            <a:extLst>
              <a:ext uri="{FF2B5EF4-FFF2-40B4-BE49-F238E27FC236}">
                <a16:creationId xmlns:a16="http://schemas.microsoft.com/office/drawing/2014/main" id="{AAB5CAA1-095F-4F0C-B9D4-6425DF04BF2F}"/>
              </a:ext>
            </a:extLst>
          </p:cNvPr>
          <p:cNvSpPr txBox="1"/>
          <p:nvPr/>
        </p:nvSpPr>
        <p:spPr>
          <a:xfrm>
            <a:off x="5566209" y="5203632"/>
            <a:ext cx="1371600" cy="247837"/>
          </a:xfrm>
          <a:prstGeom prst="rect">
            <a:avLst/>
          </a:prstGeom>
        </p:spPr>
        <p:txBody>
          <a:bodyPr vert="horz" wrap="none" lIns="0" tIns="0" rIns="0" bIns="0" rtlCol="0" anchor="t">
            <a:normAutofit lnSpcReduction="10000"/>
          </a:bodyPr>
          <a:lstStyle/>
          <a:p>
            <a:r>
              <a:rPr lang="en-US" dirty="0"/>
              <a:t>0x0000_AFFF</a:t>
            </a:r>
          </a:p>
        </p:txBody>
      </p:sp>
      <p:sp>
        <p:nvSpPr>
          <p:cNvPr id="17" name="CasellaDiTesto 6">
            <a:extLst>
              <a:ext uri="{FF2B5EF4-FFF2-40B4-BE49-F238E27FC236}">
                <a16:creationId xmlns:a16="http://schemas.microsoft.com/office/drawing/2014/main" id="{16B4DF29-374B-48A4-9B44-2F07F46328EC}"/>
              </a:ext>
            </a:extLst>
          </p:cNvPr>
          <p:cNvSpPr txBox="1"/>
          <p:nvPr/>
        </p:nvSpPr>
        <p:spPr>
          <a:xfrm>
            <a:off x="6958170" y="4286252"/>
            <a:ext cx="1190472" cy="190287"/>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1200">
                <a:solidFill>
                  <a:schemeClr val="bg1"/>
                </a:solidFill>
              </a:rPr>
              <a:t>OS</a:t>
            </a:r>
            <a:endParaRPr lang="en-US" sz="1200" dirty="0">
              <a:solidFill>
                <a:schemeClr val="bg1"/>
              </a:solidFill>
            </a:endParaRPr>
          </a:p>
        </p:txBody>
      </p:sp>
      <p:sp>
        <p:nvSpPr>
          <p:cNvPr id="18" name="CasellaDiTesto 8">
            <a:extLst>
              <a:ext uri="{FF2B5EF4-FFF2-40B4-BE49-F238E27FC236}">
                <a16:creationId xmlns:a16="http://schemas.microsoft.com/office/drawing/2014/main" id="{C50E1BBA-D18E-4DC0-ACA6-34B698FAA08E}"/>
              </a:ext>
            </a:extLst>
          </p:cNvPr>
          <p:cNvSpPr txBox="1"/>
          <p:nvPr/>
        </p:nvSpPr>
        <p:spPr>
          <a:xfrm>
            <a:off x="6958170" y="3733965"/>
            <a:ext cx="1190472" cy="305142"/>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1200" dirty="0">
                <a:solidFill>
                  <a:schemeClr val="bg1"/>
                </a:solidFill>
              </a:rPr>
              <a:t>Application</a:t>
            </a:r>
          </a:p>
        </p:txBody>
      </p:sp>
      <p:sp>
        <p:nvSpPr>
          <p:cNvPr id="19" name="CasellaDiTesto 6">
            <a:extLst>
              <a:ext uri="{FF2B5EF4-FFF2-40B4-BE49-F238E27FC236}">
                <a16:creationId xmlns:a16="http://schemas.microsoft.com/office/drawing/2014/main" id="{4BB4CF7A-FF37-492F-BD2D-8FAB7AD3629C}"/>
              </a:ext>
            </a:extLst>
          </p:cNvPr>
          <p:cNvSpPr txBox="1"/>
          <p:nvPr/>
        </p:nvSpPr>
        <p:spPr>
          <a:xfrm>
            <a:off x="6958170" y="4027518"/>
            <a:ext cx="1190472" cy="258734"/>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200" dirty="0">
                <a:solidFill>
                  <a:schemeClr val="bg1"/>
                </a:solidFill>
              </a:rPr>
              <a:t>SP</a:t>
            </a:r>
          </a:p>
        </p:txBody>
      </p:sp>
      <p:sp>
        <p:nvSpPr>
          <p:cNvPr id="20" name="CasellaDiTesto 6">
            <a:extLst>
              <a:ext uri="{FF2B5EF4-FFF2-40B4-BE49-F238E27FC236}">
                <a16:creationId xmlns:a16="http://schemas.microsoft.com/office/drawing/2014/main" id="{57238ED9-49D2-4217-8ECB-C9AC24ABE1F9}"/>
              </a:ext>
            </a:extLst>
          </p:cNvPr>
          <p:cNvSpPr txBox="1"/>
          <p:nvPr/>
        </p:nvSpPr>
        <p:spPr>
          <a:xfrm>
            <a:off x="6958170" y="4469163"/>
            <a:ext cx="1190472" cy="190287"/>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sz="1200">
                <a:solidFill>
                  <a:schemeClr val="bg1"/>
                </a:solidFill>
              </a:rPr>
              <a:t>DT</a:t>
            </a:r>
            <a:endParaRPr lang="en-US" sz="1200" dirty="0">
              <a:solidFill>
                <a:schemeClr val="bg1"/>
              </a:solidFill>
            </a:endParaRPr>
          </a:p>
        </p:txBody>
      </p:sp>
    </p:spTree>
    <p:extLst>
      <p:ext uri="{BB962C8B-B14F-4D97-AF65-F5344CB8AC3E}">
        <p14:creationId xmlns:p14="http://schemas.microsoft.com/office/powerpoint/2010/main" val="4256159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An Example of Bootloader Operations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849681" cy="4086225"/>
          </a:xfrm>
        </p:spPr>
        <p:txBody>
          <a:bodyPr wrap="square" numCol="1" anchor="t" anchorCtr="0" compatLnSpc="1">
            <a:prstTxWarp prst="textNoShape">
              <a:avLst/>
            </a:prstTxWarp>
          </a:bodyPr>
          <a:lstStyle/>
          <a:p>
            <a:r>
              <a:rPr lang="en-US" dirty="0"/>
              <a:t>Time = </a:t>
            </a:r>
            <a:r>
              <a:rPr lang="en-US" dirty="0">
                <a:solidFill>
                  <a:srgbClr val="128CAB"/>
                </a:solidFill>
              </a:rPr>
              <a:t>end of bootstrap</a:t>
            </a:r>
          </a:p>
          <a:p>
            <a:r>
              <a:rPr lang="en-US" dirty="0"/>
              <a:t>The bootloader jumps to the first instruction of the operating system.</a:t>
            </a:r>
          </a:p>
          <a:p>
            <a:r>
              <a:rPr lang="en-US" dirty="0"/>
              <a:t>The CPU now executes the operating system software, which is responsible for:</a:t>
            </a:r>
            <a:endParaRPr lang="en-US" altLang="en-US" dirty="0">
              <a:ea typeface="ＭＳ Ｐゴシック" panose="020B0600070205080204" pitchFamily="34" charset="-128"/>
            </a:endParaRPr>
          </a:p>
          <a:p>
            <a:pPr lvl="1"/>
            <a:r>
              <a:rPr lang="en-US" dirty="0"/>
              <a:t>Setting up the execution environment for the application</a:t>
            </a:r>
          </a:p>
          <a:p>
            <a:pPr lvl="1"/>
            <a:r>
              <a:rPr lang="en-US" dirty="0"/>
              <a:t>Starting application execution</a:t>
            </a:r>
            <a:endParaRPr lang="en-US" altLang="en-US" dirty="0">
              <a:ea typeface="ＭＳ Ｐゴシック" panose="020B0600070205080204" pitchFamily="34" charset="-128"/>
            </a:endParaRPr>
          </a:p>
        </p:txBody>
      </p:sp>
      <p:grpSp>
        <p:nvGrpSpPr>
          <p:cNvPr id="5" name="Group 4">
            <a:extLst>
              <a:ext uri="{FF2B5EF4-FFF2-40B4-BE49-F238E27FC236}">
                <a16:creationId xmlns:a16="http://schemas.microsoft.com/office/drawing/2014/main" id="{E130024A-BB7A-4482-91DB-AA2D362D9581}"/>
              </a:ext>
            </a:extLst>
          </p:cNvPr>
          <p:cNvGrpSpPr/>
          <p:nvPr/>
        </p:nvGrpSpPr>
        <p:grpSpPr>
          <a:xfrm>
            <a:off x="8267705" y="1243101"/>
            <a:ext cx="1600200" cy="4876899"/>
            <a:chOff x="7353300" y="1552475"/>
            <a:chExt cx="1600200" cy="4876899"/>
          </a:xfrm>
          <a:effectLst>
            <a:outerShdw blurRad="50800" dist="76200" dir="2700000" algn="tl" rotWithShape="0">
              <a:prstClr val="black">
                <a:alpha val="40000"/>
              </a:prstClr>
            </a:outerShdw>
          </a:effectLst>
        </p:grpSpPr>
        <p:sp>
          <p:nvSpPr>
            <p:cNvPr id="6" name="TextBox 5">
              <a:extLst>
                <a:ext uri="{FF2B5EF4-FFF2-40B4-BE49-F238E27FC236}">
                  <a16:creationId xmlns:a16="http://schemas.microsoft.com/office/drawing/2014/main" id="{654D2FE7-3BF6-4F7D-871B-C7368D487A59}"/>
                </a:ext>
              </a:extLst>
            </p:cNvPr>
            <p:cNvSpPr txBox="1"/>
            <p:nvPr/>
          </p:nvSpPr>
          <p:spPr>
            <a:xfrm>
              <a:off x="7353300" y="5200649"/>
              <a:ext cx="1600200" cy="1228725"/>
            </a:xfrm>
            <a:prstGeom prst="rect">
              <a:avLst/>
            </a:prstGeom>
            <a:solidFill>
              <a:srgbClr val="008000"/>
            </a:solidFill>
            <a:ln>
              <a:solidFill>
                <a:schemeClr val="tx1"/>
              </a:solidFill>
            </a:ln>
            <a:effectLst/>
          </p:spPr>
          <p:txBody>
            <a:bodyPr wrap="square" rtlCol="0">
              <a:noAutofit/>
            </a:bodyPr>
            <a:lstStyle/>
            <a:p>
              <a:pPr algn="ctr"/>
              <a:r>
                <a:rPr lang="en-US" sz="2000" dirty="0">
                  <a:solidFill>
                    <a:schemeClr val="bg1"/>
                  </a:solidFill>
                </a:rPr>
                <a:t>Boot Flash</a:t>
              </a:r>
            </a:p>
          </p:txBody>
        </p:sp>
        <p:sp>
          <p:nvSpPr>
            <p:cNvPr id="7" name="TextBox 6">
              <a:extLst>
                <a:ext uri="{FF2B5EF4-FFF2-40B4-BE49-F238E27FC236}">
                  <a16:creationId xmlns:a16="http://schemas.microsoft.com/office/drawing/2014/main" id="{A1987531-2C41-463A-AE8A-7CEA7F09738E}"/>
                </a:ext>
              </a:extLst>
            </p:cNvPr>
            <p:cNvSpPr txBox="1"/>
            <p:nvPr/>
          </p:nvSpPr>
          <p:spPr>
            <a:xfrm>
              <a:off x="7353300" y="3976649"/>
              <a:ext cx="1600200" cy="1224000"/>
            </a:xfrm>
            <a:prstGeom prst="rect">
              <a:avLst/>
            </a:prstGeom>
            <a:solidFill>
              <a:srgbClr val="92D050"/>
            </a:solidFill>
            <a:ln>
              <a:solidFill>
                <a:schemeClr val="tx1"/>
              </a:solidFill>
            </a:ln>
            <a:effectLst/>
          </p:spPr>
          <p:txBody>
            <a:bodyPr wrap="square" rtlCol="0" anchor="t">
              <a:noAutofit/>
            </a:bodyPr>
            <a:lstStyle/>
            <a:p>
              <a:pPr algn="ctr"/>
              <a:r>
                <a:rPr lang="en-US" sz="2000" dirty="0">
                  <a:solidFill>
                    <a:srgbClr val="FFFFFF"/>
                  </a:solidFill>
                </a:rPr>
                <a:t>Mass Memory</a:t>
              </a:r>
            </a:p>
            <a:p>
              <a:pPr algn="ctr"/>
              <a:r>
                <a:rPr lang="en-US" sz="2000" dirty="0">
                  <a:solidFill>
                    <a:srgbClr val="FFFFFF"/>
                  </a:solidFill>
                </a:rPr>
                <a:t>Flash</a:t>
              </a:r>
            </a:p>
            <a:p>
              <a:pPr algn="ctr"/>
              <a:endParaRPr lang="en-US" sz="2000" dirty="0">
                <a:solidFill>
                  <a:srgbClr val="FFFFFF"/>
                </a:solidFill>
              </a:endParaRPr>
            </a:p>
          </p:txBody>
        </p:sp>
        <p:sp>
          <p:nvSpPr>
            <p:cNvPr id="8" name="TextBox 7">
              <a:extLst>
                <a:ext uri="{FF2B5EF4-FFF2-40B4-BE49-F238E27FC236}">
                  <a16:creationId xmlns:a16="http://schemas.microsoft.com/office/drawing/2014/main" id="{7F6E9615-0675-4791-A372-D559BE9C8382}"/>
                </a:ext>
              </a:extLst>
            </p:cNvPr>
            <p:cNvSpPr txBox="1"/>
            <p:nvPr/>
          </p:nvSpPr>
          <p:spPr>
            <a:xfrm>
              <a:off x="7353300" y="1552475"/>
              <a:ext cx="1600200" cy="2448000"/>
            </a:xfrm>
            <a:prstGeom prst="rect">
              <a:avLst/>
            </a:prstGeom>
            <a:solidFill>
              <a:srgbClr val="00B0F0"/>
            </a:solidFill>
            <a:ln>
              <a:solidFill>
                <a:schemeClr val="tx1"/>
              </a:solidFill>
            </a:ln>
            <a:effectLst/>
          </p:spPr>
          <p:txBody>
            <a:bodyPr wrap="square" lIns="91440" tIns="45720" rIns="91440" bIns="45720" rtlCol="0" anchor="t">
              <a:noAutofit/>
            </a:bodyPr>
            <a:lstStyle/>
            <a:p>
              <a:pPr algn="ctr"/>
              <a:r>
                <a:rPr lang="en-US" sz="2000" dirty="0">
                  <a:solidFill>
                    <a:schemeClr val="bg1"/>
                  </a:solidFill>
                </a:rPr>
                <a:t>RAM</a:t>
              </a:r>
            </a:p>
            <a:p>
              <a:pPr algn="ctr"/>
              <a:endParaRPr lang="en-US" sz="2000" dirty="0">
                <a:solidFill>
                  <a:schemeClr val="bg1"/>
                </a:solidFill>
                <a:cs typeface="Calibri"/>
              </a:endParaRPr>
            </a:p>
            <a:p>
              <a:pPr algn="ctr"/>
              <a:endParaRPr lang="en-US" sz="2000" dirty="0">
                <a:solidFill>
                  <a:schemeClr val="bg1"/>
                </a:solidFill>
              </a:endParaRPr>
            </a:p>
          </p:txBody>
        </p:sp>
      </p:grpSp>
      <p:sp>
        <p:nvSpPr>
          <p:cNvPr id="9" name="TextBox 8">
            <a:extLst>
              <a:ext uri="{FF2B5EF4-FFF2-40B4-BE49-F238E27FC236}">
                <a16:creationId xmlns:a16="http://schemas.microsoft.com/office/drawing/2014/main" id="{17CB0530-EB62-4F81-B4CD-CB07B12076FD}"/>
              </a:ext>
            </a:extLst>
          </p:cNvPr>
          <p:cNvSpPr txBox="1"/>
          <p:nvPr/>
        </p:nvSpPr>
        <p:spPr>
          <a:xfrm>
            <a:off x="9986968" y="5891400"/>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0" name="TextBox 9">
            <a:extLst>
              <a:ext uri="{FF2B5EF4-FFF2-40B4-BE49-F238E27FC236}">
                <a16:creationId xmlns:a16="http://schemas.microsoft.com/office/drawing/2014/main" id="{2325BD36-0408-40D2-BC11-1D49FBB8F530}"/>
              </a:ext>
            </a:extLst>
          </p:cNvPr>
          <p:cNvSpPr txBox="1"/>
          <p:nvPr/>
        </p:nvSpPr>
        <p:spPr>
          <a:xfrm>
            <a:off x="9986968" y="4891275"/>
            <a:ext cx="1371600" cy="247837"/>
          </a:xfrm>
          <a:prstGeom prst="rect">
            <a:avLst/>
          </a:prstGeom>
        </p:spPr>
        <p:txBody>
          <a:bodyPr vert="horz" wrap="none" lIns="0" tIns="0" rIns="0" bIns="0" rtlCol="0" anchor="t">
            <a:normAutofit lnSpcReduction="10000"/>
          </a:bodyPr>
          <a:lstStyle/>
          <a:p>
            <a:r>
              <a:rPr lang="en-US" dirty="0"/>
              <a:t>0x0000_FFFF</a:t>
            </a:r>
          </a:p>
        </p:txBody>
      </p:sp>
      <p:sp>
        <p:nvSpPr>
          <p:cNvPr id="11" name="TextBox 10">
            <a:extLst>
              <a:ext uri="{FF2B5EF4-FFF2-40B4-BE49-F238E27FC236}">
                <a16:creationId xmlns:a16="http://schemas.microsoft.com/office/drawing/2014/main" id="{B17112C6-036E-4430-AEC2-2BB2E2474B9F}"/>
              </a:ext>
            </a:extLst>
          </p:cNvPr>
          <p:cNvSpPr txBox="1"/>
          <p:nvPr/>
        </p:nvSpPr>
        <p:spPr>
          <a:xfrm>
            <a:off x="9986968" y="3543356"/>
            <a:ext cx="1371600" cy="247837"/>
          </a:xfrm>
          <a:prstGeom prst="rect">
            <a:avLst/>
          </a:prstGeom>
        </p:spPr>
        <p:txBody>
          <a:bodyPr vert="horz" wrap="none" lIns="0" tIns="0" rIns="0" bIns="0" rtlCol="0" anchor="t">
            <a:normAutofit lnSpcReduction="10000"/>
          </a:bodyPr>
          <a:lstStyle/>
          <a:p>
            <a:r>
              <a:rPr lang="en-US" dirty="0"/>
              <a:t>0x0001_FFFF</a:t>
            </a:r>
          </a:p>
        </p:txBody>
      </p:sp>
      <p:sp>
        <p:nvSpPr>
          <p:cNvPr id="12" name="TextBox 11">
            <a:extLst>
              <a:ext uri="{FF2B5EF4-FFF2-40B4-BE49-F238E27FC236}">
                <a16:creationId xmlns:a16="http://schemas.microsoft.com/office/drawing/2014/main" id="{03CE4F88-3BC9-49FA-9F13-854A40BD9590}"/>
              </a:ext>
            </a:extLst>
          </p:cNvPr>
          <p:cNvSpPr txBox="1"/>
          <p:nvPr/>
        </p:nvSpPr>
        <p:spPr>
          <a:xfrm>
            <a:off x="9986968" y="1174839"/>
            <a:ext cx="1371600" cy="247837"/>
          </a:xfrm>
          <a:prstGeom prst="rect">
            <a:avLst/>
          </a:prstGeom>
        </p:spPr>
        <p:txBody>
          <a:bodyPr vert="horz" wrap="none" lIns="0" tIns="0" rIns="0" bIns="0" rtlCol="0" anchor="t">
            <a:normAutofit lnSpcReduction="10000"/>
          </a:bodyPr>
          <a:lstStyle/>
          <a:p>
            <a:r>
              <a:rPr lang="en-US" dirty="0"/>
              <a:t>0x0003_FFFF</a:t>
            </a:r>
          </a:p>
        </p:txBody>
      </p:sp>
      <p:sp>
        <p:nvSpPr>
          <p:cNvPr id="13" name="TextBox 12">
            <a:extLst>
              <a:ext uri="{FF2B5EF4-FFF2-40B4-BE49-F238E27FC236}">
                <a16:creationId xmlns:a16="http://schemas.microsoft.com/office/drawing/2014/main" id="{ED2278E8-0C10-48FA-BB10-7C55D029DF6C}"/>
              </a:ext>
            </a:extLst>
          </p:cNvPr>
          <p:cNvSpPr txBox="1"/>
          <p:nvPr/>
        </p:nvSpPr>
        <p:spPr>
          <a:xfrm>
            <a:off x="3735089" y="5891400"/>
            <a:ext cx="1371600" cy="247837"/>
          </a:xfrm>
          <a:prstGeom prst="rect">
            <a:avLst/>
          </a:prstGeom>
        </p:spPr>
        <p:txBody>
          <a:bodyPr vert="horz" wrap="none" lIns="0" tIns="0" rIns="0" bIns="0" rtlCol="0" anchor="t">
            <a:normAutofit lnSpcReduction="10000"/>
          </a:bodyPr>
          <a:lstStyle/>
          <a:p>
            <a:r>
              <a:rPr lang="en-US" dirty="0"/>
              <a:t>CPU </a:t>
            </a:r>
            <a:r>
              <a:rPr lang="en-US"/>
              <a:t>reset vector</a:t>
            </a:r>
            <a:endParaRPr lang="en-US" dirty="0"/>
          </a:p>
        </p:txBody>
      </p:sp>
      <p:sp>
        <p:nvSpPr>
          <p:cNvPr id="14" name="CasellaDiTesto 6">
            <a:extLst>
              <a:ext uri="{FF2B5EF4-FFF2-40B4-BE49-F238E27FC236}">
                <a16:creationId xmlns:a16="http://schemas.microsoft.com/office/drawing/2014/main" id="{08790711-3143-441C-B09E-F0CE1E8B5529}"/>
              </a:ext>
            </a:extLst>
          </p:cNvPr>
          <p:cNvSpPr txBox="1"/>
          <p:nvPr/>
        </p:nvSpPr>
        <p:spPr>
          <a:xfrm>
            <a:off x="6974750" y="5237860"/>
            <a:ext cx="1173892" cy="882139"/>
          </a:xfrm>
          <a:prstGeom prst="roundRect">
            <a:avLst>
              <a:gd name="adj" fmla="val 7167"/>
            </a:avLst>
          </a:prstGeom>
          <a:solidFill>
            <a:schemeClr val="accent4">
              <a:lumMod val="75000"/>
            </a:schemeClr>
          </a:solidFill>
          <a:ln>
            <a:solidFill>
              <a:schemeClr val="tx1"/>
            </a:solidFill>
          </a:ln>
        </p:spPr>
        <p:txBody>
          <a:bodyPr wrap="square" rtlCol="0" anchor="t">
            <a:noAutofit/>
          </a:bodyPr>
          <a:lstStyle/>
          <a:p>
            <a:pPr algn="ctr"/>
            <a:r>
              <a:rPr lang="en-US" sz="1200" dirty="0">
                <a:solidFill>
                  <a:schemeClr val="bg1"/>
                </a:solidFill>
              </a:rPr>
              <a:t>Bootloader</a:t>
            </a:r>
          </a:p>
          <a:p>
            <a:pPr algn="ctr"/>
            <a:endParaRPr lang="en-US" sz="1200" dirty="0">
              <a:solidFill>
                <a:schemeClr val="bg1"/>
              </a:solidFill>
            </a:endParaRPr>
          </a:p>
          <a:p>
            <a:pPr algn="ctr"/>
            <a:endParaRPr lang="en-US" sz="1200" dirty="0">
              <a:solidFill>
                <a:schemeClr val="bg1"/>
              </a:solidFill>
            </a:endParaRPr>
          </a:p>
          <a:p>
            <a:pPr algn="ctr"/>
            <a:r>
              <a:rPr lang="en-US" sz="1000" dirty="0">
                <a:solidFill>
                  <a:schemeClr val="bg1"/>
                </a:solidFill>
              </a:rPr>
              <a:t>b 0x0000_0FFF</a:t>
            </a:r>
          </a:p>
        </p:txBody>
      </p:sp>
      <p:sp>
        <p:nvSpPr>
          <p:cNvPr id="15" name="TextBox 14">
            <a:extLst>
              <a:ext uri="{FF2B5EF4-FFF2-40B4-BE49-F238E27FC236}">
                <a16:creationId xmlns:a16="http://schemas.microsoft.com/office/drawing/2014/main" id="{27883F93-776D-4D60-BE6C-6CE82BDA7EAA}"/>
              </a:ext>
            </a:extLst>
          </p:cNvPr>
          <p:cNvSpPr txBox="1"/>
          <p:nvPr/>
        </p:nvSpPr>
        <p:spPr>
          <a:xfrm>
            <a:off x="5566209" y="5891399"/>
            <a:ext cx="1371600" cy="247837"/>
          </a:xfrm>
          <a:prstGeom prst="rect">
            <a:avLst/>
          </a:prstGeom>
        </p:spPr>
        <p:txBody>
          <a:bodyPr vert="horz" wrap="none" lIns="0" tIns="0" rIns="0" bIns="0" rtlCol="0" anchor="t">
            <a:normAutofit lnSpcReduction="10000"/>
          </a:bodyPr>
          <a:lstStyle/>
          <a:p>
            <a:r>
              <a:rPr lang="en-US" dirty="0"/>
              <a:t>0x0000_0000</a:t>
            </a:r>
          </a:p>
        </p:txBody>
      </p:sp>
      <p:sp>
        <p:nvSpPr>
          <p:cNvPr id="16" name="TextBox 15">
            <a:extLst>
              <a:ext uri="{FF2B5EF4-FFF2-40B4-BE49-F238E27FC236}">
                <a16:creationId xmlns:a16="http://schemas.microsoft.com/office/drawing/2014/main" id="{E57C6333-FE16-49E7-BA54-A0B42A34E46B}"/>
              </a:ext>
            </a:extLst>
          </p:cNvPr>
          <p:cNvSpPr txBox="1"/>
          <p:nvPr/>
        </p:nvSpPr>
        <p:spPr>
          <a:xfrm>
            <a:off x="5566209" y="5203632"/>
            <a:ext cx="1371600" cy="247837"/>
          </a:xfrm>
          <a:prstGeom prst="rect">
            <a:avLst/>
          </a:prstGeom>
        </p:spPr>
        <p:txBody>
          <a:bodyPr vert="horz" wrap="none" lIns="0" tIns="0" rIns="0" bIns="0" rtlCol="0" anchor="t">
            <a:normAutofit lnSpcReduction="10000"/>
          </a:bodyPr>
          <a:lstStyle/>
          <a:p>
            <a:r>
              <a:rPr lang="en-US" dirty="0"/>
              <a:t>0x0000_AFFF</a:t>
            </a:r>
          </a:p>
        </p:txBody>
      </p:sp>
      <p:sp>
        <p:nvSpPr>
          <p:cNvPr id="17" name="CasellaDiTesto 8">
            <a:extLst>
              <a:ext uri="{FF2B5EF4-FFF2-40B4-BE49-F238E27FC236}">
                <a16:creationId xmlns:a16="http://schemas.microsoft.com/office/drawing/2014/main" id="{8D3AA169-0AEE-4185-BF17-B347E022F40C}"/>
              </a:ext>
            </a:extLst>
          </p:cNvPr>
          <p:cNvSpPr txBox="1"/>
          <p:nvPr/>
        </p:nvSpPr>
        <p:spPr>
          <a:xfrm>
            <a:off x="6937809" y="1237510"/>
            <a:ext cx="1226344" cy="733755"/>
          </a:xfrm>
          <a:prstGeom prst="roundRect">
            <a:avLst>
              <a:gd name="adj" fmla="val 12593"/>
            </a:avLst>
          </a:prstGeom>
          <a:solidFill>
            <a:srgbClr val="00B0F0"/>
          </a:solidFill>
          <a:ln>
            <a:solidFill>
              <a:schemeClr val="tx1"/>
            </a:solidFill>
          </a:ln>
        </p:spPr>
        <p:txBody>
          <a:bodyPr wrap="square" rtlCol="0" anchor="ctr">
            <a:normAutofit/>
          </a:bodyPr>
          <a:lstStyle/>
          <a:p>
            <a:pPr algn="ctr"/>
            <a:r>
              <a:rPr lang="en-US" sz="1600">
                <a:solidFill>
                  <a:schemeClr val="bg1"/>
                </a:solidFill>
              </a:rPr>
              <a:t>Stack</a:t>
            </a:r>
            <a:endParaRPr lang="en-US" sz="1600" dirty="0">
              <a:solidFill>
                <a:schemeClr val="bg1"/>
              </a:solidFill>
            </a:endParaRPr>
          </a:p>
          <a:p>
            <a:pPr algn="ctr"/>
            <a:r>
              <a:rPr lang="en-US" sz="1600" dirty="0">
                <a:solidFill>
                  <a:schemeClr val="bg1"/>
                </a:solidFill>
              </a:rPr>
              <a:t>Heap</a:t>
            </a:r>
          </a:p>
        </p:txBody>
      </p:sp>
      <p:sp>
        <p:nvSpPr>
          <p:cNvPr id="18" name="CasellaDiTesto 6">
            <a:extLst>
              <a:ext uri="{FF2B5EF4-FFF2-40B4-BE49-F238E27FC236}">
                <a16:creationId xmlns:a16="http://schemas.microsoft.com/office/drawing/2014/main" id="{558D25F7-4B73-4469-94D0-D5E67D9575CF}"/>
              </a:ext>
            </a:extLst>
          </p:cNvPr>
          <p:cNvSpPr txBox="1"/>
          <p:nvPr/>
        </p:nvSpPr>
        <p:spPr>
          <a:xfrm>
            <a:off x="6958170" y="4286252"/>
            <a:ext cx="1190472" cy="190287"/>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1200">
                <a:solidFill>
                  <a:schemeClr val="bg1"/>
                </a:solidFill>
              </a:rPr>
              <a:t>OS</a:t>
            </a:r>
            <a:endParaRPr lang="en-US" sz="1200" dirty="0">
              <a:solidFill>
                <a:schemeClr val="bg1"/>
              </a:solidFill>
            </a:endParaRPr>
          </a:p>
        </p:txBody>
      </p:sp>
      <p:sp>
        <p:nvSpPr>
          <p:cNvPr id="19" name="CasellaDiTesto 8">
            <a:extLst>
              <a:ext uri="{FF2B5EF4-FFF2-40B4-BE49-F238E27FC236}">
                <a16:creationId xmlns:a16="http://schemas.microsoft.com/office/drawing/2014/main" id="{2C61C9BE-92A8-4908-B2D1-020FE0A6D62E}"/>
              </a:ext>
            </a:extLst>
          </p:cNvPr>
          <p:cNvSpPr txBox="1"/>
          <p:nvPr/>
        </p:nvSpPr>
        <p:spPr>
          <a:xfrm>
            <a:off x="6958170" y="3733965"/>
            <a:ext cx="1190472" cy="305142"/>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1200" dirty="0">
                <a:solidFill>
                  <a:schemeClr val="bg1"/>
                </a:solidFill>
              </a:rPr>
              <a:t>Application</a:t>
            </a:r>
          </a:p>
        </p:txBody>
      </p:sp>
      <p:sp>
        <p:nvSpPr>
          <p:cNvPr id="20" name="CasellaDiTesto 6">
            <a:extLst>
              <a:ext uri="{FF2B5EF4-FFF2-40B4-BE49-F238E27FC236}">
                <a16:creationId xmlns:a16="http://schemas.microsoft.com/office/drawing/2014/main" id="{5B31C499-9323-4E24-A490-86025FC088A3}"/>
              </a:ext>
            </a:extLst>
          </p:cNvPr>
          <p:cNvSpPr txBox="1"/>
          <p:nvPr/>
        </p:nvSpPr>
        <p:spPr>
          <a:xfrm>
            <a:off x="6958170" y="4027518"/>
            <a:ext cx="1190472" cy="258734"/>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200" dirty="0">
                <a:solidFill>
                  <a:schemeClr val="bg1"/>
                </a:solidFill>
              </a:rPr>
              <a:t>SP</a:t>
            </a:r>
          </a:p>
        </p:txBody>
      </p:sp>
      <p:sp>
        <p:nvSpPr>
          <p:cNvPr id="21" name="CasellaDiTesto 6">
            <a:extLst>
              <a:ext uri="{FF2B5EF4-FFF2-40B4-BE49-F238E27FC236}">
                <a16:creationId xmlns:a16="http://schemas.microsoft.com/office/drawing/2014/main" id="{0682B617-466F-4A88-B391-8AF7C3E3B46C}"/>
              </a:ext>
            </a:extLst>
          </p:cNvPr>
          <p:cNvSpPr txBox="1"/>
          <p:nvPr/>
        </p:nvSpPr>
        <p:spPr>
          <a:xfrm>
            <a:off x="6958170" y="4469163"/>
            <a:ext cx="1190472" cy="190287"/>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sz="1200">
                <a:solidFill>
                  <a:schemeClr val="bg1"/>
                </a:solidFill>
              </a:rPr>
              <a:t>DT</a:t>
            </a:r>
            <a:endParaRPr lang="en-US" sz="1200" dirty="0">
              <a:solidFill>
                <a:schemeClr val="bg1"/>
              </a:solidFill>
            </a:endParaRPr>
          </a:p>
        </p:txBody>
      </p:sp>
      <p:sp>
        <p:nvSpPr>
          <p:cNvPr id="22" name="CasellaDiTesto 6">
            <a:extLst>
              <a:ext uri="{FF2B5EF4-FFF2-40B4-BE49-F238E27FC236}">
                <a16:creationId xmlns:a16="http://schemas.microsoft.com/office/drawing/2014/main" id="{BB0546EF-0084-4E15-9ECA-A841BBB13351}"/>
              </a:ext>
            </a:extLst>
          </p:cNvPr>
          <p:cNvSpPr txBox="1"/>
          <p:nvPr/>
        </p:nvSpPr>
        <p:spPr>
          <a:xfrm>
            <a:off x="6958170" y="3043232"/>
            <a:ext cx="1190472" cy="190287"/>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1200">
                <a:solidFill>
                  <a:schemeClr val="bg1"/>
                </a:solidFill>
              </a:rPr>
              <a:t>OS</a:t>
            </a:r>
            <a:endParaRPr lang="en-US" sz="1200" dirty="0">
              <a:solidFill>
                <a:schemeClr val="bg1"/>
              </a:solidFill>
            </a:endParaRPr>
          </a:p>
        </p:txBody>
      </p:sp>
      <p:sp>
        <p:nvSpPr>
          <p:cNvPr id="23" name="CasellaDiTesto 8">
            <a:extLst>
              <a:ext uri="{FF2B5EF4-FFF2-40B4-BE49-F238E27FC236}">
                <a16:creationId xmlns:a16="http://schemas.microsoft.com/office/drawing/2014/main" id="{1D3CCB3D-15D2-4552-870C-EC887B397C26}"/>
              </a:ext>
            </a:extLst>
          </p:cNvPr>
          <p:cNvSpPr txBox="1"/>
          <p:nvPr/>
        </p:nvSpPr>
        <p:spPr>
          <a:xfrm>
            <a:off x="6958170" y="2490945"/>
            <a:ext cx="1190472" cy="305142"/>
          </a:xfrm>
          <a:prstGeom prst="roundRect">
            <a:avLst>
              <a:gd name="adj" fmla="val 12593"/>
            </a:avLst>
          </a:prstGeom>
          <a:solidFill>
            <a:schemeClr val="accent1"/>
          </a:solidFill>
          <a:ln>
            <a:solidFill>
              <a:schemeClr val="tx1"/>
            </a:solidFill>
          </a:ln>
        </p:spPr>
        <p:txBody>
          <a:bodyPr wrap="square" rtlCol="0" anchor="ctr">
            <a:noAutofit/>
          </a:bodyPr>
          <a:lstStyle/>
          <a:p>
            <a:pPr algn="ctr"/>
            <a:r>
              <a:rPr lang="en-US" sz="1200" dirty="0">
                <a:solidFill>
                  <a:schemeClr val="bg1"/>
                </a:solidFill>
              </a:rPr>
              <a:t>Application</a:t>
            </a:r>
          </a:p>
        </p:txBody>
      </p:sp>
      <p:sp>
        <p:nvSpPr>
          <p:cNvPr id="24" name="CasellaDiTesto 6">
            <a:extLst>
              <a:ext uri="{FF2B5EF4-FFF2-40B4-BE49-F238E27FC236}">
                <a16:creationId xmlns:a16="http://schemas.microsoft.com/office/drawing/2014/main" id="{1C67A0F4-A104-45C6-AE39-4A2F7B837035}"/>
              </a:ext>
            </a:extLst>
          </p:cNvPr>
          <p:cNvSpPr txBox="1"/>
          <p:nvPr/>
        </p:nvSpPr>
        <p:spPr>
          <a:xfrm>
            <a:off x="6958170" y="2784498"/>
            <a:ext cx="1190472" cy="258734"/>
          </a:xfrm>
          <a:prstGeom prst="roundRect">
            <a:avLst>
              <a:gd name="adj" fmla="val 7167"/>
            </a:avLst>
          </a:prstGeom>
          <a:solidFill>
            <a:srgbClr val="00B050"/>
          </a:solidFill>
          <a:ln>
            <a:solidFill>
              <a:schemeClr val="tx1"/>
            </a:solidFill>
          </a:ln>
        </p:spPr>
        <p:txBody>
          <a:bodyPr wrap="square" rtlCol="0" anchor="ctr">
            <a:noAutofit/>
          </a:bodyPr>
          <a:lstStyle/>
          <a:p>
            <a:pPr algn="ctr"/>
            <a:r>
              <a:rPr lang="en-US" sz="1200" dirty="0">
                <a:solidFill>
                  <a:schemeClr val="bg1"/>
                </a:solidFill>
              </a:rPr>
              <a:t>SP</a:t>
            </a:r>
          </a:p>
        </p:txBody>
      </p:sp>
      <p:sp>
        <p:nvSpPr>
          <p:cNvPr id="25" name="CasellaDiTesto 6">
            <a:extLst>
              <a:ext uri="{FF2B5EF4-FFF2-40B4-BE49-F238E27FC236}">
                <a16:creationId xmlns:a16="http://schemas.microsoft.com/office/drawing/2014/main" id="{E069D174-66E1-4879-9C08-A61CBB3FD9BD}"/>
              </a:ext>
            </a:extLst>
          </p:cNvPr>
          <p:cNvSpPr txBox="1"/>
          <p:nvPr/>
        </p:nvSpPr>
        <p:spPr>
          <a:xfrm>
            <a:off x="6958170" y="3226143"/>
            <a:ext cx="1190472" cy="190287"/>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sz="1200">
                <a:solidFill>
                  <a:schemeClr val="bg1"/>
                </a:solidFill>
              </a:rPr>
              <a:t>DT</a:t>
            </a:r>
            <a:endParaRPr lang="en-US" sz="1200" dirty="0">
              <a:solidFill>
                <a:schemeClr val="bg1"/>
              </a:solidFill>
            </a:endParaRPr>
          </a:p>
        </p:txBody>
      </p:sp>
    </p:spTree>
    <p:extLst>
      <p:ext uri="{BB962C8B-B14F-4D97-AF65-F5344CB8AC3E}">
        <p14:creationId xmlns:p14="http://schemas.microsoft.com/office/powerpoint/2010/main" val="221292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solidFill>
                  <a:srgbClr val="128CAB"/>
                </a:solidFill>
              </a:rPr>
              <a:t>Kernel</a:t>
            </a:r>
          </a:p>
          <a:p>
            <a:r>
              <a:rPr lang="en-US" dirty="0">
                <a:ea typeface="ＭＳ Ｐゴシック"/>
              </a:rPr>
              <a:t>Device Tree</a:t>
            </a:r>
            <a:endParaRPr lang="en-US" dirty="0">
              <a:solidFill>
                <a:srgbClr val="128CAB"/>
              </a:solidFill>
            </a:endParaRPr>
          </a:p>
          <a:p>
            <a:r>
              <a:rPr lang="en-US" dirty="0">
                <a:ea typeface="ＭＳ Ｐゴシック"/>
              </a:rPr>
              <a:t>System Programs</a:t>
            </a:r>
            <a:endParaRPr lang="en-US"/>
          </a:p>
          <a:p>
            <a:r>
              <a:rPr lang="en-US" dirty="0"/>
              <a:t>Application</a:t>
            </a:r>
          </a:p>
          <a:p>
            <a:r>
              <a:rPr lang="en-US" dirty="0">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042392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Linux Kernel is the software responsible for optimally managing the embedded system’s hardware resources.</a:t>
            </a:r>
          </a:p>
          <a:p>
            <a:r>
              <a:rPr lang="en-US" dirty="0"/>
              <a:t>It offers services such as:</a:t>
            </a:r>
            <a:endParaRPr lang="en-US" altLang="en-US" dirty="0">
              <a:ea typeface="ＭＳ Ｐゴシック" panose="020B0600070205080204" pitchFamily="34" charset="-128"/>
            </a:endParaRPr>
          </a:p>
          <a:p>
            <a:pPr lvl="1"/>
            <a:r>
              <a:rPr lang="en-US" dirty="0"/>
              <a:t>Process management</a:t>
            </a:r>
          </a:p>
          <a:p>
            <a:pPr lvl="1"/>
            <a:r>
              <a:rPr lang="en-US" dirty="0"/>
              <a:t>Process scheduling</a:t>
            </a:r>
          </a:p>
          <a:p>
            <a:pPr lvl="1"/>
            <a:r>
              <a:rPr lang="en-US" dirty="0"/>
              <a:t>Inter-process communication</a:t>
            </a:r>
          </a:p>
          <a:p>
            <a:pPr lvl="1"/>
            <a:r>
              <a:rPr lang="en-US" dirty="0"/>
              <a:t>Memory management</a:t>
            </a:r>
          </a:p>
          <a:p>
            <a:pPr lvl="1"/>
            <a:r>
              <a:rPr lang="en-US" dirty="0"/>
              <a:t>I/O management (device drivers)</a:t>
            </a:r>
          </a:p>
          <a:p>
            <a:pPr lvl="1"/>
            <a:r>
              <a:rPr lang="en-US" dirty="0"/>
              <a:t>File system </a:t>
            </a:r>
          </a:p>
          <a:p>
            <a:pPr lvl="1"/>
            <a:r>
              <a:rPr lang="en-US" dirty="0"/>
              <a:t>Networking</a:t>
            </a:r>
          </a:p>
          <a:p>
            <a:pPr lvl="1"/>
            <a:r>
              <a:rPr lang="en-US" dirty="0"/>
              <a:t>And more</a:t>
            </a:r>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FF98914A-7401-49EB-8427-F56C5732D296}"/>
              </a:ext>
            </a:extLst>
          </p:cNvPr>
          <p:cNvSpPr txBox="1"/>
          <p:nvPr/>
        </p:nvSpPr>
        <p:spPr>
          <a:xfrm>
            <a:off x="7626619" y="2536092"/>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6" name="CasellaDiTesto 6">
            <a:extLst>
              <a:ext uri="{FF2B5EF4-FFF2-40B4-BE49-F238E27FC236}">
                <a16:creationId xmlns:a16="http://schemas.microsoft.com/office/drawing/2014/main" id="{FF34DDF9-1A1E-4E5E-989E-ACC04780CB40}"/>
              </a:ext>
            </a:extLst>
          </p:cNvPr>
          <p:cNvSpPr txBox="1"/>
          <p:nvPr/>
        </p:nvSpPr>
        <p:spPr>
          <a:xfrm>
            <a:off x="7626619" y="2946222"/>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Process Management</a:t>
            </a:r>
            <a:endParaRPr lang="en-US" sz="2000" dirty="0">
              <a:solidFill>
                <a:schemeClr val="bg1"/>
              </a:solidFill>
            </a:endParaRPr>
          </a:p>
        </p:txBody>
      </p:sp>
      <p:sp>
        <p:nvSpPr>
          <p:cNvPr id="7" name="CasellaDiTesto 6">
            <a:extLst>
              <a:ext uri="{FF2B5EF4-FFF2-40B4-BE49-F238E27FC236}">
                <a16:creationId xmlns:a16="http://schemas.microsoft.com/office/drawing/2014/main" id="{09F8675D-E262-4A4B-8D2B-FFFA5C7C1AEF}"/>
              </a:ext>
            </a:extLst>
          </p:cNvPr>
          <p:cNvSpPr txBox="1"/>
          <p:nvPr/>
        </p:nvSpPr>
        <p:spPr>
          <a:xfrm>
            <a:off x="9454055" y="2946108"/>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Virtual File System</a:t>
            </a:r>
            <a:endParaRPr lang="en-US" sz="2000" dirty="0">
              <a:solidFill>
                <a:schemeClr val="bg1"/>
              </a:solidFill>
            </a:endParaRPr>
          </a:p>
        </p:txBody>
      </p:sp>
      <p:sp>
        <p:nvSpPr>
          <p:cNvPr id="8" name="CasellaDiTesto 6">
            <a:extLst>
              <a:ext uri="{FF2B5EF4-FFF2-40B4-BE49-F238E27FC236}">
                <a16:creationId xmlns:a16="http://schemas.microsoft.com/office/drawing/2014/main" id="{F3815EFF-D58B-4AEC-AACD-7CC48F0D0BB4}"/>
              </a:ext>
            </a:extLst>
          </p:cNvPr>
          <p:cNvSpPr txBox="1"/>
          <p:nvPr/>
        </p:nvSpPr>
        <p:spPr>
          <a:xfrm>
            <a:off x="76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9" name="CasellaDiTesto 6">
            <a:extLst>
              <a:ext uri="{FF2B5EF4-FFF2-40B4-BE49-F238E27FC236}">
                <a16:creationId xmlns:a16="http://schemas.microsoft.com/office/drawing/2014/main" id="{DC33C130-1CE8-4C6E-AABB-0292A9A1FA04}"/>
              </a:ext>
            </a:extLst>
          </p:cNvPr>
          <p:cNvSpPr txBox="1"/>
          <p:nvPr/>
        </p:nvSpPr>
        <p:spPr>
          <a:xfrm>
            <a:off x="94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10" name="CasellaDiTesto 6">
            <a:extLst>
              <a:ext uri="{FF2B5EF4-FFF2-40B4-BE49-F238E27FC236}">
                <a16:creationId xmlns:a16="http://schemas.microsoft.com/office/drawing/2014/main" id="{1E03FD5B-599D-4197-837C-CA8497ABE5B0}"/>
              </a:ext>
            </a:extLst>
          </p:cNvPr>
          <p:cNvSpPr txBox="1"/>
          <p:nvPr/>
        </p:nvSpPr>
        <p:spPr>
          <a:xfrm>
            <a:off x="7626619" y="4532828"/>
            <a:ext cx="3564000" cy="415588"/>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11" name="Rectangle 10">
            <a:extLst>
              <a:ext uri="{FF2B5EF4-FFF2-40B4-BE49-F238E27FC236}">
                <a16:creationId xmlns:a16="http://schemas.microsoft.com/office/drawing/2014/main" id="{46831D3D-1B24-43AC-A8A9-7CAE8D0DDEB7}"/>
              </a:ext>
            </a:extLst>
          </p:cNvPr>
          <p:cNvSpPr/>
          <p:nvPr/>
        </p:nvSpPr>
        <p:spPr>
          <a:xfrm>
            <a:off x="7465219" y="2414535"/>
            <a:ext cx="3886200" cy="266400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22D342-4C9F-4CA7-9619-95114608299A}"/>
              </a:ext>
            </a:extLst>
          </p:cNvPr>
          <p:cNvSpPr txBox="1"/>
          <p:nvPr/>
        </p:nvSpPr>
        <p:spPr>
          <a:xfrm rot="16200000">
            <a:off x="5907142" y="3162966"/>
            <a:ext cx="2430355" cy="914400"/>
          </a:xfrm>
          <a:prstGeom prst="rect">
            <a:avLst/>
          </a:prstGeom>
        </p:spPr>
        <p:txBody>
          <a:bodyPr vert="horz" wrap="none" lIns="0" tIns="0" rIns="0" bIns="0" rtlCol="0" anchor="t">
            <a:normAutofit/>
          </a:bodyPr>
          <a:lstStyle/>
          <a:p>
            <a:pPr algn="ctr"/>
            <a:r>
              <a:rPr lang="en-US" sz="2400" dirty="0">
                <a:solidFill>
                  <a:schemeClr val="accent1"/>
                </a:solidFill>
              </a:rPr>
              <a:t>Linux</a:t>
            </a:r>
            <a:br>
              <a:rPr lang="en-US" sz="2400" dirty="0">
                <a:solidFill>
                  <a:schemeClr val="accent1"/>
                </a:solidFill>
              </a:rPr>
            </a:br>
            <a:r>
              <a:rPr lang="en-US" sz="2400" dirty="0">
                <a:solidFill>
                  <a:schemeClr val="accent1"/>
                </a:solidFill>
              </a:rPr>
              <a:t>Kernel</a:t>
            </a:r>
          </a:p>
        </p:txBody>
      </p:sp>
    </p:spTree>
    <p:extLst>
      <p:ext uri="{BB962C8B-B14F-4D97-AF65-F5344CB8AC3E}">
        <p14:creationId xmlns:p14="http://schemas.microsoft.com/office/powerpoint/2010/main" val="4139495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6498610" cy="4086225"/>
          </a:xfrm>
        </p:spPr>
        <p:txBody>
          <a:bodyPr wrap="square" numCol="1" anchor="t" anchorCtr="0" compatLnSpc="1">
            <a:prstTxWarp prst="textNoShape">
              <a:avLst/>
            </a:prstTxWarp>
          </a:bodyPr>
          <a:lstStyle/>
          <a:p>
            <a:r>
              <a:rPr lang="en-US" dirty="0"/>
              <a:t>The Linux kernel adopts a </a:t>
            </a:r>
            <a:r>
              <a:rPr lang="en-US" dirty="0">
                <a:solidFill>
                  <a:srgbClr val="128CAB"/>
                </a:solidFill>
              </a:rPr>
              <a:t>layered operating system architecture</a:t>
            </a:r>
            <a:r>
              <a:rPr lang="en-US" dirty="0"/>
              <a:t>:</a:t>
            </a:r>
            <a:endParaRPr lang="en-US" altLang="en-US" dirty="0">
              <a:ea typeface="ＭＳ Ｐゴシック" panose="020B0600070205080204" pitchFamily="34" charset="-128"/>
            </a:endParaRPr>
          </a:p>
          <a:p>
            <a:pPr lvl="1"/>
            <a:r>
              <a:rPr lang="en-US" dirty="0"/>
              <a:t>The operating system is divided into two layers, one (</a:t>
            </a:r>
            <a:r>
              <a:rPr lang="en-US" dirty="0">
                <a:solidFill>
                  <a:srgbClr val="128CAB"/>
                </a:solidFill>
              </a:rPr>
              <a:t>User space</a:t>
            </a:r>
            <a:r>
              <a:rPr lang="en-US" dirty="0"/>
              <a:t>) built on top of the other (</a:t>
            </a:r>
            <a:r>
              <a:rPr lang="en-US" dirty="0">
                <a:solidFill>
                  <a:srgbClr val="128CAB"/>
                </a:solidFill>
              </a:rPr>
              <a:t>Kernel space</a:t>
            </a:r>
            <a:r>
              <a:rPr lang="en-US" dirty="0"/>
              <a:t>).</a:t>
            </a:r>
          </a:p>
          <a:p>
            <a:pPr lvl="1"/>
            <a:r>
              <a:rPr lang="en-US" dirty="0"/>
              <a:t>User space and Kernel space are </a:t>
            </a:r>
            <a:r>
              <a:rPr lang="en-US" dirty="0">
                <a:solidFill>
                  <a:srgbClr val="128CAB"/>
                </a:solidFill>
              </a:rPr>
              <a:t>different </a:t>
            </a:r>
            <a:r>
              <a:rPr lang="en-US" dirty="0">
                <a:solidFill>
                  <a:schemeClr val="tx1"/>
                </a:solidFill>
              </a:rPr>
              <a:t>regions of the memory </a:t>
            </a:r>
            <a:r>
              <a:rPr lang="en-US" dirty="0"/>
              <a:t>address space.</a:t>
            </a:r>
          </a:p>
          <a:p>
            <a:pPr lvl="1"/>
            <a:r>
              <a:rPr lang="en-US" dirty="0"/>
              <a:t>Basic services are delivered by a single executable, </a:t>
            </a:r>
            <a:r>
              <a:rPr lang="en-US" dirty="0">
                <a:solidFill>
                  <a:srgbClr val="128CAB"/>
                </a:solidFill>
              </a:rPr>
              <a:t>monolithic Kernel.</a:t>
            </a:r>
            <a:endParaRPr lang="en-US" dirty="0"/>
          </a:p>
          <a:p>
            <a:pPr lvl="1"/>
            <a:r>
              <a:rPr lang="en-US" dirty="0"/>
              <a:t>Services can be extended at run-time through </a:t>
            </a:r>
            <a:r>
              <a:rPr lang="en-US" dirty="0">
                <a:solidFill>
                  <a:srgbClr val="128CAB"/>
                </a:solidFill>
              </a:rPr>
              <a:t>loadable Kernel modules</a:t>
            </a:r>
            <a:endParaRPr lang="en-US" altLang="en-US" dirty="0">
              <a:ea typeface="ＭＳ Ｐゴシック" panose="020B0600070205080204" pitchFamily="34" charset="-128"/>
            </a:endParaRPr>
          </a:p>
        </p:txBody>
      </p:sp>
      <p:sp>
        <p:nvSpPr>
          <p:cNvPr id="21" name="L-Shape 20">
            <a:extLst>
              <a:ext uri="{FF2B5EF4-FFF2-40B4-BE49-F238E27FC236}">
                <a16:creationId xmlns:a16="http://schemas.microsoft.com/office/drawing/2014/main" id="{8F11FD92-8DBC-43D8-A8DE-1D9AB74DE655}"/>
              </a:ext>
            </a:extLst>
          </p:cNvPr>
          <p:cNvSpPr/>
          <p:nvPr/>
        </p:nvSpPr>
        <p:spPr>
          <a:xfrm rot="5400000">
            <a:off x="8618197" y="2436473"/>
            <a:ext cx="2702040" cy="3721665"/>
          </a:xfrm>
          <a:prstGeom prst="corner">
            <a:avLst>
              <a:gd name="adj1" fmla="val 68823"/>
              <a:gd name="adj2" fmla="val 76528"/>
            </a:avLst>
          </a:prstGeom>
          <a:solidFill>
            <a:schemeClr val="bg1">
              <a:lumMod val="85000"/>
            </a:schemeClr>
          </a:solidFill>
          <a:ln w="28575">
            <a:solidFill>
              <a:schemeClr val="accent1"/>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CasellaDiTesto 8">
            <a:extLst>
              <a:ext uri="{FF2B5EF4-FFF2-40B4-BE49-F238E27FC236}">
                <a16:creationId xmlns:a16="http://schemas.microsoft.com/office/drawing/2014/main" id="{2F74589C-7CC2-4CFF-9804-D4C26FD11933}"/>
              </a:ext>
            </a:extLst>
          </p:cNvPr>
          <p:cNvSpPr txBox="1"/>
          <p:nvPr/>
        </p:nvSpPr>
        <p:spPr>
          <a:xfrm>
            <a:off x="8157632" y="1543800"/>
            <a:ext cx="3600000" cy="432000"/>
          </a:xfrm>
          <a:prstGeom prst="roundRect">
            <a:avLst>
              <a:gd name="adj" fmla="val 12593"/>
            </a:avLst>
          </a:prstGeom>
          <a:solidFill>
            <a:schemeClr val="accent1"/>
          </a:solidFill>
          <a:ln>
            <a:solidFill>
              <a:schemeClr val="tx1"/>
            </a:solidFill>
          </a:ln>
        </p:spPr>
        <p:txBody>
          <a:bodyPr wrap="square" rtlCol="0" anchor="ctr">
            <a:normAutofit fontScale="92500" lnSpcReduction="10000"/>
          </a:bodyPr>
          <a:lstStyle/>
          <a:p>
            <a:pPr algn="ctr"/>
            <a:r>
              <a:rPr lang="en-US" sz="2400" dirty="0">
                <a:solidFill>
                  <a:schemeClr val="bg1"/>
                </a:solidFill>
              </a:rPr>
              <a:t>Application</a:t>
            </a:r>
          </a:p>
        </p:txBody>
      </p:sp>
      <p:sp>
        <p:nvSpPr>
          <p:cNvPr id="23" name="CasellaDiTesto 6">
            <a:extLst>
              <a:ext uri="{FF2B5EF4-FFF2-40B4-BE49-F238E27FC236}">
                <a16:creationId xmlns:a16="http://schemas.microsoft.com/office/drawing/2014/main" id="{DF8D5D68-4D43-4329-A8E7-B09B7B09CE57}"/>
              </a:ext>
            </a:extLst>
          </p:cNvPr>
          <p:cNvSpPr txBox="1"/>
          <p:nvPr/>
        </p:nvSpPr>
        <p:spPr>
          <a:xfrm>
            <a:off x="8157632" y="2128200"/>
            <a:ext cx="3600000" cy="389045"/>
          </a:xfrm>
          <a:prstGeom prst="roundRect">
            <a:avLst>
              <a:gd name="adj" fmla="val 7167"/>
            </a:avLst>
          </a:prstGeom>
          <a:solidFill>
            <a:srgbClr val="00B050"/>
          </a:solidFill>
          <a:ln>
            <a:solidFill>
              <a:schemeClr val="tx1"/>
            </a:solidFill>
          </a:ln>
        </p:spPr>
        <p:txBody>
          <a:bodyPr wrap="square" rtlCol="0" anchor="ctr">
            <a:normAutofit fontScale="92500" lnSpcReduction="10000"/>
          </a:bodyPr>
          <a:lstStyle/>
          <a:p>
            <a:pPr algn="ctr"/>
            <a:r>
              <a:rPr lang="en-US" sz="2000" dirty="0">
                <a:solidFill>
                  <a:schemeClr val="bg1"/>
                </a:solidFill>
              </a:rPr>
              <a:t>System Programs</a:t>
            </a:r>
          </a:p>
        </p:txBody>
      </p:sp>
      <p:sp>
        <p:nvSpPr>
          <p:cNvPr id="24" name="CasellaDiTesto 6">
            <a:extLst>
              <a:ext uri="{FF2B5EF4-FFF2-40B4-BE49-F238E27FC236}">
                <a16:creationId xmlns:a16="http://schemas.microsoft.com/office/drawing/2014/main" id="{5A5EDA7A-6A24-473A-9983-55A4143D6737}"/>
              </a:ext>
            </a:extLst>
          </p:cNvPr>
          <p:cNvSpPr txBox="1"/>
          <p:nvPr/>
        </p:nvSpPr>
        <p:spPr>
          <a:xfrm>
            <a:off x="8157631" y="3018791"/>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25" name="CasellaDiTesto 6">
            <a:extLst>
              <a:ext uri="{FF2B5EF4-FFF2-40B4-BE49-F238E27FC236}">
                <a16:creationId xmlns:a16="http://schemas.microsoft.com/office/drawing/2014/main" id="{FC3558ED-5551-4314-ADC7-B572EC7777CF}"/>
              </a:ext>
            </a:extLst>
          </p:cNvPr>
          <p:cNvSpPr txBox="1"/>
          <p:nvPr/>
        </p:nvSpPr>
        <p:spPr>
          <a:xfrm>
            <a:off x="8157631" y="3428921"/>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Process Management</a:t>
            </a:r>
            <a:endParaRPr lang="en-US" sz="2000" dirty="0">
              <a:solidFill>
                <a:schemeClr val="bg1"/>
              </a:solidFill>
            </a:endParaRPr>
          </a:p>
        </p:txBody>
      </p:sp>
      <p:sp>
        <p:nvSpPr>
          <p:cNvPr id="26" name="CasellaDiTesto 6">
            <a:extLst>
              <a:ext uri="{FF2B5EF4-FFF2-40B4-BE49-F238E27FC236}">
                <a16:creationId xmlns:a16="http://schemas.microsoft.com/office/drawing/2014/main" id="{598F58F2-C8F1-43CA-912D-CE1AB4A580C4}"/>
              </a:ext>
            </a:extLst>
          </p:cNvPr>
          <p:cNvSpPr txBox="1"/>
          <p:nvPr/>
        </p:nvSpPr>
        <p:spPr>
          <a:xfrm>
            <a:off x="9985067" y="3428807"/>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Virtual File System</a:t>
            </a:r>
            <a:endParaRPr lang="en-US" sz="2000" dirty="0">
              <a:solidFill>
                <a:schemeClr val="bg1"/>
              </a:solidFill>
            </a:endParaRPr>
          </a:p>
        </p:txBody>
      </p:sp>
      <p:sp>
        <p:nvSpPr>
          <p:cNvPr id="27" name="CasellaDiTesto 6">
            <a:extLst>
              <a:ext uri="{FF2B5EF4-FFF2-40B4-BE49-F238E27FC236}">
                <a16:creationId xmlns:a16="http://schemas.microsoft.com/office/drawing/2014/main" id="{9C85E0A3-1A3D-4EEC-ACE9-E4E444FD7D93}"/>
              </a:ext>
            </a:extLst>
          </p:cNvPr>
          <p:cNvSpPr txBox="1"/>
          <p:nvPr/>
        </p:nvSpPr>
        <p:spPr>
          <a:xfrm>
            <a:off x="8157631" y="4222224"/>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28" name="CasellaDiTesto 6">
            <a:extLst>
              <a:ext uri="{FF2B5EF4-FFF2-40B4-BE49-F238E27FC236}">
                <a16:creationId xmlns:a16="http://schemas.microsoft.com/office/drawing/2014/main" id="{4C3EA755-A23F-442F-BCA4-6BABE3CD94D0}"/>
              </a:ext>
            </a:extLst>
          </p:cNvPr>
          <p:cNvSpPr txBox="1"/>
          <p:nvPr/>
        </p:nvSpPr>
        <p:spPr>
          <a:xfrm>
            <a:off x="9957631" y="4222224"/>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29" name="CasellaDiTesto 6">
            <a:extLst>
              <a:ext uri="{FF2B5EF4-FFF2-40B4-BE49-F238E27FC236}">
                <a16:creationId xmlns:a16="http://schemas.microsoft.com/office/drawing/2014/main" id="{39E26F6E-2175-4FF6-B998-95E1DAD2AC43}"/>
              </a:ext>
            </a:extLst>
          </p:cNvPr>
          <p:cNvSpPr txBox="1"/>
          <p:nvPr/>
        </p:nvSpPr>
        <p:spPr>
          <a:xfrm>
            <a:off x="8157631" y="5015527"/>
            <a:ext cx="1764000" cy="415588"/>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30" name="Rectangle 29">
            <a:extLst>
              <a:ext uri="{FF2B5EF4-FFF2-40B4-BE49-F238E27FC236}">
                <a16:creationId xmlns:a16="http://schemas.microsoft.com/office/drawing/2014/main" id="{5854B902-D6C8-4364-BE1C-3B93B87A975A}"/>
              </a:ext>
            </a:extLst>
          </p:cNvPr>
          <p:cNvSpPr/>
          <p:nvPr/>
        </p:nvSpPr>
        <p:spPr>
          <a:xfrm>
            <a:off x="7877161" y="2768642"/>
            <a:ext cx="4162438" cy="335135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9931D13-C424-4A01-BF3F-BA9AF5B3D782}"/>
              </a:ext>
            </a:extLst>
          </p:cNvPr>
          <p:cNvSpPr/>
          <p:nvPr/>
        </p:nvSpPr>
        <p:spPr>
          <a:xfrm>
            <a:off x="7877161" y="1440000"/>
            <a:ext cx="4162438" cy="1204086"/>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92376EE-F033-4A49-896A-FC78CBE2C17A}"/>
              </a:ext>
            </a:extLst>
          </p:cNvPr>
          <p:cNvSpPr txBox="1"/>
          <p:nvPr/>
        </p:nvSpPr>
        <p:spPr>
          <a:xfrm rot="16200000">
            <a:off x="6365912" y="3744868"/>
            <a:ext cx="2089062" cy="800099"/>
          </a:xfrm>
          <a:prstGeom prst="rect">
            <a:avLst/>
          </a:prstGeom>
        </p:spPr>
        <p:txBody>
          <a:bodyPr vert="horz" wrap="none" lIns="0" tIns="0" rIns="0" bIns="0" rtlCol="0" anchor="t">
            <a:normAutofit/>
          </a:bodyPr>
          <a:lstStyle/>
          <a:p>
            <a:pPr algn="ctr"/>
            <a:r>
              <a:rPr lang="en-US" sz="2400" dirty="0">
                <a:solidFill>
                  <a:schemeClr val="accent1"/>
                </a:solidFill>
              </a:rPr>
              <a:t>Kernel </a:t>
            </a:r>
            <a:br>
              <a:rPr lang="en-US" sz="2400" dirty="0">
                <a:solidFill>
                  <a:schemeClr val="accent1"/>
                </a:solidFill>
              </a:rPr>
            </a:br>
            <a:r>
              <a:rPr lang="en-US" sz="2400" dirty="0">
                <a:solidFill>
                  <a:schemeClr val="accent1"/>
                </a:solidFill>
              </a:rPr>
              <a:t>Space</a:t>
            </a:r>
          </a:p>
        </p:txBody>
      </p:sp>
      <p:sp>
        <p:nvSpPr>
          <p:cNvPr id="33" name="TextBox 32">
            <a:extLst>
              <a:ext uri="{FF2B5EF4-FFF2-40B4-BE49-F238E27FC236}">
                <a16:creationId xmlns:a16="http://schemas.microsoft.com/office/drawing/2014/main" id="{38555D65-352C-473B-9051-F9EAA2E575E2}"/>
              </a:ext>
            </a:extLst>
          </p:cNvPr>
          <p:cNvSpPr txBox="1"/>
          <p:nvPr/>
        </p:nvSpPr>
        <p:spPr>
          <a:xfrm rot="16200000">
            <a:off x="6365912" y="1641993"/>
            <a:ext cx="2089062" cy="800099"/>
          </a:xfrm>
          <a:prstGeom prst="rect">
            <a:avLst/>
          </a:prstGeom>
        </p:spPr>
        <p:txBody>
          <a:bodyPr vert="horz" wrap="none" lIns="0" tIns="0" rIns="0" bIns="0" rtlCol="0" anchor="t">
            <a:normAutofit/>
          </a:bodyPr>
          <a:lstStyle/>
          <a:p>
            <a:pPr algn="ctr"/>
            <a:r>
              <a:rPr lang="en-US" sz="2400" dirty="0">
                <a:solidFill>
                  <a:schemeClr val="accent1"/>
                </a:solidFill>
              </a:rPr>
              <a:t>User</a:t>
            </a:r>
            <a:br>
              <a:rPr lang="en-US" sz="2400" dirty="0">
                <a:solidFill>
                  <a:schemeClr val="accent1"/>
                </a:solidFill>
              </a:rPr>
            </a:br>
            <a:r>
              <a:rPr lang="en-US" sz="2400" dirty="0">
                <a:solidFill>
                  <a:schemeClr val="accent1"/>
                </a:solidFill>
              </a:rPr>
              <a:t>Space</a:t>
            </a:r>
          </a:p>
        </p:txBody>
      </p:sp>
      <p:sp>
        <p:nvSpPr>
          <p:cNvPr id="34" name="CasellaDiTesto 6">
            <a:extLst>
              <a:ext uri="{FF2B5EF4-FFF2-40B4-BE49-F238E27FC236}">
                <a16:creationId xmlns:a16="http://schemas.microsoft.com/office/drawing/2014/main" id="{4FA03D27-F672-4EEF-AFC6-A4208C1E2E01}"/>
              </a:ext>
            </a:extLst>
          </p:cNvPr>
          <p:cNvSpPr txBox="1"/>
          <p:nvPr/>
        </p:nvSpPr>
        <p:spPr>
          <a:xfrm>
            <a:off x="10015047" y="5050556"/>
            <a:ext cx="1736564" cy="735270"/>
          </a:xfrm>
          <a:prstGeom prst="roundRect">
            <a:avLst>
              <a:gd name="adj" fmla="val 7167"/>
            </a:avLst>
          </a:prstGeom>
          <a:solidFill>
            <a:srgbClr val="7030A0"/>
          </a:solidFill>
          <a:ln>
            <a:solidFill>
              <a:schemeClr val="tx1"/>
            </a:solidFill>
          </a:ln>
        </p:spPr>
        <p:txBody>
          <a:bodyPr wrap="square" rtlCol="0" anchor="ctr">
            <a:spAutoFit/>
          </a:bodyPr>
          <a:lstStyle/>
          <a:p>
            <a:pPr algn="ctr"/>
            <a:r>
              <a:rPr lang="en-US" sz="2000" dirty="0">
                <a:solidFill>
                  <a:schemeClr val="bg1"/>
                </a:solidFill>
              </a:rPr>
              <a:t>Loadable Module</a:t>
            </a:r>
          </a:p>
        </p:txBody>
      </p:sp>
      <p:sp>
        <p:nvSpPr>
          <p:cNvPr id="35" name="TextBox 34">
            <a:extLst>
              <a:ext uri="{FF2B5EF4-FFF2-40B4-BE49-F238E27FC236}">
                <a16:creationId xmlns:a16="http://schemas.microsoft.com/office/drawing/2014/main" id="{B607C727-100D-42CB-92A7-14495C717788}"/>
              </a:ext>
            </a:extLst>
          </p:cNvPr>
          <p:cNvSpPr txBox="1"/>
          <p:nvPr/>
        </p:nvSpPr>
        <p:spPr>
          <a:xfrm>
            <a:off x="6467993" y="6400800"/>
            <a:ext cx="1671638" cy="247200"/>
          </a:xfrm>
          <a:prstGeom prst="rect">
            <a:avLst/>
          </a:prstGeom>
        </p:spPr>
        <p:txBody>
          <a:bodyPr vert="horz" wrap="none" lIns="0" tIns="0" rIns="0" bIns="0" rtlCol="0" anchor="t">
            <a:normAutofit lnSpcReduction="10000"/>
          </a:bodyPr>
          <a:lstStyle/>
          <a:p>
            <a:r>
              <a:rPr lang="en-US"/>
              <a:t>Monolithic kernel</a:t>
            </a:r>
            <a:endParaRPr lang="en-US" dirty="0"/>
          </a:p>
        </p:txBody>
      </p:sp>
      <p:cxnSp>
        <p:nvCxnSpPr>
          <p:cNvPr id="36" name="Straight Connector 35">
            <a:extLst>
              <a:ext uri="{FF2B5EF4-FFF2-40B4-BE49-F238E27FC236}">
                <a16:creationId xmlns:a16="http://schemas.microsoft.com/office/drawing/2014/main" id="{B16422D8-5BC2-4EF9-AAAD-BB0538D80D1E}"/>
              </a:ext>
            </a:extLst>
          </p:cNvPr>
          <p:cNvCxnSpPr>
            <a:cxnSpLocks/>
            <a:stCxn id="35" idx="0"/>
          </p:cNvCxnSpPr>
          <p:nvPr/>
        </p:nvCxnSpPr>
        <p:spPr>
          <a:xfrm flipV="1">
            <a:off x="7303812" y="5648326"/>
            <a:ext cx="804572" cy="75247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675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L-Shape 40">
            <a:extLst>
              <a:ext uri="{FF2B5EF4-FFF2-40B4-BE49-F238E27FC236}">
                <a16:creationId xmlns:a16="http://schemas.microsoft.com/office/drawing/2014/main" id="{5350DCB9-5556-4DD7-A341-C08E709B7993}"/>
              </a:ext>
            </a:extLst>
          </p:cNvPr>
          <p:cNvSpPr/>
          <p:nvPr/>
        </p:nvSpPr>
        <p:spPr>
          <a:xfrm rot="5400000">
            <a:off x="8618197" y="2436473"/>
            <a:ext cx="2702040" cy="3721665"/>
          </a:xfrm>
          <a:prstGeom prst="corner">
            <a:avLst>
              <a:gd name="adj1" fmla="val 68823"/>
              <a:gd name="adj2" fmla="val 76528"/>
            </a:avLst>
          </a:prstGeom>
          <a:solidFill>
            <a:schemeClr val="bg1">
              <a:lumMod val="85000"/>
            </a:schemeClr>
          </a:solidFill>
          <a:ln w="28575">
            <a:solidFill>
              <a:schemeClr val="accent1"/>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2" name="CasellaDiTesto 8">
            <a:extLst>
              <a:ext uri="{FF2B5EF4-FFF2-40B4-BE49-F238E27FC236}">
                <a16:creationId xmlns:a16="http://schemas.microsoft.com/office/drawing/2014/main" id="{8120A824-2486-404F-A1E8-E4CCDB86D5B3}"/>
              </a:ext>
            </a:extLst>
          </p:cNvPr>
          <p:cNvSpPr txBox="1"/>
          <p:nvPr/>
        </p:nvSpPr>
        <p:spPr>
          <a:xfrm>
            <a:off x="8157632" y="1543800"/>
            <a:ext cx="3600000" cy="432000"/>
          </a:xfrm>
          <a:prstGeom prst="roundRect">
            <a:avLst>
              <a:gd name="adj" fmla="val 12593"/>
            </a:avLst>
          </a:prstGeom>
          <a:solidFill>
            <a:schemeClr val="accent1"/>
          </a:solidFill>
          <a:ln>
            <a:solidFill>
              <a:schemeClr val="tx1"/>
            </a:solidFill>
          </a:ln>
        </p:spPr>
        <p:txBody>
          <a:bodyPr wrap="square" rtlCol="0" anchor="ctr">
            <a:normAutofit fontScale="92500" lnSpcReduction="10000"/>
          </a:bodyPr>
          <a:lstStyle/>
          <a:p>
            <a:pPr algn="ctr"/>
            <a:r>
              <a:rPr lang="en-US" sz="2400" dirty="0">
                <a:solidFill>
                  <a:schemeClr val="bg1"/>
                </a:solidFill>
              </a:rPr>
              <a:t>Application</a:t>
            </a:r>
          </a:p>
        </p:txBody>
      </p:sp>
      <p:sp>
        <p:nvSpPr>
          <p:cNvPr id="43" name="CasellaDiTesto 6">
            <a:extLst>
              <a:ext uri="{FF2B5EF4-FFF2-40B4-BE49-F238E27FC236}">
                <a16:creationId xmlns:a16="http://schemas.microsoft.com/office/drawing/2014/main" id="{FDE06866-F8B1-4AD7-982B-CE0F9B52B21D}"/>
              </a:ext>
            </a:extLst>
          </p:cNvPr>
          <p:cNvSpPr txBox="1"/>
          <p:nvPr/>
        </p:nvSpPr>
        <p:spPr>
          <a:xfrm>
            <a:off x="8157632" y="2128200"/>
            <a:ext cx="3600000" cy="389045"/>
          </a:xfrm>
          <a:prstGeom prst="roundRect">
            <a:avLst>
              <a:gd name="adj" fmla="val 7167"/>
            </a:avLst>
          </a:prstGeom>
          <a:solidFill>
            <a:srgbClr val="00B050"/>
          </a:solidFill>
          <a:ln>
            <a:solidFill>
              <a:schemeClr val="tx1"/>
            </a:solidFill>
          </a:ln>
        </p:spPr>
        <p:txBody>
          <a:bodyPr wrap="square" rtlCol="0" anchor="ctr">
            <a:normAutofit fontScale="92500" lnSpcReduction="10000"/>
          </a:bodyPr>
          <a:lstStyle/>
          <a:p>
            <a:pPr algn="ctr"/>
            <a:r>
              <a:rPr lang="en-US" sz="2000" dirty="0">
                <a:solidFill>
                  <a:schemeClr val="bg1"/>
                </a:solidFill>
              </a:rPr>
              <a:t>System Programs</a:t>
            </a:r>
          </a:p>
        </p:txBody>
      </p:sp>
      <p:sp>
        <p:nvSpPr>
          <p:cNvPr id="44" name="CasellaDiTesto 6">
            <a:extLst>
              <a:ext uri="{FF2B5EF4-FFF2-40B4-BE49-F238E27FC236}">
                <a16:creationId xmlns:a16="http://schemas.microsoft.com/office/drawing/2014/main" id="{209BDC0B-0765-4736-B505-817679018D4D}"/>
              </a:ext>
            </a:extLst>
          </p:cNvPr>
          <p:cNvSpPr txBox="1"/>
          <p:nvPr/>
        </p:nvSpPr>
        <p:spPr>
          <a:xfrm>
            <a:off x="8157631" y="3018791"/>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45" name="CasellaDiTesto 6">
            <a:extLst>
              <a:ext uri="{FF2B5EF4-FFF2-40B4-BE49-F238E27FC236}">
                <a16:creationId xmlns:a16="http://schemas.microsoft.com/office/drawing/2014/main" id="{08CBD648-2D7A-48C8-A11F-35BFEEC9019A}"/>
              </a:ext>
            </a:extLst>
          </p:cNvPr>
          <p:cNvSpPr txBox="1"/>
          <p:nvPr/>
        </p:nvSpPr>
        <p:spPr>
          <a:xfrm>
            <a:off x="8157631" y="3428921"/>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Process Management</a:t>
            </a:r>
          </a:p>
        </p:txBody>
      </p:sp>
      <p:sp>
        <p:nvSpPr>
          <p:cNvPr id="46" name="CasellaDiTesto 6">
            <a:extLst>
              <a:ext uri="{FF2B5EF4-FFF2-40B4-BE49-F238E27FC236}">
                <a16:creationId xmlns:a16="http://schemas.microsoft.com/office/drawing/2014/main" id="{AE1DC6D2-3A95-458B-BAC1-ABC346097293}"/>
              </a:ext>
            </a:extLst>
          </p:cNvPr>
          <p:cNvSpPr txBox="1"/>
          <p:nvPr/>
        </p:nvSpPr>
        <p:spPr>
          <a:xfrm>
            <a:off x="9985067" y="3428807"/>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Virtual File System</a:t>
            </a:r>
            <a:endParaRPr lang="en-US" sz="2000" dirty="0">
              <a:solidFill>
                <a:schemeClr val="bg1"/>
              </a:solidFill>
            </a:endParaRPr>
          </a:p>
        </p:txBody>
      </p:sp>
      <p:sp>
        <p:nvSpPr>
          <p:cNvPr id="47" name="CasellaDiTesto 6">
            <a:extLst>
              <a:ext uri="{FF2B5EF4-FFF2-40B4-BE49-F238E27FC236}">
                <a16:creationId xmlns:a16="http://schemas.microsoft.com/office/drawing/2014/main" id="{67C769EC-2DBD-4539-8503-D1C369B156C8}"/>
              </a:ext>
            </a:extLst>
          </p:cNvPr>
          <p:cNvSpPr txBox="1"/>
          <p:nvPr/>
        </p:nvSpPr>
        <p:spPr>
          <a:xfrm>
            <a:off x="8157631" y="4222224"/>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48" name="CasellaDiTesto 6">
            <a:extLst>
              <a:ext uri="{FF2B5EF4-FFF2-40B4-BE49-F238E27FC236}">
                <a16:creationId xmlns:a16="http://schemas.microsoft.com/office/drawing/2014/main" id="{D8F858BF-73CC-4ED4-9B44-2B71F43CCBEA}"/>
              </a:ext>
            </a:extLst>
          </p:cNvPr>
          <p:cNvSpPr txBox="1"/>
          <p:nvPr/>
        </p:nvSpPr>
        <p:spPr>
          <a:xfrm>
            <a:off x="9957631" y="4222224"/>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49" name="CasellaDiTesto 6">
            <a:extLst>
              <a:ext uri="{FF2B5EF4-FFF2-40B4-BE49-F238E27FC236}">
                <a16:creationId xmlns:a16="http://schemas.microsoft.com/office/drawing/2014/main" id="{7F777E3A-F4E4-4A75-A9FB-3EBFFEAD5106}"/>
              </a:ext>
            </a:extLst>
          </p:cNvPr>
          <p:cNvSpPr txBox="1"/>
          <p:nvPr/>
        </p:nvSpPr>
        <p:spPr>
          <a:xfrm>
            <a:off x="8157631" y="5015527"/>
            <a:ext cx="1764000" cy="415588"/>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50" name="Rectangle 49">
            <a:extLst>
              <a:ext uri="{FF2B5EF4-FFF2-40B4-BE49-F238E27FC236}">
                <a16:creationId xmlns:a16="http://schemas.microsoft.com/office/drawing/2014/main" id="{469B4A05-0993-4DB8-B6D0-144EA255590D}"/>
              </a:ext>
            </a:extLst>
          </p:cNvPr>
          <p:cNvSpPr/>
          <p:nvPr/>
        </p:nvSpPr>
        <p:spPr>
          <a:xfrm>
            <a:off x="7877161" y="2768642"/>
            <a:ext cx="4162438" cy="3351357"/>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9194E76-DE17-4BE3-AD44-42DF06E62C62}"/>
              </a:ext>
            </a:extLst>
          </p:cNvPr>
          <p:cNvSpPr/>
          <p:nvPr/>
        </p:nvSpPr>
        <p:spPr>
          <a:xfrm>
            <a:off x="7877161" y="1440000"/>
            <a:ext cx="4162438" cy="1204086"/>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CCAEDCB-3089-4854-B08B-B9447E907CA3}"/>
              </a:ext>
            </a:extLst>
          </p:cNvPr>
          <p:cNvSpPr txBox="1"/>
          <p:nvPr/>
        </p:nvSpPr>
        <p:spPr>
          <a:xfrm rot="16200000">
            <a:off x="6365912" y="3744868"/>
            <a:ext cx="2089062" cy="800099"/>
          </a:xfrm>
          <a:prstGeom prst="rect">
            <a:avLst/>
          </a:prstGeom>
        </p:spPr>
        <p:txBody>
          <a:bodyPr vert="horz" wrap="none" lIns="0" tIns="0" rIns="0" bIns="0" rtlCol="0" anchor="t">
            <a:normAutofit/>
          </a:bodyPr>
          <a:lstStyle/>
          <a:p>
            <a:pPr algn="ctr"/>
            <a:r>
              <a:rPr lang="en-US" sz="2400" dirty="0">
                <a:solidFill>
                  <a:schemeClr val="accent1"/>
                </a:solidFill>
              </a:rPr>
              <a:t>Kernel </a:t>
            </a:r>
            <a:br>
              <a:rPr lang="en-US" sz="2400" dirty="0">
                <a:solidFill>
                  <a:schemeClr val="accent1"/>
                </a:solidFill>
              </a:rPr>
            </a:br>
            <a:r>
              <a:rPr lang="en-US" sz="2400" dirty="0">
                <a:solidFill>
                  <a:schemeClr val="accent1"/>
                </a:solidFill>
              </a:rPr>
              <a:t>Space</a:t>
            </a:r>
          </a:p>
        </p:txBody>
      </p:sp>
      <p:sp>
        <p:nvSpPr>
          <p:cNvPr id="53" name="TextBox 52">
            <a:extLst>
              <a:ext uri="{FF2B5EF4-FFF2-40B4-BE49-F238E27FC236}">
                <a16:creationId xmlns:a16="http://schemas.microsoft.com/office/drawing/2014/main" id="{AAAC19B2-709F-4A4B-B5EA-997CA7583AF9}"/>
              </a:ext>
            </a:extLst>
          </p:cNvPr>
          <p:cNvSpPr txBox="1"/>
          <p:nvPr/>
        </p:nvSpPr>
        <p:spPr>
          <a:xfrm rot="16200000">
            <a:off x="6365912" y="1641993"/>
            <a:ext cx="2089062" cy="800099"/>
          </a:xfrm>
          <a:prstGeom prst="rect">
            <a:avLst/>
          </a:prstGeom>
        </p:spPr>
        <p:txBody>
          <a:bodyPr vert="horz" wrap="none" lIns="0" tIns="0" rIns="0" bIns="0" rtlCol="0" anchor="t">
            <a:normAutofit/>
          </a:bodyPr>
          <a:lstStyle/>
          <a:p>
            <a:pPr algn="ctr"/>
            <a:r>
              <a:rPr lang="en-US" sz="2400" dirty="0">
                <a:solidFill>
                  <a:schemeClr val="accent1"/>
                </a:solidFill>
              </a:rPr>
              <a:t>User</a:t>
            </a:r>
            <a:br>
              <a:rPr lang="en-US" sz="2400" dirty="0">
                <a:solidFill>
                  <a:schemeClr val="accent1"/>
                </a:solidFill>
              </a:rPr>
            </a:br>
            <a:r>
              <a:rPr lang="en-US" sz="2400" dirty="0">
                <a:solidFill>
                  <a:schemeClr val="accent1"/>
                </a:solidFill>
              </a:rPr>
              <a:t>Space</a:t>
            </a:r>
          </a:p>
        </p:txBody>
      </p:sp>
      <p:sp>
        <p:nvSpPr>
          <p:cNvPr id="54" name="CasellaDiTesto 6">
            <a:extLst>
              <a:ext uri="{FF2B5EF4-FFF2-40B4-BE49-F238E27FC236}">
                <a16:creationId xmlns:a16="http://schemas.microsoft.com/office/drawing/2014/main" id="{95A4F1ED-1A18-47AF-AFDE-CD11EFD2BBA8}"/>
              </a:ext>
            </a:extLst>
          </p:cNvPr>
          <p:cNvSpPr txBox="1"/>
          <p:nvPr/>
        </p:nvSpPr>
        <p:spPr>
          <a:xfrm>
            <a:off x="10015047" y="5050556"/>
            <a:ext cx="1736564" cy="735270"/>
          </a:xfrm>
          <a:prstGeom prst="roundRect">
            <a:avLst>
              <a:gd name="adj" fmla="val 7167"/>
            </a:avLst>
          </a:prstGeom>
          <a:solidFill>
            <a:srgbClr val="7030A0"/>
          </a:solidFill>
          <a:ln>
            <a:solidFill>
              <a:schemeClr val="tx1"/>
            </a:solidFill>
          </a:ln>
        </p:spPr>
        <p:txBody>
          <a:bodyPr wrap="square" rtlCol="0" anchor="ctr">
            <a:spAutoFit/>
          </a:bodyPr>
          <a:lstStyle/>
          <a:p>
            <a:pPr algn="ctr"/>
            <a:r>
              <a:rPr lang="en-US" sz="2000" dirty="0">
                <a:solidFill>
                  <a:schemeClr val="bg1"/>
                </a:solidFill>
              </a:rPr>
              <a:t>Loadable Module</a:t>
            </a:r>
          </a:p>
        </p:txBody>
      </p:sp>
      <p:sp>
        <p:nvSpPr>
          <p:cNvPr id="55" name="TextBox 54">
            <a:extLst>
              <a:ext uri="{FF2B5EF4-FFF2-40B4-BE49-F238E27FC236}">
                <a16:creationId xmlns:a16="http://schemas.microsoft.com/office/drawing/2014/main" id="{785526D5-D7DC-4203-964E-41BCFE72C356}"/>
              </a:ext>
            </a:extLst>
          </p:cNvPr>
          <p:cNvSpPr txBox="1"/>
          <p:nvPr/>
        </p:nvSpPr>
        <p:spPr>
          <a:xfrm>
            <a:off x="6467993" y="6400800"/>
            <a:ext cx="1671638" cy="247200"/>
          </a:xfrm>
          <a:prstGeom prst="rect">
            <a:avLst/>
          </a:prstGeom>
        </p:spPr>
        <p:txBody>
          <a:bodyPr vert="horz" wrap="none" lIns="0" tIns="0" rIns="0" bIns="0" rtlCol="0" anchor="t">
            <a:normAutofit lnSpcReduction="10000"/>
          </a:bodyPr>
          <a:lstStyle/>
          <a:p>
            <a:r>
              <a:rPr lang="en-US"/>
              <a:t>Monolithic kernel</a:t>
            </a:r>
            <a:endParaRPr lang="en-US" dirty="0"/>
          </a:p>
        </p:txBody>
      </p:sp>
      <p:cxnSp>
        <p:nvCxnSpPr>
          <p:cNvPr id="56" name="Straight Connector 55">
            <a:extLst>
              <a:ext uri="{FF2B5EF4-FFF2-40B4-BE49-F238E27FC236}">
                <a16:creationId xmlns:a16="http://schemas.microsoft.com/office/drawing/2014/main" id="{36B7F823-E5C7-43BC-A8E3-899666EC5047}"/>
              </a:ext>
            </a:extLst>
          </p:cNvPr>
          <p:cNvCxnSpPr>
            <a:cxnSpLocks/>
            <a:stCxn id="55" idx="0"/>
          </p:cNvCxnSpPr>
          <p:nvPr/>
        </p:nvCxnSpPr>
        <p:spPr>
          <a:xfrm flipV="1">
            <a:off x="7303812" y="5648326"/>
            <a:ext cx="804572" cy="752474"/>
          </a:xfrm>
          <a:prstGeom prst="line">
            <a:avLst/>
          </a:prstGeom>
        </p:spPr>
        <p:style>
          <a:lnRef idx="2">
            <a:schemeClr val="accent1"/>
          </a:lnRef>
          <a:fillRef idx="0">
            <a:schemeClr val="accent1"/>
          </a:fillRef>
          <a:effectRef idx="1">
            <a:schemeClr val="accent1"/>
          </a:effectRef>
          <a:fontRef idx="minor">
            <a:schemeClr val="tx1"/>
          </a:fontRef>
        </p:style>
      </p:cxnSp>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862432" cy="4086225"/>
          </a:xfrm>
        </p:spPr>
        <p:txBody>
          <a:bodyPr wrap="square" numCol="1" anchor="t" anchorCtr="0" compatLnSpc="1">
            <a:prstTxWarp prst="textNoShape">
              <a:avLst/>
            </a:prstTxWarp>
          </a:bodyPr>
          <a:lstStyle/>
          <a:p>
            <a:r>
              <a:rPr lang="en-US" dirty="0"/>
              <a:t>Advantage</a:t>
            </a:r>
            <a:endParaRPr lang="en-US" altLang="en-US" dirty="0">
              <a:ea typeface="ＭＳ Ｐゴシック" panose="020B0600070205080204" pitchFamily="34" charset="-128"/>
            </a:endParaRPr>
          </a:p>
          <a:p>
            <a:pPr marL="398145" lvl="1" indent="-166370"/>
            <a:r>
              <a:rPr lang="en-US" dirty="0"/>
              <a:t>Good separation between application/system programs and kernel. Bugs in the user space do not corrupt the kernel.</a:t>
            </a:r>
            <a:endParaRPr lang="en-US" dirty="0">
              <a:cs typeface="Calibri"/>
            </a:endParaRPr>
          </a:p>
          <a:p>
            <a:r>
              <a:rPr lang="en-US" dirty="0"/>
              <a:t>Disadvantages</a:t>
            </a:r>
            <a:endParaRPr lang="en-US" altLang="en-US" dirty="0">
              <a:ea typeface="ＭＳ Ｐゴシック" panose="020B0600070205080204" pitchFamily="34" charset="-128"/>
            </a:endParaRPr>
          </a:p>
          <a:p>
            <a:pPr marL="398145" lvl="1" indent="-166370"/>
            <a:r>
              <a:rPr lang="en-US" dirty="0">
                <a:ea typeface="ＭＳ Ｐゴシック"/>
              </a:rPr>
              <a:t>Bugs in one kernel component (for example, a new device driver) can crash the whole system, generally with a </a:t>
            </a:r>
            <a:r>
              <a:rPr lang="en-US" i="1" dirty="0">
                <a:ea typeface="ＭＳ Ｐゴシック"/>
              </a:rPr>
              <a:t>kernel panic</a:t>
            </a:r>
            <a:endParaRPr lang="en-US" altLang="en-US" dirty="0">
              <a:ea typeface="ＭＳ Ｐゴシック"/>
              <a:cs typeface="Calibri"/>
            </a:endParaRPr>
          </a:p>
          <a:p>
            <a:pPr marL="398145" lvl="1" indent="-166370"/>
            <a:endParaRPr lang="en-US" altLang="en-US" dirty="0">
              <a:ea typeface="ＭＳ Ｐゴシック" panose="020B0600070205080204" pitchFamily="34" charset="-128"/>
              <a:cs typeface="Calibri"/>
            </a:endParaRPr>
          </a:p>
        </p:txBody>
      </p:sp>
      <p:sp>
        <p:nvSpPr>
          <p:cNvPr id="21" name="10-Point Star 22">
            <a:extLst>
              <a:ext uri="{FF2B5EF4-FFF2-40B4-BE49-F238E27FC236}">
                <a16:creationId xmlns:a16="http://schemas.microsoft.com/office/drawing/2014/main" id="{6B7922C1-4A71-4F8D-9C7E-92EC4A35CC4C}"/>
              </a:ext>
            </a:extLst>
          </p:cNvPr>
          <p:cNvSpPr/>
          <p:nvPr/>
        </p:nvSpPr>
        <p:spPr bwMode="auto">
          <a:xfrm>
            <a:off x="8304939" y="1619320"/>
            <a:ext cx="288032" cy="288032"/>
          </a:xfrm>
          <a:prstGeom prst="star10">
            <a:avLst/>
          </a:prstGeom>
          <a:solidFill>
            <a:srgbClr val="FF0000"/>
          </a:solidFill>
          <a:ln w="9525" cap="flat" cmpd="sng" algn="ctr">
            <a:solidFill>
              <a:srgbClr val="FF0000"/>
            </a:solidFill>
            <a:prstDash val="solid"/>
            <a:round/>
            <a:headEnd type="none" w="med" len="med"/>
            <a:tailEnd type="none" w="med" len="med"/>
          </a:ln>
          <a:effectLst>
            <a:outerShdw blurRad="50800" dist="762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22" name="Freeform 23">
            <a:extLst>
              <a:ext uri="{FF2B5EF4-FFF2-40B4-BE49-F238E27FC236}">
                <a16:creationId xmlns:a16="http://schemas.microsoft.com/office/drawing/2014/main" id="{B9FD31C6-A37D-4DD3-92FF-D19A23945969}"/>
              </a:ext>
            </a:extLst>
          </p:cNvPr>
          <p:cNvSpPr/>
          <p:nvPr/>
        </p:nvSpPr>
        <p:spPr>
          <a:xfrm>
            <a:off x="8572500" y="1771650"/>
            <a:ext cx="1828800" cy="871727"/>
          </a:xfrm>
          <a:custGeom>
            <a:avLst/>
            <a:gdLst>
              <a:gd name="connsiteX0" fmla="*/ 0 w 1828800"/>
              <a:gd name="connsiteY0" fmla="*/ 0 h 871727"/>
              <a:gd name="connsiteX1" fmla="*/ 614363 w 1828800"/>
              <a:gd name="connsiteY1" fmla="*/ 871538 h 871727"/>
              <a:gd name="connsiteX2" fmla="*/ 1100138 w 1828800"/>
              <a:gd name="connsiteY2" fmla="*/ 85725 h 871727"/>
              <a:gd name="connsiteX3" fmla="*/ 1828800 w 1828800"/>
              <a:gd name="connsiteY3" fmla="*/ 857250 h 871727"/>
            </a:gdLst>
            <a:ahLst/>
            <a:cxnLst>
              <a:cxn ang="0">
                <a:pos x="connsiteX0" y="connsiteY0"/>
              </a:cxn>
              <a:cxn ang="0">
                <a:pos x="connsiteX1" y="connsiteY1"/>
              </a:cxn>
              <a:cxn ang="0">
                <a:pos x="connsiteX2" y="connsiteY2"/>
              </a:cxn>
              <a:cxn ang="0">
                <a:pos x="connsiteX3" y="connsiteY3"/>
              </a:cxn>
            </a:cxnLst>
            <a:rect l="l" t="t" r="r" b="b"/>
            <a:pathLst>
              <a:path w="1828800" h="871727">
                <a:moveTo>
                  <a:pt x="0" y="0"/>
                </a:moveTo>
                <a:cubicBezTo>
                  <a:pt x="215503" y="428625"/>
                  <a:pt x="431007" y="857250"/>
                  <a:pt x="614363" y="871538"/>
                </a:cubicBezTo>
                <a:cubicBezTo>
                  <a:pt x="797719" y="885826"/>
                  <a:pt x="897732" y="88106"/>
                  <a:pt x="1100138" y="85725"/>
                </a:cubicBezTo>
                <a:cubicBezTo>
                  <a:pt x="1302544" y="83344"/>
                  <a:pt x="1828800" y="857250"/>
                  <a:pt x="1828800" y="857250"/>
                </a:cubicBezTo>
              </a:path>
            </a:pathLst>
          </a:custGeom>
          <a:noFill/>
          <a:ln w="31750">
            <a:solidFill>
              <a:srgbClr val="FF0000"/>
            </a:solidFill>
            <a:tailEnd type="arrow"/>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10-Point Star 24">
            <a:extLst>
              <a:ext uri="{FF2B5EF4-FFF2-40B4-BE49-F238E27FC236}">
                <a16:creationId xmlns:a16="http://schemas.microsoft.com/office/drawing/2014/main" id="{1329C32A-3C40-4FE5-A15E-FDA21DBEF8B9}"/>
              </a:ext>
            </a:extLst>
          </p:cNvPr>
          <p:cNvSpPr/>
          <p:nvPr/>
        </p:nvSpPr>
        <p:spPr bwMode="auto">
          <a:xfrm>
            <a:off x="10029892" y="5223321"/>
            <a:ext cx="288032" cy="288032"/>
          </a:xfrm>
          <a:prstGeom prst="star10">
            <a:avLst/>
          </a:prstGeom>
          <a:solidFill>
            <a:srgbClr val="FF0000"/>
          </a:solidFill>
          <a:ln w="9525" cap="flat" cmpd="sng" algn="ctr">
            <a:solidFill>
              <a:srgbClr val="FF0000"/>
            </a:solidFill>
            <a:prstDash val="solid"/>
            <a:round/>
            <a:headEnd type="none" w="med" len="med"/>
            <a:tailEnd type="none" w="med" len="med"/>
          </a:ln>
          <a:effectLst>
            <a:outerShdw blurRad="50800" dist="762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24" name="Freeform 25">
            <a:extLst>
              <a:ext uri="{FF2B5EF4-FFF2-40B4-BE49-F238E27FC236}">
                <a16:creationId xmlns:a16="http://schemas.microsoft.com/office/drawing/2014/main" id="{F90F97AE-968E-4892-86D3-CC79EA5B7FAF}"/>
              </a:ext>
            </a:extLst>
          </p:cNvPr>
          <p:cNvSpPr/>
          <p:nvPr/>
        </p:nvSpPr>
        <p:spPr>
          <a:xfrm>
            <a:off x="9189485" y="1585912"/>
            <a:ext cx="2027592" cy="3840761"/>
          </a:xfrm>
          <a:custGeom>
            <a:avLst/>
            <a:gdLst>
              <a:gd name="connsiteX0" fmla="*/ 0 w 2373114"/>
              <a:gd name="connsiteY0" fmla="*/ 4200525 h 4200525"/>
              <a:gd name="connsiteX1" fmla="*/ 914400 w 2373114"/>
              <a:gd name="connsiteY1" fmla="*/ 3657600 h 4200525"/>
              <a:gd name="connsiteX2" fmla="*/ 442912 w 2373114"/>
              <a:gd name="connsiteY2" fmla="*/ 3000375 h 4200525"/>
              <a:gd name="connsiteX3" fmla="*/ 428625 w 2373114"/>
              <a:gd name="connsiteY3" fmla="*/ 2228850 h 4200525"/>
              <a:gd name="connsiteX4" fmla="*/ 1343025 w 2373114"/>
              <a:gd name="connsiteY4" fmla="*/ 2257425 h 4200525"/>
              <a:gd name="connsiteX5" fmla="*/ 1585912 w 2373114"/>
              <a:gd name="connsiteY5" fmla="*/ 2886075 h 4200525"/>
              <a:gd name="connsiteX6" fmla="*/ 2157412 w 2373114"/>
              <a:gd name="connsiteY6" fmla="*/ 2886075 h 4200525"/>
              <a:gd name="connsiteX7" fmla="*/ 2371725 w 2373114"/>
              <a:gd name="connsiteY7" fmla="*/ 1657350 h 4200525"/>
              <a:gd name="connsiteX8" fmla="*/ 2071687 w 2373114"/>
              <a:gd name="connsiteY8" fmla="*/ 814387 h 4200525"/>
              <a:gd name="connsiteX9" fmla="*/ 1543050 w 2373114"/>
              <a:gd name="connsiteY9" fmla="*/ 0 h 4200525"/>
              <a:gd name="connsiteX0" fmla="*/ 958622 w 2027592"/>
              <a:gd name="connsiteY0" fmla="*/ 3930702 h 3930702"/>
              <a:gd name="connsiteX1" fmla="*/ 568878 w 2027592"/>
              <a:gd name="connsiteY1" fmla="*/ 3657600 h 3930702"/>
              <a:gd name="connsiteX2" fmla="*/ 97390 w 2027592"/>
              <a:gd name="connsiteY2" fmla="*/ 3000375 h 3930702"/>
              <a:gd name="connsiteX3" fmla="*/ 83103 w 2027592"/>
              <a:gd name="connsiteY3" fmla="*/ 2228850 h 3930702"/>
              <a:gd name="connsiteX4" fmla="*/ 997503 w 2027592"/>
              <a:gd name="connsiteY4" fmla="*/ 2257425 h 3930702"/>
              <a:gd name="connsiteX5" fmla="*/ 1240390 w 2027592"/>
              <a:gd name="connsiteY5" fmla="*/ 2886075 h 3930702"/>
              <a:gd name="connsiteX6" fmla="*/ 1811890 w 2027592"/>
              <a:gd name="connsiteY6" fmla="*/ 2886075 h 3930702"/>
              <a:gd name="connsiteX7" fmla="*/ 2026203 w 2027592"/>
              <a:gd name="connsiteY7" fmla="*/ 1657350 h 3930702"/>
              <a:gd name="connsiteX8" fmla="*/ 1726165 w 2027592"/>
              <a:gd name="connsiteY8" fmla="*/ 814387 h 3930702"/>
              <a:gd name="connsiteX9" fmla="*/ 1197528 w 2027592"/>
              <a:gd name="connsiteY9" fmla="*/ 0 h 3930702"/>
              <a:gd name="connsiteX0" fmla="*/ 958622 w 2027592"/>
              <a:gd name="connsiteY0" fmla="*/ 3930702 h 3930702"/>
              <a:gd name="connsiteX1" fmla="*/ 568878 w 2027592"/>
              <a:gd name="connsiteY1" fmla="*/ 3657600 h 3930702"/>
              <a:gd name="connsiteX2" fmla="*/ 97390 w 2027592"/>
              <a:gd name="connsiteY2" fmla="*/ 3000375 h 3930702"/>
              <a:gd name="connsiteX3" fmla="*/ 83103 w 2027592"/>
              <a:gd name="connsiteY3" fmla="*/ 2228850 h 3930702"/>
              <a:gd name="connsiteX4" fmla="*/ 997503 w 2027592"/>
              <a:gd name="connsiteY4" fmla="*/ 2257425 h 3930702"/>
              <a:gd name="connsiteX5" fmla="*/ 1240390 w 2027592"/>
              <a:gd name="connsiteY5" fmla="*/ 2886075 h 3930702"/>
              <a:gd name="connsiteX6" fmla="*/ 1811890 w 2027592"/>
              <a:gd name="connsiteY6" fmla="*/ 2886075 h 3930702"/>
              <a:gd name="connsiteX7" fmla="*/ 2026203 w 2027592"/>
              <a:gd name="connsiteY7" fmla="*/ 1657350 h 3930702"/>
              <a:gd name="connsiteX8" fmla="*/ 1726165 w 2027592"/>
              <a:gd name="connsiteY8" fmla="*/ 814387 h 3930702"/>
              <a:gd name="connsiteX9" fmla="*/ 1197528 w 2027592"/>
              <a:gd name="connsiteY9" fmla="*/ 0 h 3930702"/>
              <a:gd name="connsiteX0" fmla="*/ 1468288 w 2027592"/>
              <a:gd name="connsiteY0" fmla="*/ 3825771 h 3825771"/>
              <a:gd name="connsiteX1" fmla="*/ 568878 w 2027592"/>
              <a:gd name="connsiteY1" fmla="*/ 3657600 h 3825771"/>
              <a:gd name="connsiteX2" fmla="*/ 97390 w 2027592"/>
              <a:gd name="connsiteY2" fmla="*/ 3000375 h 3825771"/>
              <a:gd name="connsiteX3" fmla="*/ 83103 w 2027592"/>
              <a:gd name="connsiteY3" fmla="*/ 2228850 h 3825771"/>
              <a:gd name="connsiteX4" fmla="*/ 997503 w 2027592"/>
              <a:gd name="connsiteY4" fmla="*/ 2257425 h 3825771"/>
              <a:gd name="connsiteX5" fmla="*/ 1240390 w 2027592"/>
              <a:gd name="connsiteY5" fmla="*/ 2886075 h 3825771"/>
              <a:gd name="connsiteX6" fmla="*/ 1811890 w 2027592"/>
              <a:gd name="connsiteY6" fmla="*/ 2886075 h 3825771"/>
              <a:gd name="connsiteX7" fmla="*/ 2026203 w 2027592"/>
              <a:gd name="connsiteY7" fmla="*/ 1657350 h 3825771"/>
              <a:gd name="connsiteX8" fmla="*/ 1726165 w 2027592"/>
              <a:gd name="connsiteY8" fmla="*/ 814387 h 3825771"/>
              <a:gd name="connsiteX9" fmla="*/ 1197528 w 2027592"/>
              <a:gd name="connsiteY9" fmla="*/ 0 h 3825771"/>
              <a:gd name="connsiteX0" fmla="*/ 1048563 w 2027592"/>
              <a:gd name="connsiteY0" fmla="*/ 3840761 h 3840761"/>
              <a:gd name="connsiteX1" fmla="*/ 568878 w 2027592"/>
              <a:gd name="connsiteY1" fmla="*/ 3657600 h 3840761"/>
              <a:gd name="connsiteX2" fmla="*/ 97390 w 2027592"/>
              <a:gd name="connsiteY2" fmla="*/ 3000375 h 3840761"/>
              <a:gd name="connsiteX3" fmla="*/ 83103 w 2027592"/>
              <a:gd name="connsiteY3" fmla="*/ 2228850 h 3840761"/>
              <a:gd name="connsiteX4" fmla="*/ 997503 w 2027592"/>
              <a:gd name="connsiteY4" fmla="*/ 2257425 h 3840761"/>
              <a:gd name="connsiteX5" fmla="*/ 1240390 w 2027592"/>
              <a:gd name="connsiteY5" fmla="*/ 2886075 h 3840761"/>
              <a:gd name="connsiteX6" fmla="*/ 1811890 w 2027592"/>
              <a:gd name="connsiteY6" fmla="*/ 2886075 h 3840761"/>
              <a:gd name="connsiteX7" fmla="*/ 2026203 w 2027592"/>
              <a:gd name="connsiteY7" fmla="*/ 1657350 h 3840761"/>
              <a:gd name="connsiteX8" fmla="*/ 1726165 w 2027592"/>
              <a:gd name="connsiteY8" fmla="*/ 814387 h 3840761"/>
              <a:gd name="connsiteX9" fmla="*/ 1197528 w 2027592"/>
              <a:gd name="connsiteY9" fmla="*/ 0 h 3840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592" h="3840761">
                <a:moveTo>
                  <a:pt x="1048563" y="3840761"/>
                </a:moveTo>
                <a:cubicBezTo>
                  <a:pt x="869247" y="3789232"/>
                  <a:pt x="727407" y="3797664"/>
                  <a:pt x="568878" y="3657600"/>
                </a:cubicBezTo>
                <a:cubicBezTo>
                  <a:pt x="410349" y="3517536"/>
                  <a:pt x="178353" y="3238500"/>
                  <a:pt x="97390" y="3000375"/>
                </a:cubicBezTo>
                <a:cubicBezTo>
                  <a:pt x="16428" y="2762250"/>
                  <a:pt x="-66916" y="2352675"/>
                  <a:pt x="83103" y="2228850"/>
                </a:cubicBezTo>
                <a:cubicBezTo>
                  <a:pt x="233122" y="2105025"/>
                  <a:pt x="804622" y="2147888"/>
                  <a:pt x="997503" y="2257425"/>
                </a:cubicBezTo>
                <a:cubicBezTo>
                  <a:pt x="1190384" y="2366962"/>
                  <a:pt x="1104659" y="2781300"/>
                  <a:pt x="1240390" y="2886075"/>
                </a:cubicBezTo>
                <a:cubicBezTo>
                  <a:pt x="1376121" y="2990850"/>
                  <a:pt x="1680921" y="3090862"/>
                  <a:pt x="1811890" y="2886075"/>
                </a:cubicBezTo>
                <a:cubicBezTo>
                  <a:pt x="1942859" y="2681288"/>
                  <a:pt x="2040490" y="2002631"/>
                  <a:pt x="2026203" y="1657350"/>
                </a:cubicBezTo>
                <a:cubicBezTo>
                  <a:pt x="2011916" y="1312069"/>
                  <a:pt x="1864278" y="1090612"/>
                  <a:pt x="1726165" y="814387"/>
                </a:cubicBezTo>
                <a:cubicBezTo>
                  <a:pt x="1588053" y="538162"/>
                  <a:pt x="1197528" y="0"/>
                  <a:pt x="1197528" y="0"/>
                </a:cubicBezTo>
              </a:path>
            </a:pathLst>
          </a:custGeom>
          <a:noFill/>
          <a:ln w="31750">
            <a:solidFill>
              <a:srgbClr val="FF0000"/>
            </a:solidFill>
            <a:tailEnd type="arrow"/>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3435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t>Kernel</a:t>
            </a:r>
          </a:p>
          <a:p>
            <a:r>
              <a:rPr lang="en-US" dirty="0">
                <a:solidFill>
                  <a:srgbClr val="128CAB"/>
                </a:solidFill>
                <a:ea typeface="ＭＳ Ｐゴシック"/>
              </a:rPr>
              <a:t>Device Tree</a:t>
            </a:r>
            <a:endParaRPr lang="en-US" dirty="0"/>
          </a:p>
          <a:p>
            <a:r>
              <a:rPr lang="en-US">
                <a:ea typeface="ＭＳ Ｐゴシック"/>
              </a:rPr>
              <a:t>System Programs</a:t>
            </a:r>
            <a:endParaRPr lang="en-US"/>
          </a:p>
          <a:p>
            <a:r>
              <a:rPr lang="en-US" dirty="0"/>
              <a:t>Application</a:t>
            </a:r>
          </a:p>
          <a:p>
            <a:r>
              <a:rPr lang="en-US" dirty="0">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284704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Device Tree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To manage hardware resources, the Kernel must know which resources are available in the embedded system (i.e., the </a:t>
            </a:r>
            <a:r>
              <a:rPr lang="en-US" dirty="0">
                <a:solidFill>
                  <a:srgbClr val="128CAB"/>
                </a:solidFill>
                <a:ea typeface="ＭＳ Ｐゴシック"/>
              </a:rPr>
              <a:t>hardware description</a:t>
            </a:r>
            <a:r>
              <a:rPr lang="en-US" dirty="0">
                <a:ea typeface="ＭＳ Ｐゴシック"/>
              </a:rPr>
              <a:t>: I/O devices, memory, etc.).</a:t>
            </a:r>
            <a:endParaRPr lang="is-IS" dirty="0">
              <a:ea typeface="ＭＳ Ｐゴシック"/>
            </a:endParaRPr>
          </a:p>
          <a:p>
            <a:r>
              <a:rPr lang="is-IS" dirty="0"/>
              <a:t>There are two ways to provide this information to the Kernel:</a:t>
            </a:r>
            <a:endParaRPr lang="en-US" altLang="en-US" dirty="0">
              <a:ea typeface="ＭＳ Ｐゴシック" panose="020B0600070205080204" pitchFamily="34" charset="-128"/>
            </a:endParaRPr>
          </a:p>
          <a:p>
            <a:pPr marL="398145" lvl="1" indent="-166370"/>
            <a:r>
              <a:rPr lang="en-US" dirty="0">
                <a:solidFill>
                  <a:srgbClr val="128CAB"/>
                </a:solidFill>
              </a:rPr>
              <a:t>Hardcode </a:t>
            </a:r>
            <a:r>
              <a:rPr lang="en-US" dirty="0"/>
              <a:t>it into the Kernel binary code. Each modification to the hardware definition requires recompiling the source code.</a:t>
            </a:r>
            <a:endParaRPr lang="en-US" dirty="0">
              <a:cs typeface="Calibri"/>
            </a:endParaRPr>
          </a:p>
          <a:p>
            <a:pPr marL="398145" lvl="1" indent="-166370"/>
            <a:r>
              <a:rPr lang="en-US" dirty="0"/>
              <a:t>Provide it to the Kernel when the bootloader uses a binary file, the </a:t>
            </a:r>
            <a:r>
              <a:rPr lang="en-US" dirty="0">
                <a:solidFill>
                  <a:srgbClr val="128CAB"/>
                </a:solidFill>
              </a:rPr>
              <a:t>device tree blob.</a:t>
            </a:r>
            <a:endParaRPr lang="en-US" altLang="en-US" dirty="0">
              <a:ea typeface="ＭＳ Ｐゴシック" panose="020B0600070205080204" pitchFamily="34" charset="-128"/>
              <a:cs typeface="Calibri"/>
            </a:endParaRPr>
          </a:p>
          <a:p>
            <a:r>
              <a:rPr lang="en-US" dirty="0">
                <a:ea typeface="ＭＳ Ｐゴシック"/>
              </a:rPr>
              <a:t>A device tree blob (DTB) file is produced from a device tree source (DTS).</a:t>
            </a:r>
            <a:endParaRPr lang="en-US" altLang="en-US" dirty="0">
              <a:ea typeface="ＭＳ Ｐゴシック"/>
            </a:endParaRPr>
          </a:p>
          <a:p>
            <a:pPr marL="398145" lvl="1" indent="-166370"/>
            <a:r>
              <a:rPr lang="en-US" dirty="0"/>
              <a:t>A hardware definition can be changed more easily as only DTS recompilation is needed.</a:t>
            </a:r>
            <a:endParaRPr lang="en-US" dirty="0">
              <a:cs typeface="Calibri"/>
            </a:endParaRPr>
          </a:p>
          <a:p>
            <a:pPr marL="398145" lvl="1" indent="-166370"/>
            <a:r>
              <a:rPr lang="en-US" dirty="0">
                <a:ea typeface="ＭＳ Ｐゴシック"/>
              </a:rPr>
              <a:t>Kernel recompilation is not needed upon changes to the hardware definition. This is a </a:t>
            </a:r>
            <a:r>
              <a:rPr lang="en-US" dirty="0">
                <a:ea typeface="ＭＳ Ｐゴシック"/>
                <a:sym typeface="Wingdings"/>
              </a:rPr>
              <a:t>big time saver.</a:t>
            </a:r>
            <a:endParaRPr lang="en-US" altLang="en-US" dirty="0">
              <a:ea typeface="ＭＳ Ｐゴシック"/>
              <a:cs typeface="Calibri"/>
            </a:endParaRPr>
          </a:p>
          <a:p>
            <a:pPr marL="855345" lvl="2" indent="-166370"/>
            <a:endParaRPr lang="en-US" altLang="en-US" dirty="0">
              <a:ea typeface="ＭＳ Ｐゴシック" panose="020B0600070205080204" pitchFamily="34" charset="-128"/>
              <a:cs typeface="Calibri"/>
            </a:endParaRPr>
          </a:p>
        </p:txBody>
      </p:sp>
    </p:spTree>
    <p:extLst>
      <p:ext uri="{BB962C8B-B14F-4D97-AF65-F5344CB8AC3E}">
        <p14:creationId xmlns:p14="http://schemas.microsoft.com/office/powerpoint/2010/main" val="3074255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ea typeface="ＭＳ Ｐゴシック"/>
              </a:rPr>
              <a:t>Device Tree</a:t>
            </a:r>
            <a:endParaRPr lang="en-US"/>
          </a:p>
          <a:p>
            <a:r>
              <a:rPr lang="en-US" dirty="0"/>
              <a:t>Kernel</a:t>
            </a:r>
          </a:p>
          <a:p>
            <a:r>
              <a:rPr lang="en-US" dirty="0">
                <a:solidFill>
                  <a:srgbClr val="128CAB"/>
                </a:solidFill>
                <a:ea typeface="ＭＳ Ｐゴシック"/>
              </a:rPr>
              <a:t>System Programs</a:t>
            </a:r>
            <a:endParaRPr lang="en-US">
              <a:solidFill>
                <a:srgbClr val="128CAB"/>
              </a:solidFill>
            </a:endParaRPr>
          </a:p>
          <a:p>
            <a:r>
              <a:rPr lang="en-US" dirty="0"/>
              <a:t>Application</a:t>
            </a:r>
          </a:p>
          <a:p>
            <a:r>
              <a:rPr lang="en-US" dirty="0">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50657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System Programs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System programs provide a convenient environment for program development and execution.</a:t>
            </a:r>
          </a:p>
          <a:p>
            <a:r>
              <a:rPr lang="en-US" dirty="0"/>
              <a:t>They</a:t>
            </a:r>
            <a:r>
              <a:rPr lang="en-US" dirty="0">
                <a:solidFill>
                  <a:srgbClr val="FF0000"/>
                </a:solidFill>
              </a:rPr>
              <a:t> </a:t>
            </a:r>
            <a:r>
              <a:rPr lang="en-US" dirty="0"/>
              <a:t>can be divided into:</a:t>
            </a:r>
            <a:endParaRPr lang="en-US" altLang="en-US" dirty="0">
              <a:ea typeface="ＭＳ Ｐゴシック" panose="020B0600070205080204" pitchFamily="34" charset="-128"/>
            </a:endParaRPr>
          </a:p>
          <a:p>
            <a:pPr marL="398145" lvl="1" indent="-166370"/>
            <a:r>
              <a:rPr lang="en-US" dirty="0">
                <a:ea typeface="ＭＳ Ｐゴシック"/>
              </a:rPr>
              <a:t>Status information (e.g., </a:t>
            </a:r>
            <a:r>
              <a:rPr lang="en-US" dirty="0">
                <a:latin typeface="Courier New"/>
                <a:ea typeface="ＭＳ Ｐゴシック"/>
                <a:cs typeface="Courier New"/>
              </a:rPr>
              <a:t>uptime</a:t>
            </a:r>
            <a:r>
              <a:rPr lang="en-US" dirty="0">
                <a:ea typeface="ＭＳ Ｐゴシック"/>
              </a:rPr>
              <a:t>)</a:t>
            </a:r>
            <a:endParaRPr lang="en-US" dirty="0">
              <a:ea typeface="ＭＳ Ｐゴシック"/>
              <a:cs typeface="Calibri"/>
            </a:endParaRPr>
          </a:p>
          <a:p>
            <a:pPr marL="398145" lvl="1" indent="-166370"/>
            <a:r>
              <a:rPr lang="en-US" dirty="0">
                <a:ea typeface="ＭＳ Ｐゴシック"/>
              </a:rPr>
              <a:t>File modification (</a:t>
            </a:r>
            <a:r>
              <a:rPr lang="en-US">
                <a:ea typeface="ＭＳ Ｐゴシック"/>
              </a:rPr>
              <a:t>e.g.,</a:t>
            </a:r>
            <a:r>
              <a:rPr lang="en-US" dirty="0">
                <a:ea typeface="ＭＳ Ｐゴシック"/>
              </a:rPr>
              <a:t> </a:t>
            </a:r>
            <a:r>
              <a:rPr lang="en-US" dirty="0">
                <a:latin typeface="Courier New"/>
                <a:ea typeface="ＭＳ Ｐゴシック"/>
                <a:cs typeface="Courier New"/>
              </a:rPr>
              <a:t>mv</a:t>
            </a:r>
            <a:r>
              <a:rPr lang="en-US" dirty="0">
                <a:ea typeface="ＭＳ Ｐゴシック"/>
              </a:rPr>
              <a:t>)</a:t>
            </a:r>
            <a:endParaRPr lang="en-US" dirty="0">
              <a:ea typeface="ＭＳ Ｐゴシック"/>
              <a:cs typeface="Calibri"/>
            </a:endParaRPr>
          </a:p>
          <a:p>
            <a:pPr marL="398145" lvl="1" indent="-166370"/>
            <a:r>
              <a:rPr lang="en-US" dirty="0">
                <a:ea typeface="ＭＳ Ｐゴシック"/>
              </a:rPr>
              <a:t>Programming language support (e.g., </a:t>
            </a:r>
            <a:r>
              <a:rPr lang="en-US" dirty="0" err="1">
                <a:latin typeface="Courier New"/>
                <a:ea typeface="ＭＳ Ｐゴシック"/>
                <a:cs typeface="Courier New"/>
              </a:rPr>
              <a:t>gcc</a:t>
            </a:r>
            <a:r>
              <a:rPr lang="en-US" dirty="0">
                <a:ea typeface="ＭＳ Ｐゴシック"/>
              </a:rPr>
              <a:t>)</a:t>
            </a:r>
            <a:endParaRPr lang="en-US" dirty="0">
              <a:ea typeface="ＭＳ Ｐゴシック"/>
              <a:cs typeface="Calibri"/>
            </a:endParaRPr>
          </a:p>
          <a:p>
            <a:pPr marL="398145" lvl="1" indent="-166370"/>
            <a:r>
              <a:rPr lang="en-US" dirty="0">
                <a:ea typeface="ＭＳ Ｐゴシック"/>
              </a:rPr>
              <a:t>Program loading and execution (</a:t>
            </a:r>
            <a:r>
              <a:rPr lang="en-US">
                <a:ea typeface="ＭＳ Ｐゴシック"/>
              </a:rPr>
              <a:t>e.g.,</a:t>
            </a:r>
            <a:r>
              <a:rPr lang="en-US" dirty="0">
                <a:ea typeface="ＭＳ Ｐゴシック"/>
              </a:rPr>
              <a:t> </a:t>
            </a:r>
            <a:r>
              <a:rPr lang="en-US" err="1">
                <a:latin typeface="Courier New"/>
                <a:ea typeface="ＭＳ Ｐゴシック"/>
                <a:cs typeface="Courier New"/>
              </a:rPr>
              <a:t>ld</a:t>
            </a:r>
            <a:r>
              <a:rPr lang="en-US" dirty="0">
                <a:ea typeface="ＭＳ Ｐゴシック"/>
              </a:rPr>
              <a:t>)</a:t>
            </a:r>
            <a:endParaRPr lang="en-US" dirty="0">
              <a:ea typeface="ＭＳ Ｐゴシック"/>
              <a:cs typeface="Calibri"/>
            </a:endParaRPr>
          </a:p>
          <a:p>
            <a:pPr marL="398145" lvl="1" indent="-166370"/>
            <a:r>
              <a:rPr lang="en-US" dirty="0">
                <a:ea typeface="ＭＳ Ｐゴシック"/>
              </a:rPr>
              <a:t>Communications (e.g., </a:t>
            </a:r>
            <a:r>
              <a:rPr lang="en-US" dirty="0">
                <a:latin typeface="Courier New"/>
                <a:ea typeface="ＭＳ Ｐゴシック"/>
                <a:cs typeface="Courier New"/>
              </a:rPr>
              <a:t>ping</a:t>
            </a:r>
            <a:r>
              <a:rPr lang="en-US" dirty="0">
                <a:ea typeface="ＭＳ Ｐゴシック"/>
              </a:rPr>
              <a:t>)</a:t>
            </a:r>
            <a:endParaRPr lang="en-US" dirty="0">
              <a:ea typeface="ＭＳ Ｐゴシック"/>
              <a:cs typeface="Calibri"/>
            </a:endParaRPr>
          </a:p>
          <a:p>
            <a:pPr marL="398145" lvl="1" indent="-166370"/>
            <a:r>
              <a:rPr lang="en-US" dirty="0">
                <a:ea typeface="ＭＳ Ｐゴシック"/>
              </a:rPr>
              <a:t>Application programs (</a:t>
            </a:r>
            <a:r>
              <a:rPr lang="en-US">
                <a:ea typeface="ＭＳ Ｐゴシック"/>
              </a:rPr>
              <a:t>e.g.,</a:t>
            </a:r>
            <a:r>
              <a:rPr lang="en-US" dirty="0">
                <a:ea typeface="ＭＳ Ｐゴシック"/>
              </a:rPr>
              <a:t> </a:t>
            </a:r>
            <a:r>
              <a:rPr lang="en-US" err="1">
                <a:latin typeface="Courier New"/>
                <a:ea typeface="ＭＳ Ｐゴシック"/>
                <a:cs typeface="Courier New"/>
              </a:rPr>
              <a:t>firefox</a:t>
            </a:r>
            <a:r>
              <a:rPr lang="en-US" dirty="0">
                <a:ea typeface="ＭＳ Ｐゴシック"/>
              </a:rPr>
              <a:t>)</a:t>
            </a:r>
            <a:endParaRPr lang="en-US" altLang="en-US" dirty="0">
              <a:ea typeface="ＭＳ Ｐゴシック"/>
              <a:cs typeface="Calibri"/>
            </a:endParaRPr>
          </a:p>
        </p:txBody>
      </p:sp>
    </p:spTree>
    <p:extLst>
      <p:ext uri="{BB962C8B-B14F-4D97-AF65-F5344CB8AC3E}">
        <p14:creationId xmlns:p14="http://schemas.microsoft.com/office/powerpoint/2010/main" val="615312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ea typeface="ＭＳ Ｐゴシック"/>
              </a:rPr>
              <a:t>Device Tree</a:t>
            </a:r>
            <a:endParaRPr lang="en-US"/>
          </a:p>
          <a:p>
            <a:r>
              <a:rPr lang="en-US" dirty="0"/>
              <a:t>Kernel</a:t>
            </a:r>
          </a:p>
          <a:p>
            <a:r>
              <a:rPr lang="en-US" dirty="0">
                <a:ea typeface="ＭＳ Ｐゴシック"/>
              </a:rPr>
              <a:t>System Programs</a:t>
            </a:r>
            <a:endParaRPr lang="en-US"/>
          </a:p>
          <a:p>
            <a:r>
              <a:rPr lang="en-US" dirty="0">
                <a:solidFill>
                  <a:srgbClr val="128CAB"/>
                </a:solidFill>
              </a:rPr>
              <a:t>Application</a:t>
            </a:r>
          </a:p>
          <a:p>
            <a:r>
              <a:rPr lang="en-US" dirty="0">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39490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Application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application is the software required to provide the end user with service for which the embedded system was conceived.</a:t>
            </a:r>
          </a:p>
          <a:p>
            <a:r>
              <a:rPr lang="en-US" dirty="0"/>
              <a:t>Examples can be found in many different products:</a:t>
            </a:r>
            <a:endParaRPr lang="en-US" altLang="en-US" dirty="0">
              <a:ea typeface="ＭＳ Ｐゴシック" panose="020B0600070205080204" pitchFamily="34" charset="-128"/>
            </a:endParaRPr>
          </a:p>
          <a:p>
            <a:pPr lvl="1"/>
            <a:r>
              <a:rPr lang="en-US" dirty="0"/>
              <a:t>Network Attached Storage (NAS)</a:t>
            </a:r>
          </a:p>
          <a:p>
            <a:pPr lvl="1"/>
            <a:r>
              <a:rPr lang="en-US" dirty="0"/>
              <a:t>Network router</a:t>
            </a:r>
          </a:p>
          <a:p>
            <a:pPr lvl="1"/>
            <a:r>
              <a:rPr lang="en-US" dirty="0"/>
              <a:t>In-vehicle infotainment</a:t>
            </a:r>
          </a:p>
          <a:p>
            <a:pPr lvl="1"/>
            <a:r>
              <a:rPr lang="en-US" dirty="0"/>
              <a:t>Specialized lab equipment</a:t>
            </a:r>
          </a:p>
          <a:p>
            <a:pPr lvl="1"/>
            <a:r>
              <a:rPr lang="is-IS" dirty="0"/>
              <a:t>And more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235412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Bootloader</a:t>
            </a:r>
          </a:p>
          <a:p>
            <a:r>
              <a:rPr lang="en-US" dirty="0">
                <a:ea typeface="ＭＳ Ｐゴシック"/>
              </a:rPr>
              <a:t>Device Tree</a:t>
            </a:r>
            <a:endParaRPr lang="en-US" dirty="0"/>
          </a:p>
          <a:p>
            <a:r>
              <a:rPr lang="en-US" dirty="0"/>
              <a:t>Kernel</a:t>
            </a:r>
          </a:p>
          <a:p>
            <a:r>
              <a:rPr lang="en-US" dirty="0">
                <a:ea typeface="ＭＳ Ｐゴシック"/>
              </a:rPr>
              <a:t>System Programs</a:t>
            </a:r>
            <a:endParaRPr lang="en-US" dirty="0"/>
          </a:p>
          <a:p>
            <a:r>
              <a:rPr lang="en-US" dirty="0"/>
              <a:t>Application</a:t>
            </a:r>
          </a:p>
          <a:p>
            <a:r>
              <a:rPr lang="en-US" dirty="0">
                <a:solidFill>
                  <a:srgbClr val="128CAB"/>
                </a:solidFill>
                <a:ea typeface="ＭＳ Ｐゴシック"/>
              </a:rPr>
              <a:t>Root Filesystem</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459379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Root Filesystem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ＭＳ Ｐゴシック"/>
              </a:rPr>
              <a:t>The Linux Kernel needs a file system, called a </a:t>
            </a:r>
            <a:r>
              <a:rPr lang="en-US" dirty="0">
                <a:solidFill>
                  <a:srgbClr val="128CAB"/>
                </a:solidFill>
                <a:ea typeface="ＭＳ Ｐゴシック"/>
              </a:rPr>
              <a:t>root filesystem</a:t>
            </a:r>
            <a:r>
              <a:rPr lang="en-US" dirty="0">
                <a:ea typeface="ＭＳ Ｐゴシック"/>
              </a:rPr>
              <a:t>, at startup.</a:t>
            </a:r>
            <a:endParaRPr lang="en-US" altLang="en-US" dirty="0">
              <a:ea typeface="ＭＳ Ｐゴシック"/>
            </a:endParaRPr>
          </a:p>
          <a:p>
            <a:pPr marL="398145" lvl="1" indent="-166370"/>
            <a:r>
              <a:rPr lang="en-US" dirty="0">
                <a:ea typeface="ＭＳ Ｐゴシック"/>
              </a:rPr>
              <a:t>It contains the configuration files needed to prepare the execution environment for the application (e.g., setting up the Ethernet address).</a:t>
            </a:r>
            <a:endParaRPr lang="en-US" dirty="0">
              <a:ea typeface="ＭＳ Ｐゴシック"/>
              <a:cs typeface="Calibri"/>
            </a:endParaRPr>
          </a:p>
          <a:p>
            <a:pPr marL="398145" lvl="1" indent="-166370"/>
            <a:r>
              <a:rPr lang="en-US" dirty="0"/>
              <a:t>It contains the first user-level process (</a:t>
            </a:r>
            <a:r>
              <a:rPr lang="en-US" dirty="0" err="1"/>
              <a:t>init</a:t>
            </a:r>
            <a:r>
              <a:rPr lang="en-US" dirty="0"/>
              <a:t>).</a:t>
            </a:r>
            <a:endParaRPr lang="en-US" altLang="en-US" dirty="0">
              <a:ea typeface="ＭＳ Ｐゴシック" panose="020B0600070205080204" pitchFamily="34" charset="-128"/>
              <a:cs typeface="Calibri"/>
            </a:endParaRPr>
          </a:p>
          <a:p>
            <a:r>
              <a:rPr lang="en-US" dirty="0">
                <a:ea typeface="ＭＳ Ｐゴシック"/>
              </a:rPr>
              <a:t>The root filesystem can be:</a:t>
            </a:r>
            <a:endParaRPr lang="en-US" altLang="en-US" dirty="0">
              <a:ea typeface="ＭＳ Ｐゴシック"/>
            </a:endParaRPr>
          </a:p>
          <a:p>
            <a:pPr marL="398145" lvl="1" indent="-166370"/>
            <a:r>
              <a:rPr lang="en-US" dirty="0">
                <a:ea typeface="ＭＳ Ｐゴシック"/>
              </a:rPr>
              <a:t>A portion of the RAM treated as a file system known as </a:t>
            </a:r>
            <a:r>
              <a:rPr lang="en-US" dirty="0">
                <a:solidFill>
                  <a:srgbClr val="128CAB"/>
                </a:solidFill>
                <a:ea typeface="ＭＳ Ｐゴシック"/>
              </a:rPr>
              <a:t>Initial RAM Disk </a:t>
            </a:r>
            <a:r>
              <a:rPr lang="en-US" dirty="0">
                <a:ea typeface="ＭＳ Ｐゴシック"/>
              </a:rPr>
              <a:t>(</a:t>
            </a:r>
            <a:r>
              <a:rPr lang="en-US" dirty="0" err="1">
                <a:ea typeface="ＭＳ Ｐゴシック"/>
              </a:rPr>
              <a:t>initrd</a:t>
            </a:r>
            <a:r>
              <a:rPr lang="en-US" dirty="0">
                <a:ea typeface="ＭＳ Ｐゴシック"/>
              </a:rPr>
              <a:t>), if the embedded system does not need to store data persistently during its operations.</a:t>
            </a:r>
            <a:endParaRPr lang="en-US" dirty="0">
              <a:cs typeface="Calibri"/>
            </a:endParaRPr>
          </a:p>
          <a:p>
            <a:pPr marL="398145" lvl="1" indent="-166370"/>
            <a:r>
              <a:rPr lang="en-US" dirty="0">
                <a:ea typeface="ＭＳ Ｐゴシック"/>
              </a:rPr>
              <a:t>A </a:t>
            </a:r>
            <a:r>
              <a:rPr lang="en-US" dirty="0">
                <a:solidFill>
                  <a:srgbClr val="128CAB"/>
                </a:solidFill>
                <a:ea typeface="ＭＳ Ｐゴシック"/>
              </a:rPr>
              <a:t>persistent storage</a:t>
            </a:r>
            <a:r>
              <a:rPr lang="en-US" dirty="0">
                <a:ea typeface="ＭＳ Ｐゴシック"/>
              </a:rPr>
              <a:t> </a:t>
            </a:r>
            <a:r>
              <a:rPr lang="en-US" dirty="0">
                <a:solidFill>
                  <a:srgbClr val="128CAB"/>
                </a:solidFill>
                <a:ea typeface="ＭＳ Ｐゴシック"/>
              </a:rPr>
              <a:t>in the embedded system</a:t>
            </a:r>
            <a:r>
              <a:rPr lang="en-US" dirty="0">
                <a:ea typeface="ＭＳ Ｐゴシック"/>
              </a:rPr>
              <a:t>,</a:t>
            </a:r>
            <a:r>
              <a:rPr lang="en-US" dirty="0">
                <a:solidFill>
                  <a:srgbClr val="128CAB"/>
                </a:solidFill>
                <a:ea typeface="ＭＳ Ｐゴシック"/>
              </a:rPr>
              <a:t> </a:t>
            </a:r>
            <a:r>
              <a:rPr lang="en-US" dirty="0">
                <a:ea typeface="ＭＳ Ｐゴシック"/>
              </a:rPr>
              <a:t>if the embedded system has to store data persistently during its operations.</a:t>
            </a:r>
            <a:endParaRPr lang="en-US" dirty="0">
              <a:cs typeface="Calibri"/>
            </a:endParaRPr>
          </a:p>
          <a:p>
            <a:pPr marL="398145" lvl="1" indent="-166370"/>
            <a:r>
              <a:rPr lang="en-US" dirty="0">
                <a:ea typeface="ＭＳ Ｐゴシック"/>
              </a:rPr>
              <a:t>A </a:t>
            </a:r>
            <a:r>
              <a:rPr lang="en-US" dirty="0">
                <a:solidFill>
                  <a:srgbClr val="128CAB"/>
                </a:solidFill>
                <a:ea typeface="ＭＳ Ｐゴシック"/>
              </a:rPr>
              <a:t>persistent storage accessed over the network</a:t>
            </a:r>
            <a:r>
              <a:rPr lang="en-US" dirty="0">
                <a:ea typeface="ＭＳ Ｐゴシック"/>
              </a:rPr>
              <a:t>, if developing a Linux-based embedded system.</a:t>
            </a:r>
            <a:endParaRPr lang="en-US" altLang="en-US" dirty="0">
              <a:ea typeface="ＭＳ Ｐゴシック" panose="020B0600070205080204" pitchFamily="34" charset="-128"/>
              <a:cs typeface="Calibri"/>
            </a:endParaRPr>
          </a:p>
          <a:p>
            <a:pPr marL="855345" lvl="2" indent="-166370"/>
            <a:endParaRPr lang="en-US" altLang="en-US" dirty="0">
              <a:ea typeface="ＭＳ Ｐゴシック" panose="020B0600070205080204" pitchFamily="34" charset="-128"/>
              <a:cs typeface="Calibri"/>
            </a:endParaRPr>
          </a:p>
        </p:txBody>
      </p:sp>
    </p:spTree>
    <p:extLst>
      <p:ext uri="{BB962C8B-B14F-4D97-AF65-F5344CB8AC3E}">
        <p14:creationId xmlns:p14="http://schemas.microsoft.com/office/powerpoint/2010/main" val="1920322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a:xfrm>
            <a:off x="80645" y="93689"/>
            <a:ext cx="11180763" cy="666750"/>
          </a:xfrm>
        </p:spPr>
        <p:txBody>
          <a:bodyPr/>
          <a:lstStyle/>
          <a:p>
            <a:pPr>
              <a:defRPr/>
            </a:pPr>
            <a:r>
              <a:rPr lang="en-US" dirty="0"/>
              <a:t>Typical Layout of the Root Filesystem</a:t>
            </a:r>
          </a:p>
        </p:txBody>
      </p:sp>
      <p:sp>
        <p:nvSpPr>
          <p:cNvPr id="6" name="TextBox 4" descr="Root filesystem hierarchy example, showing files and folders">
            <a:extLst>
              <a:ext uri="{FF2B5EF4-FFF2-40B4-BE49-F238E27FC236}">
                <a16:creationId xmlns:a16="http://schemas.microsoft.com/office/drawing/2014/main" id="{F06BEC2D-4F66-4AAA-AAC3-2B693BACC5F7}"/>
              </a:ext>
            </a:extLst>
          </p:cNvPr>
          <p:cNvSpPr txBox="1">
            <a:spLocks noChangeArrowheads="1"/>
          </p:cNvSpPr>
          <p:nvPr/>
        </p:nvSpPr>
        <p:spPr bwMode="auto">
          <a:xfrm>
            <a:off x="1828800" y="760439"/>
            <a:ext cx="8274053" cy="6093976"/>
          </a:xfrm>
          <a:prstGeom prst="rect">
            <a:avLst/>
          </a:prstGeom>
          <a:solidFill>
            <a:srgbClr val="FFFFCC"/>
          </a:solidFill>
          <a:ln w="9525">
            <a:solidFill>
              <a:schemeClr val="tx1"/>
            </a:solidFill>
            <a:miter lim="800000"/>
            <a:headEnd/>
            <a:tailEnd/>
          </a:ln>
        </p:spPr>
        <p:txBody>
          <a:bodyPr wrap="square">
            <a:spAutoFit/>
          </a:bodyPr>
          <a:lstStyle>
            <a:lvl1pPr eaLnBrk="0" hangingPunct="0">
              <a:defRPr sz="2400">
                <a:solidFill>
                  <a:schemeClr val="tx1"/>
                </a:solidFill>
                <a:latin typeface="Tahoma" charset="0"/>
                <a:ea typeface="ＭＳ Ｐゴシック" charset="-128"/>
              </a:defRPr>
            </a:lvl1pPr>
            <a:lvl2pPr marL="37931725" indent="-37474525" eaLnBrk="0" hangingPunct="0">
              <a:defRPr sz="2400">
                <a:solidFill>
                  <a:schemeClr val="tx1"/>
                </a:solidFill>
                <a:latin typeface="Tahoma" charset="0"/>
                <a:ea typeface="ＭＳ Ｐゴシック" charset="-128"/>
              </a:defRPr>
            </a:lvl2pPr>
            <a:lvl3pPr eaLnBrk="0" hangingPunct="0">
              <a:defRPr sz="2400">
                <a:solidFill>
                  <a:schemeClr val="tx1"/>
                </a:solidFill>
                <a:latin typeface="Tahoma" charset="0"/>
                <a:ea typeface="ＭＳ Ｐゴシック" charset="-128"/>
              </a:defRPr>
            </a:lvl3pPr>
            <a:lvl4pPr eaLnBrk="0" hangingPunct="0">
              <a:defRPr sz="2400">
                <a:solidFill>
                  <a:schemeClr val="tx1"/>
                </a:solidFill>
                <a:latin typeface="Tahoma" charset="0"/>
                <a:ea typeface="ＭＳ Ｐゴシック" charset="-128"/>
              </a:defRPr>
            </a:lvl4pPr>
            <a:lvl5pPr eaLnBrk="0" hangingPunct="0">
              <a:defRPr sz="2400">
                <a:solidFill>
                  <a:schemeClr val="tx1"/>
                </a:solidFill>
                <a:latin typeface="Tahoma" charset="0"/>
                <a:ea typeface="ＭＳ Ｐゴシック" charset="-128"/>
              </a:defRPr>
            </a:lvl5pPr>
            <a:lvl6pPr marL="457200" eaLnBrk="0" fontAlgn="base" hangingPunct="0">
              <a:spcBef>
                <a:spcPct val="0"/>
              </a:spcBef>
              <a:spcAft>
                <a:spcPct val="0"/>
              </a:spcAft>
              <a:defRPr sz="2400">
                <a:solidFill>
                  <a:schemeClr val="tx1"/>
                </a:solidFill>
                <a:latin typeface="Tahoma" charset="0"/>
                <a:ea typeface="ＭＳ Ｐゴシック" charset="-128"/>
              </a:defRPr>
            </a:lvl6pPr>
            <a:lvl7pPr marL="914400" eaLnBrk="0" fontAlgn="base" hangingPunct="0">
              <a:spcBef>
                <a:spcPct val="0"/>
              </a:spcBef>
              <a:spcAft>
                <a:spcPct val="0"/>
              </a:spcAft>
              <a:defRPr sz="2400">
                <a:solidFill>
                  <a:schemeClr val="tx1"/>
                </a:solidFill>
                <a:latin typeface="Tahoma" charset="0"/>
                <a:ea typeface="ＭＳ Ｐゴシック" charset="-128"/>
              </a:defRPr>
            </a:lvl7pPr>
            <a:lvl8pPr marL="1371600" eaLnBrk="0" fontAlgn="base" hangingPunct="0">
              <a:spcBef>
                <a:spcPct val="0"/>
              </a:spcBef>
              <a:spcAft>
                <a:spcPct val="0"/>
              </a:spcAft>
              <a:defRPr sz="2400">
                <a:solidFill>
                  <a:schemeClr val="tx1"/>
                </a:solidFill>
                <a:latin typeface="Tahoma" charset="0"/>
                <a:ea typeface="ＭＳ Ｐゴシック" charset="-128"/>
              </a:defRPr>
            </a:lvl8pPr>
            <a:lvl9pPr marL="1828800" eaLnBrk="0" fontAlgn="base" hangingPunct="0">
              <a:spcBef>
                <a:spcPct val="0"/>
              </a:spcBef>
              <a:spcAft>
                <a:spcPct val="0"/>
              </a:spcAft>
              <a:defRPr sz="2400">
                <a:solidFill>
                  <a:schemeClr val="tx1"/>
                </a:solidFill>
                <a:latin typeface="Tahoma" charset="0"/>
                <a:ea typeface="ＭＳ Ｐゴシック" charset="-128"/>
              </a:defRPr>
            </a:lvl9pPr>
          </a:lstStyle>
          <a:p>
            <a:pPr algn="l" eaLnBrk="1" hangingPunct="1">
              <a:spcBef>
                <a:spcPts val="0"/>
              </a:spcBef>
              <a:spcAft>
                <a:spcPts val="200"/>
              </a:spcAft>
            </a:pPr>
            <a:r>
              <a:rPr lang="en-US" altLang="en-US" sz="1400" b="1" dirty="0">
                <a:latin typeface="Courier New" charset="0"/>
              </a:rPr>
              <a:t>   /</a:t>
            </a:r>
            <a:r>
              <a:rPr lang="en-US" altLang="en-US" sz="1400" dirty="0">
                <a:latin typeface="Courier New" charset="0"/>
              </a:rPr>
              <a:t>				# Disk root</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/bin</a:t>
            </a:r>
            <a:r>
              <a:rPr lang="en-US" altLang="en-US" sz="1400" dirty="0">
                <a:latin typeface="Courier New" charset="0"/>
              </a:rPr>
              <a:t>			# Repository for binary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/lib</a:t>
            </a:r>
            <a:r>
              <a:rPr lang="en-US" altLang="en-US" sz="1400" dirty="0">
                <a:latin typeface="Courier New" charset="0"/>
              </a:rPr>
              <a:t>			# Repository for library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dev</a:t>
            </a:r>
            <a:r>
              <a:rPr lang="en-US" altLang="en-US" sz="1400" dirty="0">
                <a:latin typeface="Courier New" charset="0"/>
              </a:rPr>
              <a:t>			# Repository for device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console c 5 1</a:t>
            </a:r>
            <a:r>
              <a:rPr lang="en-US" altLang="en-US" sz="1400" dirty="0">
                <a:latin typeface="Courier New" charset="0"/>
              </a:rPr>
              <a:t>	# Console device file</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null c 1 3</a:t>
            </a:r>
            <a:r>
              <a:rPr lang="en-US" altLang="en-US" sz="1400" dirty="0">
                <a:latin typeface="Courier New" charset="0"/>
              </a:rPr>
              <a:t>	# Null device file</a:t>
            </a:r>
          </a:p>
          <a:p>
            <a:pPr algn="l" eaLnBrk="1" hangingPunct="1">
              <a:spcBef>
                <a:spcPts val="0"/>
              </a:spcBef>
              <a:spcAft>
                <a:spcPts val="200"/>
              </a:spcAft>
            </a:pPr>
            <a:r>
              <a:rPr lang="en-US" altLang="en-US" sz="1400" dirty="0">
                <a:latin typeface="Courier New" charset="0"/>
              </a:rPr>
              <a:t>		</a:t>
            </a:r>
            <a:r>
              <a:rPr lang="it-IT" altLang="en-US" sz="1400" b="1" dirty="0">
                <a:latin typeface="Courier New" charset="0"/>
              </a:rPr>
              <a:t>zero c 1 5</a:t>
            </a:r>
            <a:r>
              <a:rPr lang="it-IT" altLang="en-US" sz="1400" dirty="0">
                <a:latin typeface="Courier New" charset="0"/>
              </a:rPr>
              <a:t> 	# </a:t>
            </a:r>
            <a:r>
              <a:rPr lang="it-IT" altLang="en-US" sz="1400" dirty="0" err="1">
                <a:latin typeface="Courier New" charset="0"/>
              </a:rPr>
              <a:t>All</a:t>
            </a:r>
            <a:r>
              <a:rPr lang="it-IT" altLang="en-US" sz="1400" dirty="0">
                <a:latin typeface="Courier New" charset="0"/>
              </a:rPr>
              <a:t>-zero </a:t>
            </a:r>
            <a:r>
              <a:rPr lang="it-IT" altLang="en-US" sz="1400" dirty="0" err="1">
                <a:latin typeface="Courier New" charset="0"/>
              </a:rPr>
              <a:t>device</a:t>
            </a:r>
            <a:r>
              <a:rPr lang="it-IT" altLang="en-US" sz="1400" dirty="0">
                <a:latin typeface="Courier New" charset="0"/>
              </a:rPr>
              <a:t> file</a:t>
            </a:r>
          </a:p>
          <a:p>
            <a:pPr algn="l" eaLnBrk="1" hangingPunct="1">
              <a:spcBef>
                <a:spcPts val="0"/>
              </a:spcBef>
              <a:spcAft>
                <a:spcPts val="200"/>
              </a:spcAft>
            </a:pPr>
            <a:r>
              <a:rPr lang="it-IT" altLang="en-US" sz="1400" dirty="0">
                <a:latin typeface="Courier New" charset="0"/>
              </a:rPr>
              <a:t>		</a:t>
            </a:r>
            <a:r>
              <a:rPr lang="it-IT" altLang="en-US" sz="1400" b="1" dirty="0" err="1">
                <a:latin typeface="Courier New" charset="0"/>
              </a:rPr>
              <a:t>tty</a:t>
            </a:r>
            <a:r>
              <a:rPr lang="it-IT" altLang="en-US" sz="1400" b="1" dirty="0">
                <a:latin typeface="Courier New" charset="0"/>
              </a:rPr>
              <a:t> c 5 0 </a:t>
            </a:r>
            <a:r>
              <a:rPr lang="it-IT" altLang="en-US" sz="1400" dirty="0">
                <a:latin typeface="Courier New" charset="0"/>
              </a:rPr>
              <a:t>	# Serial console </a:t>
            </a:r>
            <a:r>
              <a:rPr lang="it-IT" altLang="en-US" sz="1400" dirty="0" err="1">
                <a:latin typeface="Courier New" charset="0"/>
              </a:rPr>
              <a:t>device</a:t>
            </a:r>
            <a:r>
              <a:rPr lang="it-IT" altLang="en-US" sz="1400" dirty="0">
                <a:latin typeface="Courier New" charset="0"/>
              </a:rPr>
              <a:t> file</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tty0 c 4 0</a:t>
            </a:r>
            <a:r>
              <a:rPr lang="it-IT" altLang="en-US" sz="1400" dirty="0">
                <a:latin typeface="Courier New" charset="0"/>
              </a:rPr>
              <a:t> 	# Serial terminal </a:t>
            </a:r>
            <a:r>
              <a:rPr lang="it-IT" altLang="en-US" sz="1400" dirty="0" err="1">
                <a:latin typeface="Courier New" charset="0"/>
              </a:rPr>
              <a:t>device</a:t>
            </a:r>
            <a:r>
              <a:rPr lang="it-IT" altLang="en-US" sz="1400" dirty="0">
                <a:latin typeface="Courier New" charset="0"/>
              </a:rPr>
              <a:t> file</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tty1 c 4 1</a:t>
            </a:r>
            <a:r>
              <a:rPr lang="it-IT" altLang="en-US" sz="1400" dirty="0">
                <a:latin typeface="Courier New" charset="0"/>
              </a:rPr>
              <a:t> 	#</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tty2 c 4 2</a:t>
            </a:r>
            <a:r>
              <a:rPr lang="it-IT" altLang="en-US" sz="1400" dirty="0">
                <a:latin typeface="Courier New" charset="0"/>
              </a:rPr>
              <a:t> 	#</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tty3 c 4 3</a:t>
            </a:r>
            <a:r>
              <a:rPr lang="it-IT" altLang="en-US" sz="1400" dirty="0">
                <a:latin typeface="Courier New" charset="0"/>
              </a:rPr>
              <a:t> 	#</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tty4 c 4 4</a:t>
            </a:r>
            <a:r>
              <a:rPr lang="it-IT" altLang="en-US" sz="1400" dirty="0">
                <a:latin typeface="Courier New" charset="0"/>
              </a:rPr>
              <a:t> 	#</a:t>
            </a:r>
          </a:p>
          <a:p>
            <a:pPr algn="l" eaLnBrk="1" hangingPunct="1">
              <a:spcBef>
                <a:spcPts val="0"/>
              </a:spcBef>
              <a:spcAft>
                <a:spcPts val="200"/>
              </a:spcAft>
            </a:pPr>
            <a:r>
              <a:rPr lang="it-IT" altLang="en-US" sz="1400" dirty="0">
                <a:latin typeface="Courier New" charset="0"/>
              </a:rPr>
              <a:t>		</a:t>
            </a:r>
            <a:r>
              <a:rPr lang="it-IT" altLang="en-US" sz="1400" b="1" dirty="0">
                <a:latin typeface="Courier New" charset="0"/>
              </a:rPr>
              <a:t>tty5 c 4 5</a:t>
            </a:r>
            <a:r>
              <a:rPr lang="it-IT" altLang="en-US" sz="1400" dirty="0">
                <a:latin typeface="Courier New" charset="0"/>
              </a:rPr>
              <a:t> 	#</a:t>
            </a:r>
            <a:endParaRPr lang="en-US" altLang="en-US" sz="1400" dirty="0">
              <a:latin typeface="Courier New" charset="0"/>
            </a:endParaRP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etc</a:t>
            </a:r>
            <a:r>
              <a:rPr lang="en-US" altLang="en-US" sz="1400" dirty="0">
                <a:latin typeface="Courier New" charset="0"/>
              </a:rPr>
              <a:t>			# Repository for </a:t>
            </a:r>
            <a:r>
              <a:rPr lang="en-US" altLang="en-US" sz="1400" dirty="0" err="1">
                <a:latin typeface="Courier New" charset="0"/>
              </a:rPr>
              <a:t>config</a:t>
            </a:r>
            <a:r>
              <a:rPr lang="en-US" altLang="en-US" sz="1400" dirty="0">
                <a:latin typeface="Courier New" charset="0"/>
              </a:rPr>
              <a:t> files</a:t>
            </a:r>
          </a:p>
          <a:p>
            <a:pPr algn="l" eaLnBrk="1" hangingPunct="1">
              <a:spcBef>
                <a:spcPts val="0"/>
              </a:spcBef>
              <a:spcAft>
                <a:spcPts val="200"/>
              </a:spcAft>
            </a:pPr>
            <a:r>
              <a:rPr lang="en-US" altLang="en-US" sz="1400" dirty="0">
                <a:latin typeface="Courier New" charset="0"/>
              </a:rPr>
              <a:t>		</a:t>
            </a:r>
            <a:r>
              <a:rPr lang="en-US" altLang="en-US" sz="1400" b="1" dirty="0" err="1">
                <a:latin typeface="Courier New" charset="0"/>
              </a:rPr>
              <a:t>inittab</a:t>
            </a:r>
            <a:r>
              <a:rPr lang="en-US" altLang="en-US" sz="1400" dirty="0">
                <a:latin typeface="Courier New" charset="0"/>
              </a:rPr>
              <a:t>		# The </a:t>
            </a:r>
            <a:r>
              <a:rPr lang="en-US" altLang="en-US" sz="1400" dirty="0" err="1">
                <a:latin typeface="Courier New" charset="0"/>
              </a:rPr>
              <a:t>inittab</a:t>
            </a:r>
            <a:endParaRPr lang="en-US" altLang="en-US" sz="1400" dirty="0">
              <a:latin typeface="Courier New" charset="0"/>
            </a:endParaRP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init.d</a:t>
            </a:r>
            <a:r>
              <a:rPr lang="en-US" altLang="en-US" sz="1400" dirty="0">
                <a:latin typeface="Courier New" charset="0"/>
              </a:rPr>
              <a:t>		# Repository for </a:t>
            </a:r>
            <a:r>
              <a:rPr lang="en-US" altLang="en-US" sz="1400" dirty="0" err="1">
                <a:latin typeface="Courier New" charset="0"/>
              </a:rPr>
              <a:t>init</a:t>
            </a:r>
            <a:r>
              <a:rPr lang="en-US" altLang="en-US" sz="1400" dirty="0">
                <a:latin typeface="Courier New" charset="0"/>
              </a:rPr>
              <a:t> </a:t>
            </a:r>
            <a:r>
              <a:rPr lang="en-US" altLang="en-US" sz="1400" dirty="0" err="1">
                <a:latin typeface="Courier New" charset="0"/>
              </a:rPr>
              <a:t>config</a:t>
            </a:r>
            <a:r>
              <a:rPr lang="en-US" altLang="en-US" sz="1400" dirty="0">
                <a:latin typeface="Courier New" charset="0"/>
              </a:rPr>
              <a:t> files</a:t>
            </a:r>
          </a:p>
          <a:p>
            <a:pPr algn="l" eaLnBrk="1" hangingPunct="1">
              <a:spcBef>
                <a:spcPts val="0"/>
              </a:spcBef>
              <a:spcAft>
                <a:spcPts val="200"/>
              </a:spcAft>
            </a:pPr>
            <a:r>
              <a:rPr lang="en-US" altLang="en-US" sz="1400" dirty="0">
                <a:latin typeface="Courier New" charset="0"/>
              </a:rPr>
              <a:t>			</a:t>
            </a:r>
            <a:r>
              <a:rPr lang="en-US" altLang="en-US" sz="1400" b="1" dirty="0" err="1">
                <a:latin typeface="Courier New" charset="0"/>
              </a:rPr>
              <a:t>rcS</a:t>
            </a:r>
            <a:r>
              <a:rPr lang="en-US" altLang="en-US" sz="1400" dirty="0">
                <a:latin typeface="Courier New" charset="0"/>
              </a:rPr>
              <a:t>	# The script run at </a:t>
            </a:r>
            <a:r>
              <a:rPr lang="en-US" altLang="en-US" sz="1400" dirty="0" err="1">
                <a:latin typeface="Courier New" charset="0"/>
              </a:rPr>
              <a:t>sysinit</a:t>
            </a:r>
            <a:endParaRPr lang="en-US" altLang="en-US" sz="1400" dirty="0">
              <a:latin typeface="Courier New" charset="0"/>
            </a:endParaRP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/proc</a:t>
            </a:r>
            <a:r>
              <a:rPr lang="en-US" altLang="en-US" sz="1400" dirty="0">
                <a:latin typeface="Courier New" charset="0"/>
              </a:rPr>
              <a:t>			# The /proc file system</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sbin</a:t>
            </a:r>
            <a:r>
              <a:rPr lang="en-US" altLang="en-US" sz="1400" dirty="0">
                <a:latin typeface="Courier New" charset="0"/>
              </a:rPr>
              <a:t>			# Repository for accessory binary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tmp</a:t>
            </a:r>
            <a:r>
              <a:rPr lang="en-US" altLang="en-US" sz="1400" dirty="0">
                <a:latin typeface="Courier New" charset="0"/>
              </a:rPr>
              <a:t>			# Repository for temporary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var</a:t>
            </a:r>
            <a:r>
              <a:rPr lang="en-US" altLang="en-US" sz="1400" dirty="0">
                <a:latin typeface="Courier New" charset="0"/>
              </a:rPr>
              <a:t>			# Repository for optional </a:t>
            </a:r>
            <a:r>
              <a:rPr lang="en-US" altLang="en-US" sz="1400" dirty="0" err="1">
                <a:latin typeface="Courier New" charset="0"/>
              </a:rPr>
              <a:t>config</a:t>
            </a:r>
            <a:r>
              <a:rPr lang="en-US" altLang="en-US" sz="1400" dirty="0">
                <a:latin typeface="Courier New" charset="0"/>
              </a:rPr>
              <a:t>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a:t>
            </a:r>
            <a:r>
              <a:rPr lang="en-US" altLang="en-US" sz="1400" b="1" dirty="0" err="1">
                <a:latin typeface="Courier New" charset="0"/>
              </a:rPr>
              <a:t>usr</a:t>
            </a:r>
            <a:r>
              <a:rPr lang="en-US" altLang="en-US" sz="1400" dirty="0">
                <a:latin typeface="Courier New" charset="0"/>
              </a:rPr>
              <a:t>			# Repository for user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/sys</a:t>
            </a:r>
            <a:r>
              <a:rPr lang="en-US" altLang="en-US" sz="1400" dirty="0">
                <a:latin typeface="Courier New" charset="0"/>
              </a:rPr>
              <a:t>			# Repository for system service files</a:t>
            </a:r>
          </a:p>
          <a:p>
            <a:pPr algn="l" eaLnBrk="1" hangingPunct="1">
              <a:spcBef>
                <a:spcPts val="0"/>
              </a:spcBef>
              <a:spcAft>
                <a:spcPts val="200"/>
              </a:spcAft>
            </a:pPr>
            <a:r>
              <a:rPr lang="en-US" altLang="en-US" sz="1400" dirty="0">
                <a:latin typeface="Courier New" charset="0"/>
              </a:rPr>
              <a:t>	</a:t>
            </a:r>
            <a:r>
              <a:rPr lang="en-US" altLang="en-US" sz="1400" b="1" dirty="0">
                <a:latin typeface="Courier New" charset="0"/>
              </a:rPr>
              <a:t>/media</a:t>
            </a:r>
            <a:r>
              <a:rPr lang="en-US" altLang="en-US" sz="1400" dirty="0">
                <a:latin typeface="Courier New" charset="0"/>
              </a:rPr>
              <a:t>			# Mount point for removable storage</a:t>
            </a:r>
          </a:p>
        </p:txBody>
      </p:sp>
      <p:sp>
        <p:nvSpPr>
          <p:cNvPr id="2" name="TextBox 1">
            <a:extLst>
              <a:ext uri="{FF2B5EF4-FFF2-40B4-BE49-F238E27FC236}">
                <a16:creationId xmlns:a16="http://schemas.microsoft.com/office/drawing/2014/main" id="{4434FDA7-F707-2B1B-B9A1-BC0A2E3A6008}"/>
              </a:ext>
            </a:extLst>
          </p:cNvPr>
          <p:cNvSpPr txBox="1"/>
          <p:nvPr/>
        </p:nvSpPr>
        <p:spPr>
          <a:xfrm>
            <a:off x="10254030" y="6018114"/>
            <a:ext cx="1782293"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tx2"/>
                </a:solidFill>
                <a:latin typeface="+mn-lt"/>
                <a:ea typeface="+mn-ea"/>
                <a:cs typeface="+mn-cs"/>
              </a:rPr>
              <a:t>Folder icons by Icons8</a:t>
            </a:r>
          </a:p>
        </p:txBody>
      </p:sp>
      <p:pic>
        <p:nvPicPr>
          <p:cNvPr id="5" name="Picture 4" descr="folder icon">
            <a:extLst>
              <a:ext uri="{FF2B5EF4-FFF2-40B4-BE49-F238E27FC236}">
                <a16:creationId xmlns:a16="http://schemas.microsoft.com/office/drawing/2014/main" id="{99EB126A-9021-489A-1C12-A4F35081025D}"/>
              </a:ext>
            </a:extLst>
          </p:cNvPr>
          <p:cNvPicPr>
            <a:picLocks noChangeAspect="1"/>
          </p:cNvPicPr>
          <p:nvPr/>
        </p:nvPicPr>
        <p:blipFill>
          <a:blip r:embed="rId3"/>
          <a:stretch>
            <a:fillRect/>
          </a:stretch>
        </p:blipFill>
        <p:spPr>
          <a:xfrm>
            <a:off x="1828800" y="731594"/>
            <a:ext cx="371473" cy="371473"/>
          </a:xfrm>
          <a:prstGeom prst="rect">
            <a:avLst/>
          </a:prstGeom>
        </p:spPr>
      </p:pic>
      <p:pic>
        <p:nvPicPr>
          <p:cNvPr id="8" name="Picture 7" descr="file icon">
            <a:extLst>
              <a:ext uri="{FF2B5EF4-FFF2-40B4-BE49-F238E27FC236}">
                <a16:creationId xmlns:a16="http://schemas.microsoft.com/office/drawing/2014/main" id="{21D5CB8D-05C4-B907-0429-55321151DE32}"/>
              </a:ext>
            </a:extLst>
          </p:cNvPr>
          <p:cNvPicPr>
            <a:picLocks noChangeAspect="1"/>
          </p:cNvPicPr>
          <p:nvPr/>
        </p:nvPicPr>
        <p:blipFill>
          <a:blip r:embed="rId4"/>
          <a:stretch>
            <a:fillRect/>
          </a:stretch>
        </p:blipFill>
        <p:spPr>
          <a:xfrm>
            <a:off x="4364664" y="4832738"/>
            <a:ext cx="309093" cy="309093"/>
          </a:xfrm>
          <a:prstGeom prst="rect">
            <a:avLst/>
          </a:prstGeom>
        </p:spPr>
      </p:pic>
      <p:pic>
        <p:nvPicPr>
          <p:cNvPr id="3" name="Picture 2" descr="folder icon">
            <a:extLst>
              <a:ext uri="{FF2B5EF4-FFF2-40B4-BE49-F238E27FC236}">
                <a16:creationId xmlns:a16="http://schemas.microsoft.com/office/drawing/2014/main" id="{D22F6CDA-15AC-F36E-9C07-C914BEB867EF}"/>
              </a:ext>
            </a:extLst>
          </p:cNvPr>
          <p:cNvPicPr>
            <a:picLocks noChangeAspect="1"/>
          </p:cNvPicPr>
          <p:nvPr/>
        </p:nvPicPr>
        <p:blipFill>
          <a:blip r:embed="rId3"/>
          <a:stretch>
            <a:fillRect/>
          </a:stretch>
        </p:blipFill>
        <p:spPr>
          <a:xfrm>
            <a:off x="2460607" y="862802"/>
            <a:ext cx="371473" cy="371473"/>
          </a:xfrm>
          <a:prstGeom prst="rect">
            <a:avLst/>
          </a:prstGeom>
        </p:spPr>
      </p:pic>
      <p:pic>
        <p:nvPicPr>
          <p:cNvPr id="7" name="Picture 6" descr="folder icon">
            <a:extLst>
              <a:ext uri="{FF2B5EF4-FFF2-40B4-BE49-F238E27FC236}">
                <a16:creationId xmlns:a16="http://schemas.microsoft.com/office/drawing/2014/main" id="{7E296280-0CCB-E1A8-061B-FECA91D66602}"/>
              </a:ext>
            </a:extLst>
          </p:cNvPr>
          <p:cNvPicPr>
            <a:picLocks noChangeAspect="1"/>
          </p:cNvPicPr>
          <p:nvPr/>
        </p:nvPicPr>
        <p:blipFill>
          <a:blip r:embed="rId3"/>
          <a:stretch>
            <a:fillRect/>
          </a:stretch>
        </p:blipFill>
        <p:spPr>
          <a:xfrm>
            <a:off x="2451463" y="1149976"/>
            <a:ext cx="371473" cy="371473"/>
          </a:xfrm>
          <a:prstGeom prst="rect">
            <a:avLst/>
          </a:prstGeom>
        </p:spPr>
      </p:pic>
      <p:pic>
        <p:nvPicPr>
          <p:cNvPr id="9" name="Picture 8" descr="folder icon">
            <a:extLst>
              <a:ext uri="{FF2B5EF4-FFF2-40B4-BE49-F238E27FC236}">
                <a16:creationId xmlns:a16="http://schemas.microsoft.com/office/drawing/2014/main" id="{E78123B7-8D63-791E-B1E6-C228D104B1DD}"/>
              </a:ext>
            </a:extLst>
          </p:cNvPr>
          <p:cNvPicPr>
            <a:picLocks noChangeAspect="1"/>
          </p:cNvPicPr>
          <p:nvPr/>
        </p:nvPicPr>
        <p:blipFill>
          <a:blip r:embed="rId3"/>
          <a:stretch>
            <a:fillRect/>
          </a:stretch>
        </p:blipFill>
        <p:spPr>
          <a:xfrm>
            <a:off x="2465014" y="1445275"/>
            <a:ext cx="371473" cy="371473"/>
          </a:xfrm>
          <a:prstGeom prst="rect">
            <a:avLst/>
          </a:prstGeom>
        </p:spPr>
      </p:pic>
      <p:pic>
        <p:nvPicPr>
          <p:cNvPr id="11" name="Picture 10" descr="folder icon">
            <a:extLst>
              <a:ext uri="{FF2B5EF4-FFF2-40B4-BE49-F238E27FC236}">
                <a16:creationId xmlns:a16="http://schemas.microsoft.com/office/drawing/2014/main" id="{521AABA1-02DB-62DC-1A99-48FD7896A148}"/>
              </a:ext>
            </a:extLst>
          </p:cNvPr>
          <p:cNvPicPr>
            <a:picLocks noChangeAspect="1"/>
          </p:cNvPicPr>
          <p:nvPr/>
        </p:nvPicPr>
        <p:blipFill>
          <a:blip r:embed="rId3"/>
          <a:stretch>
            <a:fillRect/>
          </a:stretch>
        </p:blipFill>
        <p:spPr>
          <a:xfrm>
            <a:off x="2469750" y="4049303"/>
            <a:ext cx="371473" cy="371473"/>
          </a:xfrm>
          <a:prstGeom prst="rect">
            <a:avLst/>
          </a:prstGeom>
        </p:spPr>
      </p:pic>
      <p:pic>
        <p:nvPicPr>
          <p:cNvPr id="12" name="Picture 11" descr="folder icon">
            <a:extLst>
              <a:ext uri="{FF2B5EF4-FFF2-40B4-BE49-F238E27FC236}">
                <a16:creationId xmlns:a16="http://schemas.microsoft.com/office/drawing/2014/main" id="{36FF10C0-4D99-DEC9-19D2-DFACDBE66F6C}"/>
              </a:ext>
            </a:extLst>
          </p:cNvPr>
          <p:cNvPicPr>
            <a:picLocks noChangeAspect="1"/>
          </p:cNvPicPr>
          <p:nvPr/>
        </p:nvPicPr>
        <p:blipFill>
          <a:blip r:embed="rId3"/>
          <a:stretch>
            <a:fillRect/>
          </a:stretch>
        </p:blipFill>
        <p:spPr>
          <a:xfrm>
            <a:off x="2460605" y="4937238"/>
            <a:ext cx="371473" cy="371473"/>
          </a:xfrm>
          <a:prstGeom prst="rect">
            <a:avLst/>
          </a:prstGeom>
        </p:spPr>
      </p:pic>
      <p:pic>
        <p:nvPicPr>
          <p:cNvPr id="13" name="Picture 12" descr="folder icon">
            <a:extLst>
              <a:ext uri="{FF2B5EF4-FFF2-40B4-BE49-F238E27FC236}">
                <a16:creationId xmlns:a16="http://schemas.microsoft.com/office/drawing/2014/main" id="{0524ECD8-B7BC-E0A7-DC48-C63C18AD0709}"/>
              </a:ext>
            </a:extLst>
          </p:cNvPr>
          <p:cNvPicPr>
            <a:picLocks noChangeAspect="1"/>
          </p:cNvPicPr>
          <p:nvPr/>
        </p:nvPicPr>
        <p:blipFill>
          <a:blip r:embed="rId3"/>
          <a:stretch>
            <a:fillRect/>
          </a:stretch>
        </p:blipFill>
        <p:spPr>
          <a:xfrm>
            <a:off x="2469748" y="5198968"/>
            <a:ext cx="371473" cy="371473"/>
          </a:xfrm>
          <a:prstGeom prst="rect">
            <a:avLst/>
          </a:prstGeom>
        </p:spPr>
      </p:pic>
      <p:pic>
        <p:nvPicPr>
          <p:cNvPr id="14" name="Picture 13" descr="folder icon">
            <a:extLst>
              <a:ext uri="{FF2B5EF4-FFF2-40B4-BE49-F238E27FC236}">
                <a16:creationId xmlns:a16="http://schemas.microsoft.com/office/drawing/2014/main" id="{A53371B4-9725-4ADF-6C3F-26BD2A311A69}"/>
              </a:ext>
            </a:extLst>
          </p:cNvPr>
          <p:cNvPicPr>
            <a:picLocks noChangeAspect="1"/>
          </p:cNvPicPr>
          <p:nvPr/>
        </p:nvPicPr>
        <p:blipFill>
          <a:blip r:embed="rId3"/>
          <a:stretch>
            <a:fillRect/>
          </a:stretch>
        </p:blipFill>
        <p:spPr>
          <a:xfrm>
            <a:off x="2469747" y="5473078"/>
            <a:ext cx="371473" cy="371473"/>
          </a:xfrm>
          <a:prstGeom prst="rect">
            <a:avLst/>
          </a:prstGeom>
        </p:spPr>
      </p:pic>
      <p:pic>
        <p:nvPicPr>
          <p:cNvPr id="15" name="Picture 14" descr="folder icon">
            <a:extLst>
              <a:ext uri="{FF2B5EF4-FFF2-40B4-BE49-F238E27FC236}">
                <a16:creationId xmlns:a16="http://schemas.microsoft.com/office/drawing/2014/main" id="{0E4800B1-AC13-C124-EFEB-C9A8CDC1E0E9}"/>
              </a:ext>
            </a:extLst>
          </p:cNvPr>
          <p:cNvPicPr>
            <a:picLocks noChangeAspect="1"/>
          </p:cNvPicPr>
          <p:nvPr/>
        </p:nvPicPr>
        <p:blipFill>
          <a:blip r:embed="rId3"/>
          <a:stretch>
            <a:fillRect/>
          </a:stretch>
        </p:blipFill>
        <p:spPr>
          <a:xfrm>
            <a:off x="2469746" y="5738044"/>
            <a:ext cx="371473" cy="371473"/>
          </a:xfrm>
          <a:prstGeom prst="rect">
            <a:avLst/>
          </a:prstGeom>
        </p:spPr>
      </p:pic>
      <p:pic>
        <p:nvPicPr>
          <p:cNvPr id="16" name="Picture 15" descr="folder icon">
            <a:extLst>
              <a:ext uri="{FF2B5EF4-FFF2-40B4-BE49-F238E27FC236}">
                <a16:creationId xmlns:a16="http://schemas.microsoft.com/office/drawing/2014/main" id="{0A6BDCD2-A908-FD5F-6138-4D07284E1570}"/>
              </a:ext>
            </a:extLst>
          </p:cNvPr>
          <p:cNvPicPr>
            <a:picLocks noChangeAspect="1"/>
          </p:cNvPicPr>
          <p:nvPr/>
        </p:nvPicPr>
        <p:blipFill>
          <a:blip r:embed="rId3"/>
          <a:stretch>
            <a:fillRect/>
          </a:stretch>
        </p:blipFill>
        <p:spPr>
          <a:xfrm>
            <a:off x="2469745" y="6001313"/>
            <a:ext cx="371473" cy="371473"/>
          </a:xfrm>
          <a:prstGeom prst="rect">
            <a:avLst/>
          </a:prstGeom>
        </p:spPr>
      </p:pic>
      <p:pic>
        <p:nvPicPr>
          <p:cNvPr id="17" name="Picture 16" descr="folder icon">
            <a:extLst>
              <a:ext uri="{FF2B5EF4-FFF2-40B4-BE49-F238E27FC236}">
                <a16:creationId xmlns:a16="http://schemas.microsoft.com/office/drawing/2014/main" id="{932AB41C-7046-4812-D3E7-EFAACDA94A3C}"/>
              </a:ext>
            </a:extLst>
          </p:cNvPr>
          <p:cNvPicPr>
            <a:picLocks noChangeAspect="1"/>
          </p:cNvPicPr>
          <p:nvPr/>
        </p:nvPicPr>
        <p:blipFill>
          <a:blip r:embed="rId3"/>
          <a:stretch>
            <a:fillRect/>
          </a:stretch>
        </p:blipFill>
        <p:spPr>
          <a:xfrm>
            <a:off x="2469744" y="6263043"/>
            <a:ext cx="371473" cy="371473"/>
          </a:xfrm>
          <a:prstGeom prst="rect">
            <a:avLst/>
          </a:prstGeom>
        </p:spPr>
      </p:pic>
      <p:pic>
        <p:nvPicPr>
          <p:cNvPr id="18" name="Picture 17" descr="folder icon">
            <a:extLst>
              <a:ext uri="{FF2B5EF4-FFF2-40B4-BE49-F238E27FC236}">
                <a16:creationId xmlns:a16="http://schemas.microsoft.com/office/drawing/2014/main" id="{7A975198-BD07-882B-BFBE-F3C94CFA74D1}"/>
              </a:ext>
            </a:extLst>
          </p:cNvPr>
          <p:cNvPicPr>
            <a:picLocks noChangeAspect="1"/>
          </p:cNvPicPr>
          <p:nvPr/>
        </p:nvPicPr>
        <p:blipFill>
          <a:blip r:embed="rId3"/>
          <a:stretch>
            <a:fillRect/>
          </a:stretch>
        </p:blipFill>
        <p:spPr>
          <a:xfrm>
            <a:off x="2467183" y="6525380"/>
            <a:ext cx="371473" cy="371473"/>
          </a:xfrm>
          <a:prstGeom prst="rect">
            <a:avLst/>
          </a:prstGeom>
        </p:spPr>
      </p:pic>
      <p:pic>
        <p:nvPicPr>
          <p:cNvPr id="19" name="Picture 18" descr="folder icon">
            <a:extLst>
              <a:ext uri="{FF2B5EF4-FFF2-40B4-BE49-F238E27FC236}">
                <a16:creationId xmlns:a16="http://schemas.microsoft.com/office/drawing/2014/main" id="{459F8FFD-FB28-E99A-E192-9A7C79595207}"/>
              </a:ext>
            </a:extLst>
          </p:cNvPr>
          <p:cNvPicPr>
            <a:picLocks noChangeAspect="1"/>
          </p:cNvPicPr>
          <p:nvPr/>
        </p:nvPicPr>
        <p:blipFill>
          <a:blip r:embed="rId3"/>
          <a:stretch>
            <a:fillRect/>
          </a:stretch>
        </p:blipFill>
        <p:spPr>
          <a:xfrm>
            <a:off x="3392508" y="4547477"/>
            <a:ext cx="371473" cy="371473"/>
          </a:xfrm>
          <a:prstGeom prst="rect">
            <a:avLst/>
          </a:prstGeom>
        </p:spPr>
      </p:pic>
      <p:grpSp>
        <p:nvGrpSpPr>
          <p:cNvPr id="23" name="Group 22" descr="file icons">
            <a:extLst>
              <a:ext uri="{FF2B5EF4-FFF2-40B4-BE49-F238E27FC236}">
                <a16:creationId xmlns:a16="http://schemas.microsoft.com/office/drawing/2014/main" id="{59050C62-AD39-972F-D9CD-05682648035C}"/>
              </a:ext>
            </a:extLst>
          </p:cNvPr>
          <p:cNvGrpSpPr/>
          <p:nvPr/>
        </p:nvGrpSpPr>
        <p:grpSpPr>
          <a:xfrm>
            <a:off x="3481888" y="1681029"/>
            <a:ext cx="289726" cy="1024556"/>
            <a:chOff x="3481888" y="1681029"/>
            <a:chExt cx="289726" cy="1024556"/>
          </a:xfrm>
        </p:grpSpPr>
        <p:pic>
          <p:nvPicPr>
            <p:cNvPr id="10" name="Picture 9" descr="A black background with a black square&#10;&#10;Description automatically generated with medium confidence">
              <a:extLst>
                <a:ext uri="{FF2B5EF4-FFF2-40B4-BE49-F238E27FC236}">
                  <a16:creationId xmlns:a16="http://schemas.microsoft.com/office/drawing/2014/main" id="{1A659DBA-384B-8209-878F-FE2F624411A2}"/>
                </a:ext>
              </a:extLst>
            </p:cNvPr>
            <p:cNvPicPr>
              <a:picLocks noChangeAspect="1"/>
            </p:cNvPicPr>
            <p:nvPr/>
          </p:nvPicPr>
          <p:blipFill>
            <a:blip r:embed="rId5"/>
            <a:stretch>
              <a:fillRect/>
            </a:stretch>
          </p:blipFill>
          <p:spPr>
            <a:xfrm>
              <a:off x="3481889" y="1681029"/>
              <a:ext cx="289725" cy="289725"/>
            </a:xfrm>
            <a:prstGeom prst="rect">
              <a:avLst/>
            </a:prstGeom>
          </p:spPr>
        </p:pic>
        <p:pic>
          <p:nvPicPr>
            <p:cNvPr id="20" name="Picture 19" descr="A black background with a black square&#10;&#10;Description automatically generated with medium confidence">
              <a:extLst>
                <a:ext uri="{FF2B5EF4-FFF2-40B4-BE49-F238E27FC236}">
                  <a16:creationId xmlns:a16="http://schemas.microsoft.com/office/drawing/2014/main" id="{690A67B1-4667-A906-5C64-4847557244C4}"/>
                </a:ext>
              </a:extLst>
            </p:cNvPr>
            <p:cNvPicPr>
              <a:picLocks noChangeAspect="1"/>
            </p:cNvPicPr>
            <p:nvPr/>
          </p:nvPicPr>
          <p:blipFill>
            <a:blip r:embed="rId5"/>
            <a:stretch>
              <a:fillRect/>
            </a:stretch>
          </p:blipFill>
          <p:spPr>
            <a:xfrm>
              <a:off x="3481888" y="1922097"/>
              <a:ext cx="289725" cy="289725"/>
            </a:xfrm>
            <a:prstGeom prst="rect">
              <a:avLst/>
            </a:prstGeom>
          </p:spPr>
        </p:pic>
        <p:pic>
          <p:nvPicPr>
            <p:cNvPr id="21" name="Picture 20" descr="A black background with a black square&#10;&#10;Description automatically generated with medium confidence">
              <a:extLst>
                <a:ext uri="{FF2B5EF4-FFF2-40B4-BE49-F238E27FC236}">
                  <a16:creationId xmlns:a16="http://schemas.microsoft.com/office/drawing/2014/main" id="{E15344E5-82E5-9050-0EC0-FEC134354CEB}"/>
                </a:ext>
              </a:extLst>
            </p:cNvPr>
            <p:cNvPicPr>
              <a:picLocks noChangeAspect="1"/>
            </p:cNvPicPr>
            <p:nvPr/>
          </p:nvPicPr>
          <p:blipFill>
            <a:blip r:embed="rId5"/>
            <a:stretch>
              <a:fillRect/>
            </a:stretch>
          </p:blipFill>
          <p:spPr>
            <a:xfrm>
              <a:off x="3481889" y="2165648"/>
              <a:ext cx="289725" cy="289725"/>
            </a:xfrm>
            <a:prstGeom prst="rect">
              <a:avLst/>
            </a:prstGeom>
          </p:spPr>
        </p:pic>
        <p:pic>
          <p:nvPicPr>
            <p:cNvPr id="22" name="Picture 21" descr="A black background with a black square&#10;&#10;Description automatically generated with medium confidence">
              <a:extLst>
                <a:ext uri="{FF2B5EF4-FFF2-40B4-BE49-F238E27FC236}">
                  <a16:creationId xmlns:a16="http://schemas.microsoft.com/office/drawing/2014/main" id="{F72FD11A-4E0B-C3C1-B004-2FC8C0A4046F}"/>
                </a:ext>
              </a:extLst>
            </p:cNvPr>
            <p:cNvPicPr>
              <a:picLocks noChangeAspect="1"/>
            </p:cNvPicPr>
            <p:nvPr/>
          </p:nvPicPr>
          <p:blipFill>
            <a:blip r:embed="rId5"/>
            <a:stretch>
              <a:fillRect/>
            </a:stretch>
          </p:blipFill>
          <p:spPr>
            <a:xfrm>
              <a:off x="3481888" y="2415860"/>
              <a:ext cx="289725" cy="289725"/>
            </a:xfrm>
            <a:prstGeom prst="rect">
              <a:avLst/>
            </a:prstGeom>
          </p:spPr>
        </p:pic>
      </p:grpSp>
      <p:grpSp>
        <p:nvGrpSpPr>
          <p:cNvPr id="24" name="Group 23" descr="file icons">
            <a:extLst>
              <a:ext uri="{FF2B5EF4-FFF2-40B4-BE49-F238E27FC236}">
                <a16:creationId xmlns:a16="http://schemas.microsoft.com/office/drawing/2014/main" id="{E9767197-D92B-82CF-C569-9AB60EC3F8CA}"/>
              </a:ext>
            </a:extLst>
          </p:cNvPr>
          <p:cNvGrpSpPr/>
          <p:nvPr/>
        </p:nvGrpSpPr>
        <p:grpSpPr>
          <a:xfrm>
            <a:off x="3491031" y="2653333"/>
            <a:ext cx="289726" cy="1024556"/>
            <a:chOff x="3481888" y="1681029"/>
            <a:chExt cx="289726" cy="1024556"/>
          </a:xfrm>
        </p:grpSpPr>
        <p:pic>
          <p:nvPicPr>
            <p:cNvPr id="25" name="Picture 24" descr="A black background with a black square&#10;&#10;Description automatically generated with medium confidence">
              <a:extLst>
                <a:ext uri="{FF2B5EF4-FFF2-40B4-BE49-F238E27FC236}">
                  <a16:creationId xmlns:a16="http://schemas.microsoft.com/office/drawing/2014/main" id="{27BCC713-3E78-0A2C-70A5-18BF81B2A52E}"/>
                </a:ext>
              </a:extLst>
            </p:cNvPr>
            <p:cNvPicPr>
              <a:picLocks noChangeAspect="1"/>
            </p:cNvPicPr>
            <p:nvPr/>
          </p:nvPicPr>
          <p:blipFill>
            <a:blip r:embed="rId5"/>
            <a:stretch>
              <a:fillRect/>
            </a:stretch>
          </p:blipFill>
          <p:spPr>
            <a:xfrm>
              <a:off x="3481889" y="1681029"/>
              <a:ext cx="289725" cy="289725"/>
            </a:xfrm>
            <a:prstGeom prst="rect">
              <a:avLst/>
            </a:prstGeom>
          </p:spPr>
        </p:pic>
        <p:pic>
          <p:nvPicPr>
            <p:cNvPr id="26" name="Picture 25" descr="A black background with a black square&#10;&#10;Description automatically generated with medium confidence">
              <a:extLst>
                <a:ext uri="{FF2B5EF4-FFF2-40B4-BE49-F238E27FC236}">
                  <a16:creationId xmlns:a16="http://schemas.microsoft.com/office/drawing/2014/main" id="{5AB7B540-6D4A-E039-BA2E-C9B6E559DAFA}"/>
                </a:ext>
              </a:extLst>
            </p:cNvPr>
            <p:cNvPicPr>
              <a:picLocks noChangeAspect="1"/>
            </p:cNvPicPr>
            <p:nvPr/>
          </p:nvPicPr>
          <p:blipFill>
            <a:blip r:embed="rId5"/>
            <a:stretch>
              <a:fillRect/>
            </a:stretch>
          </p:blipFill>
          <p:spPr>
            <a:xfrm>
              <a:off x="3481888" y="1922097"/>
              <a:ext cx="289725" cy="289725"/>
            </a:xfrm>
            <a:prstGeom prst="rect">
              <a:avLst/>
            </a:prstGeom>
          </p:spPr>
        </p:pic>
        <p:pic>
          <p:nvPicPr>
            <p:cNvPr id="27" name="Picture 26" descr="A black background with a black square&#10;&#10;Description automatically generated with medium confidence">
              <a:extLst>
                <a:ext uri="{FF2B5EF4-FFF2-40B4-BE49-F238E27FC236}">
                  <a16:creationId xmlns:a16="http://schemas.microsoft.com/office/drawing/2014/main" id="{23A64267-2036-575B-D45E-91D881810D82}"/>
                </a:ext>
              </a:extLst>
            </p:cNvPr>
            <p:cNvPicPr>
              <a:picLocks noChangeAspect="1"/>
            </p:cNvPicPr>
            <p:nvPr/>
          </p:nvPicPr>
          <p:blipFill>
            <a:blip r:embed="rId5"/>
            <a:stretch>
              <a:fillRect/>
            </a:stretch>
          </p:blipFill>
          <p:spPr>
            <a:xfrm>
              <a:off x="3481889" y="2165648"/>
              <a:ext cx="289725" cy="289725"/>
            </a:xfrm>
            <a:prstGeom prst="rect">
              <a:avLst/>
            </a:prstGeom>
          </p:spPr>
        </p:pic>
        <p:pic>
          <p:nvPicPr>
            <p:cNvPr id="28" name="Picture 27" descr="A black background with a black square&#10;&#10;Description automatically generated with medium confidence">
              <a:extLst>
                <a:ext uri="{FF2B5EF4-FFF2-40B4-BE49-F238E27FC236}">
                  <a16:creationId xmlns:a16="http://schemas.microsoft.com/office/drawing/2014/main" id="{36876650-33BC-8F1F-2D5D-4C8B2580C375}"/>
                </a:ext>
              </a:extLst>
            </p:cNvPr>
            <p:cNvPicPr>
              <a:picLocks noChangeAspect="1"/>
            </p:cNvPicPr>
            <p:nvPr/>
          </p:nvPicPr>
          <p:blipFill>
            <a:blip r:embed="rId5"/>
            <a:stretch>
              <a:fillRect/>
            </a:stretch>
          </p:blipFill>
          <p:spPr>
            <a:xfrm>
              <a:off x="3481888" y="2415860"/>
              <a:ext cx="289725" cy="289725"/>
            </a:xfrm>
            <a:prstGeom prst="rect">
              <a:avLst/>
            </a:prstGeom>
          </p:spPr>
        </p:pic>
      </p:grpSp>
      <p:pic>
        <p:nvPicPr>
          <p:cNvPr id="30" name="Picture 29" descr="A black background with a black square&#10;&#10;Description automatically generated with medium confidence">
            <a:extLst>
              <a:ext uri="{FF2B5EF4-FFF2-40B4-BE49-F238E27FC236}">
                <a16:creationId xmlns:a16="http://schemas.microsoft.com/office/drawing/2014/main" id="{5B8100B1-5880-CBD2-5856-A2C2A9375845}"/>
              </a:ext>
            </a:extLst>
          </p:cNvPr>
          <p:cNvPicPr>
            <a:picLocks noChangeAspect="1"/>
          </p:cNvPicPr>
          <p:nvPr/>
        </p:nvPicPr>
        <p:blipFill>
          <a:blip r:embed="rId5"/>
          <a:stretch>
            <a:fillRect/>
          </a:stretch>
        </p:blipFill>
        <p:spPr>
          <a:xfrm>
            <a:off x="3500175" y="3618282"/>
            <a:ext cx="289725" cy="289725"/>
          </a:xfrm>
          <a:prstGeom prst="rect">
            <a:avLst/>
          </a:prstGeom>
        </p:spPr>
      </p:pic>
      <p:pic>
        <p:nvPicPr>
          <p:cNvPr id="31" name="Picture 30" descr="file icon">
            <a:extLst>
              <a:ext uri="{FF2B5EF4-FFF2-40B4-BE49-F238E27FC236}">
                <a16:creationId xmlns:a16="http://schemas.microsoft.com/office/drawing/2014/main" id="{D0617806-3D20-07D7-26C8-29B50E9D3D8F}"/>
              </a:ext>
            </a:extLst>
          </p:cNvPr>
          <p:cNvPicPr>
            <a:picLocks noChangeAspect="1"/>
          </p:cNvPicPr>
          <p:nvPr/>
        </p:nvPicPr>
        <p:blipFill>
          <a:blip r:embed="rId5"/>
          <a:stretch>
            <a:fillRect/>
          </a:stretch>
        </p:blipFill>
        <p:spPr>
          <a:xfrm>
            <a:off x="3500174" y="3859350"/>
            <a:ext cx="289725" cy="289725"/>
          </a:xfrm>
          <a:prstGeom prst="rect">
            <a:avLst/>
          </a:prstGeom>
        </p:spPr>
      </p:pic>
      <p:pic>
        <p:nvPicPr>
          <p:cNvPr id="33" name="Picture 32" descr="file icon">
            <a:extLst>
              <a:ext uri="{FF2B5EF4-FFF2-40B4-BE49-F238E27FC236}">
                <a16:creationId xmlns:a16="http://schemas.microsoft.com/office/drawing/2014/main" id="{78917015-812E-D50A-DECA-7425179307B6}"/>
              </a:ext>
            </a:extLst>
          </p:cNvPr>
          <p:cNvPicPr>
            <a:picLocks noChangeAspect="1"/>
          </p:cNvPicPr>
          <p:nvPr/>
        </p:nvPicPr>
        <p:blipFill>
          <a:blip r:embed="rId5"/>
          <a:stretch>
            <a:fillRect/>
          </a:stretch>
        </p:blipFill>
        <p:spPr>
          <a:xfrm>
            <a:off x="3491030" y="4343969"/>
            <a:ext cx="289725" cy="289725"/>
          </a:xfrm>
          <a:prstGeom prst="rect">
            <a:avLst/>
          </a:prstGeom>
        </p:spPr>
      </p:pic>
    </p:spTree>
    <p:extLst>
      <p:ext uri="{BB962C8B-B14F-4D97-AF65-F5344CB8AC3E}">
        <p14:creationId xmlns:p14="http://schemas.microsoft.com/office/powerpoint/2010/main" val="1802699892"/>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A2F4DB20-F02C-4139-BE14-4D908EF1BA88}">
  <ds:schemaRefs>
    <ds:schemaRef ds:uri="http://schemas.microsoft.com/sharepoint/v3/contenttype/forms"/>
  </ds:schemaRefs>
</ds:datastoreItem>
</file>

<file path=customXml/itemProps3.xml><?xml version="1.0" encoding="utf-8"?>
<ds:datastoreItem xmlns:ds="http://schemas.openxmlformats.org/officeDocument/2006/customXml" ds:itemID="{3546F3D9-27DD-4F07-9983-380B33535F9E}">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4589</Words>
  <Application>Microsoft Office PowerPoint</Application>
  <PresentationFormat>Widescreen</PresentationFormat>
  <Paragraphs>636</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ARM PPT template 2017_Confidential</vt:lpstr>
      <vt:lpstr>Embedded Linux</vt:lpstr>
      <vt:lpstr>Goals</vt:lpstr>
      <vt:lpstr>Summary</vt:lpstr>
      <vt:lpstr>Summary</vt:lpstr>
      <vt:lpstr>Linux-Based Embedded System Components</vt:lpstr>
      <vt:lpstr>Linux-Based Embedded System Components</vt:lpstr>
      <vt:lpstr>Reference Hardware Model</vt:lpstr>
      <vt:lpstr>Reference Hardware Model Implementations</vt:lpstr>
      <vt:lpstr>CPU Memory Map</vt:lpstr>
      <vt:lpstr>Summary</vt:lpstr>
      <vt:lpstr>The Role of the Bootloader</vt:lpstr>
      <vt:lpstr>The Role of the Bootloader</vt:lpstr>
      <vt:lpstr>Possible Scenarios</vt:lpstr>
      <vt:lpstr>Possible Scenarios</vt:lpstr>
      <vt:lpstr>An Example of Bootloader Operations</vt:lpstr>
      <vt:lpstr>An Example of Bootloader Operations</vt:lpstr>
      <vt:lpstr>An Example of Bootloader Operations</vt:lpstr>
      <vt:lpstr>An Example of Bootloader Operations</vt:lpstr>
      <vt:lpstr>An Example of Bootloader Operations</vt:lpstr>
      <vt:lpstr>Summary</vt:lpstr>
      <vt:lpstr>Linux Kernel</vt:lpstr>
      <vt:lpstr>Linux Kernel</vt:lpstr>
      <vt:lpstr>Linux Kernel</vt:lpstr>
      <vt:lpstr>Summary</vt:lpstr>
      <vt:lpstr>Device Tree</vt:lpstr>
      <vt:lpstr>Summary</vt:lpstr>
      <vt:lpstr>System Programs</vt:lpstr>
      <vt:lpstr>Summary</vt:lpstr>
      <vt:lpstr>Application</vt:lpstr>
      <vt:lpstr>Summary</vt:lpstr>
      <vt:lpstr>Root Filesystem</vt:lpstr>
      <vt:lpstr>Typical Layout of the Root Filesystem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216</cp:revision>
  <dcterms:created xsi:type="dcterms:W3CDTF">2017-09-28T16:46:04Z</dcterms:created>
  <dcterms:modified xsi:type="dcterms:W3CDTF">2025-11-24T09:32:58Z</dcterms:modified>
  <cp:category/>
  <cp:contentStatus>Published</cp:contentStatus>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